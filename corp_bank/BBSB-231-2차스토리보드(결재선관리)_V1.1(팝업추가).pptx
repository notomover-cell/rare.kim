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278" r:id="rId2"/>
    <p:sldId id="279" r:id="rId3"/>
    <p:sldId id="327" r:id="rId4"/>
    <p:sldId id="328" r:id="rId5"/>
    <p:sldId id="325" r:id="rId6"/>
    <p:sldId id="326" r:id="rId7"/>
    <p:sldId id="329" r:id="rId8"/>
    <p:sldId id="402" r:id="rId9"/>
    <p:sldId id="344" r:id="rId10"/>
    <p:sldId id="333" r:id="rId11"/>
    <p:sldId id="334" r:id="rId12"/>
    <p:sldId id="405" r:id="rId13"/>
    <p:sldId id="330" r:id="rId14"/>
    <p:sldId id="338" r:id="rId15"/>
    <p:sldId id="468" r:id="rId16"/>
    <p:sldId id="403" r:id="rId17"/>
    <p:sldId id="404" r:id="rId18"/>
    <p:sldId id="450" r:id="rId19"/>
    <p:sldId id="415" r:id="rId20"/>
    <p:sldId id="416" r:id="rId21"/>
    <p:sldId id="444" r:id="rId22"/>
    <p:sldId id="418" r:id="rId23"/>
    <p:sldId id="417" r:id="rId24"/>
    <p:sldId id="448" r:id="rId25"/>
    <p:sldId id="449" r:id="rId26"/>
    <p:sldId id="336" r:id="rId27"/>
    <p:sldId id="348" r:id="rId28"/>
    <p:sldId id="431" r:id="rId29"/>
    <p:sldId id="433" r:id="rId30"/>
    <p:sldId id="349" r:id="rId31"/>
    <p:sldId id="353" r:id="rId32"/>
    <p:sldId id="375" r:id="rId33"/>
    <p:sldId id="436" r:id="rId34"/>
    <p:sldId id="355" r:id="rId35"/>
    <p:sldId id="372" r:id="rId36"/>
    <p:sldId id="357" r:id="rId37"/>
    <p:sldId id="376" r:id="rId38"/>
    <p:sldId id="358" r:id="rId39"/>
    <p:sldId id="361" r:id="rId40"/>
    <p:sldId id="395" r:id="rId41"/>
    <p:sldId id="350" r:id="rId42"/>
    <p:sldId id="430" r:id="rId43"/>
    <p:sldId id="432" r:id="rId44"/>
    <p:sldId id="391" r:id="rId45"/>
    <p:sldId id="382" r:id="rId46"/>
    <p:sldId id="374" r:id="rId47"/>
    <p:sldId id="392" r:id="rId48"/>
    <p:sldId id="393" r:id="rId49"/>
    <p:sldId id="389" r:id="rId50"/>
    <p:sldId id="474" r:id="rId51"/>
    <p:sldId id="394" r:id="rId52"/>
    <p:sldId id="396" r:id="rId53"/>
    <p:sldId id="351" r:id="rId54"/>
    <p:sldId id="398" r:id="rId55"/>
    <p:sldId id="399" r:id="rId56"/>
    <p:sldId id="397" r:id="rId57"/>
    <p:sldId id="406" r:id="rId58"/>
    <p:sldId id="407" r:id="rId59"/>
    <p:sldId id="411" r:id="rId60"/>
    <p:sldId id="414" r:id="rId61"/>
    <p:sldId id="434" r:id="rId62"/>
    <p:sldId id="435" r:id="rId63"/>
    <p:sldId id="437" r:id="rId64"/>
    <p:sldId id="439" r:id="rId65"/>
    <p:sldId id="445" r:id="rId66"/>
    <p:sldId id="469" r:id="rId67"/>
    <p:sldId id="451" r:id="rId68"/>
    <p:sldId id="452" r:id="rId69"/>
    <p:sldId id="441" r:id="rId70"/>
    <p:sldId id="442" r:id="rId71"/>
    <p:sldId id="443" r:id="rId72"/>
    <p:sldId id="446" r:id="rId73"/>
    <p:sldId id="447" r:id="rId74"/>
    <p:sldId id="408" r:id="rId75"/>
    <p:sldId id="453" r:id="rId76"/>
    <p:sldId id="454" r:id="rId77"/>
    <p:sldId id="455" r:id="rId78"/>
    <p:sldId id="456" r:id="rId79"/>
    <p:sldId id="470" r:id="rId80"/>
    <p:sldId id="458" r:id="rId81"/>
    <p:sldId id="471" r:id="rId82"/>
    <p:sldId id="472" r:id="rId83"/>
    <p:sldId id="460" r:id="rId84"/>
    <p:sldId id="473" r:id="rId85"/>
    <p:sldId id="463" r:id="rId86"/>
    <p:sldId id="464" r:id="rId87"/>
    <p:sldId id="465" r:id="rId88"/>
    <p:sldId id="466" r:id="rId89"/>
    <p:sldId id="467" r:id="rId90"/>
    <p:sldId id="409" r:id="rId91"/>
    <p:sldId id="410" r:id="rId92"/>
    <p:sldId id="413" r:id="rId9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/개정이력" id="{13D36A93-59A4-484E-A401-D4DE8F647B41}">
          <p14:sldIdLst>
            <p14:sldId id="278"/>
            <p14:sldId id="279"/>
          </p14:sldIdLst>
        </p14:section>
        <p14:section name="0. 결재선공통" id="{BC83D688-D9F7-48DD-BD65-F832833DB743}">
          <p14:sldIdLst>
            <p14:sldId id="327"/>
          </p14:sldIdLst>
        </p14:section>
        <p14:section name="0.1. 결재선 정책 정의" id="{3820632E-F2CB-4F1F-B3DD-0A216FA927A5}">
          <p14:sldIdLst>
            <p14:sldId id="328"/>
            <p14:sldId id="325"/>
            <p14:sldId id="326"/>
          </p14:sldIdLst>
        </p14:section>
        <p14:section name="0.2. 결재선 화면목록" id="{89E00B96-4B02-4936-A9BB-0268381A955E}">
          <p14:sldIdLst>
            <p14:sldId id="329"/>
            <p14:sldId id="402"/>
            <p14:sldId id="344"/>
          </p14:sldIdLst>
        </p14:section>
        <p14:section name="0.3. 결재선 흐름도" id="{42AD9FD3-6175-44E9-B58B-D199C8CCB2F7}">
          <p14:sldIdLst>
            <p14:sldId id="333"/>
            <p14:sldId id="334"/>
            <p14:sldId id="405"/>
          </p14:sldIdLst>
        </p14:section>
        <p14:section name="0.4. IB결재선 공통가이드 및 공통화면" id="{C9E0E269-F119-4331-BBEC-B019982C7290}">
          <p14:sldIdLst>
            <p14:sldId id="330"/>
            <p14:sldId id="338"/>
            <p14:sldId id="468"/>
            <p14:sldId id="403"/>
            <p14:sldId id="404"/>
            <p14:sldId id="450"/>
          </p14:sldIdLst>
        </p14:section>
        <p14:section name="0.5 MB결재선공통화면" id="{EF39170B-B39B-4237-8EE3-2895C88A06D9}">
          <p14:sldIdLst>
            <p14:sldId id="415"/>
            <p14:sldId id="416"/>
            <p14:sldId id="444"/>
            <p14:sldId id="418"/>
            <p14:sldId id="417"/>
            <p14:sldId id="448"/>
            <p14:sldId id="449"/>
          </p14:sldIdLst>
        </p14:section>
        <p14:section name="1. IB결제선관리" id="{645EFDDD-F0D1-4B4E-B1FC-31625E8DD5C6}">
          <p14:sldIdLst>
            <p14:sldId id="336"/>
          </p14:sldIdLst>
        </p14:section>
        <p14:section name="1.1. IB결재선등록" id="{9679A139-CEAB-4B0E-9D6A-4F005F90F371}">
          <p14:sldIdLst>
            <p14:sldId id="348"/>
            <p14:sldId id="431"/>
            <p14:sldId id="433"/>
            <p14:sldId id="349"/>
            <p14:sldId id="353"/>
            <p14:sldId id="375"/>
            <p14:sldId id="436"/>
            <p14:sldId id="355"/>
            <p14:sldId id="372"/>
            <p14:sldId id="357"/>
            <p14:sldId id="376"/>
            <p14:sldId id="358"/>
            <p14:sldId id="361"/>
            <p14:sldId id="395"/>
          </p14:sldIdLst>
        </p14:section>
        <p14:section name="1.2. IB결재선수정" id="{81BEA5BC-3104-4A66-A13F-942F1ADDBE7F}">
          <p14:sldIdLst>
            <p14:sldId id="350"/>
            <p14:sldId id="430"/>
            <p14:sldId id="432"/>
            <p14:sldId id="391"/>
            <p14:sldId id="382"/>
            <p14:sldId id="374"/>
            <p14:sldId id="392"/>
            <p14:sldId id="393"/>
            <p14:sldId id="389"/>
            <p14:sldId id="474"/>
            <p14:sldId id="394"/>
            <p14:sldId id="396"/>
          </p14:sldIdLst>
        </p14:section>
        <p14:section name="1.3. IB결재선삭제" id="{03C32E99-922F-46FC-B783-4F9B9A7F6D6C}">
          <p14:sldIdLst>
            <p14:sldId id="351"/>
            <p14:sldId id="398"/>
            <p14:sldId id="399"/>
            <p14:sldId id="397"/>
          </p14:sldIdLst>
        </p14:section>
        <p14:section name="2. MB결재선관리" id="{F823D503-EA6A-430A-8027-73CFDD388247}">
          <p14:sldIdLst>
            <p14:sldId id="406"/>
          </p14:sldIdLst>
        </p14:section>
        <p14:section name="2.1. MB결재선등록" id="{1E1C00CD-B951-4C31-A070-4591C1222DE2}">
          <p14:sldIdLst>
            <p14:sldId id="407"/>
            <p14:sldId id="411"/>
            <p14:sldId id="414"/>
            <p14:sldId id="434"/>
            <p14:sldId id="435"/>
            <p14:sldId id="437"/>
            <p14:sldId id="439"/>
            <p14:sldId id="445"/>
            <p14:sldId id="469"/>
            <p14:sldId id="451"/>
            <p14:sldId id="452"/>
            <p14:sldId id="441"/>
            <p14:sldId id="442"/>
            <p14:sldId id="443"/>
            <p14:sldId id="446"/>
            <p14:sldId id="447"/>
          </p14:sldIdLst>
        </p14:section>
        <p14:section name="2.2. MB결재선수정" id="{68227F68-5F13-4523-ACC0-03F890228E0D}">
          <p14:sldIdLst>
            <p14:sldId id="408"/>
            <p14:sldId id="453"/>
            <p14:sldId id="454"/>
            <p14:sldId id="455"/>
            <p14:sldId id="456"/>
            <p14:sldId id="470"/>
            <p14:sldId id="458"/>
            <p14:sldId id="471"/>
            <p14:sldId id="472"/>
            <p14:sldId id="460"/>
            <p14:sldId id="473"/>
            <p14:sldId id="463"/>
            <p14:sldId id="464"/>
            <p14:sldId id="465"/>
            <p14:sldId id="466"/>
            <p14:sldId id="467"/>
          </p14:sldIdLst>
        </p14:section>
        <p14:section name="2.3. MB결재선삭제" id="{894F72F9-75D2-4881-B362-84EC4F20297A}">
          <p14:sldIdLst>
            <p14:sldId id="409"/>
            <p14:sldId id="410"/>
            <p14:sldId id="4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4" pos="1799" userDrawn="1">
          <p15:clr>
            <a:srgbClr val="A4A3A4"/>
          </p15:clr>
        </p15:guide>
        <p15:guide id="5" pos="4588" userDrawn="1">
          <p15:clr>
            <a:srgbClr val="A4A3A4"/>
          </p15:clr>
        </p15:guide>
        <p15:guide id="6" pos="3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9" autoAdjust="0"/>
    <p:restoredTop sz="96391" autoAdjust="0"/>
  </p:normalViewPr>
  <p:slideViewPr>
    <p:cSldViewPr snapToGrid="0">
      <p:cViewPr>
        <p:scale>
          <a:sx n="125" d="100"/>
          <a:sy n="125" d="100"/>
        </p:scale>
        <p:origin x="258" y="90"/>
      </p:cViewPr>
      <p:guideLst>
        <p:guide orient="horz" pos="1117"/>
        <p:guide pos="211"/>
        <p:guide pos="1799"/>
        <p:guide pos="4588"/>
        <p:guide pos="3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2B202-B935-49E7-BE17-27BE79D70F9C}" type="datetimeFigureOut">
              <a:rPr lang="ko-KR" altLang="en-US" smtClean="0"/>
              <a:t>2023-07-11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F19F9-C496-48D5-BD1A-9C0779BF20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20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562C-556D-48F4-BA2F-F285FFA75A8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347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14562C-556D-48F4-BA2F-F285FFA75A8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361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043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58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71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09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438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588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971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193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696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14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85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67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991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496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811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699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2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46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576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261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911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5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547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10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294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1620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0366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9623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5298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3479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5650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6972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8333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744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279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0605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0657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612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2822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496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0736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668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8755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1239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657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F19F9-C496-48D5-BD1A-9C0779BF209C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87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3"/>
          <p:cNvSpPr>
            <a:spLocks noChangeShapeType="1"/>
          </p:cNvSpPr>
          <p:nvPr userDrawn="1"/>
        </p:nvSpPr>
        <p:spPr bwMode="auto">
          <a:xfrm>
            <a:off x="2502568" y="2701402"/>
            <a:ext cx="9689432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lIns="38856" tIns="38856" rIns="38856" bIns="38856" anchor="ctr"/>
          <a:lstStyle/>
          <a:p>
            <a:pPr>
              <a:lnSpc>
                <a:spcPct val="90000"/>
              </a:lnSpc>
              <a:buClr>
                <a:srgbClr val="7D0900"/>
              </a:buClr>
              <a:defRPr/>
            </a:pPr>
            <a:endParaRPr lang="ko-KR" altLang="en-US" sz="1727">
              <a:solidFill>
                <a:srgbClr val="646464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4749" y="185520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423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30049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41393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6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30049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69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7056" y="551007"/>
            <a:ext cx="3240000" cy="583074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36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11784749" y="176189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/>
        </p:nvGraphicFramePr>
        <p:xfrm>
          <a:off x="173742" y="179123"/>
          <a:ext cx="11480194" cy="21989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70071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6363477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0649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2204751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574605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  <a:gridCol w="1260800">
                  <a:extLst>
                    <a:ext uri="{9D8B030D-6E8A-4147-A177-3AD203B41FA5}">
                      <a16:colId xmlns:a16="http://schemas.microsoft.com/office/drawing/2014/main" val="798504303"/>
                    </a:ext>
                  </a:extLst>
                </a:gridCol>
              </a:tblGrid>
              <a:tr h="2198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49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3"/>
          <p:cNvSpPr>
            <a:spLocks noChangeShapeType="1"/>
          </p:cNvSpPr>
          <p:nvPr userDrawn="1"/>
        </p:nvSpPr>
        <p:spPr bwMode="auto">
          <a:xfrm>
            <a:off x="173256" y="400964"/>
            <a:ext cx="12018744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lIns="38856" tIns="38856" rIns="38856" bIns="38856" anchor="ctr"/>
          <a:lstStyle/>
          <a:p>
            <a:pPr>
              <a:lnSpc>
                <a:spcPct val="90000"/>
              </a:lnSpc>
              <a:buClr>
                <a:srgbClr val="7D0900"/>
              </a:buClr>
              <a:defRPr/>
            </a:pPr>
            <a:endParaRPr lang="ko-KR" altLang="en-US" sz="1727">
              <a:solidFill>
                <a:srgbClr val="646464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4749" y="185520"/>
            <a:ext cx="234039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fld id="{66A0CDA7-FDC9-4485-8308-B771700E88F3}" type="slidenum">
              <a:rPr lang="ko-KR" altLang="en-US" sz="1400" b="1" i="1" smtClean="0">
                <a:solidFill>
                  <a:srgbClr val="0070C0"/>
                </a:solidFill>
                <a:latin typeface="+mn-ea"/>
                <a:ea typeface="+mn-ea"/>
              </a:rPr>
              <a:pPr algn="r"/>
              <a:t>‹#›</a:t>
            </a:fld>
            <a:endParaRPr lang="ko-KR" altLang="en-US" sz="1400" b="1" i="1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8918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678072" y="2142067"/>
            <a:ext cx="8675728" cy="712444"/>
          </a:xfrm>
        </p:spPr>
        <p:txBody>
          <a:bodyPr>
            <a:normAutofit/>
          </a:bodyPr>
          <a:lstStyle>
            <a:lvl1pPr algn="r">
              <a:defRPr sz="3800" b="0"/>
            </a:lvl1pPr>
          </a:lstStyle>
          <a:p>
            <a:r>
              <a:rPr lang="ko-KR" altLang="en-US" dirty="0" err="1"/>
              <a:t>문서명</a:t>
            </a:r>
            <a:endParaRPr lang="ko-KR" altLang="en-US" dirty="0"/>
          </a:p>
        </p:txBody>
      </p:sp>
      <p:sp>
        <p:nvSpPr>
          <p:cNvPr id="10" name="제목 1"/>
          <p:cNvSpPr txBox="1">
            <a:spLocks/>
          </p:cNvSpPr>
          <p:nvPr userDrawn="1"/>
        </p:nvSpPr>
        <p:spPr>
          <a:xfrm>
            <a:off x="7560646" y="789755"/>
            <a:ext cx="3750393" cy="439740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625" b="0" dirty="0"/>
              <a:t>기업금융 비대면 채널 개선 사업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165" y="5899318"/>
            <a:ext cx="1448034" cy="323681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937846" y="2948006"/>
            <a:ext cx="10274625" cy="159261"/>
            <a:chOff x="691423" y="2948006"/>
            <a:chExt cx="8533539" cy="0"/>
          </a:xfrm>
        </p:grpSpPr>
        <p:sp>
          <p:nvSpPr>
            <p:cNvPr id="14" name="Line 23"/>
            <p:cNvSpPr>
              <a:spLocks noChangeShapeType="1"/>
            </p:cNvSpPr>
            <p:nvPr userDrawn="1"/>
          </p:nvSpPr>
          <p:spPr bwMode="auto">
            <a:xfrm>
              <a:off x="691423" y="2948006"/>
              <a:ext cx="669447" cy="0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wrap="none" lIns="38856" tIns="38856" rIns="38856" bIns="38856" anchor="ctr"/>
            <a:lstStyle/>
            <a:p>
              <a:pPr>
                <a:lnSpc>
                  <a:spcPct val="90000"/>
                </a:lnSpc>
                <a:buClr>
                  <a:srgbClr val="7D0900"/>
                </a:buClr>
                <a:defRPr/>
              </a:pPr>
              <a:endParaRPr lang="ko-KR" altLang="en-US" sz="1727">
                <a:solidFill>
                  <a:srgbClr val="646464"/>
                </a:solidFill>
                <a:latin typeface="맑은 고딕"/>
              </a:endParaRPr>
            </a:p>
          </p:txBody>
        </p:sp>
        <p:sp>
          <p:nvSpPr>
            <p:cNvPr id="15" name="Line 23"/>
            <p:cNvSpPr>
              <a:spLocks noChangeShapeType="1"/>
            </p:cNvSpPr>
            <p:nvPr userDrawn="1"/>
          </p:nvSpPr>
          <p:spPr bwMode="auto">
            <a:xfrm>
              <a:off x="1360868" y="2948006"/>
              <a:ext cx="7864094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/>
            </a:ln>
            <a:effectLst/>
          </p:spPr>
          <p:txBody>
            <a:bodyPr wrap="none" lIns="38856" tIns="38856" rIns="38856" bIns="38856" anchor="ctr"/>
            <a:lstStyle/>
            <a:p>
              <a:pPr>
                <a:lnSpc>
                  <a:spcPct val="90000"/>
                </a:lnSpc>
                <a:buClr>
                  <a:srgbClr val="7D0900"/>
                </a:buClr>
                <a:defRPr/>
              </a:pPr>
              <a:endParaRPr lang="ko-KR" altLang="en-US" sz="1727">
                <a:solidFill>
                  <a:srgbClr val="646464"/>
                </a:solidFill>
                <a:latin typeface="맑은 고딕"/>
              </a:endParaRPr>
            </a:p>
          </p:txBody>
        </p:sp>
      </p:grp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0984" y="801735"/>
            <a:ext cx="2186188" cy="3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85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3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5FDA0-FB46-45FD-A175-1DCCD581D996}" type="datetimeFigureOut">
              <a:rPr lang="ko-KR" altLang="en-US" smtClean="0"/>
              <a:t>2023-07-11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5B3CC-66CA-4AD1-B40B-FE8246450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9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6" r:id="rId2"/>
    <p:sldLayoutId id="2147483669" r:id="rId3"/>
    <p:sldLayoutId id="2147483668" r:id="rId4"/>
    <p:sldLayoutId id="2147483667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XXXXXX@XXXX.XXX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8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.w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8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.wmf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스토리보드 </a:t>
            </a:r>
            <a:r>
              <a:rPr lang="en-US" altLang="ko-KR" dirty="0"/>
              <a:t>(</a:t>
            </a:r>
            <a:r>
              <a:rPr lang="ko-KR" altLang="en-US" dirty="0"/>
              <a:t>결재선 관리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7099563" y="3407436"/>
            <a:ext cx="4142216" cy="1069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BBSB-231</a:t>
            </a:r>
          </a:p>
          <a:p>
            <a:pPr>
              <a:spcAft>
                <a:spcPts val="600"/>
              </a:spcAft>
            </a:pPr>
            <a:r>
              <a:rPr lang="en-US" altLang="ko-KR" sz="1600" dirty="0" smtClean="0">
                <a:latin typeface="+mn-ea"/>
                <a:ea typeface="+mn-ea"/>
              </a:rPr>
              <a:t>V0.60</a:t>
            </a:r>
            <a:endParaRPr lang="en-US" altLang="ko-KR" sz="1600" dirty="0">
              <a:latin typeface="+mn-ea"/>
              <a:ea typeface="+mn-ea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 smtClean="0">
                <a:latin typeface="+mn-ea"/>
                <a:ea typeface="+mn-ea"/>
              </a:rPr>
              <a:t>2023-01-02</a:t>
            </a:r>
            <a:endParaRPr lang="en-US" altLang="ko-KR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60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/>
          <p:cNvSpPr txBox="1"/>
          <p:nvPr/>
        </p:nvSpPr>
        <p:spPr>
          <a:xfrm>
            <a:off x="697034" y="218577"/>
            <a:ext cx="10739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개정이력</a:t>
            </a:r>
            <a:endParaRPr lang="ko-KR" altLang="en-US" dirty="0"/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906490"/>
              </p:ext>
            </p:extLst>
          </p:nvPr>
        </p:nvGraphicFramePr>
        <p:xfrm>
          <a:off x="667212" y="666255"/>
          <a:ext cx="10798822" cy="32380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771827696"/>
                    </a:ext>
                  </a:extLst>
                </a:gridCol>
                <a:gridCol w="1150822">
                  <a:extLst>
                    <a:ext uri="{9D8B030D-6E8A-4147-A177-3AD203B41FA5}">
                      <a16:colId xmlns:a16="http://schemas.microsoft.com/office/drawing/2014/main" val="1076720125"/>
                    </a:ext>
                  </a:extLst>
                </a:gridCol>
                <a:gridCol w="6444000">
                  <a:extLst>
                    <a:ext uri="{9D8B030D-6E8A-4147-A177-3AD203B41FA5}">
                      <a16:colId xmlns:a16="http://schemas.microsoft.com/office/drawing/2014/main" val="379094441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21703263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829581473"/>
                    </a:ext>
                  </a:extLst>
                </a:gridCol>
              </a:tblGrid>
              <a:tr h="2967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개정내역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개정자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90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ea"/>
                          <a:ea typeface="+mn-ea"/>
                        </a:rPr>
                        <a:t>0.1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ea"/>
                          <a:ea typeface="+mn-ea"/>
                        </a:rPr>
                        <a:t>2022-07-26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최초작성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채희훈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5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ea"/>
                          <a:ea typeface="+mn-ea"/>
                        </a:rPr>
                        <a:t>0.12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+mn-ea"/>
                          <a:ea typeface="+mn-ea"/>
                        </a:rPr>
                        <a:t>2022-08-28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초안 수정</a:t>
                      </a:r>
                      <a:endParaRPr lang="en-US" altLang="ko-KR" sz="7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채희훈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9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0.20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2022-11-18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결재선 정책 정의</a:t>
                      </a:r>
                      <a:endParaRPr lang="en-US" altLang="ko-KR" sz="7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080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0.21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2022-11-21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인터넷뱅킹 </a:t>
                      </a:r>
                      <a:r>
                        <a:rPr lang="ko-KR" altLang="en-US" sz="700" b="0" dirty="0" err="1" smtClean="0">
                          <a:latin typeface="+mn-ea"/>
                          <a:cs typeface="Segoe UI" panose="020B0502040204020203" pitchFamily="34" charset="0"/>
                        </a:rPr>
                        <a:t>결재선등록</a:t>
                      </a: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 화면 추가</a:t>
                      </a:r>
                      <a:endParaRPr lang="en-US" altLang="ko-KR" sz="7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52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0.22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인터넷뱅킹 결재선</a:t>
                      </a:r>
                      <a:r>
                        <a:rPr lang="ko-KR" altLang="en-US" sz="700" b="0" baseline="0" dirty="0" smtClean="0">
                          <a:latin typeface="+mn-ea"/>
                          <a:cs typeface="Segoe UI" panose="020B0502040204020203" pitchFamily="34" charset="0"/>
                        </a:rPr>
                        <a:t> 스토리보드 완료</a:t>
                      </a:r>
                      <a:endParaRPr lang="en-US" altLang="ko-KR" sz="7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09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0.23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2022-11-22</a:t>
                      </a:r>
                    </a:p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결재선 스토리보드 작성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인터넷뱅킹 결재선 복사 기능 추가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820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0.29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2022-11-23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모바일뱅킹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결재선 스토리보드 작성 완료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인뱅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모뱅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결재선 불러오기 기능 추가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60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0.30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2022-11-24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개발자 리뷰 반영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71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0.50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2022-12-15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디지털전략부 리뷰 반영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3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0.60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2023-01-02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디지털금융개발부 리뷰 반영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결재단계의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정보를 결재자 앞으로 이동 처리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기안단계에는 최대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21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명까지 등록 가능하도록 변경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인터넷뱅킹의 경우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IE10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버전을 위한 드래그앤드롭 가능여부 확인하여 불가 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IE10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버전은 해당 기능 제한하도록 퍼블리싱 처리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결재선 업무에 퇴직연금 카테고리 추가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5)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구성원 추가 시 정렬 순서는 등록 가능한 사용자 우선으로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정렬하고다른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결재 단계에 등록된 사용자는 아래쪽으로 이동 처리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6)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구성원 추가 시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뱃지안내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영역을 정렬방법으로 변경 처리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7)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결재 구성원 표시는 결재선 등록과 같은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Down-Top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방식으로 표시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이형진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704460"/>
                  </a:ext>
                </a:extLst>
              </a:tr>
            </a:tbl>
          </a:graphicData>
        </a:graphic>
      </p:graphicFrame>
      <p:sp>
        <p:nvSpPr>
          <p:cNvPr id="4" name="Text Box 549"/>
          <p:cNvSpPr txBox="1">
            <a:spLocks noChangeArrowheads="1"/>
          </p:cNvSpPr>
          <p:nvPr/>
        </p:nvSpPr>
        <p:spPr bwMode="auto">
          <a:xfrm>
            <a:off x="697034" y="6493691"/>
            <a:ext cx="37465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4000" kern="12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9pPr>
          </a:lstStyle>
          <a:p>
            <a:pPr algn="l" eaLnBrk="1" hangingPunct="1"/>
            <a:r>
              <a:rPr lang="en-US" altLang="ko-KR" sz="800" baseline="30000" dirty="0">
                <a:latin typeface="+mn-ea"/>
                <a:ea typeface="+mn-ea"/>
              </a:rPr>
              <a:t>1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구분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변경 내용이 이전 문서에 대해 최초작성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추가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수정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삭제 중 선택 기입</a:t>
            </a:r>
          </a:p>
          <a:p>
            <a:pPr algn="l" eaLnBrk="1" hangingPunct="1"/>
            <a:r>
              <a:rPr lang="en-US" altLang="ko-KR" sz="800" baseline="30000" dirty="0">
                <a:latin typeface="+mn-ea"/>
                <a:ea typeface="+mn-ea"/>
              </a:rPr>
              <a:t>2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개정내용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변경이 발생되는 위치와 변경 내용을 자세히 기록</a:t>
            </a:r>
            <a:endParaRPr lang="en-US" altLang="ko-KR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154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>
                <a:latin typeface="+mn-ea"/>
                <a:cs typeface="Segoe UI" panose="020B0502040204020203" pitchFamily="34" charset="0"/>
              </a:rPr>
              <a:t>0</a:t>
            </a:r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공통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4146707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0.1. </a:t>
            </a:r>
            <a:r>
              <a:rPr lang="ko-KR" altLang="en-US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정책 정의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0.2. </a:t>
            </a:r>
            <a:r>
              <a:rPr lang="ko-KR" altLang="en-US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화면 목록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0.3.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 흐름도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0.4. IB_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 공통 가이드 및 화면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0.5. MB_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dirty="0">
                <a:latin typeface="+mn-ea"/>
                <a:cs typeface="Segoe UI" panose="020B0502040204020203" pitchFamily="34" charset="0"/>
              </a:rPr>
              <a:t>공통 가이드 및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화면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0.6. 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결재선대상업무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65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0.1.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정책 정의</a:t>
            </a:r>
          </a:p>
        </p:txBody>
      </p:sp>
    </p:spTree>
    <p:extLst>
      <p:ext uri="{BB962C8B-B14F-4D97-AF65-F5344CB8AC3E}">
        <p14:creationId xmlns:p14="http://schemas.microsoft.com/office/powerpoint/2010/main" val="344465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09454"/>
              </p:ext>
            </p:extLst>
          </p:nvPr>
        </p:nvGraphicFramePr>
        <p:xfrm>
          <a:off x="383735" y="459244"/>
          <a:ext cx="11485971" cy="62263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7188">
                  <a:extLst>
                    <a:ext uri="{9D8B030D-6E8A-4147-A177-3AD203B41FA5}">
                      <a16:colId xmlns:a16="http://schemas.microsoft.com/office/drawing/2014/main" val="1244006872"/>
                    </a:ext>
                  </a:extLst>
                </a:gridCol>
                <a:gridCol w="941488">
                  <a:extLst>
                    <a:ext uri="{9D8B030D-6E8A-4147-A177-3AD203B41FA5}">
                      <a16:colId xmlns:a16="http://schemas.microsoft.com/office/drawing/2014/main" val="654868488"/>
                    </a:ext>
                  </a:extLst>
                </a:gridCol>
                <a:gridCol w="866282">
                  <a:extLst>
                    <a:ext uri="{9D8B030D-6E8A-4147-A177-3AD203B41FA5}">
                      <a16:colId xmlns:a16="http://schemas.microsoft.com/office/drawing/2014/main" val="322006584"/>
                    </a:ext>
                  </a:extLst>
                </a:gridCol>
                <a:gridCol w="7227278">
                  <a:extLst>
                    <a:ext uri="{9D8B030D-6E8A-4147-A177-3AD203B41FA5}">
                      <a16:colId xmlns:a16="http://schemas.microsoft.com/office/drawing/2014/main" val="3709604060"/>
                    </a:ext>
                  </a:extLst>
                </a:gridCol>
                <a:gridCol w="1623735">
                  <a:extLst>
                    <a:ext uri="{9D8B030D-6E8A-4147-A177-3AD203B41FA5}">
                      <a16:colId xmlns:a16="http://schemas.microsoft.com/office/drawing/2014/main" val="3124412163"/>
                    </a:ext>
                  </a:extLst>
                </a:gridCol>
              </a:tblGrid>
              <a:tr h="2148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항목명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설명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7357"/>
                  </a:ext>
                </a:extLst>
              </a:tr>
              <a:tr h="0">
                <a:tc rowSpan="10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참여자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기안을 하는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조작자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8666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이체 한도 범위내에서의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전결권자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206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이체 한도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범위내라도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필요시 상위결재자에게 결재 의뢰가 가능함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924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반송 및 기안 취소 가능</a:t>
                      </a:r>
                      <a:endParaRPr lang="en-US" altLang="ko-KR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208999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정당성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감사자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동료검토자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229542"/>
                  </a:ext>
                </a:extLst>
              </a:tr>
              <a:tr h="118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단계에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경우 승인 및 결재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의뢰전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확인이 필요함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678683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반송 및 기안 취소 가능</a:t>
                      </a:r>
                      <a:endParaRPr lang="en-US" altLang="ko-KR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680139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이체한도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범위내에서의</a:t>
                      </a:r>
                      <a:r>
                        <a:rPr lang="ko-KR" altLang="en-US" sz="80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800" baseline="0" dirty="0" err="1" smtClean="0">
                          <a:solidFill>
                            <a:srgbClr val="000000"/>
                          </a:solidFill>
                        </a:rPr>
                        <a:t>승인권자로</a:t>
                      </a:r>
                      <a:r>
                        <a:rPr lang="ko-KR" altLang="en-US" sz="800" baseline="0" dirty="0" smtClean="0">
                          <a:solidFill>
                            <a:srgbClr val="000000"/>
                          </a:solidFill>
                        </a:rPr>
                        <a:t> 단독결재불가자는 </a:t>
                      </a:r>
                      <a:r>
                        <a:rPr lang="ko-KR" altLang="en-US" sz="800" baseline="0" dirty="0" err="1" smtClean="0">
                          <a:solidFill>
                            <a:srgbClr val="000000"/>
                          </a:solidFill>
                        </a:rPr>
                        <a:t>승인자</a:t>
                      </a:r>
                      <a:r>
                        <a:rPr lang="ko-KR" altLang="en-US" sz="800" baseline="0" dirty="0" smtClean="0">
                          <a:solidFill>
                            <a:srgbClr val="000000"/>
                          </a:solidFill>
                        </a:rPr>
                        <a:t> 지정이 불가함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22470"/>
                  </a:ext>
                </a:extLst>
              </a:tr>
              <a:tr h="118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경우 최종승인 권한을 가짐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하위 결재권자가 이체 한도가 있어도 전결 처리 불가함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016255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반송 및 기안 취소 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75719"/>
                  </a:ext>
                </a:extLst>
              </a:tr>
              <a:tr h="118533">
                <a:tc rowSpan="3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결재자지정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제한없음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불가 조건이 없음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해당사항없음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288167"/>
                  </a:ext>
                </a:extLst>
              </a:tr>
              <a:tr h="104580"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기안불가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지정할 수 없는 사용자로 결재자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승인자로만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등록 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6997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단독결재불가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결재자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사용자로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최종결재자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등록이 불가한 사용자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 결재자 지정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835416"/>
                  </a:ext>
                </a:extLst>
              </a:tr>
              <a:tr h="0">
                <a:tc rowSpan="1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결재선형태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수직결재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결재 단계가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구성된 결재선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465076"/>
                  </a:ext>
                </a:extLst>
              </a:tr>
              <a:tr h="139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또는 상위결재자에게 결재 의뢰 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5756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한도 부족 시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상위자에게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결재 의뢰 가능하나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상위결재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자가 없는 경우 실행 불가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255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수평결재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결재단계별로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이상의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구성된 결재선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338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결재자 중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명이 결재 요청 하면 승인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또는 상위결재권자에게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결재요청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처리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08141"/>
                  </a:ext>
                </a:extLst>
              </a:tr>
              <a:tr h="1568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결재자중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조작 시간이 빠른 순으로 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8132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상위자에게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결재 요청 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429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한도차감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승인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실행</a:t>
                      </a:r>
                      <a:r>
                        <a:rPr lang="en-US" altLang="ko-KR" sz="800" dirty="0" smtClean="0"/>
                        <a:t>) </a:t>
                      </a:r>
                      <a:r>
                        <a:rPr lang="ko-KR" altLang="en-US" sz="800" dirty="0" smtClean="0"/>
                        <a:t>조작한 결재자의 한도 차감</a:t>
                      </a:r>
                      <a:endParaRPr lang="ko-KR" altLang="en-US" sz="800" dirty="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17376"/>
                  </a:ext>
                </a:extLst>
              </a:tr>
              <a:tr h="170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한도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충족 시 전결 처리 가능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하며 </a:t>
                      </a:r>
                      <a:r>
                        <a:rPr lang="ko-KR" altLang="en-US" sz="800" dirty="0" smtClean="0"/>
                        <a:t>한도가 부족한 경우 상위결재자에게 결재 </a:t>
                      </a:r>
                      <a:r>
                        <a:rPr lang="ko-KR" altLang="en-US" sz="800" dirty="0" err="1" smtClean="0"/>
                        <a:t>의뢰만</a:t>
                      </a:r>
                      <a:r>
                        <a:rPr lang="ko-KR" altLang="en-US" sz="800" dirty="0" smtClean="0"/>
                        <a:t> 가능</a:t>
                      </a:r>
                      <a:endParaRPr lang="ko-KR" altLang="en-US" sz="800" dirty="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3153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확인자결재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이상으로 구성된 결재선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311738"/>
                  </a:ext>
                </a:extLst>
              </a:tr>
              <a:tr h="145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모든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확인거래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후 결재자가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가능함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6198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업무처리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모든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결재자 보다 우선하여 확인 처리 후 결재자가 결재 진행 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0431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상위단계에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있는 경우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결재자는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한도 여부에 상관 없이 단독결재불가 상태가 되어 상위결재자에게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가능함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870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결재자중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조작 시간이 빠른 순으로 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677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승인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상위자에게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결재 요청 처리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911970"/>
                  </a:ext>
                </a:extLst>
              </a:tr>
              <a:tr h="173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한도차감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승인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실행</a:t>
                      </a:r>
                      <a:r>
                        <a:rPr lang="en-US" altLang="ko-KR" sz="800" dirty="0" smtClean="0"/>
                        <a:t>) </a:t>
                      </a:r>
                      <a:r>
                        <a:rPr lang="ko-KR" altLang="en-US" sz="800" dirty="0" smtClean="0"/>
                        <a:t>조작한 결재자의 한도 차감</a:t>
                      </a:r>
                      <a:endParaRPr lang="ko-KR" altLang="en-US" sz="800" dirty="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28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한도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충족 시 전결 처리 가능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하며 </a:t>
                      </a:r>
                      <a:r>
                        <a:rPr lang="ko-KR" altLang="en-US" sz="800" dirty="0" smtClean="0"/>
                        <a:t>한도가 부족한 경우 상위결재자에게 결재 </a:t>
                      </a:r>
                      <a:r>
                        <a:rPr lang="ko-KR" altLang="en-US" sz="800" dirty="0" err="1" smtClean="0"/>
                        <a:t>의뢰만</a:t>
                      </a:r>
                      <a:r>
                        <a:rPr lang="ko-KR" altLang="en-US" sz="800" dirty="0" smtClean="0"/>
                        <a:t> 가능</a:t>
                      </a:r>
                      <a:endParaRPr lang="ko-KR" altLang="en-US" sz="800" dirty="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284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/>
                        <a:t>확인자는</a:t>
                      </a:r>
                      <a:r>
                        <a:rPr lang="ko-KR" altLang="en-US" sz="800" dirty="0" smtClean="0"/>
                        <a:t> 한도 유무를 상관하지 않으며 차감도 되지 않음</a:t>
                      </a:r>
                      <a:endParaRPr lang="ko-KR" altLang="en-US" sz="800" dirty="0"/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4619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1576" y="3588"/>
            <a:ext cx="47422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000" b="1" dirty="0" smtClean="0">
                <a:latin typeface="+mn-ea"/>
                <a:cs typeface="Segoe UI" panose="020B0502040204020203" pitchFamily="34" charset="0"/>
              </a:rPr>
              <a:t>0.1. </a:t>
            </a:r>
            <a:r>
              <a:rPr lang="ko-KR" altLang="en-US" sz="2000" b="1" dirty="0" smtClean="0">
                <a:latin typeface="+mn-ea"/>
                <a:cs typeface="Segoe UI" panose="020B0502040204020203" pitchFamily="34" charset="0"/>
              </a:rPr>
              <a:t>결재선 정책 정의</a:t>
            </a:r>
            <a:endParaRPr lang="en-US" altLang="ko-KR" sz="20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5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960636"/>
              </p:ext>
            </p:extLst>
          </p:nvPr>
        </p:nvGraphicFramePr>
        <p:xfrm>
          <a:off x="383735" y="459244"/>
          <a:ext cx="11485971" cy="3705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7188">
                  <a:extLst>
                    <a:ext uri="{9D8B030D-6E8A-4147-A177-3AD203B41FA5}">
                      <a16:colId xmlns:a16="http://schemas.microsoft.com/office/drawing/2014/main" val="1244006872"/>
                    </a:ext>
                  </a:extLst>
                </a:gridCol>
                <a:gridCol w="941488">
                  <a:extLst>
                    <a:ext uri="{9D8B030D-6E8A-4147-A177-3AD203B41FA5}">
                      <a16:colId xmlns:a16="http://schemas.microsoft.com/office/drawing/2014/main" val="654868488"/>
                    </a:ext>
                  </a:extLst>
                </a:gridCol>
                <a:gridCol w="8093560">
                  <a:extLst>
                    <a:ext uri="{9D8B030D-6E8A-4147-A177-3AD203B41FA5}">
                      <a16:colId xmlns:a16="http://schemas.microsoft.com/office/drawing/2014/main" val="322006584"/>
                    </a:ext>
                  </a:extLst>
                </a:gridCol>
                <a:gridCol w="1623735">
                  <a:extLst>
                    <a:ext uri="{9D8B030D-6E8A-4147-A177-3AD203B41FA5}">
                      <a16:colId xmlns:a16="http://schemas.microsoft.com/office/drawing/2014/main" val="3124412163"/>
                    </a:ext>
                  </a:extLst>
                </a:gridCol>
              </a:tblGrid>
              <a:tr h="2148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항목명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smtClean="0">
                          <a:effectLst/>
                        </a:rPr>
                        <a:t>설명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7357"/>
                  </a:ext>
                </a:extLst>
              </a:tr>
              <a:tr h="0">
                <a:tc rowSpan="10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결재선실행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기안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이용가능 메뉴에서 업무를 조작 및 등록하여 상위결재자에게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업무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8666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이체한도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범위내인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경우라면 기안과 동시에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필요시 상위결재자에게 의로도 가능함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650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업무 확인 또는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감사자등이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 사용하는 업무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206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승이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실행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) 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권한이 없으므로 반드시 해당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결재단계에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다른 결재자가 있어야함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924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결재단계에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있는 모든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확인자가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확인을 해야지만 해당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결재단계에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있는 결재자가 결재 진행이 가능함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208999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모든결재자가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확인 후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최종 실행함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229542"/>
                  </a:ext>
                </a:extLst>
              </a:tr>
              <a:tr h="118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이체한도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차감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678683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본인의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이체한도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800" dirty="0" err="1" smtClean="0">
                          <a:solidFill>
                            <a:srgbClr val="000000"/>
                          </a:solidFill>
                        </a:rPr>
                        <a:t>범위내에서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 업무를 완료하여 실행하는 방식</a:t>
                      </a:r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altLang="ko-KR" sz="800" dirty="0">
                        <a:solidFill>
                          <a:srgbClr val="000000"/>
                        </a:solidFill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22470"/>
                  </a:ext>
                </a:extLst>
              </a:tr>
              <a:tr h="1185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있는 경우 모든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확인자의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확인 후 처리 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016255"/>
                  </a:ext>
                </a:extLst>
              </a:tr>
              <a:tr h="1185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있는 경우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AS-IS “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승인자지정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75719"/>
                  </a:ext>
                </a:extLst>
              </a:tr>
              <a:tr h="118533">
                <a:tc rowSpan="3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PUSH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결재자 및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확인자에게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통지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시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경우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)” PUSH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발송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</a:t>
                      </a:r>
                      <a:endParaRPr lang="en-US" alt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187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결재자 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승인자에게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통지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결재단계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상위결재자가 존재하는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에서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한 경우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)” PUSH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만 발송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??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828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내 모든 담당자에게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통지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630179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결재단계에는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명에서 최대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명까지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설정 가능함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포함이며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존재 시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확인자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명씩 설정 필수임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866757"/>
                  </a:ext>
                </a:extLst>
              </a:tr>
              <a:tr h="155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결재단계는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단계에서 최대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까지만 설정 가능함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6237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승인자는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명만 설정 가능하며 최종 단계만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승인단계로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설정 가능함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1341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승인단계가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있는 경우에는 하위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결재단계에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한도가 충족하는 결재권자가 있어도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결재의뢰만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가능하며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승인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8545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단독결재불가 사용자는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승인자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및 최종결재단계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결재권자로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지정이 불가함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05377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1576" y="3588"/>
            <a:ext cx="47422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000" b="1" dirty="0">
                <a:latin typeface="+mn-ea"/>
                <a:cs typeface="Segoe UI" panose="020B0502040204020203" pitchFamily="34" charset="0"/>
              </a:rPr>
              <a:t>0.1. </a:t>
            </a:r>
            <a:r>
              <a:rPr lang="ko-KR" altLang="en-US" sz="2000" b="1" dirty="0" smtClean="0">
                <a:latin typeface="+mn-ea"/>
                <a:cs typeface="Segoe UI" panose="020B0502040204020203" pitchFamily="34" charset="0"/>
              </a:rPr>
              <a:t>결재선 정책 정의</a:t>
            </a:r>
            <a:endParaRPr lang="en-US" altLang="ko-KR" sz="20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57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0.2.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41467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0.2.1. IB_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0.2.2. MB_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6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1576" y="3588"/>
            <a:ext cx="47422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000" b="1" dirty="0" smtClean="0">
                <a:latin typeface="+mn-ea"/>
                <a:cs typeface="Segoe UI" panose="020B0502040204020203" pitchFamily="34" charset="0"/>
              </a:rPr>
              <a:t>0.2.1. IB_</a:t>
            </a:r>
            <a:r>
              <a:rPr lang="ko-KR" altLang="en-US" sz="2000" b="1" dirty="0" err="1" smtClean="0">
                <a:latin typeface="+mn-ea"/>
                <a:cs typeface="Segoe UI" panose="020B0502040204020203" pitchFamily="34" charset="0"/>
              </a:rPr>
              <a:t>결재선관리</a:t>
            </a:r>
            <a:r>
              <a:rPr lang="ko-KR" altLang="en-US" sz="20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000" b="1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en-US" altLang="ko-KR" sz="2000" b="1" dirty="0"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061158"/>
              </p:ext>
            </p:extLst>
          </p:nvPr>
        </p:nvGraphicFramePr>
        <p:xfrm>
          <a:off x="294036" y="542254"/>
          <a:ext cx="11598231" cy="1783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8236">
                  <a:extLst>
                    <a:ext uri="{9D8B030D-6E8A-4147-A177-3AD203B41FA5}">
                      <a16:colId xmlns:a16="http://schemas.microsoft.com/office/drawing/2014/main" val="88030789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582956732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777615661"/>
                    </a:ext>
                  </a:extLst>
                </a:gridCol>
                <a:gridCol w="1201182">
                  <a:extLst>
                    <a:ext uri="{9D8B030D-6E8A-4147-A177-3AD203B41FA5}">
                      <a16:colId xmlns:a16="http://schemas.microsoft.com/office/drawing/2014/main" val="3640574068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2440910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123191791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3373075969"/>
                    </a:ext>
                  </a:extLst>
                </a:gridCol>
                <a:gridCol w="4814413">
                  <a:extLst>
                    <a:ext uri="{9D8B030D-6E8A-4147-A177-3AD203B41FA5}">
                      <a16:colId xmlns:a16="http://schemas.microsoft.com/office/drawing/2014/main" val="973457149"/>
                    </a:ext>
                  </a:extLst>
                </a:gridCol>
              </a:tblGrid>
              <a:tr h="1709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업무구분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타이틀명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latin typeface="+mn-ea"/>
                          <a:ea typeface="+mn-ea"/>
                        </a:rPr>
                        <a:t>화면설명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43823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92734"/>
                  </a:ext>
                </a:extLst>
              </a:tr>
              <a:tr h="1466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결재선기본설정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기본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동일화면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0768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결재선구성</a:t>
                      </a:r>
                      <a:endParaRPr lang="en-US" altLang="ko-KR" sz="7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동일화면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12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결재선입력확인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입력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동일화면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5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삭제동일화면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572908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결재선관리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상세 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3073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598703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84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44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1576" y="3588"/>
            <a:ext cx="47422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000" b="1" dirty="0" smtClean="0">
                <a:latin typeface="+mn-ea"/>
                <a:cs typeface="Segoe UI" panose="020B0502040204020203" pitchFamily="34" charset="0"/>
              </a:rPr>
              <a:t>0.2.2. MB_</a:t>
            </a:r>
            <a:r>
              <a:rPr lang="ko-KR" altLang="en-US" sz="2000" b="1" dirty="0" smtClean="0">
                <a:latin typeface="+mn-ea"/>
                <a:cs typeface="Segoe UI" panose="020B0502040204020203" pitchFamily="34" charset="0"/>
              </a:rPr>
              <a:t>결재선 대상 </a:t>
            </a:r>
            <a:r>
              <a:rPr lang="ko-KR" altLang="en-US" sz="2000" b="1" dirty="0" err="1" smtClean="0">
                <a:latin typeface="+mn-ea"/>
                <a:cs typeface="Segoe UI" panose="020B0502040204020203" pitchFamily="34" charset="0"/>
              </a:rPr>
              <a:t>화면목록</a:t>
            </a:r>
            <a:endParaRPr lang="en-US" altLang="ko-KR" sz="2000" b="1" dirty="0"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76336"/>
              </p:ext>
            </p:extLst>
          </p:nvPr>
        </p:nvGraphicFramePr>
        <p:xfrm>
          <a:off x="294036" y="542254"/>
          <a:ext cx="11598231" cy="20059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8236">
                  <a:extLst>
                    <a:ext uri="{9D8B030D-6E8A-4147-A177-3AD203B41FA5}">
                      <a16:colId xmlns:a16="http://schemas.microsoft.com/office/drawing/2014/main" val="88030789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582956732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777615661"/>
                    </a:ext>
                  </a:extLst>
                </a:gridCol>
                <a:gridCol w="1201182">
                  <a:extLst>
                    <a:ext uri="{9D8B030D-6E8A-4147-A177-3AD203B41FA5}">
                      <a16:colId xmlns:a16="http://schemas.microsoft.com/office/drawing/2014/main" val="3640574068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2440910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123191791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3373075969"/>
                    </a:ext>
                  </a:extLst>
                </a:gridCol>
                <a:gridCol w="4814413">
                  <a:extLst>
                    <a:ext uri="{9D8B030D-6E8A-4147-A177-3AD203B41FA5}">
                      <a16:colId xmlns:a16="http://schemas.microsoft.com/office/drawing/2014/main" val="973457149"/>
                    </a:ext>
                  </a:extLst>
                </a:gridCol>
              </a:tblGrid>
              <a:tr h="1709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업무구분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타이틀명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화면구분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latin typeface="+mn-ea"/>
                          <a:ea typeface="+mn-ea"/>
                        </a:rPr>
                        <a:t>화면설명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43823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392734"/>
                  </a:ext>
                </a:extLst>
              </a:tr>
              <a:tr h="1466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결재선기본설정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동일화면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0768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결재선구성</a:t>
                      </a:r>
                      <a:endParaRPr lang="en-US" altLang="ko-KR" sz="7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그리드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동일화면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12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결재선입력확인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동일화면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5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삭제동일화면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572908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lang="en-US" altLang="ko-KR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3073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구성원추가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구성원추가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62720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598703"/>
                  </a:ext>
                </a:extLst>
              </a:tr>
              <a:tr h="1317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결재선관리</a:t>
                      </a:r>
                      <a:endParaRPr kumimoji="0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popup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84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09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324008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0.3.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흐름도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324008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0.3.1. IB_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결재선흐름도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0.3.2. MB_</a:t>
            </a:r>
            <a:r>
              <a:rPr lang="ko-KR" altLang="en-US" dirty="0" smtClean="0">
                <a:latin typeface="+mn-ea"/>
                <a:cs typeface="Segoe UI" panose="020B0502040204020203" pitchFamily="34" charset="0"/>
              </a:rPr>
              <a:t>결재선흐름도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48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159326" y="26845"/>
            <a:ext cx="3427035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0.3.1. IB_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흐름도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38805"/>
              </p:ext>
            </p:extLst>
          </p:nvPr>
        </p:nvGraphicFramePr>
        <p:xfrm>
          <a:off x="1206581" y="2247417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목록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93459"/>
              </p:ext>
            </p:extLst>
          </p:nvPr>
        </p:nvGraphicFramePr>
        <p:xfrm>
          <a:off x="7879539" y="944113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837246"/>
              </p:ext>
            </p:extLst>
          </p:nvPr>
        </p:nvGraphicFramePr>
        <p:xfrm>
          <a:off x="5394337" y="934896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구성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92991"/>
              </p:ext>
            </p:extLst>
          </p:nvPr>
        </p:nvGraphicFramePr>
        <p:xfrm>
          <a:off x="6636938" y="944113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545280"/>
              </p:ext>
            </p:extLst>
          </p:nvPr>
        </p:nvGraphicFramePr>
        <p:xfrm>
          <a:off x="5391740" y="2113747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결재선 불러오기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" name="직선 화살표 연결선 21"/>
          <p:cNvCxnSpPr>
            <a:stCxn id="12" idx="2"/>
            <a:endCxn id="21" idx="0"/>
          </p:cNvCxnSpPr>
          <p:nvPr/>
        </p:nvCxnSpPr>
        <p:spPr>
          <a:xfrm>
            <a:off x="5826337" y="1916113"/>
            <a:ext cx="3617" cy="1976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5046247" y="1204112"/>
            <a:ext cx="33566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6270766" y="1204112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7500938" y="1204112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54775"/>
              </p:ext>
            </p:extLst>
          </p:nvPr>
        </p:nvGraphicFramePr>
        <p:xfrm>
          <a:off x="9137664" y="934281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5" name="직선 화살표 연결선 34"/>
          <p:cNvCxnSpPr/>
          <p:nvPr/>
        </p:nvCxnSpPr>
        <p:spPr>
          <a:xfrm>
            <a:off x="8759063" y="1206373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/>
          <p:nvPr/>
        </p:nvCxnSpPr>
        <p:spPr>
          <a:xfrm flipV="1">
            <a:off x="2070581" y="1204112"/>
            <a:ext cx="2099237" cy="1317120"/>
          </a:xfrm>
          <a:prstGeom prst="bentConnector3">
            <a:avLst>
              <a:gd name="adj1" fmla="val 7248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246881"/>
              </p:ext>
            </p:extLst>
          </p:nvPr>
        </p:nvGraphicFramePr>
        <p:xfrm>
          <a:off x="5409639" y="4005138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구성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75942"/>
              </p:ext>
            </p:extLst>
          </p:nvPr>
        </p:nvGraphicFramePr>
        <p:xfrm>
          <a:off x="6622078" y="4000764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76368"/>
              </p:ext>
            </p:extLst>
          </p:nvPr>
        </p:nvGraphicFramePr>
        <p:xfrm>
          <a:off x="7855513" y="4000764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34004"/>
              </p:ext>
            </p:extLst>
          </p:nvPr>
        </p:nvGraphicFramePr>
        <p:xfrm>
          <a:off x="9113638" y="4000764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6" name="직선 화살표 연결선 45"/>
          <p:cNvCxnSpPr/>
          <p:nvPr/>
        </p:nvCxnSpPr>
        <p:spPr>
          <a:xfrm>
            <a:off x="8735037" y="4263024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839380"/>
              </p:ext>
            </p:extLst>
          </p:nvPr>
        </p:nvGraphicFramePr>
        <p:xfrm>
          <a:off x="5409639" y="2836356"/>
          <a:ext cx="864000" cy="75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상세 보기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3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0" name="꺾인 연결선 49"/>
          <p:cNvCxnSpPr>
            <a:stCxn id="8" idx="3"/>
            <a:endCxn id="49" idx="1"/>
          </p:cNvCxnSpPr>
          <p:nvPr/>
        </p:nvCxnSpPr>
        <p:spPr>
          <a:xfrm>
            <a:off x="2070581" y="2738025"/>
            <a:ext cx="3339058" cy="473496"/>
          </a:xfrm>
          <a:prstGeom prst="bentConnector3">
            <a:avLst>
              <a:gd name="adj1" fmla="val 8209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endCxn id="40" idx="0"/>
          </p:cNvCxnSpPr>
          <p:nvPr/>
        </p:nvCxnSpPr>
        <p:spPr>
          <a:xfrm>
            <a:off x="5841639" y="3586686"/>
            <a:ext cx="0" cy="4184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판단 52"/>
          <p:cNvSpPr/>
          <p:nvPr/>
        </p:nvSpPr>
        <p:spPr>
          <a:xfrm>
            <a:off x="3888695" y="4000764"/>
            <a:ext cx="1081182" cy="68372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선택한 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결재선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 err="1">
                <a:solidFill>
                  <a:sysClr val="windowText" lastClr="000000"/>
                </a:solidFill>
                <a:latin typeface="+mn-ea"/>
              </a:rPr>
              <a:t>결재진행중</a:t>
            </a:r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 여부</a:t>
            </a:r>
          </a:p>
        </p:txBody>
      </p:sp>
      <p:cxnSp>
        <p:nvCxnSpPr>
          <p:cNvPr id="55" name="꺾인 연결선 54"/>
          <p:cNvCxnSpPr>
            <a:endCxn id="53" idx="0"/>
          </p:cNvCxnSpPr>
          <p:nvPr/>
        </p:nvCxnSpPr>
        <p:spPr>
          <a:xfrm>
            <a:off x="2070581" y="2998024"/>
            <a:ext cx="2358705" cy="10027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3" idx="3"/>
          </p:cNvCxnSpPr>
          <p:nvPr/>
        </p:nvCxnSpPr>
        <p:spPr>
          <a:xfrm flipV="1">
            <a:off x="4969877" y="4342626"/>
            <a:ext cx="439762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순서도: 판단 61"/>
          <p:cNvSpPr/>
          <p:nvPr/>
        </p:nvSpPr>
        <p:spPr>
          <a:xfrm>
            <a:off x="1100443" y="4000764"/>
            <a:ext cx="1081182" cy="68372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선택한 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결재선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 err="1">
                <a:solidFill>
                  <a:sysClr val="windowText" lastClr="000000"/>
                </a:solidFill>
                <a:latin typeface="+mn-ea"/>
              </a:rPr>
              <a:t>결재진행중</a:t>
            </a:r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 여부</a:t>
            </a:r>
          </a:p>
        </p:txBody>
      </p:sp>
      <p:cxnSp>
        <p:nvCxnSpPr>
          <p:cNvPr id="70" name="직선 화살표 연결선 69"/>
          <p:cNvCxnSpPr/>
          <p:nvPr/>
        </p:nvCxnSpPr>
        <p:spPr>
          <a:xfrm>
            <a:off x="6286068" y="4342626"/>
            <a:ext cx="3082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표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811525"/>
              </p:ext>
            </p:extLst>
          </p:nvPr>
        </p:nvGraphicFramePr>
        <p:xfrm>
          <a:off x="2516242" y="3924358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7" name="꺾인 연결선 76"/>
          <p:cNvCxnSpPr>
            <a:stCxn id="53" idx="2"/>
          </p:cNvCxnSpPr>
          <p:nvPr/>
        </p:nvCxnSpPr>
        <p:spPr>
          <a:xfrm rot="5400000" flipH="1">
            <a:off x="2473443" y="2728647"/>
            <a:ext cx="1580711" cy="2330974"/>
          </a:xfrm>
          <a:prstGeom prst="bentConnector4">
            <a:avLst>
              <a:gd name="adj1" fmla="val -14462"/>
              <a:gd name="adj2" fmla="val 291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62" idx="2"/>
            <a:endCxn id="8" idx="1"/>
          </p:cNvCxnSpPr>
          <p:nvPr/>
        </p:nvCxnSpPr>
        <p:spPr>
          <a:xfrm rot="5400000" flipH="1">
            <a:off x="450576" y="3494031"/>
            <a:ext cx="1946464" cy="434453"/>
          </a:xfrm>
          <a:prstGeom prst="bentConnector4">
            <a:avLst>
              <a:gd name="adj1" fmla="val -11744"/>
              <a:gd name="adj2" fmla="val 17704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62" idx="3"/>
            <a:endCxn id="75" idx="1"/>
          </p:cNvCxnSpPr>
          <p:nvPr/>
        </p:nvCxnSpPr>
        <p:spPr>
          <a:xfrm>
            <a:off x="2181625" y="4342627"/>
            <a:ext cx="334617" cy="3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8512"/>
              </p:ext>
            </p:extLst>
          </p:nvPr>
        </p:nvGraphicFramePr>
        <p:xfrm>
          <a:off x="2524004" y="4983787"/>
          <a:ext cx="864000" cy="82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5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35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8" name="직선 화살표 연결선 87"/>
          <p:cNvCxnSpPr/>
          <p:nvPr/>
        </p:nvCxnSpPr>
        <p:spPr>
          <a:xfrm>
            <a:off x="7486078" y="4337693"/>
            <a:ext cx="3082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8" idx="2"/>
            <a:endCxn id="62" idx="0"/>
          </p:cNvCxnSpPr>
          <p:nvPr/>
        </p:nvCxnSpPr>
        <p:spPr>
          <a:xfrm>
            <a:off x="1638581" y="3228634"/>
            <a:ext cx="2453" cy="7721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endCxn id="87" idx="0"/>
          </p:cNvCxnSpPr>
          <p:nvPr/>
        </p:nvCxnSpPr>
        <p:spPr>
          <a:xfrm>
            <a:off x="2956004" y="4761558"/>
            <a:ext cx="0" cy="2222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모서리가 둥근 직사각형 105"/>
          <p:cNvSpPr/>
          <p:nvPr/>
        </p:nvSpPr>
        <p:spPr>
          <a:xfrm>
            <a:off x="1192978" y="1564125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PROCESS </a:t>
            </a:r>
            <a:r>
              <a:rPr lang="ko-KR" altLang="en-US" sz="700" dirty="0">
                <a:solidFill>
                  <a:schemeClr val="bg1"/>
                </a:solidFill>
              </a:rPr>
              <a:t>시작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2508528" y="6067459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46226" y="2537969"/>
            <a:ext cx="7938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상세보기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27092" y="2306712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등록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06759" y="2989210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수정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5882" y="3281374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삭제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01123" y="4655016"/>
            <a:ext cx="2295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Y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166848" y="4139313"/>
            <a:ext cx="2471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N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cxnSp>
        <p:nvCxnSpPr>
          <p:cNvPr id="115" name="직선 화살표 연결선 114"/>
          <p:cNvCxnSpPr>
            <a:stCxn id="87" idx="2"/>
            <a:endCxn id="107" idx="0"/>
          </p:cNvCxnSpPr>
          <p:nvPr/>
        </p:nvCxnSpPr>
        <p:spPr>
          <a:xfrm>
            <a:off x="2956004" y="5807192"/>
            <a:ext cx="0" cy="2602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/>
          <p:cNvSpPr/>
          <p:nvPr/>
        </p:nvSpPr>
        <p:spPr>
          <a:xfrm>
            <a:off x="6640776" y="3091749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19" name="직선 화살표 연결선 118"/>
          <p:cNvCxnSpPr>
            <a:stCxn id="49" idx="3"/>
            <a:endCxn id="118" idx="1"/>
          </p:cNvCxnSpPr>
          <p:nvPr/>
        </p:nvCxnSpPr>
        <p:spPr>
          <a:xfrm>
            <a:off x="6273639" y="3211521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389203" y="4645405"/>
            <a:ext cx="2295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Y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954928" y="4129702"/>
            <a:ext cx="2471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N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10338406" y="4139313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26" name="직선 화살표 연결선 125"/>
          <p:cNvCxnSpPr>
            <a:endCxn id="125" idx="1"/>
          </p:cNvCxnSpPr>
          <p:nvPr/>
        </p:nvCxnSpPr>
        <p:spPr>
          <a:xfrm>
            <a:off x="9971269" y="4259085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/>
          <p:cNvSpPr/>
          <p:nvPr/>
        </p:nvSpPr>
        <p:spPr>
          <a:xfrm>
            <a:off x="10380265" y="1084340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28" name="직선 화살표 연결선 127"/>
          <p:cNvCxnSpPr>
            <a:endCxn id="127" idx="1"/>
          </p:cNvCxnSpPr>
          <p:nvPr/>
        </p:nvCxnSpPr>
        <p:spPr>
          <a:xfrm>
            <a:off x="10013128" y="1204112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>
            <a:stCxn id="106" idx="2"/>
            <a:endCxn id="8" idx="0"/>
          </p:cNvCxnSpPr>
          <p:nvPr/>
        </p:nvCxnSpPr>
        <p:spPr>
          <a:xfrm flipH="1">
            <a:off x="1638581" y="1803668"/>
            <a:ext cx="1873" cy="4437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724866"/>
              </p:ext>
            </p:extLst>
          </p:nvPr>
        </p:nvGraphicFramePr>
        <p:xfrm>
          <a:off x="4165544" y="944113"/>
          <a:ext cx="864000" cy="976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기본설정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8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5319930" y="3595600"/>
            <a:ext cx="5180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 err="1">
                <a:solidFill>
                  <a:srgbClr val="C00000"/>
                </a:solidFill>
              </a:rPr>
              <a:t>수정선택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637"/>
              </p:ext>
            </p:extLst>
          </p:nvPr>
        </p:nvGraphicFramePr>
        <p:xfrm>
          <a:off x="5394337" y="5692294"/>
          <a:ext cx="864000" cy="75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3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5399806" y="5570032"/>
            <a:ext cx="876429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>
                <a:solidFill>
                  <a:schemeClr val="bg1"/>
                </a:solidFill>
                <a:ea typeface="맑은 고딕"/>
              </a:rPr>
              <a:t>  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공통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197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159326" y="26845"/>
            <a:ext cx="3427035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0.3.2. MB_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흐름도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1206581" y="2663589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목록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7879539" y="1360285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5394337" y="1351068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구성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5394337" y="485949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구성원 추가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6594347" y="485949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 구성원 정보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" name="직선 화살표 연결선 3"/>
          <p:cNvCxnSpPr>
            <a:endCxn id="13" idx="2"/>
          </p:cNvCxnSpPr>
          <p:nvPr/>
        </p:nvCxnSpPr>
        <p:spPr>
          <a:xfrm flipV="1">
            <a:off x="5826337" y="1005948"/>
            <a:ext cx="6214" cy="345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12" idx="0"/>
            <a:endCxn id="14" idx="2"/>
          </p:cNvCxnSpPr>
          <p:nvPr/>
        </p:nvCxnSpPr>
        <p:spPr>
          <a:xfrm rot="5400000" flipH="1" flipV="1">
            <a:off x="6256889" y="575396"/>
            <a:ext cx="345120" cy="120622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6636938" y="1360285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5391740" y="2529919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결재선 불러오기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" name="직선 화살표 연결선 21"/>
          <p:cNvCxnSpPr>
            <a:stCxn id="12" idx="2"/>
            <a:endCxn id="21" idx="0"/>
          </p:cNvCxnSpPr>
          <p:nvPr/>
        </p:nvCxnSpPr>
        <p:spPr>
          <a:xfrm>
            <a:off x="5826337" y="2332285"/>
            <a:ext cx="3617" cy="1976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5046247" y="1620284"/>
            <a:ext cx="33566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6270766" y="1620284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7500938" y="1620284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/>
          <p:cNvGraphicFramePr>
            <a:graphicFrameLocks noGrp="1"/>
          </p:cNvGraphicFramePr>
          <p:nvPr>
            <p:extLst/>
          </p:nvPr>
        </p:nvGraphicFramePr>
        <p:xfrm>
          <a:off x="9137664" y="1350453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5" name="직선 화살표 연결선 34"/>
          <p:cNvCxnSpPr/>
          <p:nvPr/>
        </p:nvCxnSpPr>
        <p:spPr>
          <a:xfrm>
            <a:off x="8759063" y="1622545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/>
          <p:nvPr/>
        </p:nvCxnSpPr>
        <p:spPr>
          <a:xfrm flipV="1">
            <a:off x="2070581" y="1620284"/>
            <a:ext cx="2099237" cy="1317120"/>
          </a:xfrm>
          <a:prstGeom prst="bentConnector3">
            <a:avLst>
              <a:gd name="adj1" fmla="val 7248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표 39"/>
          <p:cNvGraphicFramePr>
            <a:graphicFrameLocks noGrp="1"/>
          </p:cNvGraphicFramePr>
          <p:nvPr>
            <p:extLst/>
          </p:nvPr>
        </p:nvGraphicFramePr>
        <p:xfrm>
          <a:off x="5409639" y="4421310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구성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/>
          </p:nvPr>
        </p:nvGraphicFramePr>
        <p:xfrm>
          <a:off x="6622078" y="5898605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구성원 추가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/>
          </p:nvPr>
        </p:nvGraphicFramePr>
        <p:xfrm>
          <a:off x="7846946" y="5898605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 구성원 정보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/>
          </p:nvPr>
        </p:nvGraphicFramePr>
        <p:xfrm>
          <a:off x="6622078" y="4416936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/>
          </p:nvPr>
        </p:nvGraphicFramePr>
        <p:xfrm>
          <a:off x="7855513" y="4416936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표 44"/>
          <p:cNvGraphicFramePr>
            <a:graphicFrameLocks noGrp="1"/>
          </p:cNvGraphicFramePr>
          <p:nvPr>
            <p:extLst/>
          </p:nvPr>
        </p:nvGraphicFramePr>
        <p:xfrm>
          <a:off x="9113638" y="4416936"/>
          <a:ext cx="864000" cy="98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31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6" name="직선 화살표 연결선 45"/>
          <p:cNvCxnSpPr/>
          <p:nvPr/>
        </p:nvCxnSpPr>
        <p:spPr>
          <a:xfrm>
            <a:off x="8735037" y="4679196"/>
            <a:ext cx="36617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47"/>
          <p:cNvGraphicFramePr>
            <a:graphicFrameLocks noGrp="1"/>
          </p:cNvGraphicFramePr>
          <p:nvPr>
            <p:extLst/>
          </p:nvPr>
        </p:nvGraphicFramePr>
        <p:xfrm>
          <a:off x="5399807" y="5916407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 smtClean="0">
                          <a:solidFill>
                            <a:prstClr val="black"/>
                          </a:solidFill>
                          <a:ea typeface="맑은 고딕"/>
                        </a:rPr>
                        <a:t>결재선 기본 설정</a:t>
                      </a:r>
                      <a:r>
                        <a:rPr lang="en-US" altLang="ko-KR" sz="800" b="0" spc="-150" dirty="0" smtClean="0">
                          <a:solidFill>
                            <a:prstClr val="black"/>
                          </a:solidFill>
                          <a:ea typeface="맑은 고딕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변경</a:t>
                      </a:r>
                      <a:r>
                        <a:rPr lang="en-US" altLang="ko-KR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)</a:t>
                      </a:r>
                      <a:endParaRPr lang="ko-KR" altLang="en-US" sz="800" b="0" spc="-150" dirty="0">
                        <a:solidFill>
                          <a:prstClr val="black"/>
                        </a:solidFill>
                        <a:ea typeface="맑은 고딕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표 48"/>
          <p:cNvGraphicFramePr>
            <a:graphicFrameLocks noGrp="1"/>
          </p:cNvGraphicFramePr>
          <p:nvPr>
            <p:extLst/>
          </p:nvPr>
        </p:nvGraphicFramePr>
        <p:xfrm>
          <a:off x="5409639" y="3252528"/>
          <a:ext cx="864000" cy="75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상세 보기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3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0" name="꺾인 연결선 49"/>
          <p:cNvCxnSpPr>
            <a:stCxn id="8" idx="3"/>
            <a:endCxn id="49" idx="1"/>
          </p:cNvCxnSpPr>
          <p:nvPr/>
        </p:nvCxnSpPr>
        <p:spPr>
          <a:xfrm>
            <a:off x="2070581" y="3154197"/>
            <a:ext cx="3339058" cy="473496"/>
          </a:xfrm>
          <a:prstGeom prst="bentConnector3">
            <a:avLst>
              <a:gd name="adj1" fmla="val 8209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endCxn id="40" idx="0"/>
          </p:cNvCxnSpPr>
          <p:nvPr/>
        </p:nvCxnSpPr>
        <p:spPr>
          <a:xfrm>
            <a:off x="5841639" y="4002858"/>
            <a:ext cx="0" cy="4184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판단 52"/>
          <p:cNvSpPr/>
          <p:nvPr/>
        </p:nvSpPr>
        <p:spPr>
          <a:xfrm>
            <a:off x="3888695" y="4416936"/>
            <a:ext cx="1081182" cy="68372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선택한 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결재선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 err="1">
                <a:solidFill>
                  <a:sysClr val="windowText" lastClr="000000"/>
                </a:solidFill>
                <a:latin typeface="+mn-ea"/>
              </a:rPr>
              <a:t>결재진행중</a:t>
            </a:r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 여부</a:t>
            </a:r>
          </a:p>
        </p:txBody>
      </p:sp>
      <p:cxnSp>
        <p:nvCxnSpPr>
          <p:cNvPr id="55" name="꺾인 연결선 54"/>
          <p:cNvCxnSpPr>
            <a:endCxn id="53" idx="0"/>
          </p:cNvCxnSpPr>
          <p:nvPr/>
        </p:nvCxnSpPr>
        <p:spPr>
          <a:xfrm>
            <a:off x="2070581" y="3414196"/>
            <a:ext cx="2358705" cy="10027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3" idx="3"/>
          </p:cNvCxnSpPr>
          <p:nvPr/>
        </p:nvCxnSpPr>
        <p:spPr>
          <a:xfrm flipV="1">
            <a:off x="4969877" y="4758798"/>
            <a:ext cx="439762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순서도: 판단 61"/>
          <p:cNvSpPr/>
          <p:nvPr/>
        </p:nvSpPr>
        <p:spPr>
          <a:xfrm>
            <a:off x="1100443" y="4416936"/>
            <a:ext cx="1081182" cy="683725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선택한 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결재선</a:t>
            </a:r>
            <a:endParaRPr lang="en-US" altLang="ko-KR" sz="700" dirty="0">
              <a:solidFill>
                <a:sysClr val="windowText" lastClr="000000"/>
              </a:solidFill>
              <a:latin typeface="+mn-ea"/>
            </a:endParaRPr>
          </a:p>
          <a:p>
            <a:pPr algn="ctr"/>
            <a:r>
              <a:rPr lang="ko-KR" altLang="en-US" sz="700" dirty="0" err="1">
                <a:solidFill>
                  <a:sysClr val="windowText" lastClr="000000"/>
                </a:solidFill>
                <a:latin typeface="+mn-ea"/>
              </a:rPr>
              <a:t>결재진행중</a:t>
            </a:r>
            <a:r>
              <a:rPr lang="ko-KR" altLang="en-US" sz="700" dirty="0">
                <a:solidFill>
                  <a:sysClr val="windowText" lastClr="000000"/>
                </a:solidFill>
                <a:latin typeface="+mn-ea"/>
              </a:rPr>
              <a:t> 여부</a:t>
            </a:r>
          </a:p>
        </p:txBody>
      </p:sp>
      <p:cxnSp>
        <p:nvCxnSpPr>
          <p:cNvPr id="70" name="직선 화살표 연결선 69"/>
          <p:cNvCxnSpPr/>
          <p:nvPr/>
        </p:nvCxnSpPr>
        <p:spPr>
          <a:xfrm>
            <a:off x="6286068" y="4758798"/>
            <a:ext cx="3082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표 74"/>
          <p:cNvGraphicFramePr>
            <a:graphicFrameLocks noGrp="1"/>
          </p:cNvGraphicFramePr>
          <p:nvPr>
            <p:extLst/>
          </p:nvPr>
        </p:nvGraphicFramePr>
        <p:xfrm>
          <a:off x="2516242" y="4340530"/>
          <a:ext cx="879524" cy="8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공통프로세스</a:t>
                      </a: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공동인증서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금융인증서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간편인증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7" name="꺾인 연결선 76"/>
          <p:cNvCxnSpPr>
            <a:stCxn id="53" idx="2"/>
          </p:cNvCxnSpPr>
          <p:nvPr/>
        </p:nvCxnSpPr>
        <p:spPr>
          <a:xfrm rot="5400000" flipH="1">
            <a:off x="2473443" y="3144819"/>
            <a:ext cx="1580711" cy="2330974"/>
          </a:xfrm>
          <a:prstGeom prst="bentConnector4">
            <a:avLst>
              <a:gd name="adj1" fmla="val -14462"/>
              <a:gd name="adj2" fmla="val 2911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62" idx="2"/>
            <a:endCxn id="8" idx="1"/>
          </p:cNvCxnSpPr>
          <p:nvPr/>
        </p:nvCxnSpPr>
        <p:spPr>
          <a:xfrm rot="5400000" flipH="1">
            <a:off x="450576" y="3910203"/>
            <a:ext cx="1946464" cy="434453"/>
          </a:xfrm>
          <a:prstGeom prst="bentConnector4">
            <a:avLst>
              <a:gd name="adj1" fmla="val -11744"/>
              <a:gd name="adj2" fmla="val 17704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62" idx="3"/>
            <a:endCxn id="75" idx="1"/>
          </p:cNvCxnSpPr>
          <p:nvPr/>
        </p:nvCxnSpPr>
        <p:spPr>
          <a:xfrm>
            <a:off x="2181625" y="4758799"/>
            <a:ext cx="334617" cy="3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표 86"/>
          <p:cNvGraphicFramePr>
            <a:graphicFrameLocks noGrp="1"/>
          </p:cNvGraphicFramePr>
          <p:nvPr>
            <p:extLst/>
          </p:nvPr>
        </p:nvGraphicFramePr>
        <p:xfrm>
          <a:off x="2524004" y="5399959"/>
          <a:ext cx="864000" cy="82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5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삭제완료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35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8" name="직선 화살표 연결선 87"/>
          <p:cNvCxnSpPr/>
          <p:nvPr/>
        </p:nvCxnSpPr>
        <p:spPr>
          <a:xfrm>
            <a:off x="7486078" y="4753865"/>
            <a:ext cx="30827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8" idx="2"/>
            <a:endCxn id="62" idx="0"/>
          </p:cNvCxnSpPr>
          <p:nvPr/>
        </p:nvCxnSpPr>
        <p:spPr>
          <a:xfrm>
            <a:off x="1638581" y="3644806"/>
            <a:ext cx="2453" cy="7721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endCxn id="87" idx="0"/>
          </p:cNvCxnSpPr>
          <p:nvPr/>
        </p:nvCxnSpPr>
        <p:spPr>
          <a:xfrm>
            <a:off x="2956004" y="5177730"/>
            <a:ext cx="0" cy="2222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stCxn id="40" idx="2"/>
            <a:endCxn id="48" idx="0"/>
          </p:cNvCxnSpPr>
          <p:nvPr/>
        </p:nvCxnSpPr>
        <p:spPr>
          <a:xfrm rot="5400000">
            <a:off x="5582890" y="5657658"/>
            <a:ext cx="513880" cy="3618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40" idx="2"/>
            <a:endCxn id="41" idx="0"/>
          </p:cNvCxnSpPr>
          <p:nvPr/>
        </p:nvCxnSpPr>
        <p:spPr>
          <a:xfrm rot="16200000" flipH="1">
            <a:off x="6202926" y="5041239"/>
            <a:ext cx="496078" cy="12186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40" idx="2"/>
            <a:endCxn id="42" idx="0"/>
          </p:cNvCxnSpPr>
          <p:nvPr/>
        </p:nvCxnSpPr>
        <p:spPr>
          <a:xfrm rot="16200000" flipH="1">
            <a:off x="6815360" y="4428805"/>
            <a:ext cx="496078" cy="244352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모서리가 둥근 직사각형 105"/>
          <p:cNvSpPr/>
          <p:nvPr/>
        </p:nvSpPr>
        <p:spPr>
          <a:xfrm>
            <a:off x="1192978" y="1980297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PROCESS </a:t>
            </a:r>
            <a:r>
              <a:rPr lang="ko-KR" altLang="en-US" sz="700" dirty="0">
                <a:solidFill>
                  <a:schemeClr val="bg1"/>
                </a:solidFill>
              </a:rPr>
              <a:t>시작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2508528" y="6483631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46226" y="2954141"/>
            <a:ext cx="7938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상세보기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27092" y="2722884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등록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06759" y="3405382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수정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5882" y="3697546"/>
            <a:ext cx="6270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>
                <a:solidFill>
                  <a:srgbClr val="C00000"/>
                </a:solidFill>
              </a:rPr>
              <a:t>결재선 삭제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01123" y="5071188"/>
            <a:ext cx="2295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Y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166848" y="4555485"/>
            <a:ext cx="2471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N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cxnSp>
        <p:nvCxnSpPr>
          <p:cNvPr id="115" name="직선 화살표 연결선 114"/>
          <p:cNvCxnSpPr>
            <a:stCxn id="87" idx="2"/>
            <a:endCxn id="107" idx="0"/>
          </p:cNvCxnSpPr>
          <p:nvPr/>
        </p:nvCxnSpPr>
        <p:spPr>
          <a:xfrm>
            <a:off x="2956004" y="6223364"/>
            <a:ext cx="0" cy="2602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/>
          <p:cNvSpPr/>
          <p:nvPr/>
        </p:nvSpPr>
        <p:spPr>
          <a:xfrm>
            <a:off x="6640776" y="3507921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19" name="직선 화살표 연결선 118"/>
          <p:cNvCxnSpPr>
            <a:stCxn id="49" idx="3"/>
            <a:endCxn id="118" idx="1"/>
          </p:cNvCxnSpPr>
          <p:nvPr/>
        </p:nvCxnSpPr>
        <p:spPr>
          <a:xfrm>
            <a:off x="6273639" y="3627693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389203" y="5061577"/>
            <a:ext cx="2295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Y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954928" y="4545874"/>
            <a:ext cx="2471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50" dirty="0">
                <a:solidFill>
                  <a:srgbClr val="C00000"/>
                </a:solidFill>
              </a:rPr>
              <a:t>N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10338406" y="4555485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26" name="직선 화살표 연결선 125"/>
          <p:cNvCxnSpPr>
            <a:endCxn id="125" idx="1"/>
          </p:cNvCxnSpPr>
          <p:nvPr/>
        </p:nvCxnSpPr>
        <p:spPr>
          <a:xfrm>
            <a:off x="9971269" y="4675257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/>
          <p:cNvSpPr/>
          <p:nvPr/>
        </p:nvSpPr>
        <p:spPr>
          <a:xfrm>
            <a:off x="10380265" y="1500512"/>
            <a:ext cx="894952" cy="239543"/>
          </a:xfrm>
          <a:prstGeom prst="round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POCCESS </a:t>
            </a:r>
            <a:r>
              <a:rPr lang="ko-KR" altLang="en-US" sz="700" dirty="0">
                <a:solidFill>
                  <a:schemeClr val="bg1"/>
                </a:solidFill>
              </a:rPr>
              <a:t>끝</a:t>
            </a:r>
          </a:p>
        </p:txBody>
      </p:sp>
      <p:cxnSp>
        <p:nvCxnSpPr>
          <p:cNvPr id="128" name="직선 화살표 연결선 127"/>
          <p:cNvCxnSpPr>
            <a:endCxn id="127" idx="1"/>
          </p:cNvCxnSpPr>
          <p:nvPr/>
        </p:nvCxnSpPr>
        <p:spPr>
          <a:xfrm>
            <a:off x="10013128" y="1620284"/>
            <a:ext cx="3671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>
            <a:stCxn id="106" idx="2"/>
            <a:endCxn id="8" idx="0"/>
          </p:cNvCxnSpPr>
          <p:nvPr/>
        </p:nvCxnSpPr>
        <p:spPr>
          <a:xfrm flipH="1">
            <a:off x="1638581" y="2219840"/>
            <a:ext cx="1873" cy="4437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표 72"/>
          <p:cNvGraphicFramePr>
            <a:graphicFrameLocks noGrp="1"/>
          </p:cNvGraphicFramePr>
          <p:nvPr>
            <p:extLst/>
          </p:nvPr>
        </p:nvGraphicFramePr>
        <p:xfrm>
          <a:off x="4169818" y="502505"/>
          <a:ext cx="876429" cy="51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3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7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9">
                <a:tc gridSpan="2">
                  <a:txBody>
                    <a:bodyPr/>
                    <a:lstStyle/>
                    <a:p>
                      <a:r>
                        <a:rPr lang="ko-KR" altLang="en-US" sz="800" b="0" spc="-150" dirty="0" smtClean="0">
                          <a:solidFill>
                            <a:prstClr val="black"/>
                          </a:solidFill>
                          <a:ea typeface="맑은 고딕"/>
                        </a:rPr>
                        <a:t>결재선 기본 설정</a:t>
                      </a:r>
                      <a:r>
                        <a:rPr lang="en-US" altLang="ko-KR" sz="800" b="0" spc="-150" dirty="0" smtClean="0">
                          <a:solidFill>
                            <a:prstClr val="black"/>
                          </a:solidFill>
                          <a:ea typeface="맑은 고딕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변경</a:t>
                      </a:r>
                      <a:r>
                        <a:rPr lang="en-US" altLang="ko-KR" sz="800" b="0" spc="-150" dirty="0">
                          <a:solidFill>
                            <a:prstClr val="black"/>
                          </a:solidFill>
                          <a:ea typeface="맑은 고딕"/>
                        </a:rPr>
                        <a:t>)</a:t>
                      </a:r>
                      <a:endParaRPr lang="ko-KR" altLang="en-US" sz="800" b="0" spc="-150" dirty="0">
                        <a:solidFill>
                          <a:prstClr val="black"/>
                        </a:solidFill>
                        <a:ea typeface="맑은 고딕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표 73"/>
          <p:cNvGraphicFramePr>
            <a:graphicFrameLocks noGrp="1"/>
          </p:cNvGraphicFramePr>
          <p:nvPr>
            <p:extLst/>
          </p:nvPr>
        </p:nvGraphicFramePr>
        <p:xfrm>
          <a:off x="4165544" y="1360285"/>
          <a:ext cx="864000" cy="976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6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 기본설정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8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4406" marR="84406" marT="36000" marB="3600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6" name="꺾인 연결선 75"/>
          <p:cNvCxnSpPr>
            <a:endCxn id="73" idx="2"/>
          </p:cNvCxnSpPr>
          <p:nvPr/>
        </p:nvCxnSpPr>
        <p:spPr>
          <a:xfrm rot="10800000">
            <a:off x="4608033" y="1022504"/>
            <a:ext cx="1218305" cy="17681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19930" y="4011772"/>
            <a:ext cx="5180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50" dirty="0" err="1">
                <a:solidFill>
                  <a:srgbClr val="C00000"/>
                </a:solidFill>
              </a:rPr>
              <a:t>수정선택</a:t>
            </a:r>
            <a:endParaRPr lang="ko-KR" altLang="en-US" sz="700" spc="-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98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7" y="2252098"/>
            <a:ext cx="594039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0.4. IB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공통가이드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및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공통화면</a:t>
            </a:r>
            <a:endParaRPr lang="ko-KR" altLang="en-US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35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표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53674"/>
              </p:ext>
            </p:extLst>
          </p:nvPr>
        </p:nvGraphicFramePr>
        <p:xfrm>
          <a:off x="9822663" y="557185"/>
          <a:ext cx="2195166" cy="796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IB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스토리보드는 </a:t>
                      </a:r>
                      <a:r>
                        <a:rPr lang="en-US" altLang="ko-KR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BODY </a:t>
                      </a:r>
                      <a:r>
                        <a:rPr lang="ko-KR" altLang="en-US" sz="8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영역만 작성함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00038" y="781396"/>
            <a:ext cx="7705118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300038" y="1147156"/>
            <a:ext cx="486216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NAVIGATION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6583680" y="1147156"/>
            <a:ext cx="142147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SITE MAP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162204" y="1147156"/>
            <a:ext cx="142147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SETTING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5162204" y="1512916"/>
            <a:ext cx="2842951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FUNCTION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300038" y="1512916"/>
            <a:ext cx="4862166" cy="36576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-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300038" y="1878676"/>
            <a:ext cx="1553700" cy="449718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LNB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1853737" y="1878676"/>
            <a:ext cx="6151417" cy="449718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Spoqa Han Sans Neo" panose="020B0500000000000000" pitchFamily="50" charset="-127"/>
                <a:ea typeface="Spoqa Han Sans Neo" panose="020B0500000000000000" pitchFamily="50" charset="-127"/>
              </a:rPr>
              <a:t>BODY</a:t>
            </a:r>
            <a:endParaRPr lang="ko-KR" altLang="en-US" sz="1000" dirty="0">
              <a:solidFill>
                <a:schemeClr val="tx1"/>
              </a:solidFill>
              <a:latin typeface="Spoqa Han Sans Neo" panose="020B0500000000000000" pitchFamily="50" charset="-127"/>
              <a:ea typeface="Spoqa Han Sans Neo" panose="020B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050692"/>
              </p:ext>
            </p:extLst>
          </p:nvPr>
        </p:nvGraphicFramePr>
        <p:xfrm>
          <a:off x="9822663" y="540019"/>
          <a:ext cx="2195166" cy="5334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별도의 조건 없이 해당 고객이 가지고 있는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결과를 전체 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기준 일시를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YYYY-MM-DD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있을 경우 그리드 내에서 결과내 재 검색을 할 수 있도록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결재선 등록을 위해 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있는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수정 가능함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두건 이상을 선택한 경우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삭제하기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여러건을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가능하도록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그리드의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결과내역을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엑셀로 다운로드 처리함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좌우정렬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준수 필요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조회된 내역에 대한 건수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현재조회된수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전체건수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1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이상인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제공하며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 마다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건씩 추가로 조회됨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데이터의 조회가 완료된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전문통신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조회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04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결재선유형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승인자여부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결재선 구성에 따라 자동으로 표시 하도록 처리하여야함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07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없을 경우 그리드에 표시되는 메시지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09836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128"/>
          <p:cNvSpPr/>
          <p:nvPr/>
        </p:nvSpPr>
        <p:spPr>
          <a:xfrm>
            <a:off x="6006470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▽ </a:t>
            </a:r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더보기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86682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05957" y="3313641"/>
            <a:ext cx="251992" cy="230832"/>
            <a:chOff x="4867678" y="3090156"/>
            <a:chExt cx="251992" cy="230832"/>
          </a:xfrm>
        </p:grpSpPr>
        <p:sp>
          <p:nvSpPr>
            <p:cNvPr id="1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8" name="오른쪽 중괄호 157"/>
          <p:cNvSpPr/>
          <p:nvPr/>
        </p:nvSpPr>
        <p:spPr>
          <a:xfrm>
            <a:off x="6908328" y="1597004"/>
            <a:ext cx="419739" cy="2098975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7304366" y="2573443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6008437" y="3823412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현재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20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/ 25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aphicFrame>
        <p:nvGraphicFramePr>
          <p:cNvPr id="162" name="표 161"/>
          <p:cNvGraphicFramePr>
            <a:graphicFrameLocks noGrp="1"/>
          </p:cNvGraphicFramePr>
          <p:nvPr>
            <p:extLst/>
          </p:nvPr>
        </p:nvGraphicFramePr>
        <p:xfrm>
          <a:off x="295529" y="1371211"/>
          <a:ext cx="659935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24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공과금납부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888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6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7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8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9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365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10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공과금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신고</a:t>
                      </a:r>
                      <a:r>
                        <a:rPr lang="en-US" altLang="ko-KR" sz="700" baseline="0" dirty="0" smtClean="0"/>
                        <a:t>/</a:t>
                      </a:r>
                      <a:r>
                        <a:rPr lang="ko-KR" altLang="en-US" sz="700" baseline="0" dirty="0" smtClean="0"/>
                        <a:t>해지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카드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09453"/>
                  </a:ext>
                </a:extLst>
              </a:tr>
            </a:tbl>
          </a:graphicData>
        </a:graphic>
      </p:graphicFrame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771" y="1257511"/>
            <a:ext cx="251992" cy="230832"/>
            <a:chOff x="4867678" y="3090156"/>
            <a:chExt cx="251992" cy="230832"/>
          </a:xfrm>
        </p:grpSpPr>
        <p:sp>
          <p:nvSpPr>
            <p:cNvPr id="1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90" name="그룹 189"/>
          <p:cNvGrpSpPr/>
          <p:nvPr/>
        </p:nvGrpSpPr>
        <p:grpSpPr>
          <a:xfrm>
            <a:off x="5040869" y="1123542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297950" y="3736787"/>
            <a:ext cx="660010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6852331" y="1602626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9021" y="1545217"/>
            <a:ext cx="251992" cy="230832"/>
            <a:chOff x="4867678" y="3090156"/>
            <a:chExt cx="251992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914873" y="907358"/>
            <a:ext cx="251992" cy="230832"/>
            <a:chOff x="4867678" y="3090156"/>
            <a:chExt cx="251992" cy="230832"/>
          </a:xfrm>
        </p:grpSpPr>
        <p:sp>
          <p:nvSpPr>
            <p:cNvPr id="2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787331" y="3707728"/>
            <a:ext cx="251992" cy="230832"/>
            <a:chOff x="4867678" y="3090156"/>
            <a:chExt cx="251992" cy="230832"/>
          </a:xfrm>
        </p:grpSpPr>
        <p:sp>
          <p:nvSpPr>
            <p:cNvPr id="22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9" name="모서리가 둥근 직사각형 228"/>
          <p:cNvSpPr/>
          <p:nvPr/>
        </p:nvSpPr>
        <p:spPr>
          <a:xfrm>
            <a:off x="780849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1301761" y="4037969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삭제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03733" y="3936633"/>
            <a:ext cx="251992" cy="230832"/>
            <a:chOff x="4867678" y="3090156"/>
            <a:chExt cx="251992" cy="230832"/>
          </a:xfrm>
        </p:grpSpPr>
        <p:sp>
          <p:nvSpPr>
            <p:cNvPr id="2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98595" y="3936633"/>
            <a:ext cx="251992" cy="230832"/>
            <a:chOff x="4867678" y="3090156"/>
            <a:chExt cx="251992" cy="230832"/>
          </a:xfrm>
        </p:grpSpPr>
        <p:sp>
          <p:nvSpPr>
            <p:cNvPr id="2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206181" y="1139696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806902" y="4037969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엑셀다운로드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423745" y="1330569"/>
            <a:ext cx="2218593" cy="24911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45273" y="3922553"/>
            <a:ext cx="251992" cy="230832"/>
            <a:chOff x="4867678" y="3090156"/>
            <a:chExt cx="251992" cy="230832"/>
          </a:xfrm>
        </p:grpSpPr>
        <p:sp>
          <p:nvSpPr>
            <p:cNvPr id="24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846812" y="3985251"/>
            <a:ext cx="319318" cy="230832"/>
            <a:chOff x="4834016" y="3090156"/>
            <a:chExt cx="319318" cy="230832"/>
          </a:xfrm>
        </p:grpSpPr>
        <p:sp>
          <p:nvSpPr>
            <p:cNvPr id="24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96420" y="988985"/>
            <a:ext cx="251992" cy="230832"/>
            <a:chOff x="4867678" y="3090156"/>
            <a:chExt cx="251992" cy="230832"/>
          </a:xfrm>
        </p:grpSpPr>
        <p:sp>
          <p:nvSpPr>
            <p:cNvPr id="25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264886" y="1229342"/>
            <a:ext cx="319318" cy="230832"/>
            <a:chOff x="4834016" y="3090156"/>
            <a:chExt cx="319318" cy="230832"/>
          </a:xfrm>
        </p:grpSpPr>
        <p:sp>
          <p:nvSpPr>
            <p:cNvPr id="25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61" name="표 260"/>
          <p:cNvGraphicFramePr>
            <a:graphicFrameLocks noGrp="1"/>
          </p:cNvGraphicFramePr>
          <p:nvPr>
            <p:extLst/>
          </p:nvPr>
        </p:nvGraphicFramePr>
        <p:xfrm>
          <a:off x="282348" y="4921408"/>
          <a:ext cx="6599358" cy="15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 gridSpan="7">
                  <a:txBody>
                    <a:bodyPr/>
                    <a:lstStyle/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조회 내역이 없습니다</a:t>
                      </a:r>
                      <a:r>
                        <a:rPr lang="en-US" altLang="ko-KR" sz="700" dirty="0" smtClean="0"/>
                        <a:t>.</a:t>
                      </a:r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</a:tbl>
          </a:graphicData>
        </a:graphic>
      </p:graphicFrame>
      <p:sp>
        <p:nvSpPr>
          <p:cNvPr id="262" name="TextBox 261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82348" y="4779753"/>
            <a:ext cx="3250331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>
                <a:solidFill>
                  <a:schemeClr val="bg1"/>
                </a:solidFill>
                <a:ea typeface="맑은 고딕"/>
              </a:rPr>
              <a:t>  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조회된 결과가 없을 경우</a:t>
            </a:r>
            <a:r>
              <a:rPr kumimoji="1" lang="en-US" altLang="ko-KR" sz="700" dirty="0" smtClean="0">
                <a:solidFill>
                  <a:schemeClr val="bg1"/>
                </a:solidFill>
                <a:ea typeface="맑은 고딕"/>
              </a:rPr>
              <a:t> </a:t>
            </a:r>
            <a:r>
              <a:rPr kumimoji="1" lang="en-US" altLang="ko-KR" sz="700" dirty="0">
                <a:solidFill>
                  <a:schemeClr val="bg1"/>
                </a:solidFill>
                <a:ea typeface="맑은 고딕"/>
              </a:rPr>
              <a:t>CASE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469886" y="5620929"/>
            <a:ext cx="2218593" cy="527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317834" y="5521902"/>
            <a:ext cx="319318" cy="230832"/>
            <a:chOff x="4834016" y="3090156"/>
            <a:chExt cx="319318" cy="230832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31959" y="3919500"/>
            <a:ext cx="251992" cy="230832"/>
            <a:chOff x="4867678" y="3090156"/>
            <a:chExt cx="251992" cy="230832"/>
          </a:xfrm>
        </p:grpSpPr>
        <p:sp>
          <p:nvSpPr>
            <p:cNvPr id="6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93617"/>
              </p:ext>
            </p:extLst>
          </p:nvPr>
        </p:nvGraphicFramePr>
        <p:xfrm>
          <a:off x="9822664" y="6392562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3" name="모서리가 둥근 직사각형 72"/>
          <p:cNvSpPr/>
          <p:nvPr/>
        </p:nvSpPr>
        <p:spPr>
          <a:xfrm>
            <a:off x="6768133" y="1261474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3" name="직사각형 2"/>
          <p:cNvSpPr/>
          <p:nvPr/>
        </p:nvSpPr>
        <p:spPr>
          <a:xfrm>
            <a:off x="2403781" y="1268334"/>
            <a:ext cx="911547" cy="2553164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항목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삭제</a:t>
            </a:r>
            <a:endParaRPr lang="en-US" altLang="ko-KR" sz="1400" dirty="0" smtClean="0"/>
          </a:p>
          <a:p>
            <a:pPr algn="ctr"/>
            <a:r>
              <a:rPr lang="ko-KR" altLang="en-US" sz="1400" dirty="0" err="1" smtClean="0"/>
              <a:t>레드마인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#5518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6543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결재선상세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34386"/>
              </p:ext>
            </p:extLst>
          </p:nvPr>
        </p:nvGraphicFramePr>
        <p:xfrm>
          <a:off x="9822663" y="540019"/>
          <a:ext cx="2195166" cy="2339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</a:t>
                      </a:r>
                      <a:r>
                        <a:rPr lang="ko-KR" altLang="en-US" sz="65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r>
                        <a:rPr lang="en-US" altLang="ko-KR" sz="65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상제 정보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구성원 정보 표시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없음인 경우 마지막 단계는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아닌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로 표시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화면으로 이동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 화면으로 이동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07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상태에 따라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진행 시 로그인방식에 따른 전자서명 후 삭제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20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또는 아이디 클릭 시사용자정보팝업 호출</a:t>
                      </a:r>
                      <a:endParaRPr lang="en-US" altLang="ko-KR" sz="6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022316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상세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03628" y="1282662"/>
            <a:ext cx="115833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998647"/>
              </p:ext>
            </p:extLst>
          </p:nvPr>
        </p:nvGraphicFramePr>
        <p:xfrm>
          <a:off x="298850" y="1698557"/>
          <a:ext cx="8053842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6277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결재선명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결재선명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승인자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승인자여부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결재선업무범위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%,~,~,~, 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316434" y="3470350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 구성원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557819"/>
              </p:ext>
            </p:extLst>
          </p:nvPr>
        </p:nvGraphicFramePr>
        <p:xfrm>
          <a:off x="316434" y="3821763"/>
          <a:ext cx="8036258" cy="19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831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2393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9913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449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유이재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만수르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유상민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61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한만수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1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(P356710001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안철수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(P356710002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박만옥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29702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1572330" y="526761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1572331" y="508658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572330" y="5525925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572329" y="482696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572332" y="438785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572333" y="414439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572334" y="388901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2760331" y="5858040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목록</a:t>
            </a:r>
            <a:endParaRPr lang="ko-KR" altLang="en-US" sz="1200" dirty="0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2854" y="1557939"/>
            <a:ext cx="251992" cy="230832"/>
            <a:chOff x="4867678" y="3090156"/>
            <a:chExt cx="251992" cy="230832"/>
          </a:xfrm>
        </p:grpSpPr>
        <p:sp>
          <p:nvSpPr>
            <p:cNvPr id="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90985" y="3731960"/>
            <a:ext cx="251992" cy="230832"/>
            <a:chOff x="4867678" y="3090156"/>
            <a:chExt cx="251992" cy="230832"/>
          </a:xfrm>
        </p:grpSpPr>
        <p:sp>
          <p:nvSpPr>
            <p:cNvPr id="9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567160" y="5779388"/>
            <a:ext cx="251992" cy="230832"/>
            <a:chOff x="4867678" y="3090156"/>
            <a:chExt cx="251992" cy="230832"/>
          </a:xfrm>
        </p:grpSpPr>
        <p:sp>
          <p:nvSpPr>
            <p:cNvPr id="9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3770414" y="5858040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수정</a:t>
            </a:r>
            <a:endParaRPr lang="ko-KR" altLang="en-US" sz="120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770414" y="5773877"/>
            <a:ext cx="251992" cy="230832"/>
            <a:chOff x="4867678" y="3090156"/>
            <a:chExt cx="251992" cy="230832"/>
          </a:xfrm>
        </p:grpSpPr>
        <p:sp>
          <p:nvSpPr>
            <p:cNvPr id="4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5793048" y="5858040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삭제</a:t>
            </a:r>
            <a:endParaRPr lang="ko-KR" altLang="en-US" sz="12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8878186" y="3197550"/>
            <a:ext cx="2950119" cy="1490703"/>
            <a:chOff x="6872544" y="4197176"/>
            <a:chExt cx="2950119" cy="1490703"/>
          </a:xfrm>
        </p:grpSpPr>
        <p:sp>
          <p:nvSpPr>
            <p:cNvPr id="58" name="직사각형 57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선택한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8752646" y="290637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2" name="Freeform 11"/>
          <p:cNvSpPr>
            <a:spLocks noChangeArrowheads="1"/>
          </p:cNvSpPr>
          <p:nvPr/>
        </p:nvSpPr>
        <p:spPr bwMode="auto">
          <a:xfrm>
            <a:off x="11624062" y="3257640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035591" y="326126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8834154" y="5130355"/>
            <a:ext cx="2950119" cy="1490703"/>
            <a:chOff x="201576" y="3100646"/>
            <a:chExt cx="2950119" cy="1490703"/>
          </a:xfrm>
        </p:grpSpPr>
        <p:grpSp>
          <p:nvGrpSpPr>
            <p:cNvPr id="65" name="그룹 6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67" name="직사각형 6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삭제가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6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8752646" y="4835200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978044" y="519406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781692" y="5858040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복사</a:t>
            </a:r>
            <a:endParaRPr lang="ko-KR" altLang="en-US" sz="1200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761972" y="5760951"/>
            <a:ext cx="251992" cy="230832"/>
            <a:chOff x="4867678" y="3090156"/>
            <a:chExt cx="251992" cy="230832"/>
          </a:xfrm>
        </p:grpSpPr>
        <p:sp>
          <p:nvSpPr>
            <p:cNvPr id="8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792970" y="5773877"/>
            <a:ext cx="251992" cy="230832"/>
            <a:chOff x="4867678" y="3090156"/>
            <a:chExt cx="251992" cy="230832"/>
          </a:xfrm>
        </p:grpSpPr>
        <p:sp>
          <p:nvSpPr>
            <p:cNvPr id="9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890893" y="3717482"/>
            <a:ext cx="251992" cy="230832"/>
            <a:chOff x="4867678" y="3090156"/>
            <a:chExt cx="251992" cy="230832"/>
          </a:xfrm>
        </p:grpSpPr>
        <p:sp>
          <p:nvSpPr>
            <p:cNvPr id="5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96712"/>
              </p:ext>
            </p:extLst>
          </p:nvPr>
        </p:nvGraphicFramePr>
        <p:xfrm>
          <a:off x="6330219" y="6330585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1572329" y="464431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8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↑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9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4948577" y="5889108"/>
            <a:ext cx="54373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버튼제외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339549" y="1937872"/>
            <a:ext cx="4900666" cy="290252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2226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441954"/>
              </p:ext>
            </p:extLst>
          </p:nvPr>
        </p:nvGraphicFramePr>
        <p:xfrm>
          <a:off x="9822663" y="540019"/>
          <a:ext cx="2195166" cy="3421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</a:t>
                      </a:r>
                      <a:r>
                        <a:rPr lang="ko-KR" altLang="en-US" sz="65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r>
                        <a:rPr lang="en-US" altLang="ko-KR" sz="65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 정보를 확인하는 팝업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있는 경우 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+ ID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노출 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(P12345567)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없는 경우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노출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 P123456789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기본정보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데이터가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경우 공백으로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당일이체금액합계 표시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당일이체잔여한도 표시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이체한도가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이라고 하더라도 표시함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설정정보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업무가능요일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</a:t>
                      </a:r>
                    </a:p>
                    <a:p>
                      <a:pPr latinLnBrk="1"/>
                      <a:r>
                        <a:rPr lang="ko-KR" altLang="en-US" sz="7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업무가능시간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종료시</a:t>
                      </a:r>
                      <a:endParaRPr lang="ko-KR" altLang="en-US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단독기안</a:t>
                      </a:r>
                      <a:r>
                        <a:rPr lang="en-US" altLang="ko-KR" sz="700" b="1" kern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결재제한설정</a:t>
                      </a:r>
                      <a:endParaRPr lang="en-US" altLang="ko-KR" sz="700" b="1" kern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지정자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복수결재자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지정자</a:t>
                      </a:r>
                      <a:endParaRPr lang="en-US" altLang="ko-KR" sz="700" b="1" kern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자주쓰는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 공유</a:t>
                      </a:r>
                      <a:r>
                        <a:rPr lang="en-US" altLang="ko-KR" sz="700" b="1" kern="0" dirty="0">
                          <a:latin typeface="+mn-ea"/>
                          <a:ea typeface="+mn-ea"/>
                        </a:rPr>
                        <a:t>:</a:t>
                      </a:r>
                      <a:r>
                        <a:rPr lang="en-US" altLang="ko-KR" sz="700" b="1" kern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미공유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25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36976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575953" y="679704"/>
            <a:ext cx="6656120" cy="57740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6925288" y="894290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직사각형 143"/>
          <p:cNvSpPr/>
          <p:nvPr/>
        </p:nvSpPr>
        <p:spPr>
          <a:xfrm>
            <a:off x="768452" y="827791"/>
            <a:ext cx="9541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 smtClean="0">
                <a:latin typeface="+mn-ea"/>
              </a:rPr>
              <a:t>사용자정보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45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850041" y="1191143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/>
              <a:t>기본정보</a:t>
            </a:r>
            <a:endParaRPr lang="en-US" altLang="ko-KR" sz="1000" b="1" kern="0" dirty="0"/>
          </a:p>
        </p:txBody>
      </p:sp>
      <p:sp>
        <p:nvSpPr>
          <p:cNvPr id="147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850040" y="2946047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 smtClean="0"/>
              <a:t>사용자이체정보</a:t>
            </a:r>
            <a:endParaRPr lang="en-US" altLang="ko-KR" sz="1000" b="1" kern="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641260"/>
              </p:ext>
            </p:extLst>
          </p:nvPr>
        </p:nvGraphicFramePr>
        <p:xfrm>
          <a:off x="850040" y="3293075"/>
          <a:ext cx="5799018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101">
                  <a:extLst>
                    <a:ext uri="{9D8B030D-6E8A-4147-A177-3AD203B41FA5}">
                      <a16:colId xmlns:a16="http://schemas.microsoft.com/office/drawing/2014/main" val="1084939845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893227268"/>
                    </a:ext>
                  </a:extLst>
                </a:gridCol>
                <a:gridCol w="1910803">
                  <a:extLst>
                    <a:ext uri="{9D8B030D-6E8A-4147-A177-3AD203B41FA5}">
                      <a16:colId xmlns:a16="http://schemas.microsoft.com/office/drawing/2014/main" val="66838507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원화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외화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76875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1</a:t>
                      </a:r>
                      <a:r>
                        <a:rPr lang="ko-KR" altLang="en-US" sz="700" dirty="0" smtClean="0"/>
                        <a:t>일 </a:t>
                      </a:r>
                      <a:r>
                        <a:rPr lang="ko-KR" altLang="en-US" sz="700" dirty="0" err="1" smtClean="0"/>
                        <a:t>이체한도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/>
                        <a:t>10,000,000,000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/>
                        <a:t>0.00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1106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1</a:t>
                      </a:r>
                      <a:r>
                        <a:rPr lang="ko-KR" altLang="en-US" sz="700" dirty="0" smtClean="0"/>
                        <a:t>회 </a:t>
                      </a:r>
                      <a:r>
                        <a:rPr lang="ko-KR" altLang="en-US" sz="700" dirty="0" err="1" smtClean="0"/>
                        <a:t>이체한도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10,000,000,000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0.00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926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당일이체금액합계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/>
                        <a:t>1,000,000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0.00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7425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당일이체잔여한도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/>
                        <a:t>9,999,000,000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0.00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38302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5821587" y="3050890"/>
            <a:ext cx="82747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700" kern="0" dirty="0" smtClean="0">
                <a:latin typeface="맑은 고딕 (본문)"/>
              </a:rPr>
              <a:t>(</a:t>
            </a:r>
            <a:r>
              <a:rPr lang="ko-KR" altLang="en-US" sz="700" kern="0" dirty="0" smtClean="0">
                <a:latin typeface="맑은 고딕 (본문)"/>
              </a:rPr>
              <a:t>단위</a:t>
            </a:r>
            <a:r>
              <a:rPr lang="en-US" altLang="ko-KR" sz="700" kern="0" dirty="0" smtClean="0">
                <a:latin typeface="맑은 고딕 (본문)"/>
              </a:rPr>
              <a:t>: </a:t>
            </a:r>
            <a:r>
              <a:rPr lang="ko-KR" altLang="en-US" sz="700" kern="0" dirty="0" smtClean="0">
                <a:latin typeface="맑은 고딕 (본문)"/>
              </a:rPr>
              <a:t>원</a:t>
            </a:r>
            <a:r>
              <a:rPr lang="en-US" altLang="ko-KR" sz="700" kern="0" dirty="0" smtClean="0">
                <a:latin typeface="맑은 고딕 (본문)"/>
              </a:rPr>
              <a:t>, USD)</a:t>
            </a:r>
            <a:endParaRPr lang="ko-KR" altLang="en-US" sz="700" dirty="0"/>
          </a:p>
        </p:txBody>
      </p:sp>
      <p:sp>
        <p:nvSpPr>
          <p:cNvPr id="148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850039" y="4543583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 smtClean="0"/>
              <a:t>사용자 설정 정보</a:t>
            </a:r>
            <a:endParaRPr lang="en-US" altLang="ko-KR" sz="1000" b="1" kern="0" dirty="0"/>
          </a:p>
        </p:txBody>
      </p:sp>
      <p:graphicFrame>
        <p:nvGraphicFramePr>
          <p:cNvPr id="149" name="표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22541"/>
              </p:ext>
            </p:extLst>
          </p:nvPr>
        </p:nvGraphicFramePr>
        <p:xfrm>
          <a:off x="855333" y="4903690"/>
          <a:ext cx="2861644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341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업무가능요일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일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월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화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</a:t>
                      </a:r>
                      <a:r>
                        <a:rPr lang="ko-KR" altLang="en-US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수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목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금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, </a:t>
                      </a:r>
                      <a:r>
                        <a:rPr lang="ko-KR" altLang="en-US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토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결재자지정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기안불가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307659"/>
                  </a:ext>
                </a:extLst>
              </a:tr>
            </a:tbl>
          </a:graphicData>
        </a:graphic>
      </p:graphicFrame>
      <p:graphicFrame>
        <p:nvGraphicFramePr>
          <p:cNvPr id="150" name="표 1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598913"/>
              </p:ext>
            </p:extLst>
          </p:nvPr>
        </p:nvGraphicFramePr>
        <p:xfrm>
          <a:off x="3670606" y="4903690"/>
          <a:ext cx="2967801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303">
                  <a:extLst>
                    <a:ext uri="{9D8B030D-6E8A-4147-A177-3AD203B41FA5}">
                      <a16:colId xmlns:a16="http://schemas.microsoft.com/office/drawing/2014/main" val="4266072506"/>
                    </a:ext>
                  </a:extLst>
                </a:gridCol>
                <a:gridCol w="1817498">
                  <a:extLst>
                    <a:ext uri="{9D8B030D-6E8A-4147-A177-3AD203B41FA5}">
                      <a16:colId xmlns:a16="http://schemas.microsoft.com/office/drawing/2014/main" val="94288774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업무가능시간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00:00 ~ 24:00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389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자주쓰는</a:t>
                      </a: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입금계좌</a:t>
                      </a: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공유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공유</a:t>
                      </a: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56608"/>
                  </a:ext>
                </a:extLst>
              </a:tr>
            </a:tbl>
          </a:graphicData>
        </a:graphic>
      </p:graphicFrame>
      <p:sp>
        <p:nvSpPr>
          <p:cNvPr id="151" name="직사각형 150"/>
          <p:cNvSpPr/>
          <p:nvPr/>
        </p:nvSpPr>
        <p:spPr>
          <a:xfrm>
            <a:off x="3271856" y="5858040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확인</a:t>
            </a:r>
            <a:endParaRPr lang="ko-KR" altLang="en-US" sz="1200" dirty="0"/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0503"/>
              </p:ext>
            </p:extLst>
          </p:nvPr>
        </p:nvGraphicFramePr>
        <p:xfrm>
          <a:off x="850039" y="1525583"/>
          <a:ext cx="2909073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498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사용자명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박부산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부서명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경영지원부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3076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이메일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parkbs@busan.bank.kr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휴대전화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0IO-5OO-1OOO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사용보안매체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디지털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OTP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63191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166845"/>
              </p:ext>
            </p:extLst>
          </p:nvPr>
        </p:nvGraphicFramePr>
        <p:xfrm>
          <a:off x="3739983" y="1525583"/>
          <a:ext cx="2909073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75">
                  <a:extLst>
                    <a:ext uri="{9D8B030D-6E8A-4147-A177-3AD203B41FA5}">
                      <a16:colId xmlns:a16="http://schemas.microsoft.com/office/drawing/2014/main" val="4266072506"/>
                    </a:ext>
                  </a:extLst>
                </a:gridCol>
                <a:gridCol w="1817498">
                  <a:extLst>
                    <a:ext uri="{9D8B030D-6E8A-4147-A177-3AD203B41FA5}">
                      <a16:colId xmlns:a16="http://schemas.microsoft.com/office/drawing/2014/main" val="94288774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1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ID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PW01928374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389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직위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부장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566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직장전화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05I-I23O-99OO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07668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자택전화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051-5OO-1OOO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040268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066074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94305" y="1446623"/>
            <a:ext cx="251992" cy="230832"/>
            <a:chOff x="4867678" y="3090156"/>
            <a:chExt cx="251992" cy="230832"/>
          </a:xfrm>
        </p:grpSpPr>
        <p:sp>
          <p:nvSpPr>
            <p:cNvPr id="2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68875" y="4549845"/>
            <a:ext cx="251992" cy="230832"/>
            <a:chOff x="4867678" y="3090156"/>
            <a:chExt cx="251992" cy="230832"/>
          </a:xfrm>
        </p:grpSpPr>
        <p:sp>
          <p:nvSpPr>
            <p:cNvPr id="2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663358" y="2891735"/>
            <a:ext cx="251992" cy="230832"/>
            <a:chOff x="4867678" y="3090156"/>
            <a:chExt cx="251992" cy="230832"/>
          </a:xfrm>
        </p:grpSpPr>
        <p:sp>
          <p:nvSpPr>
            <p:cNvPr id="3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3145860" y="5789507"/>
            <a:ext cx="251992" cy="230832"/>
            <a:chOff x="4867678" y="3090156"/>
            <a:chExt cx="251992" cy="230832"/>
          </a:xfrm>
        </p:grpSpPr>
        <p:sp>
          <p:nvSpPr>
            <p:cNvPr id="3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6667358" y="735458"/>
            <a:ext cx="251992" cy="230832"/>
            <a:chOff x="4867678" y="3090156"/>
            <a:chExt cx="251992" cy="230832"/>
          </a:xfrm>
        </p:grpSpPr>
        <p:sp>
          <p:nvSpPr>
            <p:cNvPr id="3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814873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62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결재선결불러오기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결재선등록</a:t>
            </a:r>
            <a:endParaRPr lang="en-US" altLang="ko-KR" sz="800" kern="0" dirty="0"/>
          </a:p>
        </p:txBody>
      </p:sp>
      <p:sp>
        <p:nvSpPr>
          <p:cNvPr id="39" name="직사각형 38"/>
          <p:cNvSpPr/>
          <p:nvPr/>
        </p:nvSpPr>
        <p:spPr>
          <a:xfrm>
            <a:off x="575953" y="679704"/>
            <a:ext cx="6656120" cy="57740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Freeform 11"/>
          <p:cNvSpPr>
            <a:spLocks noChangeArrowheads="1"/>
          </p:cNvSpPr>
          <p:nvPr/>
        </p:nvSpPr>
        <p:spPr bwMode="auto">
          <a:xfrm>
            <a:off x="6925288" y="894290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직사각형 40"/>
          <p:cNvSpPr/>
          <p:nvPr/>
        </p:nvSpPr>
        <p:spPr>
          <a:xfrm>
            <a:off x="768452" y="827791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결재선불러오기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6667358" y="735458"/>
            <a:ext cx="251992" cy="230832"/>
            <a:chOff x="4867678" y="3090156"/>
            <a:chExt cx="251992" cy="230832"/>
          </a:xfrm>
        </p:grpSpPr>
        <p:sp>
          <p:nvSpPr>
            <p:cNvPr id="9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859033" y="1364133"/>
          <a:ext cx="6004816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30561873"/>
                    </a:ext>
                  </a:extLst>
                </a:gridCol>
                <a:gridCol w="2213719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1195445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1168108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1004951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2065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8378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559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3816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73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36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04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2201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6805423" y="1566589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오른쪽 중괄호 96"/>
          <p:cNvSpPr/>
          <p:nvPr/>
        </p:nvSpPr>
        <p:spPr>
          <a:xfrm>
            <a:off x="6863849" y="1364133"/>
            <a:ext cx="419739" cy="2363074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7259887" y="2340572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847005" y="3856610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 구성원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07296" y="1280774"/>
            <a:ext cx="251992" cy="230832"/>
            <a:chOff x="4867678" y="3090156"/>
            <a:chExt cx="251992" cy="230832"/>
          </a:xfrm>
        </p:grpSpPr>
        <p:sp>
          <p:nvSpPr>
            <p:cNvPr id="1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1002709" y="1628872"/>
            <a:ext cx="131584" cy="121731"/>
            <a:chOff x="3027532" y="1509066"/>
            <a:chExt cx="144000" cy="144000"/>
          </a:xfrm>
        </p:grpSpPr>
        <p:sp>
          <p:nvSpPr>
            <p:cNvPr id="121" name="타원 120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22" name="타원 121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123" name="타원 122"/>
          <p:cNvSpPr/>
          <p:nvPr/>
        </p:nvSpPr>
        <p:spPr>
          <a:xfrm>
            <a:off x="1002709" y="1847674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4" name="타원 123"/>
          <p:cNvSpPr/>
          <p:nvPr/>
        </p:nvSpPr>
        <p:spPr>
          <a:xfrm>
            <a:off x="1002039" y="206647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5" name="타원 124"/>
          <p:cNvSpPr/>
          <p:nvPr/>
        </p:nvSpPr>
        <p:spPr>
          <a:xfrm>
            <a:off x="1002039" y="228527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6" name="타원 125"/>
          <p:cNvSpPr/>
          <p:nvPr/>
        </p:nvSpPr>
        <p:spPr>
          <a:xfrm>
            <a:off x="1001369" y="250408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7" name="타원 126"/>
          <p:cNvSpPr/>
          <p:nvPr/>
        </p:nvSpPr>
        <p:spPr>
          <a:xfrm>
            <a:off x="1001369" y="271702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8" name="타원 127"/>
          <p:cNvSpPr/>
          <p:nvPr/>
        </p:nvSpPr>
        <p:spPr>
          <a:xfrm>
            <a:off x="1000699" y="29358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9" name="타원 128"/>
          <p:cNvSpPr/>
          <p:nvPr/>
        </p:nvSpPr>
        <p:spPr>
          <a:xfrm>
            <a:off x="1000699" y="3154624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0" name="타원 129"/>
          <p:cNvSpPr/>
          <p:nvPr/>
        </p:nvSpPr>
        <p:spPr>
          <a:xfrm>
            <a:off x="1000029" y="337342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1" name="타원 130"/>
          <p:cNvSpPr/>
          <p:nvPr/>
        </p:nvSpPr>
        <p:spPr>
          <a:xfrm>
            <a:off x="1000029" y="358437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2" name="TextBox 131"/>
          <p:cNvSpPr txBox="1"/>
          <p:nvPr/>
        </p:nvSpPr>
        <p:spPr>
          <a:xfrm>
            <a:off x="904609" y="1107432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988935" y="6085798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불러오기</a:t>
            </a:r>
            <a:endParaRPr lang="ko-KR" altLang="en-US" sz="1200" dirty="0"/>
          </a:p>
        </p:txBody>
      </p:sp>
      <p:sp>
        <p:nvSpPr>
          <p:cNvPr id="134" name="직사각형 133"/>
          <p:cNvSpPr/>
          <p:nvPr/>
        </p:nvSpPr>
        <p:spPr>
          <a:xfrm>
            <a:off x="4011497" y="6085798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795764" y="6007146"/>
            <a:ext cx="251992" cy="230832"/>
            <a:chOff x="4867678" y="3090156"/>
            <a:chExt cx="251992" cy="230832"/>
          </a:xfrm>
        </p:grpSpPr>
        <p:sp>
          <p:nvSpPr>
            <p:cNvPr id="13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999018" y="6001635"/>
            <a:ext cx="251992" cy="230832"/>
            <a:chOff x="4867678" y="3090156"/>
            <a:chExt cx="251992" cy="230832"/>
          </a:xfrm>
        </p:grpSpPr>
        <p:sp>
          <p:nvSpPr>
            <p:cNvPr id="13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9822663" y="540019"/>
          <a:ext cx="2195166" cy="1684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결재선 정보를 조회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선택한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구성원정보를 표시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endParaRPr lang="ko-KR" altLang="en-US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복사하여 표시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</a:t>
                      </a:r>
                      <a:r>
                        <a:rPr lang="ko-KR" altLang="en-US" sz="700" kern="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화면의 기존에 입력되어진 내용은 취소하고 </a:t>
                      </a:r>
                      <a:r>
                        <a:rPr lang="ko-KR" altLang="en-US" sz="65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붙혀넣기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불러오기를 하지 않고 팝업 닫기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142" name="그룹 141"/>
          <p:cNvGrpSpPr/>
          <p:nvPr/>
        </p:nvGrpSpPr>
        <p:grpSpPr>
          <a:xfrm>
            <a:off x="8367132" y="4031307"/>
            <a:ext cx="2950119" cy="1490703"/>
            <a:chOff x="6872544" y="4197176"/>
            <a:chExt cx="2950119" cy="1490703"/>
          </a:xfrm>
        </p:grpSpPr>
        <p:sp>
          <p:nvSpPr>
            <p:cNvPr id="143" name="직사각형 142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입력하신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불러오시겠습니까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8241592" y="3740133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 불러오기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일때만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가능함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47" name="Freeform 11"/>
          <p:cNvSpPr>
            <a:spLocks noChangeArrowheads="1"/>
          </p:cNvSpPr>
          <p:nvPr/>
        </p:nvSpPr>
        <p:spPr bwMode="auto">
          <a:xfrm>
            <a:off x="11113008" y="4091397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8516787" y="4095020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218460" y="3963702"/>
            <a:ext cx="367408" cy="230832"/>
            <a:chOff x="4809970" y="3090156"/>
            <a:chExt cx="367408" cy="230832"/>
          </a:xfrm>
        </p:grpSpPr>
        <p:sp>
          <p:nvSpPr>
            <p:cNvPr id="15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699049" y="5037393"/>
            <a:ext cx="367408" cy="230832"/>
            <a:chOff x="4809970" y="3090156"/>
            <a:chExt cx="367408" cy="230832"/>
          </a:xfrm>
        </p:grpSpPr>
        <p:sp>
          <p:nvSpPr>
            <p:cNvPr id="1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876906" y="5040170"/>
            <a:ext cx="367408" cy="230832"/>
            <a:chOff x="4809970" y="3090156"/>
            <a:chExt cx="367408" cy="230832"/>
          </a:xfrm>
        </p:grpSpPr>
        <p:sp>
          <p:nvSpPr>
            <p:cNvPr id="16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06866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68" name="모서리가 둥근 직사각형 67"/>
          <p:cNvSpPr/>
          <p:nvPr/>
        </p:nvSpPr>
        <p:spPr>
          <a:xfrm>
            <a:off x="5682247" y="1177360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299224"/>
              </p:ext>
            </p:extLst>
          </p:nvPr>
        </p:nvGraphicFramePr>
        <p:xfrm>
          <a:off x="807064" y="4145553"/>
          <a:ext cx="6067561" cy="1621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413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2393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449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유이재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만수르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유상민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61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한만수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1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(P356710001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안철수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(P356710002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박만옥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29702"/>
                  </a:ext>
                </a:extLst>
              </a:tr>
            </a:tbl>
          </a:graphicData>
        </a:graphic>
      </p:graphicFrame>
      <p:sp>
        <p:nvSpPr>
          <p:cNvPr id="70" name="직사각형 69"/>
          <p:cNvSpPr/>
          <p:nvPr/>
        </p:nvSpPr>
        <p:spPr>
          <a:xfrm>
            <a:off x="2062960" y="531630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062961" y="5135276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062960" y="557462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062959" y="491799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062959" y="445791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062964" y="421280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81615" y="4055750"/>
            <a:ext cx="251992" cy="230832"/>
            <a:chOff x="4867678" y="3090156"/>
            <a:chExt cx="251992" cy="230832"/>
          </a:xfrm>
        </p:grpSpPr>
        <p:sp>
          <p:nvSpPr>
            <p:cNvPr id="7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2062959" y="473535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8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↑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9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9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387981" y="1268332"/>
            <a:ext cx="1307879" cy="2588278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7777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93693"/>
              </p:ext>
            </p:extLst>
          </p:nvPr>
        </p:nvGraphicFramePr>
        <p:xfrm>
          <a:off x="9816801" y="552207"/>
          <a:ext cx="2195166" cy="3536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</a:t>
                      </a:r>
                      <a:r>
                        <a:rPr lang="ko-KR" altLang="en-US" sz="7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조건 입력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결재선형태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승인자지정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해당결재선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삭제가능시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3-2) 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닫기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처리를 위해 전자서명 처리 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결재선구성완료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3-4)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결재진행중인 결재선 삭제 선택 시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5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5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결재대상업무를 태그형식으로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77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수정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0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5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3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2735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2091785"/>
            <a:ext cx="3064717" cy="855964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239867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en-US" altLang="ko-KR" sz="1050" b="1" kern="0" dirty="0" smtClean="0"/>
              <a:t>%</a:t>
            </a:r>
            <a:r>
              <a:rPr lang="ko-KR" altLang="en-US" sz="1050" b="1" kern="0" dirty="0" err="1" smtClean="0"/>
              <a:t>결재선명</a:t>
            </a:r>
            <a:r>
              <a:rPr lang="en-US" altLang="ko-KR" sz="1050" b="1" kern="0" dirty="0" smtClean="0"/>
              <a:t>%</a:t>
            </a:r>
            <a:endParaRPr lang="en-US" altLang="ko-KR" sz="900" b="1" kern="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9" name="직사각형 148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500097" y="2176340"/>
            <a:ext cx="51717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결재선형태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303727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33787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외환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555615" y="2720798"/>
            <a:ext cx="682831" cy="13593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r>
              <a:rPr lang="ko-KR" altLang="en-US" sz="600" b="1" dirty="0" smtClean="0">
                <a:solidFill>
                  <a:schemeClr val="accent6">
                    <a:lumMod val="50000"/>
                  </a:schemeClr>
                </a:solidFill>
              </a:rPr>
              <a:t>결재대상업무</a:t>
            </a:r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endParaRPr lang="ko-KR" altLang="en-US" sz="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6561" y="369833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5120" y="369833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8352" y="369833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1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4053856"/>
            <a:ext cx="3064717" cy="93433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438682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자산헷지</a:t>
            </a:r>
            <a:r>
              <a:rPr lang="ko-KR" altLang="en-US" sz="1050" b="1" kern="0" dirty="0"/>
              <a:t> 및 투자 결재선</a:t>
            </a:r>
            <a:endParaRPr lang="en-US" altLang="ko-KR" sz="900" b="1" kern="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546561" y="4694831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펀드</a:t>
            </a: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935120" y="4694831"/>
            <a:ext cx="523641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자금관리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4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7" name="Freeform 11"/>
          <p:cNvSpPr>
            <a:spLocks noChangeAspect="1" noChangeArrowheads="1"/>
          </p:cNvSpPr>
          <p:nvPr/>
        </p:nvSpPr>
        <p:spPr bwMode="auto">
          <a:xfrm>
            <a:off x="3165743" y="2199940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054743" y="218098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결재단계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823" y="310767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4743" y="311232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555616" y="413540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058536" y="414005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5192" y="3117757"/>
            <a:ext cx="406847" cy="134902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73761" y="5055999"/>
            <a:ext cx="3064717" cy="109765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57112" y="535387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기본 결재선</a:t>
            </a:r>
            <a:endParaRPr lang="en-US" altLang="ko-KR" sz="900" b="1" kern="0" dirty="0"/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512777" y="5690902"/>
            <a:ext cx="255085" cy="13670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이체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844162" y="5690902"/>
            <a:ext cx="443661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예금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신탁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545280" y="513754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수직결재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1048200" y="514219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1364123" y="5690170"/>
            <a:ext cx="52161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#B2B/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전자결제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1962039" y="5685749"/>
            <a:ext cx="277700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대출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316039" y="5691620"/>
            <a:ext cx="301970" cy="12890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외환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2694309" y="5685749"/>
            <a:ext cx="46986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공과금납부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모서리가 둥근 직사각형 253"/>
          <p:cNvSpPr/>
          <p:nvPr/>
        </p:nvSpPr>
        <p:spPr>
          <a:xfrm>
            <a:off x="512777" y="5935424"/>
            <a:ext cx="255085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카드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32820" y="5935424"/>
            <a:ext cx="263288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펀드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7" name="모서리가 둥근 직사각형 256"/>
          <p:cNvSpPr/>
          <p:nvPr/>
        </p:nvSpPr>
        <p:spPr>
          <a:xfrm>
            <a:off x="1155650" y="5935984"/>
            <a:ext cx="423378" cy="12924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자금관리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1638572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웹펌뱅킹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9606" y="314850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0" name="Freeform 11"/>
          <p:cNvSpPr>
            <a:spLocks noChangeAspect="1" noChangeArrowheads="1"/>
          </p:cNvSpPr>
          <p:nvPr/>
        </p:nvSpPr>
        <p:spPr bwMode="auto">
          <a:xfrm>
            <a:off x="3147518" y="4191598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" name="Freeform 11"/>
          <p:cNvSpPr>
            <a:spLocks noChangeAspect="1" noChangeArrowheads="1"/>
          </p:cNvSpPr>
          <p:nvPr/>
        </p:nvSpPr>
        <p:spPr bwMode="auto">
          <a:xfrm>
            <a:off x="3147518" y="5156944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1559191" y="2191724"/>
            <a:ext cx="55496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승인여부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3" name="그룹 262"/>
          <p:cNvGrpSpPr/>
          <p:nvPr/>
        </p:nvGrpSpPr>
        <p:grpSpPr>
          <a:xfrm>
            <a:off x="244920" y="1976903"/>
            <a:ext cx="367408" cy="230832"/>
            <a:chOff x="4809970" y="3090156"/>
            <a:chExt cx="367408" cy="230832"/>
          </a:xfrm>
        </p:grpSpPr>
        <p:sp>
          <p:nvSpPr>
            <p:cNvPr id="2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6" name="그룹 265"/>
          <p:cNvGrpSpPr/>
          <p:nvPr/>
        </p:nvGrpSpPr>
        <p:grpSpPr>
          <a:xfrm>
            <a:off x="871039" y="1981498"/>
            <a:ext cx="367408" cy="230832"/>
            <a:chOff x="4809970" y="3090156"/>
            <a:chExt cx="367408" cy="230832"/>
          </a:xfrm>
        </p:grpSpPr>
        <p:sp>
          <p:nvSpPr>
            <p:cNvPr id="26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9" name="그룹 268"/>
          <p:cNvGrpSpPr/>
          <p:nvPr/>
        </p:nvGrpSpPr>
        <p:grpSpPr>
          <a:xfrm>
            <a:off x="1462482" y="1983403"/>
            <a:ext cx="367408" cy="230832"/>
            <a:chOff x="4809970" y="3090156"/>
            <a:chExt cx="367408" cy="230832"/>
          </a:xfrm>
        </p:grpSpPr>
        <p:sp>
          <p:nvSpPr>
            <p:cNvPr id="2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2" name="그룹 271"/>
          <p:cNvGrpSpPr/>
          <p:nvPr/>
        </p:nvGrpSpPr>
        <p:grpSpPr>
          <a:xfrm>
            <a:off x="2889990" y="2031428"/>
            <a:ext cx="251992" cy="230832"/>
            <a:chOff x="4867678" y="3090156"/>
            <a:chExt cx="251992" cy="230832"/>
          </a:xfrm>
        </p:grpSpPr>
        <p:sp>
          <p:nvSpPr>
            <p:cNvPr id="2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5" name="그룹 274"/>
          <p:cNvGrpSpPr/>
          <p:nvPr/>
        </p:nvGrpSpPr>
        <p:grpSpPr>
          <a:xfrm>
            <a:off x="305279" y="2308130"/>
            <a:ext cx="251992" cy="230832"/>
            <a:chOff x="4867678" y="3090156"/>
            <a:chExt cx="251992" cy="230832"/>
          </a:xfrm>
        </p:grpSpPr>
        <p:sp>
          <p:nvSpPr>
            <p:cNvPr id="2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310796" y="2610916"/>
            <a:ext cx="251992" cy="230832"/>
            <a:chOff x="4867678" y="3090156"/>
            <a:chExt cx="251992" cy="230832"/>
          </a:xfrm>
        </p:grpSpPr>
        <p:sp>
          <p:nvSpPr>
            <p:cNvPr id="2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81" name="모서리가 둥근 직사각형 280"/>
          <p:cNvSpPr/>
          <p:nvPr/>
        </p:nvSpPr>
        <p:spPr>
          <a:xfrm>
            <a:off x="2164875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신고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2692593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기업서비스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2753553" y="341019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2753553" y="2430113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2753553" y="441826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2692593" y="538531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7" name="그룹 286"/>
          <p:cNvGrpSpPr/>
          <p:nvPr/>
        </p:nvGrpSpPr>
        <p:grpSpPr>
          <a:xfrm>
            <a:off x="2566597" y="2311963"/>
            <a:ext cx="251992" cy="230832"/>
            <a:chOff x="4867678" y="3090156"/>
            <a:chExt cx="251992" cy="230832"/>
          </a:xfrm>
        </p:grpSpPr>
        <p:sp>
          <p:nvSpPr>
            <p:cNvPr id="28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0" name="직사각형 289"/>
          <p:cNvSpPr/>
          <p:nvPr/>
        </p:nvSpPr>
        <p:spPr>
          <a:xfrm>
            <a:off x="245979" y="5062499"/>
            <a:ext cx="3119470" cy="108290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/>
          <p:cNvSpPr/>
          <p:nvPr/>
        </p:nvSpPr>
        <p:spPr>
          <a:xfrm>
            <a:off x="1595421" y="5407269"/>
            <a:ext cx="420585" cy="42058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 smtClean="0"/>
              <a:t>Click</a:t>
            </a:r>
            <a:endParaRPr lang="ko-KR" altLang="en-US" sz="1000" b="1" dirty="0"/>
          </a:p>
        </p:txBody>
      </p:sp>
      <p:grpSp>
        <p:nvGrpSpPr>
          <p:cNvPr id="292" name="그룹 291"/>
          <p:cNvGrpSpPr/>
          <p:nvPr/>
        </p:nvGrpSpPr>
        <p:grpSpPr>
          <a:xfrm>
            <a:off x="1469425" y="5312462"/>
            <a:ext cx="251992" cy="230832"/>
            <a:chOff x="4867678" y="3090156"/>
            <a:chExt cx="251992" cy="230832"/>
          </a:xfrm>
        </p:grpSpPr>
        <p:sp>
          <p:nvSpPr>
            <p:cNvPr id="29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>
                <a:latin typeface="+mn-ea"/>
                <a:cs typeface="Calibri" pitchFamily="34" charset="0"/>
              </a:rPr>
              <a:t>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4" name="그룹 323"/>
          <p:cNvGrpSpPr/>
          <p:nvPr/>
        </p:nvGrpSpPr>
        <p:grpSpPr>
          <a:xfrm>
            <a:off x="85482" y="1366607"/>
            <a:ext cx="367408" cy="230832"/>
            <a:chOff x="4809970" y="3090156"/>
            <a:chExt cx="367408" cy="230832"/>
          </a:xfrm>
        </p:grpSpPr>
        <p:sp>
          <p:nvSpPr>
            <p:cNvPr id="32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3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4" name="그림 3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pSp>
        <p:nvGrpSpPr>
          <p:cNvPr id="351" name="그룹 350"/>
          <p:cNvGrpSpPr/>
          <p:nvPr/>
        </p:nvGrpSpPr>
        <p:grpSpPr>
          <a:xfrm>
            <a:off x="3811564" y="783121"/>
            <a:ext cx="2619196" cy="1321415"/>
            <a:chOff x="8238032" y="4789014"/>
            <a:chExt cx="2880000" cy="1621951"/>
          </a:xfrm>
        </p:grpSpPr>
        <p:sp>
          <p:nvSpPr>
            <p:cNvPr id="352" name="직사각형 351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3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4" name="직사각형 353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355" name="직사각형 354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아니요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8357310" y="523286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선택한 </a:t>
              </a:r>
              <a:r>
                <a:rPr lang="ko-KR" altLang="en-US" sz="900" dirty="0" err="1"/>
                <a:t>결재선을</a:t>
              </a:r>
              <a:endParaRPr lang="ko-KR" altLang="en-US" sz="900" dirty="0"/>
            </a:p>
            <a:p>
              <a:pPr algn="ctr"/>
              <a:r>
                <a:rPr lang="ko-KR" altLang="en-US" sz="900" dirty="0"/>
                <a:t>삭제하시겠습니까</a:t>
              </a:r>
              <a:r>
                <a:rPr lang="en-US" altLang="ko-KR" sz="900" dirty="0" smtClean="0"/>
                <a:t>?</a:t>
              </a:r>
              <a:endParaRPr lang="en-US" altLang="ko-KR" sz="900" dirty="0"/>
            </a:p>
          </p:txBody>
        </p:sp>
      </p:grpSp>
      <p:grpSp>
        <p:nvGrpSpPr>
          <p:cNvPr id="357" name="그룹 356"/>
          <p:cNvGrpSpPr/>
          <p:nvPr/>
        </p:nvGrpSpPr>
        <p:grpSpPr>
          <a:xfrm>
            <a:off x="6734057" y="788454"/>
            <a:ext cx="2619196" cy="1321415"/>
            <a:chOff x="8238032" y="4789014"/>
            <a:chExt cx="2880000" cy="1621951"/>
          </a:xfrm>
        </p:grpSpPr>
        <p:sp>
          <p:nvSpPr>
            <p:cNvPr id="358" name="직사각형 357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9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" name="직사각형 359"/>
            <p:cNvSpPr/>
            <p:nvPr/>
          </p:nvSpPr>
          <p:spPr>
            <a:xfrm>
              <a:off x="8271666" y="6122965"/>
              <a:ext cx="2846366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확인</a:t>
              </a:r>
              <a:endParaRPr lang="ko-KR" altLang="en-US" sz="900" dirty="0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8384066" y="522421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결재가 진행중인 </a:t>
              </a:r>
              <a:r>
                <a:rPr lang="ko-KR" altLang="en-US" sz="900" dirty="0" err="1"/>
                <a:t>결재선입니다</a:t>
              </a:r>
              <a:r>
                <a:rPr lang="en-US" altLang="ko-KR" sz="900" dirty="0"/>
                <a:t>.</a:t>
              </a:r>
            </a:p>
            <a:p>
              <a:pPr algn="ctr"/>
              <a:r>
                <a:rPr lang="ko-KR" altLang="en-US" sz="900" dirty="0"/>
                <a:t>결재완료 후 </a:t>
              </a:r>
              <a:r>
                <a:rPr lang="ko-KR" altLang="en-US" sz="900" dirty="0" smtClean="0"/>
                <a:t>삭제 가능합니다</a:t>
              </a:r>
              <a:r>
                <a:rPr lang="en-US" altLang="ko-KR" sz="900" dirty="0"/>
                <a:t>.</a:t>
              </a: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3807092" y="53291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646760" y="5208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8" name="그룹 397"/>
          <p:cNvGrpSpPr/>
          <p:nvPr/>
        </p:nvGrpSpPr>
        <p:grpSpPr>
          <a:xfrm>
            <a:off x="2801687" y="1366607"/>
            <a:ext cx="367408" cy="230832"/>
            <a:chOff x="4809970" y="3090156"/>
            <a:chExt cx="367408" cy="230832"/>
          </a:xfrm>
        </p:grpSpPr>
        <p:sp>
          <p:nvSpPr>
            <p:cNvPr id="39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1" name="그룹 400"/>
          <p:cNvGrpSpPr/>
          <p:nvPr/>
        </p:nvGrpSpPr>
        <p:grpSpPr>
          <a:xfrm>
            <a:off x="3660024" y="699606"/>
            <a:ext cx="367408" cy="230832"/>
            <a:chOff x="4809970" y="3090156"/>
            <a:chExt cx="367408" cy="230832"/>
          </a:xfrm>
        </p:grpSpPr>
        <p:sp>
          <p:nvSpPr>
            <p:cNvPr id="40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4" name="그룹 403"/>
          <p:cNvGrpSpPr/>
          <p:nvPr/>
        </p:nvGrpSpPr>
        <p:grpSpPr>
          <a:xfrm>
            <a:off x="5914736" y="699606"/>
            <a:ext cx="367408" cy="230832"/>
            <a:chOff x="4809970" y="3090156"/>
            <a:chExt cx="367408" cy="230832"/>
          </a:xfrm>
        </p:grpSpPr>
        <p:sp>
          <p:nvSpPr>
            <p:cNvPr id="40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7" name="그룹 406"/>
          <p:cNvGrpSpPr/>
          <p:nvPr/>
        </p:nvGrpSpPr>
        <p:grpSpPr>
          <a:xfrm>
            <a:off x="3833732" y="1803190"/>
            <a:ext cx="367408" cy="230832"/>
            <a:chOff x="4809970" y="3090156"/>
            <a:chExt cx="367408" cy="230832"/>
          </a:xfrm>
        </p:grpSpPr>
        <p:sp>
          <p:nvSpPr>
            <p:cNvPr id="40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0" name="그룹 409"/>
          <p:cNvGrpSpPr/>
          <p:nvPr/>
        </p:nvGrpSpPr>
        <p:grpSpPr>
          <a:xfrm>
            <a:off x="5135268" y="1803190"/>
            <a:ext cx="367408" cy="230832"/>
            <a:chOff x="4809970" y="3090156"/>
            <a:chExt cx="367408" cy="230832"/>
          </a:xfrm>
        </p:grpSpPr>
        <p:sp>
          <p:nvSpPr>
            <p:cNvPr id="4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6713609" y="720890"/>
            <a:ext cx="367408" cy="230832"/>
            <a:chOff x="4809970" y="3090156"/>
            <a:chExt cx="367408" cy="230832"/>
          </a:xfrm>
        </p:grpSpPr>
        <p:sp>
          <p:nvSpPr>
            <p:cNvPr id="4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6" name="그룹 415"/>
          <p:cNvGrpSpPr/>
          <p:nvPr/>
        </p:nvGrpSpPr>
        <p:grpSpPr>
          <a:xfrm>
            <a:off x="8864782" y="717729"/>
            <a:ext cx="367408" cy="230832"/>
            <a:chOff x="4809970" y="3090156"/>
            <a:chExt cx="367408" cy="230832"/>
          </a:xfrm>
        </p:grpSpPr>
        <p:sp>
          <p:nvSpPr>
            <p:cNvPr id="4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2" name="그룹 421"/>
          <p:cNvGrpSpPr/>
          <p:nvPr/>
        </p:nvGrpSpPr>
        <p:grpSpPr>
          <a:xfrm>
            <a:off x="7106163" y="1791284"/>
            <a:ext cx="367408" cy="230832"/>
            <a:chOff x="4809970" y="3090156"/>
            <a:chExt cx="367408" cy="230832"/>
          </a:xfrm>
        </p:grpSpPr>
        <p:sp>
          <p:nvSpPr>
            <p:cNvPr id="4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426" name="그룹 425"/>
          <p:cNvGrpSpPr/>
          <p:nvPr/>
        </p:nvGrpSpPr>
        <p:grpSpPr>
          <a:xfrm>
            <a:off x="935120" y="6285346"/>
            <a:ext cx="251992" cy="230832"/>
            <a:chOff x="4867678" y="3090156"/>
            <a:chExt cx="251992" cy="230832"/>
          </a:xfrm>
        </p:grpSpPr>
        <p:sp>
          <p:nvSpPr>
            <p:cNvPr id="42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1" name="타원 130"/>
          <p:cNvSpPr/>
          <p:nvPr/>
        </p:nvSpPr>
        <p:spPr>
          <a:xfrm>
            <a:off x="5097454" y="3393878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4228084" y="3698338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err="1" smtClean="0">
                <a:latin typeface="+mn-ea"/>
              </a:rPr>
              <a:t>결재선이</a:t>
            </a:r>
            <a:r>
              <a:rPr lang="ko-KR" altLang="en-US" sz="1000" dirty="0" smtClean="0">
                <a:latin typeface="+mn-ea"/>
              </a:rPr>
              <a:t> 없습니다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pPr algn="ctr"/>
            <a:r>
              <a:rPr lang="ko-KR" altLang="en-US" sz="1000" dirty="0" err="1" smtClean="0">
                <a:latin typeface="+mn-ea"/>
              </a:rPr>
              <a:t>결재선을</a:t>
            </a:r>
            <a:r>
              <a:rPr lang="ko-KR" altLang="en-US" sz="1000" dirty="0" smtClean="0">
                <a:latin typeface="+mn-ea"/>
              </a:rPr>
              <a:t> 등록해주세요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4720893" y="3310480"/>
            <a:ext cx="251992" cy="230832"/>
            <a:chOff x="4867678" y="3090156"/>
            <a:chExt cx="251992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6" name="직사각형 135"/>
          <p:cNvSpPr/>
          <p:nvPr/>
        </p:nvSpPr>
        <p:spPr>
          <a:xfrm>
            <a:off x="4083438" y="3191315"/>
            <a:ext cx="2136184" cy="109358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endParaRPr lang="en-US" altLang="ko-KR" sz="800" kern="0" dirty="0"/>
          </a:p>
        </p:txBody>
      </p:sp>
      <p:graphicFrame>
        <p:nvGraphicFramePr>
          <p:cNvPr id="138" name="표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48948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438099" y="2156787"/>
            <a:ext cx="598516" cy="208457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1" name="직사각형 140"/>
          <p:cNvSpPr/>
          <p:nvPr/>
        </p:nvSpPr>
        <p:spPr>
          <a:xfrm>
            <a:off x="406920" y="3093976"/>
            <a:ext cx="598516" cy="208457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2" name="직사각형 141"/>
          <p:cNvSpPr/>
          <p:nvPr/>
        </p:nvSpPr>
        <p:spPr>
          <a:xfrm>
            <a:off x="440515" y="4081088"/>
            <a:ext cx="598516" cy="208457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grpSp>
        <p:nvGrpSpPr>
          <p:cNvPr id="143" name="그룹 142"/>
          <p:cNvGrpSpPr/>
          <p:nvPr/>
        </p:nvGrpSpPr>
        <p:grpSpPr>
          <a:xfrm>
            <a:off x="248644" y="438853"/>
            <a:ext cx="1824509" cy="865164"/>
            <a:chOff x="4535050" y="819597"/>
            <a:chExt cx="1560950" cy="946717"/>
          </a:xfrm>
        </p:grpSpPr>
        <p:sp>
          <p:nvSpPr>
            <p:cNvPr id="144" name="직사각형 14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544264" y="1021160"/>
              <a:ext cx="1316186" cy="74515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52" name="직사각형 15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직사각형 15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54" name="그룹 153"/>
          <p:cNvGrpSpPr/>
          <p:nvPr/>
        </p:nvGrpSpPr>
        <p:grpSpPr>
          <a:xfrm>
            <a:off x="1198313" y="6012440"/>
            <a:ext cx="1824509" cy="728901"/>
            <a:chOff x="4535050" y="819597"/>
            <a:chExt cx="1560950" cy="797609"/>
          </a:xfrm>
        </p:grpSpPr>
        <p:sp>
          <p:nvSpPr>
            <p:cNvPr id="155" name="직사각형 15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4544264" y="1021160"/>
              <a:ext cx="1154095" cy="421786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58" name="직사각형 15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직사각형 15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60" name="그룹 159"/>
          <p:cNvGrpSpPr/>
          <p:nvPr/>
        </p:nvGrpSpPr>
        <p:grpSpPr>
          <a:xfrm>
            <a:off x="4160414" y="1584967"/>
            <a:ext cx="1824509" cy="728901"/>
            <a:chOff x="4535050" y="819597"/>
            <a:chExt cx="1560950" cy="797609"/>
          </a:xfrm>
        </p:grpSpPr>
        <p:sp>
          <p:nvSpPr>
            <p:cNvPr id="163" name="직사각형 162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544263" y="1021159"/>
              <a:ext cx="1551736" cy="523398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6" name="그룹 16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68" name="직사각형 16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9" name="직사각형 16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70" name="그룹 169"/>
          <p:cNvGrpSpPr/>
          <p:nvPr/>
        </p:nvGrpSpPr>
        <p:grpSpPr>
          <a:xfrm>
            <a:off x="7131400" y="866002"/>
            <a:ext cx="1824509" cy="728901"/>
            <a:chOff x="4535050" y="819597"/>
            <a:chExt cx="1560950" cy="797609"/>
          </a:xfrm>
        </p:grpSpPr>
        <p:sp>
          <p:nvSpPr>
            <p:cNvPr id="171" name="직사각형 17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4544263" y="1021159"/>
              <a:ext cx="1551736" cy="523398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3" name="그룹 17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74" name="직사각형 17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29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16801" y="552207"/>
          <a:ext cx="2195166" cy="153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입력 후 터치 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결과내에서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재검색을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빈칸으로 조회 시 전체 내역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텍스트 색상 변경하여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검색조건에 따른 결과값이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148" name="그룹 147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9" name="직사각형 148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결재선 등록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299" y="210986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6650" y="245134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>
                <a:solidFill>
                  <a:srgbClr val="FF0000"/>
                </a:solidFill>
              </a:rPr>
              <a:t>외환</a:t>
            </a:r>
            <a:r>
              <a:rPr lang="ko-KR" altLang="en-US" sz="1050" b="1" kern="0" dirty="0" smtClean="0"/>
              <a:t>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5763" y="277092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4322" y="277092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7554" y="277092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1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025" y="21802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3945" y="218491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4394" y="219034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승인자지정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8808" y="222109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3" name="직사각형 282"/>
          <p:cNvSpPr/>
          <p:nvPr/>
        </p:nvSpPr>
        <p:spPr>
          <a:xfrm>
            <a:off x="2752755" y="248278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외환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4" name="그림 3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4298094" y="555682"/>
            <a:ext cx="3240000" cy="398482"/>
            <a:chOff x="7321393" y="1839307"/>
            <a:chExt cx="3240000" cy="398482"/>
          </a:xfrm>
        </p:grpSpPr>
        <p:sp>
          <p:nvSpPr>
            <p:cNvPr id="132" name="직사각형 131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4452097" y="1019932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387706" y="1817969"/>
            <a:ext cx="15023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0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427487" y="1415579"/>
            <a:ext cx="3039047" cy="330118"/>
            <a:chOff x="5804087" y="4215557"/>
            <a:chExt cx="3024000" cy="288696"/>
          </a:xfrm>
        </p:grpSpPr>
        <p:sp>
          <p:nvSpPr>
            <p:cNvPr id="153" name="직사각형 1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직사각형 154"/>
          <p:cNvSpPr/>
          <p:nvPr/>
        </p:nvSpPr>
        <p:spPr>
          <a:xfrm>
            <a:off x="4427487" y="1480965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smtClean="0">
                <a:latin typeface="+mn-ea"/>
                <a:cs typeface="Calibri" pitchFamily="34" charset="0"/>
              </a:rPr>
              <a:t>빠른이체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6" name="개체 155"/>
          <p:cNvGraphicFramePr>
            <a:graphicFrameLocks noChangeAspect="1"/>
          </p:cNvGraphicFramePr>
          <p:nvPr>
            <p:extLst/>
          </p:nvPr>
        </p:nvGraphicFramePr>
        <p:xfrm>
          <a:off x="7181844" y="1473455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156" name="개체 15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1844" y="1473455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Freeform 24"/>
          <p:cNvSpPr>
            <a:spLocks noChangeArrowheads="1"/>
          </p:cNvSpPr>
          <p:nvPr/>
        </p:nvSpPr>
        <p:spPr bwMode="auto">
          <a:xfrm>
            <a:off x="7247309" y="647482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02" y="647482"/>
            <a:ext cx="216000" cy="216000"/>
          </a:xfrm>
          <a:prstGeom prst="rect">
            <a:avLst/>
          </a:prstGeom>
        </p:spPr>
      </p:pic>
      <p:sp>
        <p:nvSpPr>
          <p:cNvPr id="159" name="타원 158"/>
          <p:cNvSpPr/>
          <p:nvPr/>
        </p:nvSpPr>
        <p:spPr>
          <a:xfrm>
            <a:off x="5720170" y="2605143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850800" y="2909603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smtClean="0">
                <a:latin typeface="+mn-ea"/>
              </a:rPr>
              <a:t>검색결과가</a:t>
            </a:r>
            <a:endParaRPr lang="en-US" altLang="ko-KR" sz="1000" dirty="0" smtClean="0">
              <a:latin typeface="+mn-ea"/>
            </a:endParaRPr>
          </a:p>
          <a:p>
            <a:pPr algn="ctr"/>
            <a:r>
              <a:rPr lang="ko-KR" altLang="en-US" sz="1000" dirty="0" smtClean="0">
                <a:latin typeface="+mn-ea"/>
              </a:rPr>
              <a:t>없습니다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2817472" y="1319127"/>
            <a:ext cx="251992" cy="230832"/>
            <a:chOff x="4867678" y="3090156"/>
            <a:chExt cx="251992" cy="230832"/>
          </a:xfrm>
        </p:grpSpPr>
        <p:sp>
          <p:nvSpPr>
            <p:cNvPr id="1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2" name="그룹 171"/>
          <p:cNvGrpSpPr/>
          <p:nvPr/>
        </p:nvGrpSpPr>
        <p:grpSpPr>
          <a:xfrm>
            <a:off x="315107" y="2374311"/>
            <a:ext cx="251992" cy="230832"/>
            <a:chOff x="4867678" y="3090156"/>
            <a:chExt cx="251992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5343609" y="2521745"/>
            <a:ext cx="251992" cy="230832"/>
            <a:chOff x="4867678" y="3090156"/>
            <a:chExt cx="251992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endParaRPr lang="en-US" altLang="ko-KR" sz="800" kern="0" dirty="0"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538278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435586" y="2152928"/>
            <a:ext cx="598516" cy="208457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7073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관리</a:t>
            </a:r>
            <a:endParaRPr lang="en-US" altLang="ko-KR" sz="800" kern="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194472" y="545210"/>
            <a:ext cx="3230372" cy="398482"/>
            <a:chOff x="7330918" y="3572857"/>
            <a:chExt cx="3168000" cy="398482"/>
          </a:xfrm>
        </p:grpSpPr>
        <p:sp>
          <p:nvSpPr>
            <p:cNvPr id="43" name="직사각형 42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30131" y="3638178"/>
              <a:ext cx="687930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구성원추가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5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85218" y="1548352"/>
            <a:ext cx="3039047" cy="330118"/>
            <a:chOff x="5804087" y="4215557"/>
            <a:chExt cx="3024000" cy="288696"/>
          </a:xfrm>
        </p:grpSpPr>
        <p:sp>
          <p:nvSpPr>
            <p:cNvPr id="53" name="직사각형 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12359" y="1597995"/>
            <a:ext cx="104387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이름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’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‘ID’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부서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6" name="개체 55"/>
          <p:cNvGraphicFramePr>
            <a:graphicFrameLocks noChangeAspect="1"/>
          </p:cNvGraphicFramePr>
          <p:nvPr>
            <p:extLst/>
          </p:nvPr>
        </p:nvGraphicFramePr>
        <p:xfrm>
          <a:off x="3039575" y="1606228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9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9575" y="1606228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직사각형 56"/>
          <p:cNvSpPr/>
          <p:nvPr/>
        </p:nvSpPr>
        <p:spPr>
          <a:xfrm>
            <a:off x="295637" y="226070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67409" y="232518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%</a:t>
            </a:r>
            <a:r>
              <a:rPr lang="ko-KR" altLang="en-US" sz="1100" b="1" dirty="0" smtClean="0">
                <a:latin typeface="+mn-ea"/>
              </a:rPr>
              <a:t>성명</a:t>
            </a:r>
            <a:r>
              <a:rPr lang="en-US" altLang="ko-KR" sz="1100" b="1" dirty="0" smtClean="0">
                <a:latin typeface="+mn-ea"/>
              </a:rPr>
              <a:t>% (%</a:t>
            </a:r>
            <a:r>
              <a:rPr lang="ko-KR" altLang="en-US" sz="1100" b="1" dirty="0" smtClean="0">
                <a:latin typeface="+mn-ea"/>
              </a:rPr>
              <a:t>아이디</a:t>
            </a:r>
            <a:r>
              <a:rPr lang="en-US" altLang="ko-KR" sz="1100" b="1" dirty="0" smtClean="0">
                <a:latin typeface="+mn-ea"/>
              </a:rPr>
              <a:t>%)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53441" y="2560332"/>
            <a:ext cx="13756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부서명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직위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435100" y="2618695"/>
            <a:ext cx="162390" cy="177311"/>
            <a:chOff x="4774349" y="5330127"/>
            <a:chExt cx="162390" cy="177311"/>
          </a:xfrm>
        </p:grpSpPr>
        <p:sp>
          <p:nvSpPr>
            <p:cNvPr id="61" name="직사각형 60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01087" y="3101580"/>
            <a:ext cx="2530006" cy="405790"/>
            <a:chOff x="754673" y="2028264"/>
            <a:chExt cx="2530006" cy="405790"/>
          </a:xfrm>
        </p:grpSpPr>
        <p:sp>
          <p:nvSpPr>
            <p:cNvPr id="63" name="직사각형 62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95" name="직사각형 94"/>
          <p:cNvSpPr/>
          <p:nvPr/>
        </p:nvSpPr>
        <p:spPr>
          <a:xfrm>
            <a:off x="3853831" y="6075249"/>
            <a:ext cx="3158168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sp>
        <p:nvSpPr>
          <p:cNvPr id="96" name="직사각형 95"/>
          <p:cNvSpPr/>
          <p:nvPr/>
        </p:nvSpPr>
        <p:spPr>
          <a:xfrm>
            <a:off x="3858748" y="5421405"/>
            <a:ext cx="1588514" cy="34382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확인자지정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423485" y="5421405"/>
            <a:ext cx="158851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결재자지정</a:t>
            </a:r>
            <a:endParaRPr lang="ko-KR" altLang="en-US" sz="10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3858748" y="583927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기안단계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858748" y="514601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결재단계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840537" y="4426231"/>
            <a:ext cx="157671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마지막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단계 </a:t>
            </a:r>
            <a:r>
              <a:rPr lang="en-US" altLang="ko-KR" sz="900" b="1" dirty="0">
                <a:latin typeface="+mn-ea"/>
              </a:rPr>
              <a:t>/ </a:t>
            </a:r>
            <a:r>
              <a:rPr lang="ko-KR" altLang="en-US" sz="900" b="1" dirty="0" err="1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3840537" y="4686404"/>
            <a:ext cx="3166545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결재자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승인자</a:t>
            </a:r>
            <a:r>
              <a:rPr lang="en-US" altLang="ko-KR" sz="1000" b="1" dirty="0" smtClean="0"/>
              <a:t>)</a:t>
            </a:r>
            <a:r>
              <a:rPr lang="ko-KR" altLang="en-US" sz="1000" b="1" dirty="0" smtClean="0"/>
              <a:t>지정</a:t>
            </a:r>
            <a:endParaRPr lang="ko-KR" altLang="en-US" sz="1000" b="1" dirty="0"/>
          </a:p>
        </p:txBody>
      </p:sp>
      <p:cxnSp>
        <p:nvCxnSpPr>
          <p:cNvPr id="94" name="직선 연결선 93"/>
          <p:cNvCxnSpPr/>
          <p:nvPr/>
        </p:nvCxnSpPr>
        <p:spPr>
          <a:xfrm>
            <a:off x="756173" y="3033608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753441" y="2759509"/>
            <a:ext cx="2401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결재자지정구분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사용보안매체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295637" y="3629502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667409" y="3693979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n-ea"/>
              </a:rPr>
              <a:t>김길수</a:t>
            </a:r>
            <a:r>
              <a:rPr lang="en-US" altLang="ko-KR" sz="1100" b="1" dirty="0">
                <a:latin typeface="+mn-ea"/>
              </a:rPr>
              <a:t> (P01023045)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67409" y="3929125"/>
            <a:ext cx="9460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철강팀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435100" y="3987488"/>
            <a:ext cx="162390" cy="177311"/>
            <a:chOff x="4774349" y="5330127"/>
            <a:chExt cx="162390" cy="177311"/>
          </a:xfrm>
        </p:grpSpPr>
        <p:sp>
          <p:nvSpPr>
            <p:cNvPr id="108" name="직사각형 107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9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701087" y="4435201"/>
            <a:ext cx="2530006" cy="405790"/>
            <a:chOff x="754673" y="2028264"/>
            <a:chExt cx="2530006" cy="405790"/>
          </a:xfrm>
        </p:grpSpPr>
        <p:sp>
          <p:nvSpPr>
            <p:cNvPr id="111" name="직사각형 110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cxnSp>
        <p:nvCxnSpPr>
          <p:cNvPr id="115" name="직선 연결선 114"/>
          <p:cNvCxnSpPr/>
          <p:nvPr/>
        </p:nvCxnSpPr>
        <p:spPr>
          <a:xfrm>
            <a:off x="756173" y="4384815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667409" y="4128302"/>
            <a:ext cx="1444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기안불가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295637" y="498097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67409" y="504545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이지은</a:t>
            </a:r>
            <a:r>
              <a:rPr lang="en-US" altLang="ko-KR" sz="1100" b="1" dirty="0" smtClean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en-US" altLang="ko-KR" sz="1100" b="1" dirty="0" smtClean="0">
                <a:latin typeface="+mn-ea"/>
              </a:rPr>
              <a:t>P01023047)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7407" y="5280602"/>
            <a:ext cx="9460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영어팀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35100" y="5391572"/>
            <a:ext cx="124704" cy="12470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681050" y="5786678"/>
            <a:ext cx="2550043" cy="405790"/>
            <a:chOff x="734636" y="2028264"/>
            <a:chExt cx="2550043" cy="405790"/>
          </a:xfrm>
        </p:grpSpPr>
        <p:sp>
          <p:nvSpPr>
            <p:cNvPr id="124" name="직사각형 123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397799" y="2202545"/>
              <a:ext cx="864339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34636" y="2203222"/>
              <a:ext cx="67518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 한도 </a:t>
              </a:r>
            </a:p>
          </p:txBody>
        </p:sp>
      </p:grpSp>
      <p:cxnSp>
        <p:nvCxnSpPr>
          <p:cNvPr id="128" name="직선 연결선 127"/>
          <p:cNvCxnSpPr/>
          <p:nvPr/>
        </p:nvCxnSpPr>
        <p:spPr>
          <a:xfrm>
            <a:off x="756173" y="5736292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/>
          <p:cNvSpPr/>
          <p:nvPr/>
        </p:nvSpPr>
        <p:spPr>
          <a:xfrm>
            <a:off x="667410" y="5479779"/>
            <a:ext cx="14446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제한없음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4867"/>
              </p:ext>
            </p:extLst>
          </p:nvPr>
        </p:nvGraphicFramePr>
        <p:xfrm>
          <a:off x="9822663" y="557185"/>
          <a:ext cx="2195166" cy="54335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1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구성원을 추가하는 팝업으로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이미 추가된 구성원은 별도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시 다른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경우에는 등록되지 않은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결재단계별로 정렬하여 목록에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타이틀에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결재단계를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구성원 수를 표시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3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 입력 후 검색 처리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구성원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목록 정렬 기능 제공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정렬기준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이름순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 2)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부서순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직위순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 표시 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4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참여중인 기안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참여중인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없으면 표시 안함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따라 버튼 제공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터치 시 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구성원으로 추가 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54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마직막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단계이거나 승인 단계일 경우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 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2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0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4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또는 아이디 클릭 시사용자정보팝업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8634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33" name="직사각형 132"/>
          <p:cNvSpPr/>
          <p:nvPr/>
        </p:nvSpPr>
        <p:spPr>
          <a:xfrm>
            <a:off x="2806656" y="5032724"/>
            <a:ext cx="432412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r>
              <a:rPr lang="en-US" altLang="ko-KR" sz="600" dirty="0" smtClean="0">
                <a:solidFill>
                  <a:schemeClr val="bg1"/>
                </a:solidFill>
              </a:rPr>
              <a:t>1</a:t>
            </a:r>
            <a:r>
              <a:rPr lang="ko-KR" altLang="en-US" sz="600" dirty="0" smtClean="0">
                <a:solidFill>
                  <a:schemeClr val="bg1"/>
                </a:solidFill>
              </a:rPr>
              <a:t>단계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2825935" y="1466925"/>
            <a:ext cx="251992" cy="230832"/>
            <a:chOff x="4867678" y="3090156"/>
            <a:chExt cx="251992" cy="230832"/>
          </a:xfrm>
        </p:grpSpPr>
        <p:sp>
          <p:nvSpPr>
            <p:cNvPr id="16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5" name="그룹 164"/>
          <p:cNvGrpSpPr/>
          <p:nvPr/>
        </p:nvGrpSpPr>
        <p:grpSpPr>
          <a:xfrm>
            <a:off x="201120" y="2532894"/>
            <a:ext cx="251992" cy="230832"/>
            <a:chOff x="4867678" y="3090156"/>
            <a:chExt cx="251992" cy="230832"/>
          </a:xfrm>
        </p:grpSpPr>
        <p:sp>
          <p:nvSpPr>
            <p:cNvPr id="16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2633896" y="4907063"/>
            <a:ext cx="251992" cy="230832"/>
            <a:chOff x="4867678" y="3090156"/>
            <a:chExt cx="251992" cy="230832"/>
          </a:xfrm>
        </p:grpSpPr>
        <p:sp>
          <p:nvSpPr>
            <p:cNvPr id="16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1" name="직사각형 170"/>
          <p:cNvSpPr/>
          <p:nvPr/>
        </p:nvSpPr>
        <p:spPr>
          <a:xfrm>
            <a:off x="201840" y="6040487"/>
            <a:ext cx="322300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grpSp>
        <p:nvGrpSpPr>
          <p:cNvPr id="172" name="그룹 171"/>
          <p:cNvGrpSpPr/>
          <p:nvPr/>
        </p:nvGrpSpPr>
        <p:grpSpPr>
          <a:xfrm>
            <a:off x="3638327" y="4715341"/>
            <a:ext cx="367408" cy="230832"/>
            <a:chOff x="4809970" y="3090156"/>
            <a:chExt cx="367408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3638327" y="5474788"/>
            <a:ext cx="367408" cy="230832"/>
            <a:chOff x="4809970" y="3090156"/>
            <a:chExt cx="367408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241325" y="6096982"/>
            <a:ext cx="251992" cy="230832"/>
            <a:chOff x="4867678" y="3090156"/>
            <a:chExt cx="251992" cy="230832"/>
          </a:xfrm>
        </p:grpSpPr>
        <p:sp>
          <p:nvSpPr>
            <p:cNvPr id="1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276794" y="1014852"/>
            <a:ext cx="191975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200" b="1" dirty="0" smtClean="0">
                <a:latin typeface="+mn-ea"/>
              </a:rPr>
              <a:t>%</a:t>
            </a:r>
            <a:r>
              <a:rPr lang="ko-KR" altLang="en-US" sz="1200" b="1" dirty="0" err="1" smtClean="0">
                <a:latin typeface="+mn-ea"/>
              </a:rPr>
              <a:t>결재단계</a:t>
            </a:r>
            <a:r>
              <a:rPr lang="en-US" altLang="ko-KR" sz="1200" b="1" dirty="0" smtClean="0">
                <a:latin typeface="+mn-ea"/>
              </a:rPr>
              <a:t>%     </a:t>
            </a:r>
            <a:r>
              <a:rPr lang="ko-KR" altLang="en-US" sz="1200" b="1" dirty="0" smtClean="0">
                <a:latin typeface="+mn-ea"/>
              </a:rPr>
              <a:t>에 추가할</a:t>
            </a:r>
            <a:endParaRPr lang="en-US" altLang="ko-KR" sz="1200" b="1" dirty="0" smtClean="0">
              <a:latin typeface="+mn-ea"/>
            </a:endParaRPr>
          </a:p>
          <a:p>
            <a:r>
              <a:rPr lang="ko-KR" altLang="en-US" sz="1200" b="1" dirty="0" smtClean="0">
                <a:latin typeface="+mn-ea"/>
              </a:rPr>
              <a:t>구성원을 선택해주세요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82" name="그룹 181"/>
          <p:cNvGrpSpPr/>
          <p:nvPr/>
        </p:nvGrpSpPr>
        <p:grpSpPr>
          <a:xfrm>
            <a:off x="87603" y="937905"/>
            <a:ext cx="251992" cy="230832"/>
            <a:chOff x="4867678" y="3090156"/>
            <a:chExt cx="251992" cy="230832"/>
          </a:xfrm>
        </p:grpSpPr>
        <p:sp>
          <p:nvSpPr>
            <p:cNvPr id="1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5" name="그룹 184"/>
          <p:cNvGrpSpPr/>
          <p:nvPr/>
        </p:nvGrpSpPr>
        <p:grpSpPr>
          <a:xfrm>
            <a:off x="3638327" y="6040990"/>
            <a:ext cx="367408" cy="230832"/>
            <a:chOff x="4809970" y="3090156"/>
            <a:chExt cx="367408" cy="230832"/>
          </a:xfrm>
        </p:grpSpPr>
        <p:sp>
          <p:nvSpPr>
            <p:cNvPr id="1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5386768" y="5453924"/>
            <a:ext cx="367408" cy="230832"/>
            <a:chOff x="4809970" y="3090156"/>
            <a:chExt cx="367408" cy="230832"/>
          </a:xfrm>
        </p:grpSpPr>
        <p:sp>
          <p:nvSpPr>
            <p:cNvPr id="18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1163342" y="1054159"/>
            <a:ext cx="222738" cy="17941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3</a:t>
            </a:r>
            <a:endParaRPr lang="ko-KR" altLang="en-US" sz="900" dirty="0"/>
          </a:p>
        </p:txBody>
      </p:sp>
      <p:grpSp>
        <p:nvGrpSpPr>
          <p:cNvPr id="191" name="그룹 190"/>
          <p:cNvGrpSpPr/>
          <p:nvPr/>
        </p:nvGrpSpPr>
        <p:grpSpPr>
          <a:xfrm>
            <a:off x="967569" y="859672"/>
            <a:ext cx="367408" cy="230832"/>
            <a:chOff x="4809970" y="3090156"/>
            <a:chExt cx="367408" cy="230832"/>
          </a:xfrm>
        </p:grpSpPr>
        <p:sp>
          <p:nvSpPr>
            <p:cNvPr id="19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구성원추가</a:t>
            </a:r>
            <a:endParaRPr lang="en-US" altLang="ko-KR" sz="800" kern="0" dirty="0"/>
          </a:p>
        </p:txBody>
      </p:sp>
      <p:grpSp>
        <p:nvGrpSpPr>
          <p:cNvPr id="120" name="그룹 119"/>
          <p:cNvGrpSpPr/>
          <p:nvPr/>
        </p:nvGrpSpPr>
        <p:grpSpPr>
          <a:xfrm>
            <a:off x="521293" y="3627100"/>
            <a:ext cx="251992" cy="230832"/>
            <a:chOff x="4867678" y="3090156"/>
            <a:chExt cx="251992" cy="230832"/>
          </a:xfrm>
        </p:grpSpPr>
        <p:sp>
          <p:nvSpPr>
            <p:cNvPr id="12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34" name="표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07681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뱃지안내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표시 영역 삭제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표시방법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정렬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설명 추가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정렬순서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변경 기능 제공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2474956" y="1891683"/>
            <a:ext cx="251992" cy="230832"/>
            <a:chOff x="4867678" y="3090156"/>
            <a:chExt cx="251992" cy="230832"/>
          </a:xfrm>
        </p:grpSpPr>
        <p:sp>
          <p:nvSpPr>
            <p:cNvPr id="15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2562412" y="1918959"/>
            <a:ext cx="770297" cy="273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35" latinLnBrk="0">
              <a:lnSpc>
                <a:spcPct val="150000"/>
              </a:lnSpc>
              <a:defRPr/>
            </a:pPr>
            <a:r>
              <a:rPr lang="ko-KR" altLang="en-US" sz="900" kern="0" dirty="0" smtClean="0"/>
              <a:t>이름순↓</a:t>
            </a:r>
            <a:endParaRPr lang="en-US" altLang="ko-KR" sz="800" kern="0" dirty="0"/>
          </a:p>
        </p:txBody>
      </p:sp>
      <p:sp>
        <p:nvSpPr>
          <p:cNvPr id="158" name="양쪽 모서리가 둥근 사각형 157">
            <a:extLst>
              <a:ext uri="{FF2B5EF4-FFF2-40B4-BE49-F238E27FC236}">
                <a16:creationId xmlns:a16="http://schemas.microsoft.com/office/drawing/2014/main" id="{5EFC62E7-EDD4-860E-024C-E96B7C455B02}"/>
              </a:ext>
            </a:extLst>
          </p:cNvPr>
          <p:cNvSpPr/>
          <p:nvPr/>
        </p:nvSpPr>
        <p:spPr>
          <a:xfrm>
            <a:off x="3638327" y="1878470"/>
            <a:ext cx="3240000" cy="1816751"/>
          </a:xfrm>
          <a:prstGeom prst="round2SameRect">
            <a:avLst>
              <a:gd name="adj1" fmla="val 545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F7E6862-C61D-0227-D0B8-90010ED41B83}"/>
              </a:ext>
            </a:extLst>
          </p:cNvPr>
          <p:cNvSpPr/>
          <p:nvPr/>
        </p:nvSpPr>
        <p:spPr>
          <a:xfrm>
            <a:off x="4890273" y="1958254"/>
            <a:ext cx="706284" cy="26161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ko-KR" altLang="en-US" sz="1100" b="1" dirty="0" smtClean="0">
                <a:latin typeface="맑은 고딕" pitchFamily="50" charset="-127"/>
              </a:rPr>
              <a:t>정렬 순서</a:t>
            </a:r>
            <a:endParaRPr lang="ko-KR" altLang="en-US" sz="1100" b="1" dirty="0">
              <a:latin typeface="맑은 고딕" pitchFamily="50" charset="-127"/>
            </a:endParaRPr>
          </a:p>
        </p:txBody>
      </p:sp>
      <p:cxnSp>
        <p:nvCxnSpPr>
          <p:cNvPr id="196" name="직선 연결선 245">
            <a:extLst>
              <a:ext uri="{FF2B5EF4-FFF2-40B4-BE49-F238E27FC236}">
                <a16:creationId xmlns:a16="http://schemas.microsoft.com/office/drawing/2014/main" id="{80CBD149-1864-F74E-5E64-C3FC61301BEC}"/>
              </a:ext>
            </a:extLst>
          </p:cNvPr>
          <p:cNvCxnSpPr/>
          <p:nvPr/>
        </p:nvCxnSpPr>
        <p:spPr>
          <a:xfrm>
            <a:off x="3732216" y="2282802"/>
            <a:ext cx="3024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3F880367-8584-31CD-F25C-1E4377E4672E}"/>
              </a:ext>
            </a:extLst>
          </p:cNvPr>
          <p:cNvSpPr/>
          <p:nvPr/>
        </p:nvSpPr>
        <p:spPr>
          <a:xfrm>
            <a:off x="3818327" y="3322551"/>
            <a:ext cx="2880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조회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98" name="Freeform 11"/>
          <p:cNvSpPr>
            <a:spLocks noChangeArrowheads="1"/>
          </p:cNvSpPr>
          <p:nvPr/>
        </p:nvSpPr>
        <p:spPr bwMode="auto">
          <a:xfrm>
            <a:off x="6604755" y="202339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A8BDC54-56BE-714D-EDB3-A8A0BF5E9A92}"/>
              </a:ext>
            </a:extLst>
          </p:cNvPr>
          <p:cNvGrpSpPr/>
          <p:nvPr/>
        </p:nvGrpSpPr>
        <p:grpSpPr>
          <a:xfrm>
            <a:off x="3824255" y="2345741"/>
            <a:ext cx="2881664" cy="531184"/>
            <a:chOff x="4506018" y="5391782"/>
            <a:chExt cx="2881664" cy="531184"/>
          </a:xfrm>
        </p:grpSpPr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15C6B085-1A56-40BB-6F6A-EFAD7B667842}"/>
                </a:ext>
              </a:extLst>
            </p:cNvPr>
            <p:cNvGrpSpPr/>
            <p:nvPr/>
          </p:nvGrpSpPr>
          <p:grpSpPr>
            <a:xfrm>
              <a:off x="4506018" y="5630498"/>
              <a:ext cx="2881664" cy="292468"/>
              <a:chOff x="6943648" y="3301562"/>
              <a:chExt cx="2881664" cy="292468"/>
            </a:xfrm>
          </p:grpSpPr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7C23D274-0CE4-3257-51BD-4D4D1FCDD28E}"/>
                  </a:ext>
                </a:extLst>
              </p:cNvPr>
              <p:cNvSpPr/>
              <p:nvPr/>
            </p:nvSpPr>
            <p:spPr>
              <a:xfrm>
                <a:off x="6943648" y="3301562"/>
                <a:ext cx="2880000" cy="28869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이름순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4" name="직선 연결선 267">
                <a:extLst>
                  <a:ext uri="{FF2B5EF4-FFF2-40B4-BE49-F238E27FC236}">
                    <a16:creationId xmlns:a16="http://schemas.microsoft.com/office/drawing/2014/main" id="{79F50B30-C897-359C-4BFF-CBDEEAB6C16A}"/>
                  </a:ext>
                </a:extLst>
              </p:cNvPr>
              <p:cNvCxnSpPr/>
              <p:nvPr/>
            </p:nvCxnSpPr>
            <p:spPr>
              <a:xfrm>
                <a:off x="6945312" y="3594030"/>
                <a:ext cx="2880000" cy="0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1" name="Freeform 10">
              <a:extLst>
                <a:ext uri="{FF2B5EF4-FFF2-40B4-BE49-F238E27FC236}">
                  <a16:creationId xmlns:a16="http://schemas.microsoft.com/office/drawing/2014/main" id="{2E06611C-96EA-E91A-8B36-E12B00D533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08218" y="5695084"/>
              <a:ext cx="100246" cy="163364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5B266E35-E0B2-3098-9F32-591ADF5BCA25}"/>
                </a:ext>
              </a:extLst>
            </p:cNvPr>
            <p:cNvSpPr/>
            <p:nvPr/>
          </p:nvSpPr>
          <p:spPr>
            <a:xfrm>
              <a:off x="4542982" y="5391782"/>
              <a:ext cx="958078" cy="23083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r>
                <a:rPr lang="ko-KR" altLang="en-US" sz="900" b="1" dirty="0" err="1" smtClean="0">
                  <a:latin typeface="+mn-ea"/>
                </a:rPr>
                <a:t>정렬기준</a:t>
              </a:r>
              <a:endParaRPr lang="en-US" altLang="ko-KR" sz="900" b="1" dirty="0">
                <a:latin typeface="+mn-ea"/>
              </a:endParaRPr>
            </a:p>
          </p:txBody>
        </p:sp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1266C6E-7C97-A62E-B96A-99C59D37C1ED}"/>
              </a:ext>
            </a:extLst>
          </p:cNvPr>
          <p:cNvSpPr/>
          <p:nvPr/>
        </p:nvSpPr>
        <p:spPr>
          <a:xfrm>
            <a:off x="3832345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오름차순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1D82E488-BCD4-28E1-1A40-35290A823233}"/>
              </a:ext>
            </a:extLst>
          </p:cNvPr>
          <p:cNvSpPr/>
          <p:nvPr/>
        </p:nvSpPr>
        <p:spPr>
          <a:xfrm>
            <a:off x="5268409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</a:rPr>
              <a:t>내림차순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CB008CE5-E879-9963-17D3-5B7697416595}"/>
              </a:ext>
            </a:extLst>
          </p:cNvPr>
          <p:cNvSpPr/>
          <p:nvPr/>
        </p:nvSpPr>
        <p:spPr>
          <a:xfrm>
            <a:off x="3953219" y="2988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72CADD19-811A-27C2-C02F-7E1A2CF33EE0}"/>
              </a:ext>
            </a:extLst>
          </p:cNvPr>
          <p:cNvSpPr/>
          <p:nvPr/>
        </p:nvSpPr>
        <p:spPr>
          <a:xfrm>
            <a:off x="5385335" y="2979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7BC6CEF1-D498-AC84-8F62-ACB165660DFC}"/>
              </a:ext>
            </a:extLst>
          </p:cNvPr>
          <p:cNvSpPr>
            <a:spLocks noChangeAspect="1"/>
          </p:cNvSpPr>
          <p:nvPr/>
        </p:nvSpPr>
        <p:spPr>
          <a:xfrm>
            <a:off x="3969585" y="3011620"/>
            <a:ext cx="108000" cy="108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34604" y="1805880"/>
            <a:ext cx="251992" cy="230832"/>
            <a:chOff x="4867678" y="3090156"/>
            <a:chExt cx="251992" cy="230832"/>
          </a:xfrm>
        </p:grpSpPr>
        <p:sp>
          <p:nvSpPr>
            <p:cNvPr id="2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59885" y="2539984"/>
            <a:ext cx="367408" cy="230832"/>
            <a:chOff x="4809970" y="3090156"/>
            <a:chExt cx="367408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251086" y="523249"/>
            <a:ext cx="1945462" cy="932392"/>
            <a:chOff x="4535050" y="819597"/>
            <a:chExt cx="1664431" cy="1020282"/>
          </a:xfrm>
        </p:grpSpPr>
        <p:sp>
          <p:nvSpPr>
            <p:cNvPr id="138" name="직사각형 13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4544264" y="1021159"/>
              <a:ext cx="1655217" cy="818720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0" name="그룹 139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41" name="직사각형 140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2" name="직사각형 141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9" name="그룹 148"/>
          <p:cNvGrpSpPr/>
          <p:nvPr/>
        </p:nvGrpSpPr>
        <p:grpSpPr>
          <a:xfrm>
            <a:off x="697946" y="2933175"/>
            <a:ext cx="2510606" cy="728901"/>
            <a:chOff x="4535050" y="819597"/>
            <a:chExt cx="2147937" cy="797609"/>
          </a:xfrm>
        </p:grpSpPr>
        <p:sp>
          <p:nvSpPr>
            <p:cNvPr id="152" name="직사각형 15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4544263" y="1021160"/>
              <a:ext cx="2138724" cy="416006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54" name="그룹 15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55" name="직사각형 15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직사각형 161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63" name="그룹 162"/>
          <p:cNvGrpSpPr/>
          <p:nvPr/>
        </p:nvGrpSpPr>
        <p:grpSpPr>
          <a:xfrm>
            <a:off x="4216568" y="4529122"/>
            <a:ext cx="2599831" cy="1889948"/>
            <a:chOff x="4535050" y="819597"/>
            <a:chExt cx="2224273" cy="2068099"/>
          </a:xfrm>
        </p:grpSpPr>
        <p:sp>
          <p:nvSpPr>
            <p:cNvPr id="164" name="직사각형 16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16" name="직사각형 215"/>
            <p:cNvSpPr/>
            <p:nvPr/>
          </p:nvSpPr>
          <p:spPr>
            <a:xfrm>
              <a:off x="4544263" y="1021159"/>
              <a:ext cx="2215060" cy="1866537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17" name="그룹 21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18" name="직사각형 21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" name="직사각형 21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20" name="그룹 219"/>
          <p:cNvGrpSpPr/>
          <p:nvPr/>
        </p:nvGrpSpPr>
        <p:grpSpPr>
          <a:xfrm>
            <a:off x="580509" y="5814592"/>
            <a:ext cx="2510606" cy="728901"/>
            <a:chOff x="4535050" y="819597"/>
            <a:chExt cx="2147937" cy="797609"/>
          </a:xfrm>
        </p:grpSpPr>
        <p:sp>
          <p:nvSpPr>
            <p:cNvPr id="221" name="직사각형 22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4544263" y="1021160"/>
              <a:ext cx="2138724" cy="416006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23" name="그룹 22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24" name="직사각형 22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" name="직사각형 22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029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01726"/>
              </p:ext>
            </p:extLst>
          </p:nvPr>
        </p:nvGraphicFramePr>
        <p:xfrm>
          <a:off x="354827" y="3385493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115" name="직선 연결선 114"/>
          <p:cNvCxnSpPr/>
          <p:nvPr/>
        </p:nvCxnSpPr>
        <p:spPr>
          <a:xfrm flipV="1">
            <a:off x="1332926" y="3965141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/>
          <p:cNvSpPr/>
          <p:nvPr/>
        </p:nvSpPr>
        <p:spPr>
          <a:xfrm>
            <a:off x="1320155" y="502079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320155" y="476697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1320155" y="452203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320155" y="426538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310962" y="366342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312890" y="381247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1320155" y="402044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1310961" y="343334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91" name="직사각형 90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2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94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91903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결재선상세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endParaRPr lang="en-US" altLang="ko-KR" sz="800" kern="0" dirty="0"/>
          </a:p>
        </p:txBody>
      </p:sp>
      <p:sp>
        <p:nvSpPr>
          <p:cNvPr id="61" name="TextBox 60"/>
          <p:cNvSpPr txBox="1"/>
          <p:nvPr/>
        </p:nvSpPr>
        <p:spPr>
          <a:xfrm>
            <a:off x="285367" y="1038336"/>
            <a:ext cx="990015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smtClean="0">
                <a:latin typeface="+mn-ea"/>
              </a:rPr>
              <a:t>결재선기본설정</a:t>
            </a:r>
            <a:endParaRPr lang="ko-KR" altLang="en-US" sz="1000" b="1" dirty="0">
              <a:latin typeface="+mn-ea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366960" y="1357002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366960" y="1694822"/>
            <a:ext cx="29045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1863638" y="1392474"/>
            <a:ext cx="140026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35" latinLnBrk="0">
              <a:lnSpc>
                <a:spcPct val="150000"/>
              </a:lnSpc>
              <a:defRPr/>
            </a:pPr>
            <a:r>
              <a:rPr lang="ko-KR" altLang="en-US" sz="900" kern="0" dirty="0"/>
              <a:t>이체</a:t>
            </a:r>
            <a:r>
              <a:rPr lang="en-US" altLang="ko-KR" sz="900" kern="0" dirty="0"/>
              <a:t>/</a:t>
            </a:r>
            <a:r>
              <a:rPr lang="ko-KR" altLang="en-US" sz="900" kern="0" dirty="0"/>
              <a:t>송금 결재선</a:t>
            </a:r>
            <a:endParaRPr lang="en-US" altLang="ko-KR" sz="900" kern="0" dirty="0"/>
          </a:p>
        </p:txBody>
      </p:sp>
      <p:sp>
        <p:nvSpPr>
          <p:cNvPr id="84" name="직사각형 83"/>
          <p:cNvSpPr/>
          <p:nvPr/>
        </p:nvSpPr>
        <p:spPr>
          <a:xfrm>
            <a:off x="339587" y="1458738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결재선명</a:t>
            </a:r>
            <a:endParaRPr lang="en-US" altLang="ko-KR" sz="8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42885" y="1763402"/>
            <a:ext cx="2909073" cy="302348"/>
            <a:chOff x="342885" y="2184407"/>
            <a:chExt cx="2909073" cy="302348"/>
          </a:xfrm>
        </p:grpSpPr>
        <p:cxnSp>
          <p:nvCxnSpPr>
            <p:cNvPr id="107" name="직선 연결선 106"/>
            <p:cNvCxnSpPr/>
            <p:nvPr/>
          </p:nvCxnSpPr>
          <p:spPr>
            <a:xfrm>
              <a:off x="347398" y="248675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직사각형 118"/>
            <p:cNvSpPr/>
            <p:nvPr/>
          </p:nvSpPr>
          <p:spPr>
            <a:xfrm>
              <a:off x="1844076" y="2184407"/>
              <a:ext cx="1400262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 err="1"/>
                <a:t>수직결재</a:t>
              </a:r>
              <a:endParaRPr lang="en-US" altLang="ko-KR" sz="900" kern="0" dirty="0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342885" y="2243051"/>
              <a:ext cx="7344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 유형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342885" y="2092167"/>
            <a:ext cx="2909073" cy="294728"/>
            <a:chOff x="342885" y="2214887"/>
            <a:chExt cx="2909073" cy="294728"/>
          </a:xfrm>
        </p:grpSpPr>
        <p:cxnSp>
          <p:nvCxnSpPr>
            <p:cNvPr id="144" name="직선 연결선 143"/>
            <p:cNvCxnSpPr/>
            <p:nvPr/>
          </p:nvCxnSpPr>
          <p:spPr>
            <a:xfrm>
              <a:off x="347398" y="250961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직사각형 152"/>
            <p:cNvSpPr/>
            <p:nvPr/>
          </p:nvSpPr>
          <p:spPr>
            <a:xfrm>
              <a:off x="1844076" y="2214887"/>
              <a:ext cx="1400262" cy="273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결재 </a:t>
              </a:r>
              <a:r>
                <a:rPr lang="en-US" altLang="ko-KR" sz="900" kern="0" dirty="0"/>
                <a:t>6</a:t>
              </a:r>
              <a:r>
                <a:rPr lang="ko-KR" altLang="en-US" sz="900" kern="0" dirty="0" smtClean="0"/>
                <a:t>단계</a:t>
              </a:r>
              <a:endParaRPr lang="en-US" altLang="ko-KR" sz="900" kern="0" dirty="0"/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342885" y="2265911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결재선단계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335265" y="2375115"/>
            <a:ext cx="2909073" cy="340448"/>
            <a:chOff x="342885" y="2214887"/>
            <a:chExt cx="2909073" cy="340448"/>
          </a:xfrm>
        </p:grpSpPr>
        <p:cxnSp>
          <p:nvCxnSpPr>
            <p:cNvPr id="156" name="직선 연결선 155"/>
            <p:cNvCxnSpPr/>
            <p:nvPr/>
          </p:nvCxnSpPr>
          <p:spPr>
            <a:xfrm>
              <a:off x="347398" y="255533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직사각형 156"/>
            <p:cNvSpPr/>
            <p:nvPr/>
          </p:nvSpPr>
          <p:spPr>
            <a:xfrm>
              <a:off x="1844076" y="2214887"/>
              <a:ext cx="1400262" cy="273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있음</a:t>
              </a:r>
              <a:endParaRPr lang="en-US" altLang="ko-KR" sz="900" kern="0" dirty="0"/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342885" y="2265911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승인자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59" name="직사각형 158"/>
          <p:cNvSpPr/>
          <p:nvPr/>
        </p:nvSpPr>
        <p:spPr>
          <a:xfrm>
            <a:off x="275207" y="3120664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900" b="1" kern="0" dirty="0" err="1" smtClean="0"/>
              <a:t>결재구성원</a:t>
            </a:r>
            <a:endParaRPr lang="ko-KR" altLang="en-US" sz="900" b="1" kern="0" dirty="0"/>
          </a:p>
        </p:txBody>
      </p:sp>
      <p:cxnSp>
        <p:nvCxnSpPr>
          <p:cNvPr id="161" name="직선 연결선 160"/>
          <p:cNvCxnSpPr/>
          <p:nvPr/>
        </p:nvCxnSpPr>
        <p:spPr>
          <a:xfrm>
            <a:off x="359742" y="3050843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/>
          <p:cNvSpPr/>
          <p:nvPr/>
        </p:nvSpPr>
        <p:spPr>
          <a:xfrm>
            <a:off x="1208698" y="6004560"/>
            <a:ext cx="2217016" cy="380677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확인</a:t>
            </a:r>
            <a:endParaRPr lang="ko-KR" altLang="en-US" sz="1000" b="1" dirty="0"/>
          </a:p>
        </p:txBody>
      </p:sp>
      <p:sp>
        <p:nvSpPr>
          <p:cNvPr id="163" name="직사각형 162"/>
          <p:cNvSpPr/>
          <p:nvPr/>
        </p:nvSpPr>
        <p:spPr>
          <a:xfrm>
            <a:off x="183635" y="6006562"/>
            <a:ext cx="1020069" cy="375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16643"/>
              </p:ext>
            </p:extLst>
          </p:nvPr>
        </p:nvGraphicFramePr>
        <p:xfrm>
          <a:off x="9822663" y="557186"/>
          <a:ext cx="2195166" cy="31967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6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b="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상세보기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700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endParaRPr lang="en-US" altLang="ko-KR" sz="7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[1-2]</a:t>
                      </a:r>
                    </a:p>
                    <a:p>
                      <a:pPr latinLnBrk="1"/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수직결재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수평결재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확인자결재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[1-3]</a:t>
                      </a:r>
                    </a:p>
                    <a:p>
                      <a:pPr latinLnBrk="1"/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결재 </a:t>
                      </a:r>
                      <a:r>
                        <a:rPr lang="en-US" altLang="ko-KR" sz="700" b="0" dirty="0">
                          <a:latin typeface="+mn-ea"/>
                          <a:ea typeface="+mn-ea"/>
                        </a:rPr>
                        <a:t>%n% </a:t>
                      </a:r>
                      <a:r>
                        <a:rPr lang="ko-KR" altLang="en-US" sz="700" b="0" dirty="0">
                          <a:latin typeface="+mn-ea"/>
                          <a:ea typeface="+mn-ea"/>
                        </a:rPr>
                        <a:t>단계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[1-4]</a:t>
                      </a:r>
                    </a:p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있음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[1-5]</a:t>
                      </a:r>
                    </a:p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체크된 결재선 업무범위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단계를 표시함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[2-1]</a:t>
                      </a:r>
                    </a:p>
                    <a:p>
                      <a:pPr latinLnBrk="1"/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승인자가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있는 경우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마지막단계명은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[2-2]</a:t>
                      </a:r>
                    </a:p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소속된 사용자 표시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경우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표시함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40079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b="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b="0" dirty="0" smtClean="0">
                          <a:latin typeface="+mn-ea"/>
                          <a:cs typeface="Segoe UI" panose="020B0502040204020203" pitchFamily="34" charset="0"/>
                        </a:rPr>
                        <a:t>“</a:t>
                      </a: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결재선기본설정</a:t>
                      </a:r>
                      <a:r>
                        <a:rPr lang="en-US" altLang="ko-KR" sz="700" b="0" dirty="0" smtClean="0">
                          <a:latin typeface="+mn-ea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수정</a:t>
                      </a:r>
                      <a:r>
                        <a:rPr lang="en-US" altLang="ko-KR" sz="700" b="0" dirty="0" smtClean="0">
                          <a:latin typeface="+mn-ea"/>
                          <a:cs typeface="Segoe UI" panose="020B0502040204020203" pitchFamily="34" charset="0"/>
                        </a:rPr>
                        <a:t>” </a:t>
                      </a:r>
                      <a:r>
                        <a:rPr lang="ko-KR" altLang="en-US" sz="700" b="0" dirty="0" smtClean="0">
                          <a:latin typeface="+mn-ea"/>
                          <a:cs typeface="Segoe UI" panose="020B0502040204020203" pitchFamily="34" charset="0"/>
                        </a:rPr>
                        <a:t>화면으로 이동</a:t>
                      </a:r>
                      <a:endParaRPr lang="ko-KR" altLang="en-US" sz="700" b="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077945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083499"/>
                  </a:ext>
                </a:extLst>
              </a:tr>
            </a:tbl>
          </a:graphicData>
        </a:graphic>
      </p:graphicFrame>
      <p:grpSp>
        <p:nvGrpSpPr>
          <p:cNvPr id="49" name="그룹 48"/>
          <p:cNvGrpSpPr/>
          <p:nvPr/>
        </p:nvGrpSpPr>
        <p:grpSpPr>
          <a:xfrm>
            <a:off x="345141" y="2697222"/>
            <a:ext cx="2909073" cy="340448"/>
            <a:chOff x="342885" y="2214887"/>
            <a:chExt cx="2909073" cy="340448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347398" y="255533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1844076" y="2214887"/>
              <a:ext cx="1400262" cy="273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이체</a:t>
              </a:r>
              <a:r>
                <a:rPr lang="en-US" altLang="ko-KR" sz="900" kern="0" dirty="0"/>
                <a:t>,B2B/</a:t>
              </a:r>
              <a:r>
                <a:rPr lang="ko-KR" altLang="en-US" sz="900" kern="0" dirty="0"/>
                <a:t>전자결재</a:t>
              </a:r>
              <a:endParaRPr lang="en-US" altLang="ko-KR" sz="900" kern="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2885" y="2265911"/>
              <a:ext cx="97654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결재선업무범위 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101663" y="1650047"/>
            <a:ext cx="367408" cy="230832"/>
            <a:chOff x="4809970" y="3090156"/>
            <a:chExt cx="367408" cy="230832"/>
          </a:xfrm>
        </p:grpSpPr>
        <p:sp>
          <p:nvSpPr>
            <p:cNvPr id="5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112047" y="1996406"/>
            <a:ext cx="367408" cy="230832"/>
            <a:chOff x="4809970" y="3090156"/>
            <a:chExt cx="367408" cy="230832"/>
          </a:xfrm>
        </p:grpSpPr>
        <p:sp>
          <p:nvSpPr>
            <p:cNvPr id="5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94043" y="2373862"/>
            <a:ext cx="367408" cy="230832"/>
            <a:chOff x="4809970" y="3090156"/>
            <a:chExt cx="367408" cy="230832"/>
          </a:xfrm>
        </p:grpSpPr>
        <p:sp>
          <p:nvSpPr>
            <p:cNvPr id="6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94043" y="2719372"/>
            <a:ext cx="367408" cy="230832"/>
            <a:chOff x="4809970" y="3090156"/>
            <a:chExt cx="367408" cy="230832"/>
          </a:xfrm>
        </p:grpSpPr>
        <p:sp>
          <p:nvSpPr>
            <p:cNvPr id="6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147839" y="1365812"/>
            <a:ext cx="251992" cy="230832"/>
            <a:chOff x="4867678" y="3090156"/>
            <a:chExt cx="251992" cy="230832"/>
          </a:xfrm>
        </p:grpSpPr>
        <p:sp>
          <p:nvSpPr>
            <p:cNvPr id="6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69296" y="3043696"/>
            <a:ext cx="251992" cy="230832"/>
            <a:chOff x="4867678" y="3090156"/>
            <a:chExt cx="251992" cy="230832"/>
          </a:xfrm>
        </p:grpSpPr>
        <p:sp>
          <p:nvSpPr>
            <p:cNvPr id="7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752112" y="3309699"/>
            <a:ext cx="367408" cy="230832"/>
            <a:chOff x="4809970" y="3090156"/>
            <a:chExt cx="367408" cy="230832"/>
          </a:xfrm>
        </p:grpSpPr>
        <p:sp>
          <p:nvSpPr>
            <p:cNvPr id="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138555" y="6051483"/>
            <a:ext cx="251992" cy="230832"/>
            <a:chOff x="4867678" y="3090156"/>
            <a:chExt cx="251992" cy="230832"/>
          </a:xfrm>
        </p:grpSpPr>
        <p:sp>
          <p:nvSpPr>
            <p:cNvPr id="8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1258225" y="6038557"/>
            <a:ext cx="251992" cy="230832"/>
            <a:chOff x="4867678" y="3090156"/>
            <a:chExt cx="251992" cy="230832"/>
          </a:xfrm>
        </p:grpSpPr>
        <p:sp>
          <p:nvSpPr>
            <p:cNvPr id="9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092406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80" name="직사각형 79"/>
          <p:cNvSpPr/>
          <p:nvPr/>
        </p:nvSpPr>
        <p:spPr>
          <a:xfrm>
            <a:off x="387850" y="1817803"/>
            <a:ext cx="2978894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713751" y="6752664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251087" y="404777"/>
            <a:ext cx="1824509" cy="2953286"/>
            <a:chOff x="4535050" y="819597"/>
            <a:chExt cx="1560950" cy="3231671"/>
          </a:xfrm>
        </p:grpSpPr>
        <p:sp>
          <p:nvSpPr>
            <p:cNvPr id="101" name="직사각형 10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4544264" y="1021159"/>
              <a:ext cx="1362109" cy="303010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17" name="그룹 116"/>
          <p:cNvGrpSpPr/>
          <p:nvPr/>
        </p:nvGrpSpPr>
        <p:grpSpPr>
          <a:xfrm>
            <a:off x="302518" y="5662566"/>
            <a:ext cx="2934200" cy="777834"/>
            <a:chOff x="4535050" y="819597"/>
            <a:chExt cx="2510341" cy="851155"/>
          </a:xfrm>
        </p:grpSpPr>
        <p:sp>
          <p:nvSpPr>
            <p:cNvPr id="118" name="직사각형 11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4544264" y="1021159"/>
              <a:ext cx="2501127" cy="649593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056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>
            <a:off x="191183" y="549275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222383" y="1026106"/>
            <a:ext cx="3168000" cy="528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5" name="그룹 104"/>
          <p:cNvGrpSpPr/>
          <p:nvPr/>
        </p:nvGrpSpPr>
        <p:grpSpPr>
          <a:xfrm>
            <a:off x="184811" y="549274"/>
            <a:ext cx="3246371" cy="398482"/>
            <a:chOff x="7330918" y="3572857"/>
            <a:chExt cx="3168000" cy="398482"/>
          </a:xfrm>
        </p:grpSpPr>
        <p:sp>
          <p:nvSpPr>
            <p:cNvPr id="106" name="직사각형 105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430131" y="3638178"/>
              <a:ext cx="684540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사용자정보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108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679617"/>
              </p:ext>
            </p:extLst>
          </p:nvPr>
        </p:nvGraphicFramePr>
        <p:xfrm>
          <a:off x="361678" y="1952984"/>
          <a:ext cx="2909073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ID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PW01928374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사용자명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홍길동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부</a:t>
                      </a: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err="1">
                          <a:solidFill>
                            <a:schemeClr val="tx1"/>
                          </a:solidFill>
                          <a:latin typeface="맑은 고딕 (본문)"/>
                        </a:rPr>
                        <a:t>마케팅팀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직 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과장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직장전화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05I-I23O-99OO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1562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휴대폰번호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010-5521-9100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383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vermilian@naver.com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5904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사용보안매체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OTP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45824"/>
                  </a:ext>
                </a:extLst>
              </a:tr>
            </a:tbl>
          </a:graphicData>
        </a:graphic>
      </p:graphicFrame>
      <p:sp>
        <p:nvSpPr>
          <p:cNvPr id="72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354627" y="4093899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 smtClean="0"/>
              <a:t>사용자이체한도 </a:t>
            </a:r>
            <a:r>
              <a:rPr lang="en-US" altLang="ko-KR" sz="1000" b="1" kern="0" dirty="0"/>
              <a:t>(</a:t>
            </a:r>
            <a:r>
              <a:rPr lang="ko-KR" altLang="en-US" sz="1000" b="1" kern="0" dirty="0"/>
              <a:t>원화</a:t>
            </a:r>
            <a:r>
              <a:rPr lang="en-US" altLang="ko-KR" sz="1000" b="1" kern="0" dirty="0"/>
              <a:t>)</a:t>
            </a: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373644"/>
              </p:ext>
            </p:extLst>
          </p:nvPr>
        </p:nvGraphicFramePr>
        <p:xfrm>
          <a:off x="349307" y="4436569"/>
          <a:ext cx="2909073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일 </a:t>
                      </a: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이체한도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1,000,000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원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회 </a:t>
                      </a: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이체한도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100,000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원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354627" y="5026524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 smtClean="0"/>
              <a:t>사용자이체한도 </a:t>
            </a:r>
            <a:r>
              <a:rPr lang="en-US" altLang="ko-KR" sz="1000" b="1" kern="0" dirty="0"/>
              <a:t>(</a:t>
            </a:r>
            <a:r>
              <a:rPr lang="ko-KR" altLang="en-US" sz="1000" b="1" kern="0" dirty="0"/>
              <a:t>외화</a:t>
            </a:r>
            <a:r>
              <a:rPr lang="en-US" altLang="ko-KR" sz="1000" b="1" kern="0" dirty="0"/>
              <a:t>)</a:t>
            </a:r>
          </a:p>
        </p:txBody>
      </p:sp>
      <p:graphicFrame>
        <p:nvGraphicFramePr>
          <p:cNvPr id="75" name="표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29664"/>
              </p:ext>
            </p:extLst>
          </p:nvPr>
        </p:nvGraphicFramePr>
        <p:xfrm>
          <a:off x="349307" y="5369194"/>
          <a:ext cx="2909073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일이체한도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USD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1,000.00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회이체한도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USD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100.00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8" name="그림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96" y="1201382"/>
            <a:ext cx="374873" cy="41652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843180" y="1232795"/>
            <a:ext cx="17780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>
                <a:latin typeface="+mn-ea"/>
              </a:rPr>
              <a:t>홍길동 </a:t>
            </a:r>
            <a:r>
              <a:rPr lang="en-US" altLang="ko-KR" sz="1200" b="1" kern="0" dirty="0">
                <a:latin typeface="+mn-ea"/>
              </a:rPr>
              <a:t>(PW01928374)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80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396099" y="1648086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/>
              <a:t>기본정보</a:t>
            </a:r>
            <a:endParaRPr lang="en-US" altLang="ko-KR" sz="1000" b="1" kern="0" dirty="0"/>
          </a:p>
        </p:txBody>
      </p:sp>
      <p:sp>
        <p:nvSpPr>
          <p:cNvPr id="81" name="직사각형 80"/>
          <p:cNvSpPr/>
          <p:nvPr/>
        </p:nvSpPr>
        <p:spPr>
          <a:xfrm>
            <a:off x="3909486" y="587375"/>
            <a:ext cx="3240000" cy="22320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909486" y="549275"/>
            <a:ext cx="3240000" cy="2270125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940686" y="652696"/>
            <a:ext cx="3168000" cy="20884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3863975" y="480756"/>
            <a:ext cx="3455988" cy="255343"/>
            <a:chOff x="2638132" y="2022105"/>
            <a:chExt cx="3455988" cy="255343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99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98" name="TextBox 97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10" name="텍스트 개체 틀 2">
            <a:extLst>
              <a:ext uri="{FF2B5EF4-FFF2-40B4-BE49-F238E27FC236}">
                <a16:creationId xmlns:a16="http://schemas.microsoft.com/office/drawing/2014/main" id="{54F4172F-1B68-4973-8869-DA78FFDC694F}"/>
              </a:ext>
            </a:extLst>
          </p:cNvPr>
          <p:cNvSpPr txBox="1">
            <a:spLocks/>
          </p:cNvSpPr>
          <p:nvPr/>
        </p:nvSpPr>
        <p:spPr>
          <a:xfrm>
            <a:off x="4084359" y="767638"/>
            <a:ext cx="2820567" cy="30489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5525" indent="-3937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1577975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3pPr>
            <a:lvl4pPr marL="2208213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4pPr>
            <a:lvl5pPr marL="2840038" indent="-3143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5pPr>
            <a:lvl6pPr marL="3472411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4103759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4735106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5366454" indent="-315674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235" latinLnBrk="0">
              <a:defRPr/>
            </a:pPr>
            <a:r>
              <a:rPr lang="ko-KR" altLang="en-US" sz="1000" b="1" kern="0" dirty="0" err="1" smtClean="0"/>
              <a:t>설정정보</a:t>
            </a:r>
            <a:endParaRPr lang="en-US" altLang="ko-KR" sz="1000" b="1" kern="0" dirty="0"/>
          </a:p>
        </p:txBody>
      </p:sp>
      <p:graphicFrame>
        <p:nvGraphicFramePr>
          <p:cNvPr id="111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57582"/>
              </p:ext>
            </p:extLst>
          </p:nvPr>
        </p:nvGraphicFramePr>
        <p:xfrm>
          <a:off x="4074949" y="1144086"/>
          <a:ext cx="2909073" cy="10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55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업무가능요일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월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화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수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목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금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.</a:t>
                      </a: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토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업무가능시간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9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09:00~18:00</a:t>
                      </a:r>
                      <a:endParaRPr lang="en-US" altLang="ko-KR" sz="9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/>
                        <a:t>기안결제제한설정</a:t>
                      </a:r>
                      <a:endParaRPr lang="en-US" altLang="ko-KR" sz="800" b="0" kern="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기안자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지정불가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8874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err="1" smtClean="0"/>
                        <a:t>자주쓰는입금계좌공유</a:t>
                      </a:r>
                      <a:endParaRPr lang="en-US" altLang="ko-KR" sz="800" b="0" kern="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공유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093432"/>
                  </a:ext>
                </a:extLst>
              </a:tr>
            </a:tbl>
          </a:graphicData>
        </a:graphic>
      </p:graphicFrame>
      <p:sp>
        <p:nvSpPr>
          <p:cNvPr id="129" name="직사각형 128"/>
          <p:cNvSpPr/>
          <p:nvPr/>
        </p:nvSpPr>
        <p:spPr>
          <a:xfrm>
            <a:off x="3945766" y="2443004"/>
            <a:ext cx="3158168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확인</a:t>
            </a:r>
            <a:endParaRPr lang="ko-KR" altLang="en-US" sz="1000" b="1" dirty="0"/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37593"/>
              </p:ext>
            </p:extLst>
          </p:nvPr>
        </p:nvGraphicFramePr>
        <p:xfrm>
          <a:off x="9822663" y="557185"/>
          <a:ext cx="2195166" cy="5204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 정보를 확인하는 팝업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있는 경우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(ex: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(P12345567)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경우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ex : P123456789 )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기본정보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데이터가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경우 공백으로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%ID%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%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휴대폰번호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(000-000-0000)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(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XXXXXX@XXXX.XXX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사용보안매체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이체한도가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이라고 하더라도 표시함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및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이체한도의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데이터가 없거나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‘0’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 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항목을 아예 표시 안함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설정정보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업무가능요일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</a:t>
                      </a:r>
                    </a:p>
                    <a:p>
                      <a:pPr latinLnBrk="1"/>
                      <a:r>
                        <a:rPr lang="ko-KR" altLang="en-US" sz="7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업무가능시간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종료시</a:t>
                      </a:r>
                      <a:endParaRPr lang="ko-KR" altLang="en-US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단독기안</a:t>
                      </a:r>
                      <a:r>
                        <a:rPr lang="en-US" altLang="ko-KR" sz="700" b="1" kern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결재제한설정</a:t>
                      </a:r>
                      <a:endParaRPr lang="en-US" altLang="ko-KR" sz="700" b="1" kern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지정자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복수결재자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지정자</a:t>
                      </a:r>
                      <a:endParaRPr lang="en-US" altLang="ko-KR" sz="700" b="1" kern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자주쓰는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dirty="0" err="1">
                          <a:latin typeface="+mn-ea"/>
                          <a:ea typeface="+mn-ea"/>
                        </a:rPr>
                        <a:t>입금계좌</a:t>
                      </a:r>
                      <a:r>
                        <a:rPr lang="ko-KR" altLang="en-US" sz="700" b="1" kern="0" dirty="0">
                          <a:latin typeface="+mn-ea"/>
                          <a:ea typeface="+mn-ea"/>
                        </a:rPr>
                        <a:t> 공유</a:t>
                      </a:r>
                      <a:r>
                        <a:rPr lang="en-US" altLang="ko-KR" sz="700" b="1" kern="0" dirty="0">
                          <a:latin typeface="+mn-ea"/>
                          <a:ea typeface="+mn-ea"/>
                        </a:rPr>
                        <a:t>:</a:t>
                      </a:r>
                      <a:r>
                        <a:rPr lang="en-US" altLang="ko-KR" sz="700" b="1" kern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미공유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31" name="직사각형 130"/>
          <p:cNvSpPr/>
          <p:nvPr/>
        </p:nvSpPr>
        <p:spPr>
          <a:xfrm>
            <a:off x="234591" y="5973590"/>
            <a:ext cx="3158168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확 인</a:t>
            </a:r>
          </a:p>
        </p:txBody>
      </p:sp>
      <p:cxnSp>
        <p:nvCxnSpPr>
          <p:cNvPr id="132" name="직선 연결선 131"/>
          <p:cNvCxnSpPr/>
          <p:nvPr/>
        </p:nvCxnSpPr>
        <p:spPr>
          <a:xfrm>
            <a:off x="232215" y="1648086"/>
            <a:ext cx="3619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/>
          <p:cNvCxnSpPr/>
          <p:nvPr/>
        </p:nvCxnSpPr>
        <p:spPr>
          <a:xfrm flipV="1">
            <a:off x="3566701" y="1648086"/>
            <a:ext cx="0" cy="432081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3027477" y="5968895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3302029" y="3335463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latin typeface="+mn-ea"/>
              </a:rPr>
              <a:t>스크롤 영역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사용자정보</a:t>
            </a:r>
            <a:endParaRPr lang="en-US" altLang="ko-KR" sz="800" kern="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grpSp>
        <p:nvGrpSpPr>
          <p:cNvPr id="48" name="그룹 47"/>
          <p:cNvGrpSpPr/>
          <p:nvPr/>
        </p:nvGrpSpPr>
        <p:grpSpPr>
          <a:xfrm>
            <a:off x="86602" y="1021004"/>
            <a:ext cx="251992" cy="230832"/>
            <a:chOff x="4867678" y="3090156"/>
            <a:chExt cx="251992" cy="230832"/>
          </a:xfrm>
        </p:grpSpPr>
        <p:sp>
          <p:nvSpPr>
            <p:cNvPr id="4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27044" y="4015516"/>
            <a:ext cx="251992" cy="230832"/>
            <a:chOff x="4867678" y="3090156"/>
            <a:chExt cx="251992" cy="230832"/>
          </a:xfrm>
        </p:grpSpPr>
        <p:sp>
          <p:nvSpPr>
            <p:cNvPr id="5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39523" y="5139819"/>
            <a:ext cx="251992" cy="230832"/>
            <a:chOff x="4867678" y="3090156"/>
            <a:chExt cx="251992" cy="230832"/>
          </a:xfrm>
        </p:grpSpPr>
        <p:sp>
          <p:nvSpPr>
            <p:cNvPr id="5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3951318" y="573396"/>
            <a:ext cx="251992" cy="230832"/>
            <a:chOff x="4867678" y="3090156"/>
            <a:chExt cx="251992" cy="230832"/>
          </a:xfrm>
        </p:grpSpPr>
        <p:sp>
          <p:nvSpPr>
            <p:cNvPr id="5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76976" y="1820140"/>
            <a:ext cx="251992" cy="230832"/>
            <a:chOff x="4867678" y="3090156"/>
            <a:chExt cx="251992" cy="230832"/>
          </a:xfrm>
        </p:grpSpPr>
        <p:sp>
          <p:nvSpPr>
            <p:cNvPr id="6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3976683" y="2327588"/>
            <a:ext cx="251992" cy="230832"/>
            <a:chOff x="4867678" y="3090156"/>
            <a:chExt cx="251992" cy="230832"/>
          </a:xfrm>
        </p:grpSpPr>
        <p:sp>
          <p:nvSpPr>
            <p:cNvPr id="6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" name="사각형 설명선 3"/>
          <p:cNvSpPr/>
          <p:nvPr/>
        </p:nvSpPr>
        <p:spPr>
          <a:xfrm>
            <a:off x="7492270" y="1144086"/>
            <a:ext cx="1080230" cy="656449"/>
          </a:xfrm>
          <a:prstGeom prst="wedgeRectCallout">
            <a:avLst>
              <a:gd name="adj1" fmla="val -85640"/>
              <a:gd name="adj2" fmla="val 4166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492270" y="1254764"/>
            <a:ext cx="1239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800" dirty="0"/>
              <a:t>해당사항없음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 err="1"/>
              <a:t>기안자</a:t>
            </a:r>
            <a:r>
              <a:rPr lang="ko-KR" altLang="en-US" sz="800" dirty="0"/>
              <a:t> </a:t>
            </a:r>
            <a:r>
              <a:rPr lang="ko-KR" altLang="en-US" sz="800" dirty="0" err="1"/>
              <a:t>지정불가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 err="1"/>
              <a:t>단독결재</a:t>
            </a:r>
            <a:r>
              <a:rPr lang="ko-KR" altLang="en-US" sz="800" dirty="0"/>
              <a:t> 불가</a:t>
            </a:r>
            <a:endParaRPr lang="en-US" altLang="ko-KR" sz="800" dirty="0"/>
          </a:p>
        </p:txBody>
      </p:sp>
      <p:sp>
        <p:nvSpPr>
          <p:cNvPr id="69" name="사각형 설명선 68"/>
          <p:cNvSpPr/>
          <p:nvPr/>
        </p:nvSpPr>
        <p:spPr>
          <a:xfrm>
            <a:off x="3909486" y="3236509"/>
            <a:ext cx="1080230" cy="656449"/>
          </a:xfrm>
          <a:prstGeom prst="wedgeRectCallout">
            <a:avLst>
              <a:gd name="adj1" fmla="val -85640"/>
              <a:gd name="adj2" fmla="val 4166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901238" y="3318173"/>
            <a:ext cx="12393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보안카드</a:t>
            </a:r>
            <a:endParaRPr lang="en-US" altLang="ko-KR" sz="800" dirty="0" smtClean="0"/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디지털</a:t>
            </a: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미사용</a:t>
            </a:r>
            <a:endParaRPr lang="en-US" altLang="ko-KR" sz="8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003436"/>
              </p:ext>
            </p:extLst>
          </p:nvPr>
        </p:nvGraphicFramePr>
        <p:xfrm>
          <a:off x="5649397" y="3812698"/>
          <a:ext cx="2909073" cy="2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75">
                  <a:extLst>
                    <a:ext uri="{9D8B030D-6E8A-4147-A177-3AD203B41FA5}">
                      <a16:colId xmlns:a16="http://schemas.microsoft.com/office/drawing/2014/main" val="2584819965"/>
                    </a:ext>
                  </a:extLst>
                </a:gridCol>
                <a:gridCol w="1817498">
                  <a:extLst>
                    <a:ext uri="{9D8B030D-6E8A-4147-A177-3AD203B41FA5}">
                      <a16:colId xmlns:a16="http://schemas.microsoft.com/office/drawing/2014/main" val="180158012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사용보안매체</a:t>
                      </a:r>
                      <a:endParaRPr lang="ko-KR" altLang="en-US" sz="800" b="1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디지털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OTP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518465"/>
                  </a:ext>
                </a:extLst>
              </a:tr>
            </a:tbl>
          </a:graphicData>
        </a:graphic>
      </p:graphicFrame>
      <p:grpSp>
        <p:nvGrpSpPr>
          <p:cNvPr id="68" name="그룹 67"/>
          <p:cNvGrpSpPr/>
          <p:nvPr/>
        </p:nvGrpSpPr>
        <p:grpSpPr>
          <a:xfrm>
            <a:off x="2949022" y="463319"/>
            <a:ext cx="251992" cy="230832"/>
            <a:chOff x="4867678" y="3090156"/>
            <a:chExt cx="251992" cy="230832"/>
          </a:xfrm>
        </p:grpSpPr>
        <p:sp>
          <p:nvSpPr>
            <p:cNvPr id="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093311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67" name="그룹 66"/>
          <p:cNvGrpSpPr/>
          <p:nvPr/>
        </p:nvGrpSpPr>
        <p:grpSpPr>
          <a:xfrm>
            <a:off x="311947" y="3962706"/>
            <a:ext cx="2990083" cy="1867896"/>
            <a:chOff x="4535050" y="819597"/>
            <a:chExt cx="1682982" cy="2211467"/>
          </a:xfrm>
        </p:grpSpPr>
        <p:sp>
          <p:nvSpPr>
            <p:cNvPr id="79" name="직사각형 7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4544263" y="1021158"/>
              <a:ext cx="1673769" cy="2009906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85" name="그룹 84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86" name="직사각형 85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4" name="그룹 93"/>
          <p:cNvGrpSpPr/>
          <p:nvPr/>
        </p:nvGrpSpPr>
        <p:grpSpPr>
          <a:xfrm>
            <a:off x="3998129" y="683064"/>
            <a:ext cx="2773274" cy="1537243"/>
            <a:chOff x="4535050" y="819597"/>
            <a:chExt cx="1560950" cy="1819996"/>
          </a:xfrm>
        </p:grpSpPr>
        <p:sp>
          <p:nvSpPr>
            <p:cNvPr id="95" name="직사각형 9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4544263" y="1021158"/>
              <a:ext cx="770678" cy="1618435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9" name="그룹 108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12" name="직사각형 11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15" name="그룹 114"/>
          <p:cNvGrpSpPr/>
          <p:nvPr/>
        </p:nvGrpSpPr>
        <p:grpSpPr>
          <a:xfrm>
            <a:off x="6063560" y="1282157"/>
            <a:ext cx="2773274" cy="673693"/>
            <a:chOff x="4535050" y="819597"/>
            <a:chExt cx="1560950" cy="797609"/>
          </a:xfrm>
        </p:grpSpPr>
        <p:sp>
          <p:nvSpPr>
            <p:cNvPr id="116" name="직사각형 115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4544263" y="1021158"/>
              <a:ext cx="514066" cy="23118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19" name="직사각형 118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직사각형 119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293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직사각형 145"/>
          <p:cNvSpPr/>
          <p:nvPr/>
        </p:nvSpPr>
        <p:spPr>
          <a:xfrm>
            <a:off x="200595" y="1767334"/>
            <a:ext cx="3225119" cy="4602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8" name="직사각형 14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12445" y="1912726"/>
              <a:ext cx="73193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>
                  <a:solidFill>
                    <a:prstClr val="black"/>
                  </a:solidFill>
                  <a:ea typeface="맑은 고딕"/>
                </a:rPr>
                <a:t>결재선 </a:t>
              </a:r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151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352753" y="1114525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87842" y="1516901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/>
          <p:cNvSpPr/>
          <p:nvPr/>
        </p:nvSpPr>
        <p:spPr>
          <a:xfrm>
            <a:off x="1208697" y="6013094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162" name="직사각형 161"/>
          <p:cNvSpPr/>
          <p:nvPr/>
        </p:nvSpPr>
        <p:spPr>
          <a:xfrm>
            <a:off x="176362" y="6013094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2712721" y="1159599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2482198" y="1583050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 불러오기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216662" y="1576314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169" name="그룹 168"/>
          <p:cNvGrpSpPr/>
          <p:nvPr/>
        </p:nvGrpSpPr>
        <p:grpSpPr>
          <a:xfrm>
            <a:off x="612794" y="1604061"/>
            <a:ext cx="396000" cy="171048"/>
            <a:chOff x="5960994" y="6443081"/>
            <a:chExt cx="396000" cy="180000"/>
          </a:xfrm>
        </p:grpSpPr>
        <p:sp>
          <p:nvSpPr>
            <p:cNvPr id="170" name="모서리가 둥근 직사각형 169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171" name="타원 170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172" name="직사각형 171"/>
          <p:cNvSpPr/>
          <p:nvPr/>
        </p:nvSpPr>
        <p:spPr>
          <a:xfrm>
            <a:off x="990750" y="157077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grpSp>
        <p:nvGrpSpPr>
          <p:cNvPr id="173" name="그룹 172"/>
          <p:cNvGrpSpPr/>
          <p:nvPr/>
        </p:nvGrpSpPr>
        <p:grpSpPr>
          <a:xfrm>
            <a:off x="2681395" y="1558814"/>
            <a:ext cx="401071" cy="286418"/>
            <a:chOff x="7122762" y="2119930"/>
            <a:chExt cx="401071" cy="286418"/>
          </a:xfrm>
        </p:grpSpPr>
        <p:sp>
          <p:nvSpPr>
            <p:cNvPr id="174" name="타원 17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3" name="직사각형 212"/>
          <p:cNvSpPr/>
          <p:nvPr/>
        </p:nvSpPr>
        <p:spPr>
          <a:xfrm>
            <a:off x="5370795" y="6000468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214" name="직사각형 213"/>
          <p:cNvSpPr/>
          <p:nvPr/>
        </p:nvSpPr>
        <p:spPr>
          <a:xfrm>
            <a:off x="4306366" y="549639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4311398" y="559165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347398" y="975716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7" name="그룹 216"/>
          <p:cNvGrpSpPr/>
          <p:nvPr/>
        </p:nvGrpSpPr>
        <p:grpSpPr>
          <a:xfrm>
            <a:off x="4347398" y="587739"/>
            <a:ext cx="3168000" cy="398482"/>
            <a:chOff x="7330918" y="3572857"/>
            <a:chExt cx="3168000" cy="398482"/>
          </a:xfrm>
        </p:grpSpPr>
        <p:sp>
          <p:nvSpPr>
            <p:cNvPr id="218" name="직사각형 217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20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1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1938312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212737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4921522" y="203771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4431084" y="1022684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 smtClean="0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 smtClean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5" name="타원 224"/>
          <p:cNvSpPr/>
          <p:nvPr/>
        </p:nvSpPr>
        <p:spPr>
          <a:xfrm>
            <a:off x="4539575" y="2163594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2673001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947426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921522" y="2772404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229" name="그룹 228"/>
          <p:cNvGrpSpPr/>
          <p:nvPr/>
        </p:nvGrpSpPr>
        <p:grpSpPr>
          <a:xfrm>
            <a:off x="4539575" y="2898283"/>
            <a:ext cx="200894" cy="200894"/>
            <a:chOff x="3027532" y="1509066"/>
            <a:chExt cx="144000" cy="144000"/>
          </a:xfrm>
        </p:grpSpPr>
        <p:sp>
          <p:nvSpPr>
            <p:cNvPr id="230" name="타원 229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31" name="타원 230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232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3407690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3682115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921522" y="350709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35" name="타원 234"/>
          <p:cNvSpPr/>
          <p:nvPr/>
        </p:nvSpPr>
        <p:spPr>
          <a:xfrm>
            <a:off x="4539575" y="3632972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Freeform 10"/>
          <p:cNvSpPr>
            <a:spLocks noChangeArrowheads="1"/>
          </p:cNvSpPr>
          <p:nvPr/>
        </p:nvSpPr>
        <p:spPr bwMode="auto">
          <a:xfrm rot="5400000">
            <a:off x="7113044" y="220249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" name="Freeform 10"/>
          <p:cNvSpPr>
            <a:spLocks noChangeArrowheads="1"/>
          </p:cNvSpPr>
          <p:nvPr/>
        </p:nvSpPr>
        <p:spPr bwMode="auto">
          <a:xfrm rot="5400000">
            <a:off x="7113043" y="2962910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Freeform 10"/>
          <p:cNvSpPr>
            <a:spLocks noChangeArrowheads="1"/>
          </p:cNvSpPr>
          <p:nvPr/>
        </p:nvSpPr>
        <p:spPr bwMode="auto">
          <a:xfrm rot="5400000">
            <a:off x="7131547" y="369930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" name="직사각형 238"/>
          <p:cNvSpPr/>
          <p:nvPr/>
        </p:nvSpPr>
        <p:spPr>
          <a:xfrm>
            <a:off x="4305006" y="6013665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240" name="그룹 239"/>
          <p:cNvGrpSpPr/>
          <p:nvPr/>
        </p:nvGrpSpPr>
        <p:grpSpPr>
          <a:xfrm>
            <a:off x="6805411" y="1885587"/>
            <a:ext cx="367408" cy="230832"/>
            <a:chOff x="4809970" y="3090156"/>
            <a:chExt cx="367408" cy="230832"/>
          </a:xfrm>
        </p:grpSpPr>
        <p:sp>
          <p:nvSpPr>
            <p:cNvPr id="24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3" name="그룹 242"/>
          <p:cNvGrpSpPr/>
          <p:nvPr/>
        </p:nvGrpSpPr>
        <p:grpSpPr>
          <a:xfrm>
            <a:off x="6966282" y="2113311"/>
            <a:ext cx="401071" cy="286418"/>
            <a:chOff x="7122762" y="2119930"/>
            <a:chExt cx="401071" cy="286418"/>
          </a:xfrm>
        </p:grpSpPr>
        <p:sp>
          <p:nvSpPr>
            <p:cNvPr id="244" name="타원 24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245" name="직사각형 24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" name="꺾인 연결선 4"/>
          <p:cNvCxnSpPr>
            <a:stCxn id="174" idx="6"/>
            <a:endCxn id="216" idx="1"/>
          </p:cNvCxnSpPr>
          <p:nvPr/>
        </p:nvCxnSpPr>
        <p:spPr>
          <a:xfrm>
            <a:off x="3019628" y="1702023"/>
            <a:ext cx="1327770" cy="17511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직사각형 247"/>
          <p:cNvSpPr/>
          <p:nvPr/>
        </p:nvSpPr>
        <p:spPr>
          <a:xfrm>
            <a:off x="8425484" y="5397673"/>
            <a:ext cx="3233596" cy="1005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9" name="그룹 248"/>
          <p:cNvGrpSpPr/>
          <p:nvPr/>
        </p:nvGrpSpPr>
        <p:grpSpPr>
          <a:xfrm>
            <a:off x="8419578" y="558913"/>
            <a:ext cx="3240000" cy="398482"/>
            <a:chOff x="7321393" y="1839307"/>
            <a:chExt cx="3240000" cy="398482"/>
          </a:xfrm>
        </p:grpSpPr>
        <p:sp>
          <p:nvSpPr>
            <p:cNvPr id="250" name="직사각형 249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1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53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257" name="TextBox 256"/>
          <p:cNvSpPr txBox="1"/>
          <p:nvPr/>
        </p:nvSpPr>
        <p:spPr>
          <a:xfrm>
            <a:off x="8586617" y="1121231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415169" y="1542332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직사각형 259"/>
          <p:cNvSpPr/>
          <p:nvPr/>
        </p:nvSpPr>
        <p:spPr>
          <a:xfrm>
            <a:off x="8427018" y="1939387"/>
            <a:ext cx="3225119" cy="1477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직사각형 260"/>
          <p:cNvSpPr/>
          <p:nvPr/>
        </p:nvSpPr>
        <p:spPr>
          <a:xfrm>
            <a:off x="8421648" y="3652957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2" name="그룹 261"/>
          <p:cNvGrpSpPr/>
          <p:nvPr/>
        </p:nvGrpSpPr>
        <p:grpSpPr>
          <a:xfrm rot="10800000">
            <a:off x="9905917" y="3451207"/>
            <a:ext cx="154946" cy="123678"/>
            <a:chOff x="6691038" y="2985393"/>
            <a:chExt cx="122504" cy="97782"/>
          </a:xfrm>
        </p:grpSpPr>
        <p:cxnSp>
          <p:nvCxnSpPr>
            <p:cNvPr id="263" name="직선 연결선 262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/>
          <p:cNvSpPr txBox="1"/>
          <p:nvPr/>
        </p:nvSpPr>
        <p:spPr>
          <a:xfrm>
            <a:off x="8560444" y="2009832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4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561065" y="547842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2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10946585" y="1166305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grpSp>
        <p:nvGrpSpPr>
          <p:cNvPr id="273" name="그룹 272"/>
          <p:cNvGrpSpPr/>
          <p:nvPr/>
        </p:nvGrpSpPr>
        <p:grpSpPr>
          <a:xfrm rot="10800000">
            <a:off x="9882427" y="5197835"/>
            <a:ext cx="154946" cy="123678"/>
            <a:chOff x="6691038" y="2985393"/>
            <a:chExt cx="122504" cy="97782"/>
          </a:xfrm>
        </p:grpSpPr>
        <p:cxnSp>
          <p:nvCxnSpPr>
            <p:cNvPr id="274" name="직선 연결선 273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그룹 275"/>
          <p:cNvGrpSpPr/>
          <p:nvPr/>
        </p:nvGrpSpPr>
        <p:grpSpPr>
          <a:xfrm>
            <a:off x="8620521" y="4058185"/>
            <a:ext cx="1104400" cy="958355"/>
            <a:chOff x="4630176" y="3963919"/>
            <a:chExt cx="1104400" cy="958355"/>
          </a:xfrm>
        </p:grpSpPr>
        <p:sp>
          <p:nvSpPr>
            <p:cNvPr id="277" name="모서리가 둥근 직사각형 276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81" name="직선 연결선 280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타원 281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3" name="직사각형 282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84" name="직사각형 283"/>
          <p:cNvSpPr/>
          <p:nvPr/>
        </p:nvSpPr>
        <p:spPr>
          <a:xfrm>
            <a:off x="8610966" y="431415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9442561" y="6019800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286" name="직사각형 285"/>
          <p:cNvSpPr/>
          <p:nvPr/>
        </p:nvSpPr>
        <p:spPr>
          <a:xfrm>
            <a:off x="8410226" y="6019800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취소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8524963" y="372378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3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grpSp>
        <p:nvGrpSpPr>
          <p:cNvPr id="288" name="그룹 287"/>
          <p:cNvGrpSpPr/>
          <p:nvPr/>
        </p:nvGrpSpPr>
        <p:grpSpPr>
          <a:xfrm>
            <a:off x="9854565" y="4060095"/>
            <a:ext cx="1104400" cy="958355"/>
            <a:chOff x="4630176" y="3963919"/>
            <a:chExt cx="1104400" cy="958355"/>
          </a:xfrm>
        </p:grpSpPr>
        <p:sp>
          <p:nvSpPr>
            <p:cNvPr id="289" name="모서리가 둥근 직사각형 288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93" name="직선 연결선 29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타원 29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5" name="직사각형 294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97" name="직사각형 296"/>
          <p:cNvSpPr/>
          <p:nvPr/>
        </p:nvSpPr>
        <p:spPr>
          <a:xfrm>
            <a:off x="9845010" y="4335724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303" name="그룹 302"/>
          <p:cNvGrpSpPr/>
          <p:nvPr/>
        </p:nvGrpSpPr>
        <p:grpSpPr>
          <a:xfrm>
            <a:off x="8624267" y="2294283"/>
            <a:ext cx="1104400" cy="958355"/>
            <a:chOff x="4630176" y="3963919"/>
            <a:chExt cx="1104400" cy="958355"/>
          </a:xfrm>
        </p:grpSpPr>
        <p:sp>
          <p:nvSpPr>
            <p:cNvPr id="304" name="모서리가 둥근 직사각형 30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08" name="직선 연결선 30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타원 30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직사각형 30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1" name="직사각형 310"/>
          <p:cNvSpPr/>
          <p:nvPr/>
        </p:nvSpPr>
        <p:spPr>
          <a:xfrm>
            <a:off x="8419578" y="555981"/>
            <a:ext cx="3247304" cy="58475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모서리가 둥근 직사각형 333"/>
          <p:cNvSpPr/>
          <p:nvPr/>
        </p:nvSpPr>
        <p:spPr>
          <a:xfrm>
            <a:off x="10672370" y="158542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 불러오기</a:t>
            </a:r>
          </a:p>
        </p:txBody>
      </p:sp>
      <p:sp>
        <p:nvSpPr>
          <p:cNvPr id="335" name="직사각형 334"/>
          <p:cNvSpPr/>
          <p:nvPr/>
        </p:nvSpPr>
        <p:spPr>
          <a:xfrm>
            <a:off x="8457792" y="1591606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336" name="그룹 335"/>
          <p:cNvGrpSpPr/>
          <p:nvPr/>
        </p:nvGrpSpPr>
        <p:grpSpPr>
          <a:xfrm>
            <a:off x="8853924" y="1619353"/>
            <a:ext cx="396000" cy="171048"/>
            <a:chOff x="5960994" y="6443081"/>
            <a:chExt cx="396000" cy="180000"/>
          </a:xfrm>
        </p:grpSpPr>
        <p:sp>
          <p:nvSpPr>
            <p:cNvPr id="337" name="모서리가 둥근 직사각형 336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338" name="타원 337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339" name="직사각형 338"/>
          <p:cNvSpPr/>
          <p:nvPr/>
        </p:nvSpPr>
        <p:spPr>
          <a:xfrm>
            <a:off x="9231880" y="1586070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43" name="TextBox 342"/>
          <p:cNvSpPr txBox="1"/>
          <p:nvPr/>
        </p:nvSpPr>
        <p:spPr>
          <a:xfrm>
            <a:off x="8410226" y="6486280"/>
            <a:ext cx="261866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불러온 </a:t>
            </a:r>
            <a:r>
              <a:rPr lang="ko-KR" altLang="en-US" sz="1200" dirty="0" err="1" smtClean="0">
                <a:latin typeface="+mn-ea"/>
              </a:rPr>
              <a:t>결재선의</a:t>
            </a:r>
            <a:r>
              <a:rPr lang="ko-KR" altLang="en-US" sz="1200" dirty="0" smtClean="0">
                <a:latin typeface="+mn-ea"/>
              </a:rPr>
              <a:t> 설정을 그대로 복사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7834808" y="3194707"/>
            <a:ext cx="394791" cy="517029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직사각형 343"/>
          <p:cNvSpPr/>
          <p:nvPr/>
        </p:nvSpPr>
        <p:spPr>
          <a:xfrm>
            <a:off x="155575" y="-21549"/>
            <a:ext cx="580955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985790" y="81687"/>
            <a:ext cx="17812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신규등록에만 있는 기능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/>
          </a:p>
        </p:txBody>
      </p:sp>
      <p:sp>
        <p:nvSpPr>
          <p:cNvPr id="129" name="타원 128"/>
          <p:cNvSpPr/>
          <p:nvPr/>
        </p:nvSpPr>
        <p:spPr>
          <a:xfrm>
            <a:off x="10053555" y="2414970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0039538" y="2744406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8682451" y="2946232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11192273" y="4250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1178256" y="4579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10700031" y="2020885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11395903" y="202254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10748959" y="375570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5" name="Freeform 11"/>
          <p:cNvSpPr>
            <a:spLocks noChangeArrowheads="1"/>
          </p:cNvSpPr>
          <p:nvPr/>
        </p:nvSpPr>
        <p:spPr bwMode="auto">
          <a:xfrm>
            <a:off x="11444831" y="375735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10775349" y="5466730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8" name="Freeform 11"/>
          <p:cNvSpPr>
            <a:spLocks noChangeArrowheads="1"/>
          </p:cNvSpPr>
          <p:nvPr/>
        </p:nvSpPr>
        <p:spPr bwMode="auto">
          <a:xfrm>
            <a:off x="11471221" y="546838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직사각형 162"/>
          <p:cNvSpPr/>
          <p:nvPr/>
        </p:nvSpPr>
        <p:spPr>
          <a:xfrm>
            <a:off x="10166096" y="4109860"/>
            <a:ext cx="206949" cy="1480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9954803" y="4110245"/>
            <a:ext cx="206949" cy="148039"/>
          </a:xfrm>
          <a:prstGeom prst="rect">
            <a:avLst/>
          </a:prstGeom>
          <a:solidFill>
            <a:srgbClr val="FF000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결재</a:t>
            </a: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8706332" y="470443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9917934" y="467612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4412984" y="1509075"/>
            <a:ext cx="3039047" cy="330118"/>
            <a:chOff x="5804087" y="4215557"/>
            <a:chExt cx="3024000" cy="288696"/>
          </a:xfrm>
        </p:grpSpPr>
        <p:sp>
          <p:nvSpPr>
            <p:cNvPr id="180" name="직사각형 179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1" name="직선 연결선 180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직사각형 181"/>
          <p:cNvSpPr/>
          <p:nvPr/>
        </p:nvSpPr>
        <p:spPr>
          <a:xfrm>
            <a:off x="4390751" y="1550009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83" name="개체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231462"/>
              </p:ext>
            </p:extLst>
          </p:nvPr>
        </p:nvGraphicFramePr>
        <p:xfrm>
          <a:off x="7167341" y="1566951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50" name="개체 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7341" y="1566951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기존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버튼 순서에서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순서로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8887762" y="2333849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8677985" y="2333849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8911196" y="4102699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8701419" y="4102699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263488" y="497534"/>
            <a:ext cx="2773274" cy="900696"/>
            <a:chOff x="4535050" y="819597"/>
            <a:chExt cx="1560950" cy="1066365"/>
          </a:xfrm>
        </p:grpSpPr>
        <p:sp>
          <p:nvSpPr>
            <p:cNvPr id="160" name="직사각형 159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544263" y="1021158"/>
              <a:ext cx="719775" cy="86480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6" name="그룹 17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90" name="직사각형 18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92" name="그룹 191"/>
          <p:cNvGrpSpPr/>
          <p:nvPr/>
        </p:nvGrpSpPr>
        <p:grpSpPr>
          <a:xfrm>
            <a:off x="4433933" y="534735"/>
            <a:ext cx="2773274" cy="1304457"/>
            <a:chOff x="4535050" y="819597"/>
            <a:chExt cx="1560950" cy="1544392"/>
          </a:xfrm>
        </p:grpSpPr>
        <p:sp>
          <p:nvSpPr>
            <p:cNvPr id="193" name="직사각형 192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4544262" y="1021158"/>
              <a:ext cx="1113907" cy="1342831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95" name="그룹 194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96" name="직사각형 195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직사각형 19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98" name="그룹 197"/>
          <p:cNvGrpSpPr/>
          <p:nvPr/>
        </p:nvGrpSpPr>
        <p:grpSpPr>
          <a:xfrm>
            <a:off x="1615647" y="5685239"/>
            <a:ext cx="2773274" cy="900696"/>
            <a:chOff x="4535050" y="819597"/>
            <a:chExt cx="1560950" cy="1066365"/>
          </a:xfrm>
        </p:grpSpPr>
        <p:sp>
          <p:nvSpPr>
            <p:cNvPr id="199" name="직사각형 19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4544263" y="1021158"/>
              <a:ext cx="719775" cy="86480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02" name="직사각형 20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" name="직사각형 20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295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불러오기</a:t>
            </a:r>
            <a:endParaRPr lang="en-US" altLang="ko-KR" sz="800" kern="0" dirty="0"/>
          </a:p>
        </p:txBody>
      </p:sp>
      <p:sp>
        <p:nvSpPr>
          <p:cNvPr id="119" name="직사각형 118"/>
          <p:cNvSpPr/>
          <p:nvPr/>
        </p:nvSpPr>
        <p:spPr>
          <a:xfrm>
            <a:off x="1247775" y="6005942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3346" y="555113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8378" y="564639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24378" y="981190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224378" y="593213"/>
            <a:ext cx="3168000" cy="398482"/>
            <a:chOff x="7330918" y="3572857"/>
            <a:chExt cx="3168000" cy="398482"/>
          </a:xfrm>
        </p:grpSpPr>
        <p:sp>
          <p:nvSpPr>
            <p:cNvPr id="39" name="직사각형 38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1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1274"/>
              </p:ext>
            </p:extLst>
          </p:nvPr>
        </p:nvGraphicFramePr>
        <p:xfrm>
          <a:off x="9822663" y="557185"/>
          <a:ext cx="2195166" cy="5448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선택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0131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이체선을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있는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플래이트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명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개수는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개를 기본으로 화면에 표시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개가 넘는 경우 스크롤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형태로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개단위로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추가로 표시함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charset="0"/>
                        <a:buChar char="•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개수는 디지털사업부의 의견에 따라 조정될 수 있음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버튼타입을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버튼을 체크하고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하단의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불러오기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누르는 경우 체크된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charset="0"/>
                        <a:buNone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[1-2]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펼침 버튼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토글타입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펼침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모두표시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[2-1]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 확인자가 있는 경우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 표시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아이콘으로 처리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[2-2]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펼친 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접음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팝업닫기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팝업을 닫고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불러온 결재선의 설정이 적용된 결재선 구성페이지로 이동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1905686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18011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8502" y="2005089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91476" y="1020623"/>
            <a:ext cx="1183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 smtClean="0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 smtClean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416555" y="2130968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2640375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914800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798502" y="273977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60" name="그룹 59"/>
          <p:cNvGrpSpPr/>
          <p:nvPr/>
        </p:nvGrpSpPr>
        <p:grpSpPr>
          <a:xfrm>
            <a:off x="416555" y="2865657"/>
            <a:ext cx="200894" cy="200894"/>
            <a:chOff x="3027532" y="1509066"/>
            <a:chExt cx="144000" cy="144000"/>
          </a:xfrm>
        </p:grpSpPr>
        <p:sp>
          <p:nvSpPr>
            <p:cNvPr id="61" name="타원 60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62" name="타원 61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6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3375064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3649489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798502" y="347446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67" name="타원 66"/>
          <p:cNvSpPr/>
          <p:nvPr/>
        </p:nvSpPr>
        <p:spPr>
          <a:xfrm>
            <a:off x="416555" y="3600346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70" name="Freeform 10"/>
          <p:cNvSpPr>
            <a:spLocks noChangeArrowheads="1"/>
          </p:cNvSpPr>
          <p:nvPr/>
        </p:nvSpPr>
        <p:spPr bwMode="auto">
          <a:xfrm rot="5400000">
            <a:off x="2990024" y="216987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Freeform 10"/>
          <p:cNvSpPr>
            <a:spLocks noChangeArrowheads="1"/>
          </p:cNvSpPr>
          <p:nvPr/>
        </p:nvSpPr>
        <p:spPr bwMode="auto">
          <a:xfrm rot="5400000">
            <a:off x="2990023" y="293028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Freeform 10"/>
          <p:cNvSpPr>
            <a:spLocks noChangeArrowheads="1"/>
          </p:cNvSpPr>
          <p:nvPr/>
        </p:nvSpPr>
        <p:spPr bwMode="auto">
          <a:xfrm rot="5400000">
            <a:off x="3008527" y="366668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직사각형 72"/>
          <p:cNvSpPr/>
          <p:nvPr/>
        </p:nvSpPr>
        <p:spPr>
          <a:xfrm>
            <a:off x="4280276" y="563029"/>
            <a:ext cx="3240000" cy="58255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351315" y="6016561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불러오기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286886" y="565732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291918" y="575258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327918" y="991809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327918" y="603832"/>
            <a:ext cx="3168000" cy="398482"/>
            <a:chOff x="7330918" y="3572857"/>
            <a:chExt cx="3168000" cy="398482"/>
          </a:xfrm>
        </p:grpSpPr>
        <p:sp>
          <p:nvSpPr>
            <p:cNvPr id="80" name="직사각형 79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1837228"/>
            <a:ext cx="3064717" cy="3306383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21116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02042" y="193663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88" name="타원 87"/>
          <p:cNvSpPr/>
          <p:nvPr/>
        </p:nvSpPr>
        <p:spPr>
          <a:xfrm>
            <a:off x="4520095" y="2062511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5256063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5530488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4902042" y="53554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92" name="그룹 91"/>
          <p:cNvGrpSpPr/>
          <p:nvPr/>
        </p:nvGrpSpPr>
        <p:grpSpPr>
          <a:xfrm>
            <a:off x="4520095" y="5481345"/>
            <a:ext cx="200894" cy="200894"/>
            <a:chOff x="3027532" y="1509066"/>
            <a:chExt cx="144000" cy="144000"/>
          </a:xfrm>
        </p:grpSpPr>
        <p:sp>
          <p:nvSpPr>
            <p:cNvPr id="93" name="타원 92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94" name="타원 93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99" name="Freeform 10"/>
          <p:cNvSpPr>
            <a:spLocks noChangeArrowheads="1"/>
          </p:cNvSpPr>
          <p:nvPr/>
        </p:nvSpPr>
        <p:spPr bwMode="auto">
          <a:xfrm rot="16200000">
            <a:off x="7093564" y="210141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10"/>
          <p:cNvSpPr>
            <a:spLocks noChangeArrowheads="1"/>
          </p:cNvSpPr>
          <p:nvPr/>
        </p:nvSpPr>
        <p:spPr bwMode="auto">
          <a:xfrm rot="5400000">
            <a:off x="7093563" y="5545972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04" name="직선 연결선 103"/>
          <p:cNvCxnSpPr/>
          <p:nvPr/>
        </p:nvCxnSpPr>
        <p:spPr>
          <a:xfrm>
            <a:off x="3338169" y="1000518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 flipV="1">
            <a:off x="3724018" y="1018990"/>
            <a:ext cx="0" cy="491057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184794" y="5929567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3459346" y="3296135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latin typeface="+mn-ea"/>
              </a:rPr>
              <a:t>스크롤 </a:t>
            </a:r>
            <a:r>
              <a:rPr lang="ko-KR" altLang="en-US" sz="700" dirty="0">
                <a:latin typeface="+mn-ea"/>
              </a:rPr>
              <a:t>영역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181986" y="6019139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4280276" y="6029961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112925" y="1795472"/>
            <a:ext cx="251992" cy="230832"/>
            <a:chOff x="4867678" y="3090156"/>
            <a:chExt cx="251992" cy="230832"/>
          </a:xfrm>
        </p:grpSpPr>
        <p:sp>
          <p:nvSpPr>
            <p:cNvPr id="1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2682391" y="1852961"/>
            <a:ext cx="367408" cy="230832"/>
            <a:chOff x="4809970" y="3090156"/>
            <a:chExt cx="367408" cy="230832"/>
          </a:xfrm>
        </p:grpSpPr>
        <p:sp>
          <p:nvSpPr>
            <p:cNvPr id="1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4208558" y="2290950"/>
            <a:ext cx="251992" cy="230832"/>
            <a:chOff x="4867678" y="3090156"/>
            <a:chExt cx="251992" cy="230832"/>
          </a:xfrm>
        </p:grpSpPr>
        <p:sp>
          <p:nvSpPr>
            <p:cNvPr id="1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4177564" y="5857625"/>
            <a:ext cx="251992" cy="230832"/>
            <a:chOff x="4867678" y="3090156"/>
            <a:chExt cx="251992" cy="230832"/>
          </a:xfrm>
        </p:grpSpPr>
        <p:sp>
          <p:nvSpPr>
            <p:cNvPr id="12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95" name="직선 화살표 연결선 94"/>
          <p:cNvCxnSpPr/>
          <p:nvPr/>
        </p:nvCxnSpPr>
        <p:spPr>
          <a:xfrm flipV="1">
            <a:off x="7668345" y="2478070"/>
            <a:ext cx="0" cy="235622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7288334" y="2478069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238363" y="4834294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668345" y="3658743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latin typeface="+mn-ea"/>
              </a:rPr>
              <a:t>영역펼침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5349495" y="5842225"/>
            <a:ext cx="251992" cy="230832"/>
            <a:chOff x="4867678" y="3090156"/>
            <a:chExt cx="251992" cy="230832"/>
          </a:xfrm>
        </p:grpSpPr>
        <p:sp>
          <p:nvSpPr>
            <p:cNvPr id="1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4334554" y="1046719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02" name="그룹 101"/>
          <p:cNvGrpSpPr/>
          <p:nvPr/>
        </p:nvGrpSpPr>
        <p:grpSpPr>
          <a:xfrm>
            <a:off x="2843262" y="2080685"/>
            <a:ext cx="401071" cy="286418"/>
            <a:chOff x="7122762" y="2119930"/>
            <a:chExt cx="401071" cy="286418"/>
          </a:xfrm>
        </p:grpSpPr>
        <p:sp>
          <p:nvSpPr>
            <p:cNvPr id="126" name="타원 125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24278" y="2059031"/>
            <a:ext cx="367408" cy="230832"/>
            <a:chOff x="4809970" y="3090156"/>
            <a:chExt cx="367408" cy="230832"/>
          </a:xfrm>
        </p:grpSpPr>
        <p:sp>
          <p:nvSpPr>
            <p:cNvPr id="1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7202336" y="2101035"/>
            <a:ext cx="367408" cy="230832"/>
            <a:chOff x="4809970" y="3090156"/>
            <a:chExt cx="367408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4418028" y="1417521"/>
            <a:ext cx="3039047" cy="330118"/>
            <a:chOff x="5804087" y="4215557"/>
            <a:chExt cx="3024000" cy="288696"/>
          </a:xfrm>
        </p:grpSpPr>
        <p:sp>
          <p:nvSpPr>
            <p:cNvPr id="137" name="직사각형 13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8" name="직선 연결선 13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직사각형 138"/>
          <p:cNvSpPr/>
          <p:nvPr/>
        </p:nvSpPr>
        <p:spPr>
          <a:xfrm>
            <a:off x="4453504" y="1458455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대출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40" name="개체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134260"/>
              </p:ext>
            </p:extLst>
          </p:nvPr>
        </p:nvGraphicFramePr>
        <p:xfrm>
          <a:off x="7172385" y="1475397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4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40" name="개체 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2385" y="1475397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" name="그룹 145"/>
          <p:cNvGrpSpPr/>
          <p:nvPr/>
        </p:nvGrpSpPr>
        <p:grpSpPr>
          <a:xfrm>
            <a:off x="298086" y="1474684"/>
            <a:ext cx="3039047" cy="330118"/>
            <a:chOff x="5804087" y="4215557"/>
            <a:chExt cx="3024000" cy="288696"/>
          </a:xfrm>
        </p:grpSpPr>
        <p:sp>
          <p:nvSpPr>
            <p:cNvPr id="147" name="직사각형 14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48" name="직선 연결선 14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직사각형 148"/>
          <p:cNvSpPr/>
          <p:nvPr/>
        </p:nvSpPr>
        <p:spPr>
          <a:xfrm>
            <a:off x="275853" y="1515618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0" name="개체 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563477"/>
              </p:ext>
            </p:extLst>
          </p:nvPr>
        </p:nvGraphicFramePr>
        <p:xfrm>
          <a:off x="3052443" y="153256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5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40" name="개체 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2443" y="153256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" name="직사각형 164"/>
          <p:cNvSpPr/>
          <p:nvPr/>
        </p:nvSpPr>
        <p:spPr>
          <a:xfrm>
            <a:off x="7956433" y="5258375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결재선을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불러오시겠습니까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830893" y="4967201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 불러오기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일때만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가능함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7" name="Freeform 11"/>
          <p:cNvSpPr>
            <a:spLocks noChangeArrowheads="1"/>
          </p:cNvSpPr>
          <p:nvPr/>
        </p:nvSpPr>
        <p:spPr bwMode="auto">
          <a:xfrm>
            <a:off x="10702309" y="5318465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807761" y="5190770"/>
            <a:ext cx="367408" cy="230832"/>
            <a:chOff x="4809970" y="3090156"/>
            <a:chExt cx="367408" cy="230832"/>
          </a:xfrm>
        </p:grpSpPr>
        <p:sp>
          <p:nvSpPr>
            <p:cNvPr id="17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962711" y="6457446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288350" y="6264461"/>
            <a:ext cx="367408" cy="230832"/>
            <a:chOff x="4809970" y="3090156"/>
            <a:chExt cx="367408" cy="230832"/>
          </a:xfrm>
        </p:grpSpPr>
        <p:sp>
          <p:nvSpPr>
            <p:cNvPr id="17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9448570" y="6457446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466207" y="6267238"/>
            <a:ext cx="367408" cy="230832"/>
            <a:chOff x="4809970" y="3090156"/>
            <a:chExt cx="367408" cy="230832"/>
          </a:xfrm>
        </p:grpSpPr>
        <p:sp>
          <p:nvSpPr>
            <p:cNvPr id="17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28" name="표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870949"/>
              </p:ext>
            </p:extLst>
          </p:nvPr>
        </p:nvGraphicFramePr>
        <p:xfrm>
          <a:off x="4504460" y="2544223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129" name="직선 연결선 128"/>
          <p:cNvCxnSpPr/>
          <p:nvPr/>
        </p:nvCxnSpPr>
        <p:spPr>
          <a:xfrm flipV="1">
            <a:off x="5482559" y="3123871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5469788" y="417952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469788" y="392570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469788" y="368076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5469788" y="342411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5460595" y="282215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5462523" y="297120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5469788" y="317917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5460594" y="259207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722626" y="2607396"/>
            <a:ext cx="230832" cy="367408"/>
            <a:chOff x="4878258" y="3021868"/>
            <a:chExt cx="230832" cy="367408"/>
          </a:xfrm>
        </p:grpSpPr>
        <p:sp>
          <p:nvSpPr>
            <p:cNvPr id="15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8079570" y="5213422"/>
            <a:ext cx="2773274" cy="1532024"/>
            <a:chOff x="4535050" y="819597"/>
            <a:chExt cx="1560950" cy="1813816"/>
          </a:xfrm>
        </p:grpSpPr>
        <p:sp>
          <p:nvSpPr>
            <p:cNvPr id="160" name="직사각형 159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4544262" y="1021158"/>
              <a:ext cx="1535413" cy="1612255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2" name="그룹 161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63" name="직사각형 162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직사각형 163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148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30503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인터넷뱅킹 결재선 관리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3240087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1.1. 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결재선등록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1.2. 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결재선수정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1.3. 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결재선삭제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5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1.1.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등록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26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950333"/>
              </p:ext>
            </p:extLst>
          </p:nvPr>
        </p:nvGraphicFramePr>
        <p:xfrm>
          <a:off x="9822663" y="540019"/>
          <a:ext cx="2195166" cy="5334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별도의 조건 없이 해당 고객이 가지고 있는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결과를 전체 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기준 일시를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YYYY-MM-DD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있을 경우 그리드 내에서 결과내 재 검색을 할 수 있도록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결재선 등록을 위해 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있는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수정 가능함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두건 이상을 선택한 경우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삭제하기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여러건을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가능하도록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그리드의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결과내역을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엑셀로 다운로드 처리함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좌우정렬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준수 필요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조회된 내역에 대한 건수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현재조회된수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전체건수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1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이상인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제공하며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 마다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건씩 추가로 조회됨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데이터의 조회가 완료된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전문통신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조회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04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결재선유형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승인자여부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결재선 구성에 따라 자동으로 표시 하도록 처리하여야함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07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없을 경우 그리드에 표시되는 메시지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09836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128"/>
          <p:cNvSpPr/>
          <p:nvPr/>
        </p:nvSpPr>
        <p:spPr>
          <a:xfrm>
            <a:off x="6006470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▽ </a:t>
            </a:r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더보기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86682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05957" y="3313641"/>
            <a:ext cx="251992" cy="230832"/>
            <a:chOff x="4867678" y="3090156"/>
            <a:chExt cx="251992" cy="230832"/>
          </a:xfrm>
        </p:grpSpPr>
        <p:sp>
          <p:nvSpPr>
            <p:cNvPr id="1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8" name="오른쪽 중괄호 157"/>
          <p:cNvSpPr/>
          <p:nvPr/>
        </p:nvSpPr>
        <p:spPr>
          <a:xfrm>
            <a:off x="6908328" y="1597004"/>
            <a:ext cx="419739" cy="2098975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7304366" y="2573443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6008437" y="3823412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현재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20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/ 25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aphicFrame>
        <p:nvGraphicFramePr>
          <p:cNvPr id="162" name="표 161"/>
          <p:cNvGraphicFramePr>
            <a:graphicFrameLocks noGrp="1"/>
          </p:cNvGraphicFramePr>
          <p:nvPr>
            <p:extLst/>
          </p:nvPr>
        </p:nvGraphicFramePr>
        <p:xfrm>
          <a:off x="295529" y="1371211"/>
          <a:ext cx="659935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24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공과금납부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888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6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7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8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9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365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10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공과금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신고</a:t>
                      </a:r>
                      <a:r>
                        <a:rPr lang="en-US" altLang="ko-KR" sz="700" baseline="0" dirty="0" smtClean="0"/>
                        <a:t>/</a:t>
                      </a:r>
                      <a:r>
                        <a:rPr lang="ko-KR" altLang="en-US" sz="700" baseline="0" dirty="0" smtClean="0"/>
                        <a:t>해지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카드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09453"/>
                  </a:ext>
                </a:extLst>
              </a:tr>
            </a:tbl>
          </a:graphicData>
        </a:graphic>
      </p:graphicFrame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771" y="1257511"/>
            <a:ext cx="251992" cy="230832"/>
            <a:chOff x="4867678" y="3090156"/>
            <a:chExt cx="251992" cy="230832"/>
          </a:xfrm>
        </p:grpSpPr>
        <p:sp>
          <p:nvSpPr>
            <p:cNvPr id="1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90" name="그룹 189"/>
          <p:cNvGrpSpPr/>
          <p:nvPr/>
        </p:nvGrpSpPr>
        <p:grpSpPr>
          <a:xfrm>
            <a:off x="5040869" y="1123542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297950" y="3736787"/>
            <a:ext cx="660010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6852331" y="1602626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9021" y="1545217"/>
            <a:ext cx="251992" cy="230832"/>
            <a:chOff x="4867678" y="3090156"/>
            <a:chExt cx="251992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914873" y="907358"/>
            <a:ext cx="251992" cy="230832"/>
            <a:chOff x="4867678" y="3090156"/>
            <a:chExt cx="251992" cy="230832"/>
          </a:xfrm>
        </p:grpSpPr>
        <p:sp>
          <p:nvSpPr>
            <p:cNvPr id="2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787331" y="3707728"/>
            <a:ext cx="251992" cy="230832"/>
            <a:chOff x="4867678" y="3090156"/>
            <a:chExt cx="251992" cy="230832"/>
          </a:xfrm>
        </p:grpSpPr>
        <p:sp>
          <p:nvSpPr>
            <p:cNvPr id="22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9" name="모서리가 둥근 직사각형 228"/>
          <p:cNvSpPr/>
          <p:nvPr/>
        </p:nvSpPr>
        <p:spPr>
          <a:xfrm>
            <a:off x="780849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1276170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삭제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03733" y="3936633"/>
            <a:ext cx="251992" cy="230832"/>
            <a:chOff x="4867678" y="3090156"/>
            <a:chExt cx="251992" cy="230832"/>
          </a:xfrm>
        </p:grpSpPr>
        <p:sp>
          <p:nvSpPr>
            <p:cNvPr id="2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98595" y="3936633"/>
            <a:ext cx="251992" cy="230832"/>
            <a:chOff x="4867678" y="3090156"/>
            <a:chExt cx="251992" cy="230832"/>
          </a:xfrm>
        </p:grpSpPr>
        <p:sp>
          <p:nvSpPr>
            <p:cNvPr id="2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206181" y="1139696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781311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엑셀다운로드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423745" y="1330569"/>
            <a:ext cx="2218593" cy="24911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19682" y="3939686"/>
            <a:ext cx="251992" cy="230832"/>
            <a:chOff x="4867678" y="3090156"/>
            <a:chExt cx="251992" cy="230832"/>
          </a:xfrm>
        </p:grpSpPr>
        <p:sp>
          <p:nvSpPr>
            <p:cNvPr id="24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846812" y="3985251"/>
            <a:ext cx="319318" cy="230832"/>
            <a:chOff x="4834016" y="3090156"/>
            <a:chExt cx="319318" cy="230832"/>
          </a:xfrm>
        </p:grpSpPr>
        <p:sp>
          <p:nvSpPr>
            <p:cNvPr id="24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96420" y="988985"/>
            <a:ext cx="251992" cy="230832"/>
            <a:chOff x="4867678" y="3090156"/>
            <a:chExt cx="251992" cy="230832"/>
          </a:xfrm>
        </p:grpSpPr>
        <p:sp>
          <p:nvSpPr>
            <p:cNvPr id="25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264886" y="1229342"/>
            <a:ext cx="319318" cy="230832"/>
            <a:chOff x="4834016" y="3090156"/>
            <a:chExt cx="319318" cy="230832"/>
          </a:xfrm>
        </p:grpSpPr>
        <p:sp>
          <p:nvSpPr>
            <p:cNvPr id="25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61" name="표 260"/>
          <p:cNvGraphicFramePr>
            <a:graphicFrameLocks noGrp="1"/>
          </p:cNvGraphicFramePr>
          <p:nvPr>
            <p:extLst/>
          </p:nvPr>
        </p:nvGraphicFramePr>
        <p:xfrm>
          <a:off x="282348" y="4921408"/>
          <a:ext cx="6599358" cy="15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 gridSpan="7">
                  <a:txBody>
                    <a:bodyPr/>
                    <a:lstStyle/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조회 내역이 없습니다</a:t>
                      </a:r>
                      <a:r>
                        <a:rPr lang="en-US" altLang="ko-KR" sz="700" dirty="0" smtClean="0"/>
                        <a:t>.</a:t>
                      </a:r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</a:tbl>
          </a:graphicData>
        </a:graphic>
      </p:graphicFrame>
      <p:sp>
        <p:nvSpPr>
          <p:cNvPr id="262" name="TextBox 261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82348" y="4779753"/>
            <a:ext cx="3250331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>
                <a:solidFill>
                  <a:schemeClr val="bg1"/>
                </a:solidFill>
                <a:ea typeface="맑은 고딕"/>
              </a:rPr>
              <a:t>  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조회된 결과가 없을 경우</a:t>
            </a:r>
            <a:r>
              <a:rPr kumimoji="1" lang="en-US" altLang="ko-KR" sz="700" dirty="0" smtClean="0">
                <a:solidFill>
                  <a:schemeClr val="bg1"/>
                </a:solidFill>
                <a:ea typeface="맑은 고딕"/>
              </a:rPr>
              <a:t> </a:t>
            </a:r>
            <a:r>
              <a:rPr kumimoji="1" lang="en-US" altLang="ko-KR" sz="700" dirty="0">
                <a:solidFill>
                  <a:schemeClr val="bg1"/>
                </a:solidFill>
                <a:ea typeface="맑은 고딕"/>
              </a:rPr>
              <a:t>CASE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469886" y="5620929"/>
            <a:ext cx="2218593" cy="527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317834" y="5521902"/>
            <a:ext cx="319318" cy="230832"/>
            <a:chOff x="4834016" y="3090156"/>
            <a:chExt cx="319318" cy="230832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06368" y="3936633"/>
            <a:ext cx="251992" cy="230832"/>
            <a:chOff x="4867678" y="3090156"/>
            <a:chExt cx="251992" cy="230832"/>
          </a:xfrm>
        </p:grpSpPr>
        <p:sp>
          <p:nvSpPr>
            <p:cNvPr id="6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217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3" name="모서리가 둥근 직사각형 72"/>
          <p:cNvSpPr/>
          <p:nvPr/>
        </p:nvSpPr>
        <p:spPr>
          <a:xfrm>
            <a:off x="6832495" y="1125758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69" name="직사각형 68"/>
          <p:cNvSpPr/>
          <p:nvPr/>
        </p:nvSpPr>
        <p:spPr>
          <a:xfrm>
            <a:off x="2474559" y="1316938"/>
            <a:ext cx="791068" cy="2504785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213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삭제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복사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결재선을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수정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시 선택한 값이 없을 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43786" y="3492172"/>
            <a:ext cx="2950119" cy="1490703"/>
            <a:chOff x="6872544" y="4197176"/>
            <a:chExt cx="2950119" cy="1490703"/>
          </a:xfrm>
        </p:grpSpPr>
        <p:sp>
          <p:nvSpPr>
            <p:cNvPr id="87" name="직사각형 8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선택한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18246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7" name="Freeform 11"/>
          <p:cNvSpPr>
            <a:spLocks noChangeArrowheads="1"/>
          </p:cNvSpPr>
          <p:nvPr/>
        </p:nvSpPr>
        <p:spPr bwMode="auto">
          <a:xfrm>
            <a:off x="3089662" y="355226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결재선은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건 만 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여러건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후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01191" y="35558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7651844" y="1450476"/>
            <a:ext cx="2950119" cy="1490703"/>
            <a:chOff x="201576" y="3100646"/>
            <a:chExt cx="2950119" cy="1490703"/>
          </a:xfrm>
        </p:grpSpPr>
        <p:grpSp>
          <p:nvGrpSpPr>
            <p:cNvPr id="108" name="그룹 10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0" name="직사각형 10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수정이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7570336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795734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3975347" y="3496153"/>
            <a:ext cx="2950119" cy="1490703"/>
            <a:chOff x="201576" y="3100646"/>
            <a:chExt cx="2950119" cy="1490703"/>
          </a:xfrm>
        </p:grpSpPr>
        <p:grpSp>
          <p:nvGrpSpPr>
            <p:cNvPr id="115" name="그룹 11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삭제가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1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3893839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9237" y="355986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7650940" y="3492172"/>
            <a:ext cx="2950119" cy="1490703"/>
            <a:chOff x="201576" y="3100646"/>
            <a:chExt cx="2950119" cy="1490703"/>
          </a:xfrm>
        </p:grpSpPr>
        <p:grpSp>
          <p:nvGrpSpPr>
            <p:cNvPr id="42" name="그룹 41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44" name="직사각형 43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복사할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결재선은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건 만 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43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569432" y="3197017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여러건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후 복사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94830" y="35558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5671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34953"/>
              </p:ext>
            </p:extLst>
          </p:nvPr>
        </p:nvGraphicFramePr>
        <p:xfrm>
          <a:off x="9822663" y="540019"/>
          <a:ext cx="2195166" cy="2956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등록으로 진입 시 모든 값은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고객이 직접 등록 할 수 있도록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진입 경로에 따라 등록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구분되어짐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입력할수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있음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결재선명의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중복여부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체크 필요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중복여부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 체크 시 다음화면으로 이동 불가함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사용될 업무를 전체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사용될 업무를 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필수 값의 누락 여부를 판단 후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557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69774"/>
              </p:ext>
            </p:extLst>
          </p:nvPr>
        </p:nvGraphicFramePr>
        <p:xfrm>
          <a:off x="298850" y="1289190"/>
          <a:ext cx="6588458" cy="120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1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7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거래구분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등록 </a:t>
                      </a:r>
                      <a:endParaRPr lang="ko-KR" altLang="en-US" sz="900" b="0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7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 </a:t>
                      </a:r>
                      <a:r>
                        <a:rPr lang="ko-KR" altLang="en-US" sz="900" dirty="0" smtClean="0"/>
                        <a:t>□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□ 이체  □ 예금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smtClean="0"/>
                        <a:t>신탁  □</a:t>
                      </a:r>
                      <a:r>
                        <a:rPr lang="ko-KR" altLang="en-US" sz="900" baseline="0" dirty="0" smtClean="0"/>
                        <a:t> </a:t>
                      </a:r>
                      <a:r>
                        <a:rPr lang="en-US" altLang="ko-KR" sz="900" baseline="0" dirty="0" smtClean="0"/>
                        <a:t>B2B</a:t>
                      </a:r>
                      <a:r>
                        <a:rPr lang="ko-KR" altLang="en-US" sz="900" baseline="0" dirty="0" smtClean="0"/>
                        <a:t>전자결재  </a:t>
                      </a:r>
                      <a:r>
                        <a:rPr lang="ko-KR" altLang="en-US" sz="900" dirty="0" smtClean="0"/>
                        <a:t>□ 대출         □ 외환         □ 공과금납부</a:t>
                      </a:r>
                      <a:endParaRPr lang="en-US" altLang="ko-KR" sz="9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□ 카드</a:t>
                      </a:r>
                      <a:r>
                        <a:rPr lang="en-US" altLang="ko-KR" sz="900" baseline="0" dirty="0" smtClean="0"/>
                        <a:t>  </a:t>
                      </a:r>
                      <a:r>
                        <a:rPr lang="ko-KR" altLang="en-US" sz="900" dirty="0" smtClean="0"/>
                        <a:t>□ 펀드         □ 퇴직연금</a:t>
                      </a:r>
                      <a:r>
                        <a:rPr lang="ko-KR" altLang="en-US" sz="900" baseline="0" dirty="0" smtClean="0"/>
                        <a:t>       </a:t>
                      </a:r>
                      <a:r>
                        <a:rPr lang="ko-KR" altLang="en-US" sz="900" dirty="0" smtClean="0"/>
                        <a:t>□ 자금관리   □ </a:t>
                      </a:r>
                      <a:r>
                        <a:rPr lang="ko-KR" altLang="en-US" sz="900" dirty="0" err="1" smtClean="0"/>
                        <a:t>웹펌뱅킹</a:t>
                      </a:r>
                      <a:r>
                        <a:rPr lang="ko-KR" altLang="en-US" sz="900" dirty="0" smtClean="0"/>
                        <a:t>   □ 신고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smtClean="0"/>
                        <a:t>해지</a:t>
                      </a:r>
                      <a:r>
                        <a:rPr lang="ko-KR" altLang="en-US" sz="900" baseline="0" dirty="0" smtClean="0"/>
                        <a:t>  </a:t>
                      </a:r>
                      <a:r>
                        <a:rPr lang="ko-KR" altLang="en-US" sz="900" dirty="0" smtClean="0"/>
                        <a:t>□ </a:t>
                      </a:r>
                      <a:r>
                        <a:rPr lang="ko-KR" altLang="en-US" sz="900" dirty="0" err="1" smtClean="0"/>
                        <a:t>기업서비스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674420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330570" y="1652954"/>
            <a:ext cx="2098430" cy="2051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3492943" y="1633382"/>
            <a:ext cx="662887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중복조회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440341" y="2775065"/>
            <a:ext cx="955387" cy="312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5325923" y="537589"/>
            <a:ext cx="1561385" cy="172815"/>
            <a:chOff x="5147035" y="537589"/>
            <a:chExt cx="1561385" cy="1728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147035" y="537589"/>
              <a:ext cx="803031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1.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기본설정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6030647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6283432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13270" y="1577525"/>
            <a:ext cx="251992" cy="230832"/>
            <a:chOff x="4867678" y="3090156"/>
            <a:chExt cx="251992" cy="230832"/>
          </a:xfrm>
        </p:grpSpPr>
        <p:sp>
          <p:nvSpPr>
            <p:cNvPr id="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151416" y="1608421"/>
            <a:ext cx="230832" cy="251992"/>
            <a:chOff x="4878258" y="3079576"/>
            <a:chExt cx="230832" cy="251992"/>
          </a:xfrm>
        </p:grpSpPr>
        <p:sp>
          <p:nvSpPr>
            <p:cNvPr id="9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90723" y="1960921"/>
            <a:ext cx="251992" cy="230832"/>
            <a:chOff x="4867678" y="3090156"/>
            <a:chExt cx="251992" cy="230832"/>
          </a:xfrm>
        </p:grpSpPr>
        <p:sp>
          <p:nvSpPr>
            <p:cNvPr id="10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01417" y="1289190"/>
            <a:ext cx="251992" cy="230832"/>
            <a:chOff x="4867678" y="3090156"/>
            <a:chExt cx="251992" cy="230832"/>
          </a:xfrm>
        </p:grpSpPr>
        <p:sp>
          <p:nvSpPr>
            <p:cNvPr id="10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31301" y="1886740"/>
            <a:ext cx="251992" cy="230832"/>
            <a:chOff x="4867678" y="3090156"/>
            <a:chExt cx="251992" cy="230832"/>
          </a:xfrm>
        </p:grpSpPr>
        <p:sp>
          <p:nvSpPr>
            <p:cNvPr id="11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68501" y="2659649"/>
            <a:ext cx="251992" cy="230832"/>
            <a:chOff x="4867678" y="3090156"/>
            <a:chExt cx="251992" cy="230832"/>
          </a:xfrm>
        </p:grpSpPr>
        <p:sp>
          <p:nvSpPr>
            <p:cNvPr id="11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19" name="직사각형 118"/>
          <p:cNvSpPr/>
          <p:nvPr/>
        </p:nvSpPr>
        <p:spPr>
          <a:xfrm>
            <a:off x="3437441" y="2770211"/>
            <a:ext cx="955387" cy="3171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319125" y="2693176"/>
            <a:ext cx="230832" cy="251992"/>
            <a:chOff x="4878258" y="3079576"/>
            <a:chExt cx="230832" cy="251992"/>
          </a:xfrm>
        </p:grpSpPr>
        <p:sp>
          <p:nvSpPr>
            <p:cNvPr id="1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64340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퇴직연금 카테고리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305242" y="2193440"/>
            <a:ext cx="1132200" cy="466209"/>
          </a:xfrm>
          <a:prstGeom prst="rect">
            <a:avLst/>
          </a:prstGeom>
          <a:solidFill>
            <a:srgbClr val="FF0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퇴직연금</a:t>
            </a:r>
            <a:endParaRPr lang="en-US" altLang="ko-KR" sz="900" dirty="0" smtClean="0"/>
          </a:p>
          <a:p>
            <a:pPr algn="ctr"/>
            <a:r>
              <a:rPr lang="ko-KR" altLang="en-US" sz="900" dirty="0" err="1" smtClean="0"/>
              <a:t>업무제외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 algn="ctr"/>
            <a:r>
              <a:rPr lang="en-US" altLang="ko-KR" sz="900" dirty="0" smtClean="0"/>
              <a:t>(2023-04-11)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3261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등록</a:t>
            </a:r>
          </a:p>
          <a:p>
            <a:pPr defTabSz="914235" latinLnBrk="0">
              <a:defRPr/>
            </a:pP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결재선명을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입력해주세요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입력하지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않았을경우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결재선명을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중복조회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중복조회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하지 않았을 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570336" y="1450476"/>
            <a:ext cx="2950119" cy="1490703"/>
            <a:chOff x="201576" y="3100646"/>
            <a:chExt cx="2950119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대상업무를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488828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결재선대상업무 미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선택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418876" y="3421832"/>
            <a:ext cx="2950119" cy="1490703"/>
            <a:chOff x="6872544" y="4197176"/>
            <a:chExt cx="2950119" cy="1490703"/>
          </a:xfrm>
        </p:grpSpPr>
        <p:sp>
          <p:nvSpPr>
            <p:cNvPr id="40" name="직사각형 39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은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사용가능 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사용하기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 smtClean="0">
                  <a:latin typeface="+mn-ea"/>
                </a:rPr>
                <a:t>다시검색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93336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사용가능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3164752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직사각형 45"/>
          <p:cNvSpPr/>
          <p:nvPr/>
        </p:nvSpPr>
        <p:spPr>
          <a:xfrm>
            <a:off x="4013865" y="3426411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88325" y="3135237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다시검색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0" name="Freeform 11"/>
          <p:cNvSpPr>
            <a:spLocks noChangeArrowheads="1"/>
          </p:cNvSpPr>
          <p:nvPr/>
        </p:nvSpPr>
        <p:spPr bwMode="auto">
          <a:xfrm>
            <a:off x="6759741" y="348650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직사각형 50"/>
          <p:cNvSpPr/>
          <p:nvPr/>
        </p:nvSpPr>
        <p:spPr>
          <a:xfrm>
            <a:off x="4143863" y="4245597"/>
            <a:ext cx="2098430" cy="2051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6314459" y="4235811"/>
            <a:ext cx="51728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검색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33264" y="3940930"/>
            <a:ext cx="157671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spc="-150" dirty="0" smtClean="0">
                <a:solidFill>
                  <a:prstClr val="black"/>
                </a:solidFill>
                <a:ea typeface="맑은 고딕"/>
              </a:rPr>
              <a:t>사용하실 </a:t>
            </a:r>
            <a:r>
              <a:rPr lang="ko-KR" altLang="en-US" sz="900" spc="-150" dirty="0" err="1" smtClean="0">
                <a:solidFill>
                  <a:prstClr val="black"/>
                </a:solidFill>
                <a:ea typeface="맑은 고딕"/>
              </a:rPr>
              <a:t>결재선명을</a:t>
            </a:r>
            <a:r>
              <a:rPr lang="ko-KR" altLang="en-US" sz="900" spc="-150" dirty="0" smtClean="0">
                <a:solidFill>
                  <a:prstClr val="black"/>
                </a:solidFill>
                <a:ea typeface="맑은 고딕"/>
              </a:rPr>
              <a:t> 입력해주세요</a:t>
            </a:r>
            <a:r>
              <a:rPr lang="en-US" altLang="ko-KR" sz="9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9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8531" y="3485545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50377" y="3508666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51855" y="153582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418876" y="5250633"/>
            <a:ext cx="2950119" cy="1490703"/>
            <a:chOff x="6872544" y="4197176"/>
            <a:chExt cx="2950119" cy="1490703"/>
          </a:xfrm>
        </p:grpSpPr>
        <p:sp>
          <p:nvSpPr>
            <p:cNvPr id="63" name="직사각형 62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은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중 입니다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852475" y="5298175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 smtClean="0">
                  <a:latin typeface="+mn-ea"/>
                </a:rPr>
                <a:t>다시검색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93336" y="4959459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 중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7" name="Freeform 11"/>
          <p:cNvSpPr>
            <a:spLocks noChangeArrowheads="1"/>
          </p:cNvSpPr>
          <p:nvPr/>
        </p:nvSpPr>
        <p:spPr bwMode="auto">
          <a:xfrm>
            <a:off x="3164752" y="53107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568531" y="5314346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8899932" y="4844926"/>
            <a:ext cx="2950119" cy="1490703"/>
            <a:chOff x="6872544" y="4197176"/>
            <a:chExt cx="2950119" cy="1490703"/>
          </a:xfrm>
        </p:grpSpPr>
        <p:sp>
          <p:nvSpPr>
            <p:cNvPr id="91" name="직사각형 90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등록을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8774392" y="4553752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5" name="Freeform 11"/>
          <p:cNvSpPr>
            <a:spLocks noChangeArrowheads="1"/>
          </p:cNvSpPr>
          <p:nvPr/>
        </p:nvSpPr>
        <p:spPr bwMode="auto">
          <a:xfrm>
            <a:off x="11645808" y="490501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9049587" y="490863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8910115" y="3993353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855900" y="6404313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3975347" y="52699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다음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352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50930"/>
              </p:ext>
            </p:extLst>
          </p:nvPr>
        </p:nvGraphicFramePr>
        <p:xfrm>
          <a:off x="9822663" y="498985"/>
          <a:ext cx="2195166" cy="5848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시 모든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빈값으로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사용자 내에서 결과내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재검색을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위한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입력창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입력된 정보로 조회 처리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값이면 전체 정보 표시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전체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개별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기안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기안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시 결재자 앞으로 정렬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추가된 사용자는 사용자 정보에서 삭제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이중 등록을 사전에 막기 위함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결재단계별로 선택된 사용자를 결재단계에서 삭제 처리하며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해당 사용자는 다시 추가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단계를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명칭 변경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삭제가 불가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02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6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 삭제 처리하며 좌측의 사용자 정보 해당 사용자는 다시 추가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9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결재단계의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사용자 전체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결재단계에서는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36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사용자를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버튼형으로 디자인 필요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2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표시하는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14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또는 아이디 클릭 시사용자정보팝업 호출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28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단계를 초과할 수 없음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사용자 수에 따라 추가 여부가 판단됨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 추가는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마지막 단계 중간에만 추가되도록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76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 화면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8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결재선정보확인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1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결재선등록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취소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92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신규등록일때만 표시하며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팝업을 호출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515499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구성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589"/>
            <a:ext cx="1644931" cy="172815"/>
            <a:chOff x="5063489" y="537589"/>
            <a:chExt cx="1644931" cy="1728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308916" y="537589"/>
              <a:ext cx="89393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2.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결재선구성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6283432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303628" y="1682956"/>
          <a:ext cx="2250919" cy="355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18056003"/>
                    </a:ext>
                  </a:extLst>
                </a:gridCol>
                <a:gridCol w="2042639">
                  <a:extLst>
                    <a:ext uri="{9D8B030D-6E8A-4147-A177-3AD203B41FA5}">
                      <a16:colId xmlns:a16="http://schemas.microsoft.com/office/drawing/2014/main" val="453830883"/>
                    </a:ext>
                  </a:extLst>
                </a:gridCol>
              </a:tblGrid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49740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 (%ID%/%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%)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결재자지정구분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 / %</a:t>
                      </a: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8910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(P123001/CEO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기한불가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1239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박문현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(P123002/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1395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이경남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(P123003/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차장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82124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이양산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(P123004/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과장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32312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최서면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(P123005/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397365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최거제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(P123006/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사원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3640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강영업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(P123007/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영업부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75374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송중기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(P123008/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디자인실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6371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이지은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(P123009/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206950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303628" y="1089216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사용자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30054" y="1460160"/>
            <a:ext cx="4009292" cy="14487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3130054" y="4607166"/>
            <a:ext cx="4009292" cy="14888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3130054" y="1089216"/>
            <a:ext cx="128336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결재단계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- %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%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508828" y="2016801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8" name="그룹 127"/>
          <p:cNvGrpSpPr/>
          <p:nvPr/>
        </p:nvGrpSpPr>
        <p:grpSpPr>
          <a:xfrm>
            <a:off x="295776" y="1441633"/>
            <a:ext cx="2258771" cy="194762"/>
            <a:chOff x="5087887" y="864761"/>
            <a:chExt cx="2258771" cy="194762"/>
          </a:xfrm>
        </p:grpSpPr>
        <p:sp>
          <p:nvSpPr>
            <p:cNvPr id="129" name="모서리가 둥근 직사각형 128"/>
            <p:cNvSpPr/>
            <p:nvPr/>
          </p:nvSpPr>
          <p:spPr>
            <a:xfrm>
              <a:off x="5087887" y="864761"/>
              <a:ext cx="2258771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 검색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,ID,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직위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5967" y="891838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3226803" y="1512653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2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226803" y="4710815"/>
            <a:ext cx="57964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기안단계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4785486" y="6159542"/>
            <a:ext cx="2353859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 단계 추가하기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3130054" y="2984476"/>
            <a:ext cx="4009292" cy="1552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/>
          <p:cNvSpPr txBox="1"/>
          <p:nvPr/>
        </p:nvSpPr>
        <p:spPr>
          <a:xfrm>
            <a:off x="3226803" y="3059399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1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8" name="Freeform 11"/>
          <p:cNvSpPr>
            <a:spLocks noChangeArrowheads="1"/>
          </p:cNvSpPr>
          <p:nvPr/>
        </p:nvSpPr>
        <p:spPr bwMode="auto">
          <a:xfrm>
            <a:off x="6868732" y="311820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678562" y="1821052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2678176" y="2025895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2678176" y="3293241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2678176" y="3479554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확인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2678176" y="3665867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2678176" y="5220458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678176" y="5440679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8" name="모서리가 둥근 직사각형 147">
            <a:extLst>
              <a:ext uri="{FF2B5EF4-FFF2-40B4-BE49-F238E27FC236}">
                <a16:creationId xmlns:a16="http://schemas.microsoft.com/office/drawing/2014/main" id="{AF77F581-6E31-3CA1-C08B-34F1696CE656}"/>
              </a:ext>
            </a:extLst>
          </p:cNvPr>
          <p:cNvSpPr/>
          <p:nvPr/>
        </p:nvSpPr>
        <p:spPr>
          <a:xfrm>
            <a:off x="6702489" y="1151640"/>
            <a:ext cx="439616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900" dirty="0" smtClean="0"/>
              <a:t>    OFF  </a:t>
            </a:r>
            <a:endParaRPr lang="ko-KR" altLang="en-US" sz="900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BD73752-5059-A861-EF21-114C6DF082E5}"/>
              </a:ext>
            </a:extLst>
          </p:cNvPr>
          <p:cNvSpPr/>
          <p:nvPr/>
        </p:nvSpPr>
        <p:spPr>
          <a:xfrm>
            <a:off x="6708696" y="1152923"/>
            <a:ext cx="1656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s</a:t>
            </a:r>
            <a:endParaRPr lang="ko-KR" altLang="en-US" sz="9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0308D79-E0DF-6372-156E-3974C3476643}"/>
              </a:ext>
            </a:extLst>
          </p:cNvPr>
          <p:cNvSpPr/>
          <p:nvPr/>
        </p:nvSpPr>
        <p:spPr>
          <a:xfrm>
            <a:off x="5893599" y="1139062"/>
            <a:ext cx="8119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900" b="1" dirty="0" err="1" smtClean="0">
                <a:latin typeface="+mn-ea"/>
              </a:rPr>
              <a:t>승인자</a:t>
            </a:r>
            <a:r>
              <a:rPr lang="ko-KR" altLang="en-US" sz="900" b="1" dirty="0" smtClean="0">
                <a:latin typeface="+mn-ea"/>
              </a:rPr>
              <a:t> 지정</a:t>
            </a:r>
            <a:endParaRPr lang="en-US" altLang="ko-KR" sz="900" b="1" dirty="0"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2618" y="1341602"/>
            <a:ext cx="251992" cy="230832"/>
            <a:chOff x="4867678" y="3090156"/>
            <a:chExt cx="251992" cy="230832"/>
          </a:xfrm>
        </p:grpSpPr>
        <p:sp>
          <p:nvSpPr>
            <p:cNvPr id="15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453686" y="1334163"/>
            <a:ext cx="230832" cy="251992"/>
            <a:chOff x="4878258" y="3079576"/>
            <a:chExt cx="230832" cy="251992"/>
          </a:xfrm>
        </p:grpSpPr>
        <p:sp>
          <p:nvSpPr>
            <p:cNvPr id="15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174045" y="1759274"/>
            <a:ext cx="1271976" cy="1085792"/>
            <a:chOff x="7294667" y="3583609"/>
            <a:chExt cx="1271976" cy="1085792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7338647" y="3583609"/>
              <a:ext cx="1227995" cy="108579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직사각형 170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148050" y="3369940"/>
            <a:ext cx="2090347" cy="1097082"/>
            <a:chOff x="8789562" y="3583609"/>
            <a:chExt cx="2090347" cy="1097082"/>
          </a:xfrm>
        </p:grpSpPr>
        <p:sp>
          <p:nvSpPr>
            <p:cNvPr id="163" name="모서리가 둥근 직사각형 162"/>
            <p:cNvSpPr/>
            <p:nvPr/>
          </p:nvSpPr>
          <p:spPr>
            <a:xfrm>
              <a:off x="8833542" y="3583609"/>
              <a:ext cx="1225350" cy="109708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>
              <a:off x="10306518" y="3640631"/>
              <a:ext cx="573391" cy="154629"/>
              <a:chOff x="8823340" y="2122570"/>
              <a:chExt cx="573391" cy="154629"/>
            </a:xfrm>
          </p:grpSpPr>
          <p:sp>
            <p:nvSpPr>
              <p:cNvPr id="165" name="직사각형 164"/>
              <p:cNvSpPr/>
              <p:nvPr/>
            </p:nvSpPr>
            <p:spPr>
              <a:xfrm>
                <a:off x="9109516" y="2122570"/>
                <a:ext cx="287215" cy="14755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tx1"/>
                    </a:solidFill>
                  </a:rPr>
                  <a:t>확인</a:t>
                </a:r>
                <a:endParaRPr lang="ko-KR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직사각형 165"/>
              <p:cNvSpPr/>
              <p:nvPr/>
            </p:nvSpPr>
            <p:spPr>
              <a:xfrm>
                <a:off x="8823340" y="2129649"/>
                <a:ext cx="287215" cy="1475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bg1"/>
                    </a:solidFill>
                  </a:rPr>
                  <a:t>결재</a:t>
                </a:r>
                <a:endParaRPr lang="ko-KR" altLang="en-US" sz="7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8" name="Freeform 11"/>
            <p:cNvSpPr>
              <a:spLocks noChangeArrowheads="1"/>
            </p:cNvSpPr>
            <p:nvPr/>
          </p:nvSpPr>
          <p:spPr bwMode="auto">
            <a:xfrm>
              <a:off x="9911281" y="3671450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8789562" y="3613523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8833540" y="3793918"/>
              <a:ext cx="9525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err="1" smtClean="0"/>
                <a:t>박경북</a:t>
              </a:r>
              <a:r>
                <a:rPr lang="en-US" altLang="ko-KR" sz="800" dirty="0" smtClean="0"/>
                <a:t>(P123010)</a:t>
              </a:r>
            </a:p>
            <a:p>
              <a:r>
                <a:rPr lang="ko-KR" altLang="en-US" sz="800" dirty="0" err="1" smtClean="0"/>
                <a:t>경영지원부</a:t>
              </a:r>
              <a:r>
                <a:rPr lang="en-US" altLang="ko-KR" sz="800" dirty="0" smtClean="0"/>
                <a:t>/</a:t>
              </a:r>
              <a:r>
                <a:rPr lang="ko-KR" altLang="en-US" sz="800" dirty="0" smtClean="0"/>
                <a:t>이사</a:t>
              </a:r>
              <a:endParaRPr lang="ko-KR" altLang="en-US" sz="800" dirty="0"/>
            </a:p>
          </p:txBody>
        </p:sp>
        <p:cxnSp>
          <p:nvCxnSpPr>
            <p:cNvPr id="173" name="직선 연결선 172"/>
            <p:cNvCxnSpPr/>
            <p:nvPr/>
          </p:nvCxnSpPr>
          <p:spPr>
            <a:xfrm flipV="1">
              <a:off x="8891286" y="4189874"/>
              <a:ext cx="1098122" cy="55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직사각형 173"/>
            <p:cNvSpPr/>
            <p:nvPr/>
          </p:nvSpPr>
          <p:spPr>
            <a:xfrm>
              <a:off x="8833540" y="4187121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9078582" y="4189874"/>
              <a:ext cx="910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3360076" y="3362886"/>
            <a:ext cx="2326634" cy="1109119"/>
            <a:chOff x="7732258" y="3583609"/>
            <a:chExt cx="2326634" cy="1109119"/>
          </a:xfrm>
        </p:grpSpPr>
        <p:sp>
          <p:nvSpPr>
            <p:cNvPr id="177" name="모서리가 둥근 직사각형 176"/>
            <p:cNvSpPr/>
            <p:nvPr/>
          </p:nvSpPr>
          <p:spPr>
            <a:xfrm>
              <a:off x="8833542" y="3583609"/>
              <a:ext cx="1225350" cy="1109119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9" name="그룹 178"/>
            <p:cNvGrpSpPr/>
            <p:nvPr/>
          </p:nvGrpSpPr>
          <p:grpSpPr>
            <a:xfrm>
              <a:off x="7732258" y="3656675"/>
              <a:ext cx="574431" cy="153800"/>
              <a:chOff x="6249080" y="2138614"/>
              <a:chExt cx="574431" cy="153800"/>
            </a:xfrm>
          </p:grpSpPr>
          <p:sp>
            <p:nvSpPr>
              <p:cNvPr id="186" name="직사각형 185"/>
              <p:cNvSpPr/>
              <p:nvPr/>
            </p:nvSpPr>
            <p:spPr>
              <a:xfrm>
                <a:off x="6536296" y="2138614"/>
                <a:ext cx="287215" cy="1475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bg1"/>
                    </a:solidFill>
                  </a:rPr>
                  <a:t>확인</a:t>
                </a:r>
                <a:endParaRPr lang="ko-KR" altLang="en-US" sz="7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직사각형 186"/>
              <p:cNvSpPr/>
              <p:nvPr/>
            </p:nvSpPr>
            <p:spPr>
              <a:xfrm>
                <a:off x="6249080" y="2144864"/>
                <a:ext cx="287215" cy="14755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tx1"/>
                    </a:solidFill>
                  </a:rPr>
                  <a:t>결재</a:t>
                </a:r>
                <a:endParaRPr lang="ko-KR" altLang="en-US" sz="7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0" name="Freeform 11"/>
            <p:cNvSpPr>
              <a:spLocks noChangeArrowheads="1"/>
            </p:cNvSpPr>
            <p:nvPr/>
          </p:nvSpPr>
          <p:spPr bwMode="auto">
            <a:xfrm>
              <a:off x="9911281" y="3671450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8789562" y="3613523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8833540" y="3793918"/>
              <a:ext cx="9525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/>
                <a:t>김수현</a:t>
              </a:r>
              <a:r>
                <a:rPr lang="en-US" altLang="ko-KR" sz="800" dirty="0" smtClean="0"/>
                <a:t>(P123020)</a:t>
              </a:r>
            </a:p>
            <a:p>
              <a:r>
                <a:rPr lang="ko-KR" altLang="en-US" sz="800" dirty="0" smtClean="0"/>
                <a:t>디자인</a:t>
              </a:r>
              <a:r>
                <a:rPr lang="en-US" altLang="ko-KR" sz="800" dirty="0" smtClean="0"/>
                <a:t>2</a:t>
              </a:r>
              <a:r>
                <a:rPr lang="ko-KR" altLang="en-US" sz="800" dirty="0" smtClean="0"/>
                <a:t>팀</a:t>
              </a:r>
              <a:r>
                <a:rPr lang="en-US" altLang="ko-KR" sz="800" dirty="0" smtClean="0"/>
                <a:t>/</a:t>
              </a:r>
              <a:r>
                <a:rPr lang="ko-KR" altLang="en-US" sz="800" dirty="0" smtClean="0"/>
                <a:t>팀장</a:t>
              </a:r>
              <a:endParaRPr lang="ko-KR" altLang="en-US" sz="800" dirty="0"/>
            </a:p>
          </p:txBody>
        </p:sp>
        <p:cxnSp>
          <p:nvCxnSpPr>
            <p:cNvPr id="183" name="직선 연결선 182"/>
            <p:cNvCxnSpPr/>
            <p:nvPr/>
          </p:nvCxnSpPr>
          <p:spPr>
            <a:xfrm flipV="1">
              <a:off x="8891286" y="4189874"/>
              <a:ext cx="1098122" cy="55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직사각형 183"/>
            <p:cNvSpPr/>
            <p:nvPr/>
          </p:nvSpPr>
          <p:spPr>
            <a:xfrm>
              <a:off x="8833540" y="4187121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9078582" y="4189874"/>
              <a:ext cx="910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3174045" y="4984663"/>
            <a:ext cx="1271976" cy="1070944"/>
            <a:chOff x="7294667" y="3583609"/>
            <a:chExt cx="1271976" cy="1070944"/>
          </a:xfrm>
        </p:grpSpPr>
        <p:sp>
          <p:nvSpPr>
            <p:cNvPr id="189" name="모서리가 둥근 직사각형 188"/>
            <p:cNvSpPr/>
            <p:nvPr/>
          </p:nvSpPr>
          <p:spPr>
            <a:xfrm>
              <a:off x="7338647" y="3583609"/>
              <a:ext cx="1227995" cy="107094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7537945" y="3659724"/>
              <a:ext cx="287215" cy="147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</a:rPr>
                <a:t>기안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94" name="직선 연결선 193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직사각형 194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00" name="모서리가 둥근 직사각형 199"/>
          <p:cNvSpPr/>
          <p:nvPr/>
        </p:nvSpPr>
        <p:spPr>
          <a:xfrm>
            <a:off x="3833577" y="3116386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45663" y="1657633"/>
            <a:ext cx="251992" cy="230832"/>
            <a:chOff x="4867678" y="3090156"/>
            <a:chExt cx="251992" cy="230832"/>
          </a:xfrm>
        </p:grpSpPr>
        <p:sp>
          <p:nvSpPr>
            <p:cNvPr id="20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29258" y="2959025"/>
            <a:ext cx="251992" cy="230832"/>
            <a:chOff x="4867678" y="3090156"/>
            <a:chExt cx="251992" cy="230832"/>
          </a:xfrm>
        </p:grpSpPr>
        <p:sp>
          <p:nvSpPr>
            <p:cNvPr id="20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76925" y="3120645"/>
            <a:ext cx="251992" cy="230832"/>
            <a:chOff x="4867678" y="3090156"/>
            <a:chExt cx="251992" cy="230832"/>
          </a:xfrm>
        </p:grpSpPr>
        <p:sp>
          <p:nvSpPr>
            <p:cNvPr id="20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948122" y="3385527"/>
            <a:ext cx="230832" cy="251992"/>
            <a:chOff x="4878258" y="3079576"/>
            <a:chExt cx="230832" cy="251992"/>
          </a:xfrm>
        </p:grpSpPr>
        <p:sp>
          <p:nvSpPr>
            <p:cNvPr id="2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71408" y="3553398"/>
            <a:ext cx="251992" cy="230832"/>
            <a:chOff x="4867678" y="3090156"/>
            <a:chExt cx="251992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539504" y="963087"/>
            <a:ext cx="251992" cy="230832"/>
            <a:chOff x="4867678" y="3090156"/>
            <a:chExt cx="251992" cy="230832"/>
          </a:xfrm>
        </p:grpSpPr>
        <p:sp>
          <p:nvSpPr>
            <p:cNvPr id="21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1" name="Rectangle 4">
            <a:extLst>
              <a:ext uri="{FF2B5EF4-FFF2-40B4-BE49-F238E27FC236}">
                <a16:creationId xmlns:a16="http://schemas.microsoft.com/office/drawing/2014/main" id="{2F14C0AB-AEF4-BA47-1E9E-6F1DBD6BFFFD}"/>
              </a:ext>
            </a:extLst>
          </p:cNvPr>
          <p:cNvSpPr/>
          <p:nvPr/>
        </p:nvSpPr>
        <p:spPr>
          <a:xfrm>
            <a:off x="3036376" y="1660544"/>
            <a:ext cx="319318" cy="230832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ko-KR" sz="900" b="1" dirty="0" smtClean="0">
                <a:solidFill>
                  <a:prstClr val="white"/>
                </a:solidFill>
                <a:latin typeface="+mn-ea"/>
              </a:rPr>
              <a:t>10</a:t>
            </a:r>
            <a:endParaRPr lang="ko-KR" altLang="en-US" sz="9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477515" y="3288459"/>
            <a:ext cx="319318" cy="230832"/>
            <a:chOff x="4834015" y="3090156"/>
            <a:chExt cx="319318" cy="230832"/>
          </a:xfrm>
        </p:grpSpPr>
        <p:sp>
          <p:nvSpPr>
            <p:cNvPr id="22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196244" y="3258913"/>
            <a:ext cx="230832" cy="319318"/>
            <a:chOff x="4878258" y="3045913"/>
            <a:chExt cx="230832" cy="319318"/>
          </a:xfrm>
        </p:grpSpPr>
        <p:sp>
          <p:nvSpPr>
            <p:cNvPr id="22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372169" y="2968319"/>
            <a:ext cx="230832" cy="319318"/>
            <a:chOff x="4878258" y="3045913"/>
            <a:chExt cx="230832" cy="319318"/>
          </a:xfrm>
        </p:grpSpPr>
        <p:sp>
          <p:nvSpPr>
            <p:cNvPr id="23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7071977" y="2959222"/>
            <a:ext cx="230832" cy="251992"/>
            <a:chOff x="4878258" y="3079576"/>
            <a:chExt cx="230832" cy="251992"/>
          </a:xfrm>
        </p:grpSpPr>
        <p:sp>
          <p:nvSpPr>
            <p:cNvPr id="2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372169" y="1687673"/>
            <a:ext cx="230832" cy="319318"/>
            <a:chOff x="4878258" y="3045913"/>
            <a:chExt cx="230832" cy="319318"/>
          </a:xfrm>
        </p:grpSpPr>
        <p:sp>
          <p:nvSpPr>
            <p:cNvPr id="2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206720" y="4867256"/>
            <a:ext cx="319318" cy="230832"/>
            <a:chOff x="4834015" y="3090156"/>
            <a:chExt cx="319318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6696514" y="6039634"/>
            <a:ext cx="230832" cy="319318"/>
            <a:chOff x="4878258" y="3045913"/>
            <a:chExt cx="230832" cy="319318"/>
          </a:xfrm>
        </p:grpSpPr>
        <p:sp>
          <p:nvSpPr>
            <p:cNvPr id="24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29875" y="1693541"/>
            <a:ext cx="319318" cy="230832"/>
            <a:chOff x="4834015" y="3090156"/>
            <a:chExt cx="319318" cy="230832"/>
          </a:xfrm>
        </p:grpSpPr>
        <p:sp>
          <p:nvSpPr>
            <p:cNvPr id="24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108825" y="1761903"/>
            <a:ext cx="2444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smtClean="0">
                <a:solidFill>
                  <a:srgbClr val="FF0000"/>
                </a:solidFill>
              </a:rPr>
              <a:t>마지막 결재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smtClean="0">
                <a:solidFill>
                  <a:srgbClr val="FF0000"/>
                </a:solidFill>
              </a:rPr>
              <a:t>승인</a:t>
            </a:r>
            <a:r>
              <a:rPr lang="en-US" altLang="ko-KR" sz="800" dirty="0" smtClean="0">
                <a:solidFill>
                  <a:srgbClr val="FF0000"/>
                </a:solidFill>
              </a:rPr>
              <a:t>) </a:t>
            </a:r>
            <a:r>
              <a:rPr lang="ko-KR" altLang="en-US" sz="800" dirty="0" smtClean="0">
                <a:solidFill>
                  <a:srgbClr val="FF0000"/>
                </a:solidFill>
              </a:rPr>
              <a:t>단계에는 </a:t>
            </a:r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명만 등록이 가능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확인자를</a:t>
            </a:r>
            <a:r>
              <a:rPr lang="ko-KR" altLang="en-US" sz="800" dirty="0" smtClean="0">
                <a:solidFill>
                  <a:srgbClr val="FF0000"/>
                </a:solidFill>
              </a:rPr>
              <a:t> 등록할 수 없음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3)          :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승인자지정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OFF</a:t>
            </a:r>
          </a:p>
          <a:p>
            <a:endParaRPr lang="en-US" altLang="ko-KR" sz="800" dirty="0" smtClean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4)          :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승인자지정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ON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/>
            </a:r>
            <a:br>
              <a:rPr lang="en-US" altLang="ko-KR" sz="800" dirty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5) </a:t>
            </a:r>
            <a:r>
              <a:rPr lang="ko-KR" altLang="en-US" sz="800" dirty="0" smtClean="0">
                <a:solidFill>
                  <a:srgbClr val="FF0000"/>
                </a:solidFill>
              </a:rPr>
              <a:t>단독결재불가자는 추가 불가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7108825" y="3186896"/>
            <a:ext cx="2444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smtClean="0">
                <a:solidFill>
                  <a:srgbClr val="FF0000"/>
                </a:solidFill>
              </a:rPr>
              <a:t>중간 결재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smtClean="0">
                <a:solidFill>
                  <a:srgbClr val="FF0000"/>
                </a:solidFill>
              </a:rPr>
              <a:t>승인</a:t>
            </a:r>
            <a:r>
              <a:rPr lang="en-US" altLang="ko-KR" sz="800" dirty="0" smtClean="0">
                <a:solidFill>
                  <a:srgbClr val="FF0000"/>
                </a:solidFill>
              </a:rPr>
              <a:t>) </a:t>
            </a:r>
            <a:r>
              <a:rPr lang="ko-KR" altLang="en-US" sz="800" dirty="0" smtClean="0">
                <a:solidFill>
                  <a:srgbClr val="FF0000"/>
                </a:solidFill>
              </a:rPr>
              <a:t>단계에는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</a:t>
            </a:r>
            <a:r>
              <a:rPr lang="ko-KR" altLang="en-US" sz="800" dirty="0" smtClean="0">
                <a:solidFill>
                  <a:srgbClr val="FF0000"/>
                </a:solidFill>
              </a:rPr>
              <a:t> 포함하여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   </a:t>
            </a:r>
            <a:r>
              <a:rPr lang="ko-KR" altLang="en-US" sz="800" dirty="0" smtClean="0">
                <a:solidFill>
                  <a:srgbClr val="FF0000"/>
                </a:solidFill>
              </a:rPr>
              <a:t>최대 </a:t>
            </a:r>
            <a:r>
              <a:rPr lang="en-US" altLang="ko-KR" sz="800" dirty="0" smtClean="0">
                <a:solidFill>
                  <a:srgbClr val="FF0000"/>
                </a:solidFill>
              </a:rPr>
              <a:t>9</a:t>
            </a:r>
            <a:r>
              <a:rPr lang="ko-KR" altLang="en-US" sz="800" dirty="0" smtClean="0">
                <a:solidFill>
                  <a:srgbClr val="FF0000"/>
                </a:solidFill>
              </a:rPr>
              <a:t>명까지 설정 가능함</a:t>
            </a:r>
            <a:r>
              <a:rPr lang="en-US" altLang="ko-KR" sz="8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결재권자는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 이상 설정 필수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3)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결재권자</a:t>
            </a:r>
            <a:r>
              <a:rPr lang="en-US" altLang="ko-KR" sz="800" dirty="0" smtClean="0">
                <a:solidFill>
                  <a:srgbClr val="FF0000"/>
                </a:solidFill>
              </a:rPr>
              <a:t>/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확인자를</a:t>
            </a:r>
            <a:r>
              <a:rPr lang="ko-KR" altLang="en-US" sz="800" dirty="0" smtClean="0">
                <a:solidFill>
                  <a:srgbClr val="FF0000"/>
                </a:solidFill>
              </a:rPr>
              <a:t> 카드영역내에서 선택 가능</a:t>
            </a:r>
            <a:endParaRPr lang="en-US" altLang="ko-KR" sz="800" dirty="0" smtClean="0">
              <a:solidFill>
                <a:srgbClr val="FF0000"/>
              </a:solidFill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108825" y="5065840"/>
            <a:ext cx="2444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기안단계는</a:t>
            </a:r>
            <a:r>
              <a:rPr lang="ko-KR" altLang="en-US" sz="800" dirty="0" smtClean="0">
                <a:solidFill>
                  <a:srgbClr val="FF0000"/>
                </a:solidFill>
              </a:rPr>
              <a:t> 최대 </a:t>
            </a:r>
            <a:r>
              <a:rPr lang="en-US" altLang="ko-KR" sz="800" dirty="0" smtClean="0">
                <a:solidFill>
                  <a:srgbClr val="FF0000"/>
                </a:solidFill>
              </a:rPr>
              <a:t>21</a:t>
            </a:r>
            <a:r>
              <a:rPr lang="ko-KR" altLang="en-US" sz="800" dirty="0" smtClean="0">
                <a:solidFill>
                  <a:srgbClr val="FF0000"/>
                </a:solidFill>
              </a:rPr>
              <a:t>명까지 설정 가능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smtClean="0">
                <a:solidFill>
                  <a:srgbClr val="FF0000"/>
                </a:solidFill>
              </a:rPr>
              <a:t>기안불가자는 추가 불가함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endParaRPr lang="en-US" altLang="ko-KR" sz="800" dirty="0" smtClean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</a:rPr>
              <a:t>모든 단계는 </a:t>
            </a:r>
            <a:r>
              <a:rPr lang="en-US" altLang="ko-KR" sz="800" dirty="0">
                <a:solidFill>
                  <a:srgbClr val="FF0000"/>
                </a:solidFill>
              </a:rPr>
              <a:t>3X3 </a:t>
            </a:r>
            <a:r>
              <a:rPr lang="ko-KR" altLang="en-US" sz="800" dirty="0">
                <a:solidFill>
                  <a:srgbClr val="FF0000"/>
                </a:solidFill>
              </a:rPr>
              <a:t>배열을 기본으로 </a:t>
            </a:r>
            <a:r>
              <a:rPr lang="ko-KR" altLang="en-US" sz="800" dirty="0" smtClean="0">
                <a:solidFill>
                  <a:srgbClr val="FF0000"/>
                </a:solidFill>
              </a:rPr>
              <a:t>한다</a:t>
            </a:r>
            <a:r>
              <a:rPr lang="en-US" altLang="ko-KR" sz="800" dirty="0" smtClean="0">
                <a:solidFill>
                  <a:srgbClr val="FF0000"/>
                </a:solidFill>
              </a:rPr>
              <a:t>.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  </a:t>
            </a:r>
            <a:r>
              <a:rPr lang="ko-KR" altLang="en-US" sz="800" dirty="0" smtClean="0">
                <a:solidFill>
                  <a:srgbClr val="FF0000"/>
                </a:solidFill>
              </a:rPr>
              <a:t>디자인에 따라 달라질 수 있음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3399674" y="183767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7325276" y="205676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7325276" y="227630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262436" y="5776226"/>
            <a:ext cx="230832" cy="319318"/>
            <a:chOff x="4878258" y="3045913"/>
            <a:chExt cx="230832" cy="319318"/>
          </a:xfrm>
        </p:grpSpPr>
        <p:sp>
          <p:nvSpPr>
            <p:cNvPr id="25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9" name="모서리가 둥근 직사각형 258"/>
          <p:cNvSpPr/>
          <p:nvPr/>
        </p:nvSpPr>
        <p:spPr>
          <a:xfrm>
            <a:off x="3751948" y="4756969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1769717" y="4563664"/>
            <a:ext cx="230832" cy="319318"/>
            <a:chOff x="4878258" y="3045913"/>
            <a:chExt cx="230832" cy="319318"/>
          </a:xfrm>
        </p:grpSpPr>
        <p:sp>
          <p:nvSpPr>
            <p:cNvPr id="26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64" name="모서리가 둥근 직사각형 263"/>
          <p:cNvSpPr/>
          <p:nvPr/>
        </p:nvSpPr>
        <p:spPr>
          <a:xfrm>
            <a:off x="4194788" y="222375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5" name="모서리가 둥근 직사각형 264"/>
          <p:cNvSpPr/>
          <p:nvPr/>
        </p:nvSpPr>
        <p:spPr>
          <a:xfrm>
            <a:off x="4118414" y="3812018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5425963" y="3786481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7" name="모서리가 둥근 직사각형 266"/>
          <p:cNvSpPr/>
          <p:nvPr/>
        </p:nvSpPr>
        <p:spPr>
          <a:xfrm>
            <a:off x="4180614" y="5435457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4007797" y="6480807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49225" y="6385736"/>
            <a:ext cx="319318" cy="230832"/>
            <a:chOff x="4834015" y="3090156"/>
            <a:chExt cx="319318" cy="230832"/>
          </a:xfrm>
        </p:grpSpPr>
        <p:sp>
          <p:nvSpPr>
            <p:cNvPr id="27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2" name="직사각형 271"/>
          <p:cNvSpPr/>
          <p:nvPr/>
        </p:nvSpPr>
        <p:spPr>
          <a:xfrm>
            <a:off x="5030359" y="6480807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953716" y="6414596"/>
            <a:ext cx="230832" cy="319318"/>
            <a:chOff x="4878258" y="3045913"/>
            <a:chExt cx="230832" cy="319318"/>
          </a:xfrm>
        </p:grpSpPr>
        <p:sp>
          <p:nvSpPr>
            <p:cNvPr id="27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276" name="직선 연결선 275"/>
          <p:cNvCxnSpPr/>
          <p:nvPr/>
        </p:nvCxnSpPr>
        <p:spPr>
          <a:xfrm>
            <a:off x="3213581" y="2655883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직사각형 276"/>
          <p:cNvSpPr/>
          <p:nvPr/>
        </p:nvSpPr>
        <p:spPr>
          <a:xfrm>
            <a:off x="3560930" y="2642924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78" name="직선 연결선 277"/>
          <p:cNvCxnSpPr/>
          <p:nvPr/>
        </p:nvCxnSpPr>
        <p:spPr>
          <a:xfrm>
            <a:off x="3197407" y="4284703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직사각형 278"/>
          <p:cNvSpPr/>
          <p:nvPr/>
        </p:nvSpPr>
        <p:spPr>
          <a:xfrm>
            <a:off x="3544756" y="4271744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80" name="직선 연결선 279"/>
          <p:cNvCxnSpPr/>
          <p:nvPr/>
        </p:nvCxnSpPr>
        <p:spPr>
          <a:xfrm>
            <a:off x="4466690" y="4289946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직사각형 280"/>
          <p:cNvSpPr/>
          <p:nvPr/>
        </p:nvSpPr>
        <p:spPr>
          <a:xfrm>
            <a:off x="4814039" y="4276987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82" name="직선 연결선 281"/>
          <p:cNvCxnSpPr/>
          <p:nvPr/>
        </p:nvCxnSpPr>
        <p:spPr>
          <a:xfrm>
            <a:off x="3226610" y="5893115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직사각형 282"/>
          <p:cNvSpPr/>
          <p:nvPr/>
        </p:nvSpPr>
        <p:spPr>
          <a:xfrm>
            <a:off x="3573959" y="5880156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461739" y="524442"/>
            <a:ext cx="2222154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버튼 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87" name="직사각형 286"/>
          <p:cNvSpPr/>
          <p:nvPr/>
        </p:nvSpPr>
        <p:spPr>
          <a:xfrm>
            <a:off x="2995234" y="6489562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823738" y="6385736"/>
            <a:ext cx="319318" cy="230832"/>
            <a:chOff x="4834015" y="3090156"/>
            <a:chExt cx="319318" cy="230832"/>
          </a:xfrm>
        </p:grpSpPr>
        <p:sp>
          <p:nvSpPr>
            <p:cNvPr id="2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5" name="직사각형 294"/>
          <p:cNvSpPr/>
          <p:nvPr/>
        </p:nvSpPr>
        <p:spPr>
          <a:xfrm>
            <a:off x="263771" y="6186456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595160" y="618645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929937" y="6186456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1261326" y="618145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49737" y="6011684"/>
            <a:ext cx="1298804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상태에 따른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08" name="모서리가 둥근 직사각형 307"/>
          <p:cNvSpPr/>
          <p:nvPr/>
        </p:nvSpPr>
        <p:spPr>
          <a:xfrm>
            <a:off x="7290220" y="4069038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09" name="모서리가 둥근 직사각형 308"/>
          <p:cNvSpPr/>
          <p:nvPr/>
        </p:nvSpPr>
        <p:spPr>
          <a:xfrm>
            <a:off x="7290220" y="4298168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전체해제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271063" y="3917337"/>
            <a:ext cx="1440473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전체선택 여부에 따라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811495" y="4040210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명이라도 선택 되지 않은 경우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7811495" y="4267954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</a:rPr>
              <a:t>모든 사용자가 선택된 경우에만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3107849" y="6159433"/>
            <a:ext cx="1620461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결재선 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999262" y="6029399"/>
            <a:ext cx="319318" cy="230832"/>
            <a:chOff x="4834015" y="3090156"/>
            <a:chExt cx="319318" cy="230832"/>
          </a:xfrm>
        </p:grpSpPr>
        <p:sp>
          <p:nvSpPr>
            <p:cNvPr id="19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20" name="표 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93035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225" name="모서리가 둥근 직사각형 224"/>
          <p:cNvSpPr/>
          <p:nvPr/>
        </p:nvSpPr>
        <p:spPr>
          <a:xfrm>
            <a:off x="2079295" y="167114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12096063" y="316532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기안댄계는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최대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21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명 까지 등록 가능함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9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결재선결불러오기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결재선등록</a:t>
            </a:r>
            <a:endParaRPr lang="en-US" altLang="ko-KR" sz="800" kern="0" dirty="0"/>
          </a:p>
        </p:txBody>
      </p:sp>
      <p:sp>
        <p:nvSpPr>
          <p:cNvPr id="39" name="직사각형 38"/>
          <p:cNvSpPr/>
          <p:nvPr/>
        </p:nvSpPr>
        <p:spPr>
          <a:xfrm>
            <a:off x="575953" y="679704"/>
            <a:ext cx="6656120" cy="5774023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Freeform 11"/>
          <p:cNvSpPr>
            <a:spLocks noChangeArrowheads="1"/>
          </p:cNvSpPr>
          <p:nvPr/>
        </p:nvSpPr>
        <p:spPr bwMode="auto">
          <a:xfrm>
            <a:off x="6925288" y="894290"/>
            <a:ext cx="147562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직사각형 40"/>
          <p:cNvSpPr/>
          <p:nvPr/>
        </p:nvSpPr>
        <p:spPr>
          <a:xfrm>
            <a:off x="768452" y="827791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smtClean="0">
                <a:latin typeface="+mn-ea"/>
              </a:rPr>
              <a:t>결재선불러오기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6667358" y="735458"/>
            <a:ext cx="251992" cy="230832"/>
            <a:chOff x="4867678" y="3090156"/>
            <a:chExt cx="251992" cy="230832"/>
          </a:xfrm>
        </p:grpSpPr>
        <p:sp>
          <p:nvSpPr>
            <p:cNvPr id="9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823972"/>
              </p:ext>
            </p:extLst>
          </p:nvPr>
        </p:nvGraphicFramePr>
        <p:xfrm>
          <a:off x="859033" y="1364133"/>
          <a:ext cx="6004816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30561873"/>
                    </a:ext>
                  </a:extLst>
                </a:gridCol>
                <a:gridCol w="2213719">
                  <a:extLst>
                    <a:ext uri="{9D8B030D-6E8A-4147-A177-3AD203B41FA5}">
                      <a16:colId xmlns:a16="http://schemas.microsoft.com/office/drawing/2014/main" val="1875575540"/>
                    </a:ext>
                  </a:extLst>
                </a:gridCol>
                <a:gridCol w="1195445">
                  <a:extLst>
                    <a:ext uri="{9D8B030D-6E8A-4147-A177-3AD203B41FA5}">
                      <a16:colId xmlns:a16="http://schemas.microsoft.com/office/drawing/2014/main" val="221733858"/>
                    </a:ext>
                  </a:extLst>
                </a:gridCol>
                <a:gridCol w="1168108">
                  <a:extLst>
                    <a:ext uri="{9D8B030D-6E8A-4147-A177-3AD203B41FA5}">
                      <a16:colId xmlns:a16="http://schemas.microsoft.com/office/drawing/2014/main" val="4221644846"/>
                    </a:ext>
                  </a:extLst>
                </a:gridCol>
                <a:gridCol w="1004951">
                  <a:extLst>
                    <a:ext uri="{9D8B030D-6E8A-4147-A177-3AD203B41FA5}">
                      <a16:colId xmlns:a16="http://schemas.microsoft.com/office/drawing/2014/main" val="280808825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9067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407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184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2065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8378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559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3816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73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236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04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2201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6805423" y="1566589"/>
            <a:ext cx="45719" cy="1971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오른쪽 중괄호 96"/>
          <p:cNvSpPr/>
          <p:nvPr/>
        </p:nvSpPr>
        <p:spPr>
          <a:xfrm>
            <a:off x="6863849" y="1364133"/>
            <a:ext cx="419739" cy="2363074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7259887" y="2340572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847005" y="3856610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 구성원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07296" y="1280774"/>
            <a:ext cx="251992" cy="230832"/>
            <a:chOff x="4867678" y="3090156"/>
            <a:chExt cx="251992" cy="230832"/>
          </a:xfrm>
        </p:grpSpPr>
        <p:sp>
          <p:nvSpPr>
            <p:cNvPr id="1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1002709" y="1628872"/>
            <a:ext cx="131584" cy="121731"/>
            <a:chOff x="3027532" y="1509066"/>
            <a:chExt cx="144000" cy="144000"/>
          </a:xfrm>
        </p:grpSpPr>
        <p:sp>
          <p:nvSpPr>
            <p:cNvPr id="121" name="타원 120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122" name="타원 121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123" name="타원 122"/>
          <p:cNvSpPr/>
          <p:nvPr/>
        </p:nvSpPr>
        <p:spPr>
          <a:xfrm>
            <a:off x="1002709" y="1847674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4" name="타원 123"/>
          <p:cNvSpPr/>
          <p:nvPr/>
        </p:nvSpPr>
        <p:spPr>
          <a:xfrm>
            <a:off x="1002039" y="206647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5" name="타원 124"/>
          <p:cNvSpPr/>
          <p:nvPr/>
        </p:nvSpPr>
        <p:spPr>
          <a:xfrm>
            <a:off x="1002039" y="228527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6" name="타원 125"/>
          <p:cNvSpPr/>
          <p:nvPr/>
        </p:nvSpPr>
        <p:spPr>
          <a:xfrm>
            <a:off x="1001369" y="250408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7" name="타원 126"/>
          <p:cNvSpPr/>
          <p:nvPr/>
        </p:nvSpPr>
        <p:spPr>
          <a:xfrm>
            <a:off x="1001369" y="2717020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8" name="타원 127"/>
          <p:cNvSpPr/>
          <p:nvPr/>
        </p:nvSpPr>
        <p:spPr>
          <a:xfrm>
            <a:off x="1000699" y="2935822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9" name="타원 128"/>
          <p:cNvSpPr/>
          <p:nvPr/>
        </p:nvSpPr>
        <p:spPr>
          <a:xfrm>
            <a:off x="1000699" y="3154624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0" name="타원 129"/>
          <p:cNvSpPr/>
          <p:nvPr/>
        </p:nvSpPr>
        <p:spPr>
          <a:xfrm>
            <a:off x="1000029" y="3373426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1" name="타원 130"/>
          <p:cNvSpPr/>
          <p:nvPr/>
        </p:nvSpPr>
        <p:spPr>
          <a:xfrm>
            <a:off x="1000029" y="3584378"/>
            <a:ext cx="131584" cy="1217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2" name="TextBox 131"/>
          <p:cNvSpPr txBox="1"/>
          <p:nvPr/>
        </p:nvSpPr>
        <p:spPr>
          <a:xfrm>
            <a:off x="904609" y="1107432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988935" y="6085798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불러오기</a:t>
            </a:r>
            <a:endParaRPr lang="ko-KR" altLang="en-US" sz="1200" dirty="0"/>
          </a:p>
        </p:txBody>
      </p:sp>
      <p:sp>
        <p:nvSpPr>
          <p:cNvPr id="134" name="직사각형 133"/>
          <p:cNvSpPr/>
          <p:nvPr/>
        </p:nvSpPr>
        <p:spPr>
          <a:xfrm>
            <a:off x="4011497" y="6085798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795764" y="6007146"/>
            <a:ext cx="251992" cy="230832"/>
            <a:chOff x="4867678" y="3090156"/>
            <a:chExt cx="251992" cy="230832"/>
          </a:xfrm>
        </p:grpSpPr>
        <p:sp>
          <p:nvSpPr>
            <p:cNvPr id="13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999018" y="6001635"/>
            <a:ext cx="251992" cy="230832"/>
            <a:chOff x="4867678" y="3090156"/>
            <a:chExt cx="251992" cy="230832"/>
          </a:xfrm>
        </p:grpSpPr>
        <p:sp>
          <p:nvSpPr>
            <p:cNvPr id="13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06965"/>
              </p:ext>
            </p:extLst>
          </p:nvPr>
        </p:nvGraphicFramePr>
        <p:xfrm>
          <a:off x="9822663" y="540019"/>
          <a:ext cx="2195166" cy="1684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결재선 정보를 조회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선택한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구성원정보를 표시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endParaRPr lang="ko-KR" altLang="en-US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화면에 복사하여 표시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</a:t>
                      </a:r>
                      <a:r>
                        <a:rPr lang="ko-KR" altLang="en-US" sz="700" kern="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화면의 기존에 입력되어진 내용은 취소하고 </a:t>
                      </a:r>
                      <a:r>
                        <a:rPr lang="ko-KR" altLang="en-US" sz="65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붙혀넣기</a:t>
                      </a:r>
                      <a:r>
                        <a:rPr lang="ko-KR" altLang="en-US" sz="65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불러오기를 하지 않고 팝업 닫기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142" name="그룹 141"/>
          <p:cNvGrpSpPr/>
          <p:nvPr/>
        </p:nvGrpSpPr>
        <p:grpSpPr>
          <a:xfrm>
            <a:off x="8041262" y="4147784"/>
            <a:ext cx="2950119" cy="1490703"/>
            <a:chOff x="6872544" y="4197176"/>
            <a:chExt cx="2950119" cy="1490703"/>
          </a:xfrm>
        </p:grpSpPr>
        <p:sp>
          <p:nvSpPr>
            <p:cNvPr id="143" name="직사각형 142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입력하신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불러오시겠습니까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7915722" y="385661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 불러오기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일때만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가능함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47" name="Freeform 11"/>
          <p:cNvSpPr>
            <a:spLocks noChangeArrowheads="1"/>
          </p:cNvSpPr>
          <p:nvPr/>
        </p:nvSpPr>
        <p:spPr bwMode="auto">
          <a:xfrm>
            <a:off x="10787138" y="420787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8190917" y="4211497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892590" y="4080179"/>
            <a:ext cx="367408" cy="230832"/>
            <a:chOff x="4809970" y="3090156"/>
            <a:chExt cx="367408" cy="230832"/>
          </a:xfrm>
        </p:grpSpPr>
        <p:sp>
          <p:nvSpPr>
            <p:cNvPr id="15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373179" y="5153870"/>
            <a:ext cx="367408" cy="230832"/>
            <a:chOff x="4809970" y="3090156"/>
            <a:chExt cx="367408" cy="230832"/>
          </a:xfrm>
        </p:grpSpPr>
        <p:sp>
          <p:nvSpPr>
            <p:cNvPr id="16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551036" y="5156647"/>
            <a:ext cx="367408" cy="230832"/>
            <a:chOff x="4809970" y="3090156"/>
            <a:chExt cx="367408" cy="230832"/>
          </a:xfrm>
        </p:grpSpPr>
        <p:sp>
          <p:nvSpPr>
            <p:cNvPr id="16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62111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68" name="모서리가 둥근 직사각형 67"/>
          <p:cNvSpPr/>
          <p:nvPr/>
        </p:nvSpPr>
        <p:spPr>
          <a:xfrm>
            <a:off x="6832495" y="1125758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850018"/>
              </p:ext>
            </p:extLst>
          </p:nvPr>
        </p:nvGraphicFramePr>
        <p:xfrm>
          <a:off x="807064" y="4145553"/>
          <a:ext cx="6067561" cy="16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4134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2393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449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유이재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만수르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유상민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61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한만수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1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(P356710001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안철수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(P356710002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박만옥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29702"/>
                  </a:ext>
                </a:extLst>
              </a:tr>
            </a:tbl>
          </a:graphicData>
        </a:graphic>
      </p:graphicFrame>
      <p:sp>
        <p:nvSpPr>
          <p:cNvPr id="70" name="직사각형 69"/>
          <p:cNvSpPr/>
          <p:nvPr/>
        </p:nvSpPr>
        <p:spPr>
          <a:xfrm>
            <a:off x="2062960" y="531630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062961" y="5135276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062960" y="557462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062959" y="491799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062959" y="445791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062964" y="421280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81615" y="4055750"/>
            <a:ext cx="251992" cy="230832"/>
            <a:chOff x="4867678" y="3090156"/>
            <a:chExt cx="251992" cy="230832"/>
          </a:xfrm>
        </p:grpSpPr>
        <p:sp>
          <p:nvSpPr>
            <p:cNvPr id="7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79" name="직사각형 78"/>
          <p:cNvSpPr/>
          <p:nvPr/>
        </p:nvSpPr>
        <p:spPr>
          <a:xfrm>
            <a:off x="2062959" y="473535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387981" y="1268332"/>
            <a:ext cx="1307879" cy="2588278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391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6075"/>
              </p:ext>
            </p:extLst>
          </p:nvPr>
        </p:nvGraphicFramePr>
        <p:xfrm>
          <a:off x="9822663" y="540019"/>
          <a:ext cx="2195166" cy="2370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정보에서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또는 체크 박스를 선택한 여러 사용자를 드래그앤드롭으로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추가할 수 있도록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정상적으로 추가되면 사용자정보에서는 삭제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추가된 사용자를 드래그앤드롭으로 다른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이동할 수 있도록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체크박스를 통한 멀티 이동도 가능하도록 처리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추가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체크사항은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다음페이지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참조하여 처리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IE10 </a:t>
                      </a:r>
                      <a:r>
                        <a:rPr lang="ko-KR" altLang="en-US" sz="65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브라우저의 경우 드래그앤드롭 기능 구현이 불가할 경우 </a:t>
                      </a:r>
                      <a:r>
                        <a:rPr lang="en-US" altLang="ko-KR" sz="65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IE10 </a:t>
                      </a:r>
                      <a:r>
                        <a:rPr lang="ko-KR" altLang="en-US" sz="65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버전은 드래그앤드롭 기능을 생략함</a:t>
                      </a:r>
                      <a:r>
                        <a:rPr lang="en-US" altLang="ko-KR" sz="65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65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3073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589"/>
            <a:ext cx="1644931" cy="172815"/>
            <a:chOff x="5063489" y="537589"/>
            <a:chExt cx="1644931" cy="1728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308916" y="537589"/>
              <a:ext cx="89393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2.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결재선구성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6283432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107336"/>
              </p:ext>
            </p:extLst>
          </p:nvPr>
        </p:nvGraphicFramePr>
        <p:xfrm>
          <a:off x="303628" y="1876402"/>
          <a:ext cx="2250919" cy="355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18056003"/>
                    </a:ext>
                  </a:extLst>
                </a:gridCol>
                <a:gridCol w="2042639">
                  <a:extLst>
                    <a:ext uri="{9D8B030D-6E8A-4147-A177-3AD203B41FA5}">
                      <a16:colId xmlns:a16="http://schemas.microsoft.com/office/drawing/2014/main" val="453830883"/>
                    </a:ext>
                  </a:extLst>
                </a:gridCol>
              </a:tblGrid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49740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 (%ID%/%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%)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결재자지정구분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 / %</a:t>
                      </a: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8910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(P123001/CEO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기한불가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1239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박문현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(P123002/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1395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이경남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(P123003/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차장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82124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이양산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(P123004/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과장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32312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/>
                        <a:t>V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최서면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(P123005/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397365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/>
                        <a:t>V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최거제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(P123006/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사원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3640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강영업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(P123007/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영업부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75374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송중기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(P123008/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디자인실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6371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이지은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(P123009/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206950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303628" y="1282662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사용자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30054" y="1653606"/>
            <a:ext cx="4009292" cy="14487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3130054" y="1282662"/>
            <a:ext cx="128336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결재단계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- %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%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508828" y="2210247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8" name="그룹 127"/>
          <p:cNvGrpSpPr/>
          <p:nvPr/>
        </p:nvGrpSpPr>
        <p:grpSpPr>
          <a:xfrm>
            <a:off x="295776" y="1635079"/>
            <a:ext cx="2258771" cy="194762"/>
            <a:chOff x="5087887" y="864761"/>
            <a:chExt cx="2258771" cy="194762"/>
          </a:xfrm>
        </p:grpSpPr>
        <p:sp>
          <p:nvSpPr>
            <p:cNvPr id="129" name="모서리가 둥근 직사각형 128"/>
            <p:cNvSpPr/>
            <p:nvPr/>
          </p:nvSpPr>
          <p:spPr>
            <a:xfrm>
              <a:off x="5087887" y="864761"/>
              <a:ext cx="2258771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 검색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,ID,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직위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5967" y="891838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3226803" y="1706099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2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678562" y="2014498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2678176" y="2219341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7" name="Freeform 11"/>
          <p:cNvSpPr>
            <a:spLocks noChangeArrowheads="1"/>
          </p:cNvSpPr>
          <p:nvPr/>
        </p:nvSpPr>
        <p:spPr bwMode="auto">
          <a:xfrm>
            <a:off x="6868732" y="175270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8" name="모서리가 둥근 직사각형 147">
            <a:extLst>
              <a:ext uri="{FF2B5EF4-FFF2-40B4-BE49-F238E27FC236}">
                <a16:creationId xmlns:a16="http://schemas.microsoft.com/office/drawing/2014/main" id="{AF77F581-6E31-3CA1-C08B-34F1696CE656}"/>
              </a:ext>
            </a:extLst>
          </p:cNvPr>
          <p:cNvSpPr/>
          <p:nvPr/>
        </p:nvSpPr>
        <p:spPr>
          <a:xfrm>
            <a:off x="6702489" y="1345086"/>
            <a:ext cx="439616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900" dirty="0" smtClean="0"/>
              <a:t>    OFF  </a:t>
            </a:r>
            <a:endParaRPr lang="ko-KR" altLang="en-US" sz="900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BD73752-5059-A861-EF21-114C6DF082E5}"/>
              </a:ext>
            </a:extLst>
          </p:cNvPr>
          <p:cNvSpPr/>
          <p:nvPr/>
        </p:nvSpPr>
        <p:spPr>
          <a:xfrm>
            <a:off x="6708696" y="1346369"/>
            <a:ext cx="1656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s</a:t>
            </a:r>
            <a:endParaRPr lang="ko-KR" altLang="en-US" sz="9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0308D79-E0DF-6372-156E-3974C3476643}"/>
              </a:ext>
            </a:extLst>
          </p:cNvPr>
          <p:cNvSpPr/>
          <p:nvPr/>
        </p:nvSpPr>
        <p:spPr>
          <a:xfrm>
            <a:off x="5893599" y="1332508"/>
            <a:ext cx="8119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900" b="1" dirty="0" err="1" smtClean="0">
                <a:latin typeface="+mn-ea"/>
              </a:rPr>
              <a:t>승인자</a:t>
            </a:r>
            <a:r>
              <a:rPr lang="ko-KR" altLang="en-US" sz="900" b="1" dirty="0" smtClean="0">
                <a:latin typeface="+mn-ea"/>
              </a:rPr>
              <a:t> 지정</a:t>
            </a:r>
            <a:endParaRPr lang="en-US" altLang="ko-KR" sz="900" b="1" dirty="0">
              <a:latin typeface="+mn-ea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3174045" y="1952720"/>
            <a:ext cx="1271976" cy="1102750"/>
            <a:chOff x="7294667" y="3583609"/>
            <a:chExt cx="1271976" cy="1102750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7338647" y="3583609"/>
              <a:ext cx="1227995" cy="1102750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직사각형 170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53" name="직사각형 252"/>
          <p:cNvSpPr/>
          <p:nvPr/>
        </p:nvSpPr>
        <p:spPr>
          <a:xfrm>
            <a:off x="3399674" y="203111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461739" y="524442"/>
            <a:ext cx="2222154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</a:t>
            </a: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인터렉션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652389" y="4927593"/>
            <a:ext cx="1793631" cy="2765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err="1" smtClean="0">
                <a:solidFill>
                  <a:schemeClr val="tx1"/>
                </a:solidFill>
              </a:rPr>
              <a:t>최거제님</a:t>
            </a:r>
            <a:r>
              <a:rPr lang="ko-KR" altLang="en-US" sz="900" b="1" dirty="0" smtClean="0">
                <a:solidFill>
                  <a:schemeClr val="tx1"/>
                </a:solidFill>
              </a:rPr>
              <a:t> 외 </a:t>
            </a:r>
            <a:r>
              <a:rPr lang="en-US" altLang="ko-KR" sz="900" b="1" dirty="0" smtClean="0">
                <a:solidFill>
                  <a:schemeClr val="tx1"/>
                </a:solidFill>
              </a:rPr>
              <a:t>1</a:t>
            </a:r>
            <a:r>
              <a:rPr lang="ko-KR" altLang="en-US" sz="900" b="1" dirty="0" smtClean="0">
                <a:solidFill>
                  <a:schemeClr val="tx1"/>
                </a:solidFill>
              </a:rPr>
              <a:t>명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3130054" y="3218956"/>
            <a:ext cx="4009292" cy="1500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TextBox 156"/>
          <p:cNvSpPr txBox="1"/>
          <p:nvPr/>
        </p:nvSpPr>
        <p:spPr>
          <a:xfrm>
            <a:off x="3226803" y="3293879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1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58" name="Freeform 11"/>
          <p:cNvSpPr>
            <a:spLocks noChangeArrowheads="1"/>
          </p:cNvSpPr>
          <p:nvPr/>
        </p:nvSpPr>
        <p:spPr bwMode="auto">
          <a:xfrm>
            <a:off x="6868732" y="335268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굽은 화살표 2"/>
          <p:cNvSpPr/>
          <p:nvPr/>
        </p:nvSpPr>
        <p:spPr>
          <a:xfrm rot="9721110" flipH="1">
            <a:off x="2279425" y="4155225"/>
            <a:ext cx="324870" cy="1023825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9" name="굽은 화살표 158"/>
          <p:cNvSpPr/>
          <p:nvPr/>
        </p:nvSpPr>
        <p:spPr>
          <a:xfrm rot="2449071" flipH="1">
            <a:off x="4427731" y="4069372"/>
            <a:ext cx="324870" cy="1023825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2678176" y="3668162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2678176" y="3854475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확인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2678176" y="4040788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003330" y="4104481"/>
            <a:ext cx="251992" cy="230832"/>
            <a:chOff x="4867678" y="3090156"/>
            <a:chExt cx="251992" cy="230832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547003" y="2302229"/>
            <a:ext cx="230832" cy="251992"/>
            <a:chOff x="4878258" y="3079576"/>
            <a:chExt cx="230832" cy="251992"/>
          </a:xfrm>
        </p:grpSpPr>
        <p:sp>
          <p:nvSpPr>
            <p:cNvPr id="2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0" name="모서리가 둥근 직사각형 269"/>
          <p:cNvSpPr/>
          <p:nvPr/>
        </p:nvSpPr>
        <p:spPr>
          <a:xfrm>
            <a:off x="3833577" y="3350866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1" name="모서리가 둥근 직사각형 270"/>
          <p:cNvSpPr/>
          <p:nvPr/>
        </p:nvSpPr>
        <p:spPr>
          <a:xfrm>
            <a:off x="4194788" y="241719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4" name="그룹 273"/>
          <p:cNvGrpSpPr/>
          <p:nvPr/>
        </p:nvGrpSpPr>
        <p:grpSpPr>
          <a:xfrm>
            <a:off x="7577388" y="3112049"/>
            <a:ext cx="1300356" cy="673088"/>
            <a:chOff x="7338646" y="3583610"/>
            <a:chExt cx="1300356" cy="673088"/>
          </a:xfrm>
        </p:grpSpPr>
        <p:sp>
          <p:nvSpPr>
            <p:cNvPr id="275" name="모서리가 둥근 직사각형 274"/>
            <p:cNvSpPr/>
            <p:nvPr/>
          </p:nvSpPr>
          <p:spPr>
            <a:xfrm>
              <a:off x="7338647" y="3583610"/>
              <a:ext cx="1227995" cy="673088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6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직사각형 277"/>
            <p:cNvSpPr/>
            <p:nvPr/>
          </p:nvSpPr>
          <p:spPr>
            <a:xfrm>
              <a:off x="7338646" y="3830798"/>
              <a:ext cx="130035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 </a:t>
              </a:r>
              <a:r>
                <a:rPr lang="ko-KR" altLang="en-US" sz="800" b="1" dirty="0" smtClean="0"/>
                <a:t>외 </a:t>
              </a:r>
              <a:r>
                <a:rPr lang="en-US" altLang="ko-KR" sz="800" b="1" dirty="0" smtClean="0"/>
                <a:t>%X%</a:t>
              </a:r>
              <a:r>
                <a:rPr lang="ko-KR" altLang="en-US" sz="800" b="1" dirty="0" smtClean="0"/>
                <a:t>명</a:t>
              </a:r>
              <a:endParaRPr lang="ko-KR" altLang="en-US" sz="800" dirty="0"/>
            </a:p>
          </p:txBody>
        </p:sp>
      </p:grpSp>
      <p:sp>
        <p:nvSpPr>
          <p:cNvPr id="282" name="TextBox 281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577388" y="2938583"/>
            <a:ext cx="1227996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멀티 선택 이동 </a:t>
            </a:r>
            <a:r>
              <a:rPr kumimoji="1" lang="ko-KR" altLang="en-US" sz="700" dirty="0" smtClean="0">
                <a:solidFill>
                  <a:schemeClr val="bg1"/>
                </a:solidFill>
                <a:ea typeface="맑은 고딕"/>
              </a:rPr>
              <a:t>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2646465" y="5543775"/>
            <a:ext cx="1793631" cy="350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 err="1">
                <a:solidFill>
                  <a:schemeClr val="tx1"/>
                </a:solidFill>
              </a:rPr>
              <a:t>이경남</a:t>
            </a:r>
            <a:r>
              <a:rPr lang="en-US" altLang="ko-KR" sz="700" b="1" dirty="0">
                <a:solidFill>
                  <a:schemeClr val="tx1"/>
                </a:solidFill>
              </a:rPr>
              <a:t>(P123003/</a:t>
            </a:r>
            <a:r>
              <a:rPr lang="ko-KR" altLang="en-US" sz="700" b="1" dirty="0" err="1">
                <a:solidFill>
                  <a:schemeClr val="tx1"/>
                </a:solidFill>
              </a:rPr>
              <a:t>경영지원부</a:t>
            </a:r>
            <a:r>
              <a:rPr lang="en-US" altLang="ko-KR" sz="700" b="1" dirty="0">
                <a:solidFill>
                  <a:schemeClr val="tx1"/>
                </a:solidFill>
              </a:rPr>
              <a:t>/</a:t>
            </a:r>
            <a:r>
              <a:rPr lang="ko-KR" altLang="en-US" sz="700" b="1" dirty="0">
                <a:solidFill>
                  <a:schemeClr val="tx1"/>
                </a:solidFill>
              </a:rPr>
              <a:t>차장</a:t>
            </a:r>
            <a:r>
              <a:rPr lang="en-US" altLang="ko-KR" sz="700" b="1" dirty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700" b="1" dirty="0" err="1">
                <a:solidFill>
                  <a:schemeClr val="tx1"/>
                </a:solidFill>
              </a:rPr>
              <a:t>기안불가</a:t>
            </a:r>
            <a:r>
              <a:rPr lang="ko-KR" altLang="en-US" sz="700" b="1" dirty="0">
                <a:solidFill>
                  <a:schemeClr val="tx1"/>
                </a:solidFill>
              </a:rPr>
              <a:t> </a:t>
            </a:r>
            <a:r>
              <a:rPr lang="en-US" altLang="ko-KR" sz="700" b="1" dirty="0">
                <a:solidFill>
                  <a:schemeClr val="tx1"/>
                </a:solidFill>
              </a:rPr>
              <a:t>/ </a:t>
            </a:r>
            <a:r>
              <a:rPr lang="ko-KR" altLang="en-US" sz="700" b="1" dirty="0">
                <a:solidFill>
                  <a:schemeClr val="tx1"/>
                </a:solidFill>
              </a:rPr>
              <a:t>디지털</a:t>
            </a:r>
            <a:r>
              <a:rPr lang="en-US" altLang="ko-KR" sz="700" b="1" dirty="0">
                <a:solidFill>
                  <a:schemeClr val="tx1"/>
                </a:solidFill>
              </a:rPr>
              <a:t>OTP</a:t>
            </a:r>
            <a:endParaRPr lang="en-US" altLang="ko-KR" sz="700" b="1" dirty="0" smtClean="0">
              <a:solidFill>
                <a:schemeClr val="tx1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668503" y="4786360"/>
            <a:ext cx="1227996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멀티 선택 추가 </a:t>
            </a:r>
            <a:r>
              <a:rPr kumimoji="1" lang="ko-KR" altLang="en-US" sz="700" dirty="0" smtClean="0">
                <a:solidFill>
                  <a:schemeClr val="bg1"/>
                </a:solidFill>
                <a:ea typeface="맑은 고딕"/>
              </a:rPr>
              <a:t>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640970" y="5401262"/>
            <a:ext cx="1227996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>
                <a:solidFill>
                  <a:schemeClr val="bg1"/>
                </a:solidFill>
                <a:ea typeface="맑은 고딕"/>
              </a:rPr>
              <a:t>  단건 선택 추가 </a:t>
            </a:r>
            <a:r>
              <a:rPr kumimoji="1" lang="ko-KR" altLang="en-US" sz="700" dirty="0" smtClean="0">
                <a:solidFill>
                  <a:schemeClr val="bg1"/>
                </a:solidFill>
                <a:ea typeface="맑은 고딕"/>
              </a:rPr>
              <a:t>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861432" y="2603414"/>
            <a:ext cx="1032167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단건 선택 이동 </a:t>
            </a:r>
            <a:r>
              <a:rPr kumimoji="1" lang="ko-KR" altLang="en-US" sz="700" dirty="0" smtClean="0">
                <a:solidFill>
                  <a:schemeClr val="bg1"/>
                </a:solidFill>
                <a:ea typeface="맑은 고딕"/>
              </a:rPr>
              <a:t>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graphicFrame>
        <p:nvGraphicFramePr>
          <p:cNvPr id="288" name="표 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658290"/>
              </p:ext>
            </p:extLst>
          </p:nvPr>
        </p:nvGraphicFramePr>
        <p:xfrm>
          <a:off x="9822663" y="4586246"/>
          <a:ext cx="2195166" cy="126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1624631141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134630469"/>
                    </a:ext>
                  </a:extLst>
                </a:gridCol>
              </a:tblGrid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가</a:t>
                      </a: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 최대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 까지 가능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표신된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단계는 기안 단계를 포함함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고객에게 등록된 사용자 수에 따라 선택 가능한 최대 단계는 제한되어 선택할 수 없도록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필요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포함 사용자 인원이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명이면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단계까지만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가능함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기안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(3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-&gt;(4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008668"/>
                  </a:ext>
                </a:extLst>
              </a:tr>
            </a:tbl>
          </a:graphicData>
        </a:graphic>
      </p:graphicFrame>
      <p:sp>
        <p:nvSpPr>
          <p:cNvPr id="289" name="TextBox 28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9822663" y="4450798"/>
            <a:ext cx="2195166" cy="12252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결재단계 추가설명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3207657" y="2883827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3555006" y="2870868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419" y="2739485"/>
            <a:ext cx="1274174" cy="1140051"/>
          </a:xfrm>
          <a:prstGeom prst="rect">
            <a:avLst/>
          </a:prstGeom>
        </p:spPr>
      </p:pic>
      <p:sp>
        <p:nvSpPr>
          <p:cNvPr id="261" name="굽은 화살표 260"/>
          <p:cNvSpPr/>
          <p:nvPr/>
        </p:nvSpPr>
        <p:spPr>
          <a:xfrm rot="7218988">
            <a:off x="4447737" y="2337489"/>
            <a:ext cx="269106" cy="608915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3" name="굽은 화살표 262"/>
          <p:cNvSpPr/>
          <p:nvPr/>
        </p:nvSpPr>
        <p:spPr>
          <a:xfrm rot="7218988">
            <a:off x="5800220" y="3531878"/>
            <a:ext cx="269106" cy="608915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구성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75" name="표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11553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6" name="모서리가 둥근 직사각형 75"/>
          <p:cNvSpPr/>
          <p:nvPr/>
        </p:nvSpPr>
        <p:spPr>
          <a:xfrm>
            <a:off x="2262153" y="1857961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IE10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브라우저 드래그앤드롭 기능 검토 후 적용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33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22663" y="540019"/>
          <a:ext cx="2195166" cy="1783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정보에서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또는 체크 박스를 선택한 여러 사용자를 드래그앤드롭으로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추가할 수 있도록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추가된 사용자를 드래그앤드롭으로 다른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이동할 수 있도록 처리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체크박스를 통한 멀티 이동도 가능하도록 처리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추가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체크사항은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다음페이지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참조하여 처리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98850" y="930742"/>
            <a:ext cx="4038688" cy="3882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395599" y="983236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2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47" name="Freeform 11"/>
          <p:cNvSpPr>
            <a:spLocks noChangeArrowheads="1"/>
          </p:cNvSpPr>
          <p:nvPr/>
        </p:nvSpPr>
        <p:spPr bwMode="auto">
          <a:xfrm>
            <a:off x="4037528" y="1029845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342841" y="1229860"/>
            <a:ext cx="1271976" cy="1134993"/>
            <a:chOff x="7294667" y="3583609"/>
            <a:chExt cx="1271976" cy="1134993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7338647" y="3583609"/>
              <a:ext cx="1227995" cy="1134993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직사각형 170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53" name="직사각형 252"/>
          <p:cNvSpPr/>
          <p:nvPr/>
        </p:nvSpPr>
        <p:spPr>
          <a:xfrm>
            <a:off x="568470" y="130825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71" name="모서리가 둥근 직사각형 270"/>
          <p:cNvSpPr/>
          <p:nvPr/>
        </p:nvSpPr>
        <p:spPr>
          <a:xfrm>
            <a:off x="1363584" y="169433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88" name="표 287"/>
          <p:cNvGraphicFramePr>
            <a:graphicFrameLocks noGrp="1"/>
          </p:cNvGraphicFramePr>
          <p:nvPr/>
        </p:nvGraphicFramePr>
        <p:xfrm>
          <a:off x="9822663" y="2739145"/>
          <a:ext cx="2195166" cy="126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1624631141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134630469"/>
                    </a:ext>
                  </a:extLst>
                </a:gridCol>
              </a:tblGrid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가</a:t>
                      </a: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 최대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 까지 가능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표신된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단계는 기안 단계를 포함함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고객에게 등록된 사용자 수에 따라 선택 가능한 최대 단계는 제한되어 선택할 수 없도록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Disable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필요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포함 사용자 인원이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명이면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단계까지만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가능함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기안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(3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)-&gt;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-&gt;(4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008668"/>
                  </a:ext>
                </a:extLst>
              </a:tr>
            </a:tbl>
          </a:graphicData>
        </a:graphic>
      </p:graphicFrame>
      <p:sp>
        <p:nvSpPr>
          <p:cNvPr id="289" name="TextBox 28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9822663" y="2603697"/>
            <a:ext cx="2195166" cy="12252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결재단계 추가설명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1658796" y="1229860"/>
            <a:ext cx="1271976" cy="1129730"/>
            <a:chOff x="7294667" y="3583609"/>
            <a:chExt cx="1271976" cy="1129730"/>
          </a:xfrm>
        </p:grpSpPr>
        <p:sp>
          <p:nvSpPr>
            <p:cNvPr id="74" name="모서리가 둥근 직사각형 73"/>
            <p:cNvSpPr/>
            <p:nvPr/>
          </p:nvSpPr>
          <p:spPr>
            <a:xfrm>
              <a:off x="7338647" y="3583609"/>
              <a:ext cx="1227995" cy="1129730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78" name="직선 연결선 77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81" name="직사각형 80"/>
          <p:cNvSpPr/>
          <p:nvPr/>
        </p:nvSpPr>
        <p:spPr>
          <a:xfrm>
            <a:off x="1884425" y="130825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2679539" y="169433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2959340" y="1228076"/>
            <a:ext cx="1271976" cy="1136121"/>
            <a:chOff x="7294667" y="3583609"/>
            <a:chExt cx="1271976" cy="1136121"/>
          </a:xfrm>
        </p:grpSpPr>
        <p:sp>
          <p:nvSpPr>
            <p:cNvPr id="84" name="모서리가 둥근 직사각형 83"/>
            <p:cNvSpPr/>
            <p:nvPr/>
          </p:nvSpPr>
          <p:spPr>
            <a:xfrm>
              <a:off x="7338647" y="3583609"/>
              <a:ext cx="1227995" cy="1136121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88" name="직선 연결선 87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직사각형 88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3184969" y="1306474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980083" y="169255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3" name="그룹 92"/>
          <p:cNvGrpSpPr/>
          <p:nvPr/>
        </p:nvGrpSpPr>
        <p:grpSpPr>
          <a:xfrm>
            <a:off x="337794" y="2441699"/>
            <a:ext cx="1271976" cy="1092814"/>
            <a:chOff x="7294667" y="3583609"/>
            <a:chExt cx="1271976" cy="1092814"/>
          </a:xfrm>
        </p:grpSpPr>
        <p:sp>
          <p:nvSpPr>
            <p:cNvPr id="94" name="모서리가 둥근 직사각형 93"/>
            <p:cNvSpPr/>
            <p:nvPr/>
          </p:nvSpPr>
          <p:spPr>
            <a:xfrm>
              <a:off x="7338647" y="3583609"/>
              <a:ext cx="1227995" cy="109281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98" name="직선 연결선 97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직사각형 98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563423" y="2520097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1358537" y="2906175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3" name="그룹 102"/>
          <p:cNvGrpSpPr/>
          <p:nvPr/>
        </p:nvGrpSpPr>
        <p:grpSpPr>
          <a:xfrm>
            <a:off x="1653749" y="2441699"/>
            <a:ext cx="1271976" cy="1091482"/>
            <a:chOff x="7294667" y="3583609"/>
            <a:chExt cx="1271976" cy="1091482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7338647" y="3583609"/>
              <a:ext cx="1227995" cy="109148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08" name="직선 연결선 107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직사각형 109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13" name="직사각형 112"/>
          <p:cNvSpPr/>
          <p:nvPr/>
        </p:nvSpPr>
        <p:spPr>
          <a:xfrm>
            <a:off x="1879378" y="2520097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2674492" y="2906175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2954293" y="2439915"/>
            <a:ext cx="1271976" cy="1093266"/>
            <a:chOff x="7294667" y="3583609"/>
            <a:chExt cx="1271976" cy="1093266"/>
          </a:xfrm>
        </p:grpSpPr>
        <p:sp>
          <p:nvSpPr>
            <p:cNvPr id="116" name="모서리가 둥근 직사각형 115"/>
            <p:cNvSpPr/>
            <p:nvPr/>
          </p:nvSpPr>
          <p:spPr>
            <a:xfrm>
              <a:off x="7338647" y="3583609"/>
              <a:ext cx="1227995" cy="1093266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20" name="직선 연결선 119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직사각형 120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23" name="직사각형 122"/>
          <p:cNvSpPr/>
          <p:nvPr/>
        </p:nvSpPr>
        <p:spPr>
          <a:xfrm>
            <a:off x="3179922" y="2518313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3975036" y="2904391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329135" y="3616594"/>
            <a:ext cx="1271976" cy="1109649"/>
            <a:chOff x="7294667" y="3583609"/>
            <a:chExt cx="1271976" cy="1109649"/>
          </a:xfrm>
        </p:grpSpPr>
        <p:sp>
          <p:nvSpPr>
            <p:cNvPr id="126" name="모서리가 둥근 직사각형 125"/>
            <p:cNvSpPr/>
            <p:nvPr/>
          </p:nvSpPr>
          <p:spPr>
            <a:xfrm>
              <a:off x="7338647" y="3583609"/>
              <a:ext cx="1227995" cy="1109649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35" name="직선 연결선 134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직사각형 135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38" name="직사각형 137"/>
          <p:cNvSpPr/>
          <p:nvPr/>
        </p:nvSpPr>
        <p:spPr>
          <a:xfrm>
            <a:off x="554764" y="369499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1349878" y="408107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1645090" y="3616594"/>
            <a:ext cx="1271976" cy="1103071"/>
            <a:chOff x="7294667" y="3583609"/>
            <a:chExt cx="1271976" cy="1103071"/>
          </a:xfrm>
        </p:grpSpPr>
        <p:sp>
          <p:nvSpPr>
            <p:cNvPr id="143" name="모서리가 둥근 직사각형 142"/>
            <p:cNvSpPr/>
            <p:nvPr/>
          </p:nvSpPr>
          <p:spPr>
            <a:xfrm>
              <a:off x="7338647" y="3583609"/>
              <a:ext cx="1227995" cy="1103071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52" name="직선 연결선 151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직사각형 152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55" name="직사각형 154"/>
          <p:cNvSpPr/>
          <p:nvPr/>
        </p:nvSpPr>
        <p:spPr>
          <a:xfrm>
            <a:off x="1870719" y="369499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2665833" y="408107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2945634" y="3614810"/>
            <a:ext cx="1271976" cy="1109649"/>
            <a:chOff x="7294667" y="3583609"/>
            <a:chExt cx="1271976" cy="1109649"/>
          </a:xfrm>
        </p:grpSpPr>
        <p:sp>
          <p:nvSpPr>
            <p:cNvPr id="164" name="모서리가 둥근 직사각형 163"/>
            <p:cNvSpPr/>
            <p:nvPr/>
          </p:nvSpPr>
          <p:spPr>
            <a:xfrm>
              <a:off x="7338647" y="3583609"/>
              <a:ext cx="1227995" cy="1109649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69" name="직선 연결선 168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직사각형 169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74" name="직사각형 173"/>
          <p:cNvSpPr/>
          <p:nvPr/>
        </p:nvSpPr>
        <p:spPr>
          <a:xfrm>
            <a:off x="3171263" y="369320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3966377" y="407928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298850" y="5152292"/>
            <a:ext cx="10040904" cy="15141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TextBox 176"/>
          <p:cNvSpPr txBox="1"/>
          <p:nvPr/>
        </p:nvSpPr>
        <p:spPr>
          <a:xfrm>
            <a:off x="395599" y="5137443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2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79" name="Freeform 11"/>
          <p:cNvSpPr>
            <a:spLocks noChangeArrowheads="1"/>
          </p:cNvSpPr>
          <p:nvPr/>
        </p:nvSpPr>
        <p:spPr bwMode="auto">
          <a:xfrm>
            <a:off x="10057328" y="519624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0" name="그룹 179"/>
          <p:cNvGrpSpPr/>
          <p:nvPr/>
        </p:nvGrpSpPr>
        <p:grpSpPr>
          <a:xfrm>
            <a:off x="379845" y="5447124"/>
            <a:ext cx="1271976" cy="1103130"/>
            <a:chOff x="7294667" y="3583609"/>
            <a:chExt cx="1271976" cy="1103130"/>
          </a:xfrm>
        </p:grpSpPr>
        <p:sp>
          <p:nvSpPr>
            <p:cNvPr id="181" name="모서리가 둥근 직사각형 180"/>
            <p:cNvSpPr/>
            <p:nvPr/>
          </p:nvSpPr>
          <p:spPr>
            <a:xfrm>
              <a:off x="7338647" y="3583609"/>
              <a:ext cx="1227995" cy="1103130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85" name="직선 연결선 184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직사각형 185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88" name="직사각형 187"/>
          <p:cNvSpPr/>
          <p:nvPr/>
        </p:nvSpPr>
        <p:spPr>
          <a:xfrm>
            <a:off x="605474" y="552552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1400588" y="591160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0" name="그룹 189"/>
          <p:cNvGrpSpPr/>
          <p:nvPr/>
        </p:nvGrpSpPr>
        <p:grpSpPr>
          <a:xfrm>
            <a:off x="1695800" y="5447124"/>
            <a:ext cx="1271976" cy="1103130"/>
            <a:chOff x="7294667" y="3583609"/>
            <a:chExt cx="1271976" cy="1103130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7338647" y="3583609"/>
              <a:ext cx="1227995" cy="1103130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95" name="직선 연결선 194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직사각형 195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198" name="직사각형 197"/>
          <p:cNvSpPr/>
          <p:nvPr/>
        </p:nvSpPr>
        <p:spPr>
          <a:xfrm>
            <a:off x="1921429" y="552552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2716543" y="591160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00" name="그룹 199"/>
          <p:cNvGrpSpPr/>
          <p:nvPr/>
        </p:nvGrpSpPr>
        <p:grpSpPr>
          <a:xfrm>
            <a:off x="2996344" y="5445340"/>
            <a:ext cx="1271976" cy="1104914"/>
            <a:chOff x="7294667" y="3583609"/>
            <a:chExt cx="1271976" cy="1104914"/>
          </a:xfrm>
        </p:grpSpPr>
        <p:sp>
          <p:nvSpPr>
            <p:cNvPr id="201" name="모서리가 둥근 직사각형 200"/>
            <p:cNvSpPr/>
            <p:nvPr/>
          </p:nvSpPr>
          <p:spPr>
            <a:xfrm>
              <a:off x="7338647" y="3583609"/>
              <a:ext cx="1227995" cy="110491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04" name="직사각형 203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05" name="직선 연결선 204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직사각형 205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07" name="직사각형 206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08" name="직사각형 207"/>
          <p:cNvSpPr/>
          <p:nvPr/>
        </p:nvSpPr>
        <p:spPr>
          <a:xfrm>
            <a:off x="3221973" y="552373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9" name="모서리가 둥근 직사각형 208"/>
          <p:cNvSpPr/>
          <p:nvPr/>
        </p:nvSpPr>
        <p:spPr>
          <a:xfrm>
            <a:off x="4017087" y="590981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4328779" y="5445340"/>
            <a:ext cx="1271976" cy="1104914"/>
            <a:chOff x="7294667" y="3583609"/>
            <a:chExt cx="1271976" cy="1104914"/>
          </a:xfrm>
        </p:grpSpPr>
        <p:sp>
          <p:nvSpPr>
            <p:cNvPr id="211" name="모서리가 둥근 직사각형 210"/>
            <p:cNvSpPr/>
            <p:nvPr/>
          </p:nvSpPr>
          <p:spPr>
            <a:xfrm>
              <a:off x="7338647" y="3583609"/>
              <a:ext cx="1227995" cy="110491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" name="직사각형 212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15" name="직선 연결선 214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직사각형 215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18" name="직사각형 217"/>
          <p:cNvSpPr/>
          <p:nvPr/>
        </p:nvSpPr>
        <p:spPr>
          <a:xfrm>
            <a:off x="4554408" y="552373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349522" y="590981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0" name="그룹 219"/>
          <p:cNvGrpSpPr/>
          <p:nvPr/>
        </p:nvGrpSpPr>
        <p:grpSpPr>
          <a:xfrm>
            <a:off x="5644734" y="5445340"/>
            <a:ext cx="1271976" cy="1104914"/>
            <a:chOff x="7294667" y="3583609"/>
            <a:chExt cx="1271976" cy="1104914"/>
          </a:xfrm>
        </p:grpSpPr>
        <p:sp>
          <p:nvSpPr>
            <p:cNvPr id="222" name="모서리가 둥근 직사각형 221"/>
            <p:cNvSpPr/>
            <p:nvPr/>
          </p:nvSpPr>
          <p:spPr>
            <a:xfrm>
              <a:off x="7338647" y="3583609"/>
              <a:ext cx="1227995" cy="110491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" name="직사각형 223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26" name="직선 연결선 225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29" name="직사각형 228"/>
          <p:cNvSpPr/>
          <p:nvPr/>
        </p:nvSpPr>
        <p:spPr>
          <a:xfrm>
            <a:off x="5870363" y="552373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6665477" y="590981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1" name="그룹 230"/>
          <p:cNvGrpSpPr/>
          <p:nvPr/>
        </p:nvGrpSpPr>
        <p:grpSpPr>
          <a:xfrm>
            <a:off x="6945278" y="5443556"/>
            <a:ext cx="1271976" cy="1106698"/>
            <a:chOff x="7294667" y="3583609"/>
            <a:chExt cx="1271976" cy="1106698"/>
          </a:xfrm>
        </p:grpSpPr>
        <p:sp>
          <p:nvSpPr>
            <p:cNvPr id="232" name="모서리가 둥근 직사각형 231"/>
            <p:cNvSpPr/>
            <p:nvPr/>
          </p:nvSpPr>
          <p:spPr>
            <a:xfrm>
              <a:off x="7338647" y="3583609"/>
              <a:ext cx="1227995" cy="1106698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" name="직사각형 233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36" name="직선 연결선 235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직사각형 236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39" name="직사각형 238"/>
          <p:cNvSpPr/>
          <p:nvPr/>
        </p:nvSpPr>
        <p:spPr>
          <a:xfrm>
            <a:off x="7170907" y="5521954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7966021" y="590803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43" name="그룹 242"/>
          <p:cNvGrpSpPr/>
          <p:nvPr/>
        </p:nvGrpSpPr>
        <p:grpSpPr>
          <a:xfrm>
            <a:off x="8255605" y="5432586"/>
            <a:ext cx="1271976" cy="1125797"/>
            <a:chOff x="7294667" y="3583609"/>
            <a:chExt cx="1271976" cy="1125797"/>
          </a:xfrm>
        </p:grpSpPr>
        <p:sp>
          <p:nvSpPr>
            <p:cNvPr id="244" name="모서리가 둥근 직사각형 243"/>
            <p:cNvSpPr/>
            <p:nvPr/>
          </p:nvSpPr>
          <p:spPr>
            <a:xfrm>
              <a:off x="7338647" y="3583609"/>
              <a:ext cx="1227995" cy="1125797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48" name="직선 연결선 247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직사각형 248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50" name="직사각형 249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51" name="직사각형 250"/>
          <p:cNvSpPr/>
          <p:nvPr/>
        </p:nvSpPr>
        <p:spPr>
          <a:xfrm>
            <a:off x="8481234" y="5510984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9276348" y="589706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54" name="그룹 253"/>
          <p:cNvGrpSpPr/>
          <p:nvPr/>
        </p:nvGrpSpPr>
        <p:grpSpPr>
          <a:xfrm>
            <a:off x="9571560" y="5432586"/>
            <a:ext cx="1271976" cy="1105692"/>
            <a:chOff x="7294667" y="3583609"/>
            <a:chExt cx="1271976" cy="1105692"/>
          </a:xfrm>
        </p:grpSpPr>
        <p:sp>
          <p:nvSpPr>
            <p:cNvPr id="255" name="모서리가 둥근 직사각형 254"/>
            <p:cNvSpPr/>
            <p:nvPr/>
          </p:nvSpPr>
          <p:spPr>
            <a:xfrm>
              <a:off x="7338647" y="3583609"/>
              <a:ext cx="1227995" cy="110569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58" name="직사각형 257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59" name="직선 연결선 258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직사각형 259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262" name="직사각형 26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73" name="직사각형 272"/>
          <p:cNvSpPr/>
          <p:nvPr/>
        </p:nvSpPr>
        <p:spPr>
          <a:xfrm>
            <a:off x="9797189" y="5510984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77" name="모서리가 둥근 직사각형 276"/>
          <p:cNvSpPr/>
          <p:nvPr/>
        </p:nvSpPr>
        <p:spPr>
          <a:xfrm>
            <a:off x="10592303" y="589706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9" name="직사각형 278"/>
          <p:cNvSpPr/>
          <p:nvPr/>
        </p:nvSpPr>
        <p:spPr>
          <a:xfrm>
            <a:off x="290211" y="6609016"/>
            <a:ext cx="660010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직사각형 279"/>
          <p:cNvSpPr/>
          <p:nvPr/>
        </p:nvSpPr>
        <p:spPr>
          <a:xfrm>
            <a:off x="252455" y="6516511"/>
            <a:ext cx="10274868" cy="250379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7277798" y="6538278"/>
            <a:ext cx="13089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sz="900" dirty="0" err="1" smtClean="0"/>
              <a:t>가로스크롤</a:t>
            </a:r>
            <a:r>
              <a:rPr lang="ko-KR" altLang="en-US" sz="900" dirty="0" smtClean="0"/>
              <a:t> 처리</a:t>
            </a:r>
            <a:endParaRPr lang="ko-KR" altLang="en-US" sz="900" dirty="0"/>
          </a:p>
        </p:txBody>
      </p:sp>
      <p:sp>
        <p:nvSpPr>
          <p:cNvPr id="8" name="직사각형 7"/>
          <p:cNvSpPr/>
          <p:nvPr/>
        </p:nvSpPr>
        <p:spPr>
          <a:xfrm>
            <a:off x="3428936" y="479645"/>
            <a:ext cx="912287" cy="398585"/>
          </a:xfrm>
          <a:prstGeom prst="rect">
            <a:avLst/>
          </a:prstGeom>
          <a:solidFill>
            <a:srgbClr val="FF0000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+mn-ea"/>
              </a:rPr>
              <a:t>1</a:t>
            </a:r>
            <a:r>
              <a:rPr lang="ko-KR" altLang="en-US" sz="1400" dirty="0" smtClean="0">
                <a:latin typeface="+mn-ea"/>
              </a:rPr>
              <a:t>안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9427467" y="4733000"/>
            <a:ext cx="912287" cy="398585"/>
          </a:xfrm>
          <a:prstGeom prst="rect">
            <a:avLst/>
          </a:prstGeom>
          <a:solidFill>
            <a:srgbClr val="FF0000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+mn-ea"/>
              </a:rPr>
              <a:t>2</a:t>
            </a:r>
            <a:r>
              <a:rPr lang="ko-KR" altLang="en-US" sz="1400" dirty="0" smtClean="0">
                <a:latin typeface="+mn-ea"/>
              </a:rPr>
              <a:t>안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91" name="오른쪽 중괄호 290"/>
          <p:cNvSpPr/>
          <p:nvPr/>
        </p:nvSpPr>
        <p:spPr>
          <a:xfrm>
            <a:off x="4400216" y="1338169"/>
            <a:ext cx="419739" cy="3015723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TextBox 291"/>
          <p:cNvSpPr txBox="1"/>
          <p:nvPr/>
        </p:nvSpPr>
        <p:spPr>
          <a:xfrm>
            <a:off x="4854852" y="2892271"/>
            <a:ext cx="1179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en-US" altLang="ko-KR" sz="1000" dirty="0" smtClean="0"/>
              <a:t>3X3 </a:t>
            </a:r>
            <a:r>
              <a:rPr lang="ko-KR" altLang="en-US" sz="1000" dirty="0" smtClean="0"/>
              <a:t>배열로 </a:t>
            </a:r>
            <a:endParaRPr lang="en-US" altLang="ko-KR" sz="1000" dirty="0" smtClean="0"/>
          </a:p>
          <a:p>
            <a:r>
              <a:rPr lang="ko-KR" altLang="en-US" sz="1000" dirty="0" smtClean="0"/>
              <a:t>총 </a:t>
            </a:r>
            <a:r>
              <a:rPr lang="en-US" altLang="ko-KR" sz="1000" dirty="0" smtClean="0"/>
              <a:t>9</a:t>
            </a:r>
            <a:r>
              <a:rPr lang="ko-KR" altLang="en-US" sz="1000" dirty="0" smtClean="0"/>
              <a:t>명 표시 처리</a:t>
            </a:r>
            <a:endParaRPr lang="ko-KR" altLang="en-US" sz="1000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461739" y="524442"/>
            <a:ext cx="2222154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결재단계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사용자 표시 방안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275" name="직선 연결선 274"/>
          <p:cNvCxnSpPr/>
          <p:nvPr/>
        </p:nvCxnSpPr>
        <p:spPr>
          <a:xfrm>
            <a:off x="368671" y="4547006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/>
          <p:cNvSpPr/>
          <p:nvPr/>
        </p:nvSpPr>
        <p:spPr>
          <a:xfrm>
            <a:off x="716020" y="4534047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78" name="직선 연결선 277"/>
          <p:cNvCxnSpPr/>
          <p:nvPr/>
        </p:nvCxnSpPr>
        <p:spPr>
          <a:xfrm>
            <a:off x="1670931" y="4546926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직사각형 281"/>
          <p:cNvSpPr/>
          <p:nvPr/>
        </p:nvSpPr>
        <p:spPr>
          <a:xfrm>
            <a:off x="2018280" y="4533967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83" name="직선 연결선 282"/>
          <p:cNvCxnSpPr/>
          <p:nvPr/>
        </p:nvCxnSpPr>
        <p:spPr>
          <a:xfrm>
            <a:off x="3003279" y="4564850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직사각형 283"/>
          <p:cNvSpPr/>
          <p:nvPr/>
        </p:nvSpPr>
        <p:spPr>
          <a:xfrm>
            <a:off x="3350628" y="4551891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85" name="직선 연결선 284"/>
          <p:cNvCxnSpPr/>
          <p:nvPr/>
        </p:nvCxnSpPr>
        <p:spPr>
          <a:xfrm>
            <a:off x="423099" y="6392768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직사각형 285"/>
          <p:cNvSpPr/>
          <p:nvPr/>
        </p:nvSpPr>
        <p:spPr>
          <a:xfrm>
            <a:off x="770448" y="6379809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87" name="직선 연결선 286"/>
          <p:cNvCxnSpPr/>
          <p:nvPr/>
        </p:nvCxnSpPr>
        <p:spPr>
          <a:xfrm>
            <a:off x="1735336" y="6392278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직사각형 292"/>
          <p:cNvSpPr/>
          <p:nvPr/>
        </p:nvSpPr>
        <p:spPr>
          <a:xfrm>
            <a:off x="2082685" y="6379319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94" name="직선 연결선 293"/>
          <p:cNvCxnSpPr/>
          <p:nvPr/>
        </p:nvCxnSpPr>
        <p:spPr>
          <a:xfrm>
            <a:off x="3048307" y="6385922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직사각형 294"/>
          <p:cNvSpPr/>
          <p:nvPr/>
        </p:nvSpPr>
        <p:spPr>
          <a:xfrm>
            <a:off x="3395656" y="6372963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96" name="직선 연결선 295"/>
          <p:cNvCxnSpPr/>
          <p:nvPr/>
        </p:nvCxnSpPr>
        <p:spPr>
          <a:xfrm>
            <a:off x="4360544" y="6385432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직사각형 296"/>
          <p:cNvSpPr/>
          <p:nvPr/>
        </p:nvSpPr>
        <p:spPr>
          <a:xfrm>
            <a:off x="4707893" y="6372473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298" name="직선 연결선 297"/>
          <p:cNvCxnSpPr/>
          <p:nvPr/>
        </p:nvCxnSpPr>
        <p:spPr>
          <a:xfrm>
            <a:off x="5680899" y="6381045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직사각형 298"/>
          <p:cNvSpPr/>
          <p:nvPr/>
        </p:nvSpPr>
        <p:spPr>
          <a:xfrm>
            <a:off x="6028248" y="6368086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00" name="직선 연결선 299"/>
          <p:cNvCxnSpPr/>
          <p:nvPr/>
        </p:nvCxnSpPr>
        <p:spPr>
          <a:xfrm>
            <a:off x="6993136" y="6380555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직사각형 300"/>
          <p:cNvSpPr/>
          <p:nvPr/>
        </p:nvSpPr>
        <p:spPr>
          <a:xfrm>
            <a:off x="7340485" y="6367596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02" name="직선 연결선 301"/>
          <p:cNvCxnSpPr/>
          <p:nvPr/>
        </p:nvCxnSpPr>
        <p:spPr>
          <a:xfrm>
            <a:off x="8306107" y="6374199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직사각형 302"/>
          <p:cNvSpPr/>
          <p:nvPr/>
        </p:nvSpPr>
        <p:spPr>
          <a:xfrm>
            <a:off x="8653456" y="6361240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04" name="직선 연결선 303"/>
          <p:cNvCxnSpPr/>
          <p:nvPr/>
        </p:nvCxnSpPr>
        <p:spPr>
          <a:xfrm>
            <a:off x="9618344" y="6373709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직사각형 304"/>
          <p:cNvSpPr/>
          <p:nvPr/>
        </p:nvSpPr>
        <p:spPr>
          <a:xfrm>
            <a:off x="9965693" y="6360750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06" name="직선 연결선 305"/>
          <p:cNvCxnSpPr/>
          <p:nvPr/>
        </p:nvCxnSpPr>
        <p:spPr>
          <a:xfrm>
            <a:off x="367357" y="3355506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직사각형 306"/>
          <p:cNvSpPr/>
          <p:nvPr/>
        </p:nvSpPr>
        <p:spPr>
          <a:xfrm>
            <a:off x="714706" y="3342547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08" name="직선 연결선 307"/>
          <p:cNvCxnSpPr/>
          <p:nvPr/>
        </p:nvCxnSpPr>
        <p:spPr>
          <a:xfrm>
            <a:off x="1679594" y="3355016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직사각형 308"/>
          <p:cNvSpPr/>
          <p:nvPr/>
        </p:nvSpPr>
        <p:spPr>
          <a:xfrm>
            <a:off x="2026943" y="3342057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10" name="직선 연결선 309"/>
          <p:cNvCxnSpPr/>
          <p:nvPr/>
        </p:nvCxnSpPr>
        <p:spPr>
          <a:xfrm>
            <a:off x="2992565" y="3348660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직사각형 310"/>
          <p:cNvSpPr/>
          <p:nvPr/>
        </p:nvSpPr>
        <p:spPr>
          <a:xfrm>
            <a:off x="3339914" y="3335701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14" name="직선 연결선 313"/>
          <p:cNvCxnSpPr/>
          <p:nvPr/>
        </p:nvCxnSpPr>
        <p:spPr>
          <a:xfrm>
            <a:off x="391572" y="2183594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직사각형 314"/>
          <p:cNvSpPr/>
          <p:nvPr/>
        </p:nvSpPr>
        <p:spPr>
          <a:xfrm>
            <a:off x="738921" y="2170635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16" name="직선 연결선 315"/>
          <p:cNvCxnSpPr/>
          <p:nvPr/>
        </p:nvCxnSpPr>
        <p:spPr>
          <a:xfrm>
            <a:off x="1703809" y="2183104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직사각형 316"/>
          <p:cNvSpPr/>
          <p:nvPr/>
        </p:nvSpPr>
        <p:spPr>
          <a:xfrm>
            <a:off x="2051158" y="2170145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  <p:cxnSp>
        <p:nvCxnSpPr>
          <p:cNvPr id="318" name="직선 연결선 317"/>
          <p:cNvCxnSpPr/>
          <p:nvPr/>
        </p:nvCxnSpPr>
        <p:spPr>
          <a:xfrm>
            <a:off x="3016780" y="2176748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직사각형 318"/>
          <p:cNvSpPr/>
          <p:nvPr/>
        </p:nvSpPr>
        <p:spPr>
          <a:xfrm>
            <a:off x="3364129" y="2163789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 smtClean="0"/>
              <a:t>상세보기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8713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기안불가자는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기안불가자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추가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9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명만 추가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각 단계에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9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 이상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380358" y="3296856"/>
            <a:ext cx="2950119" cy="1490703"/>
            <a:chOff x="201576" y="3100646"/>
            <a:chExt cx="2950119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단독결재불가자는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마지막 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승인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)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98850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단독결재불가자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695876" y="1450476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확인자는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각 단계별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8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명만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추가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70336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8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초과한 경우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10441752" y="151056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45531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877" y="338220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681321" y="2545586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3975347" y="3296856"/>
            <a:ext cx="2950119" cy="1490703"/>
            <a:chOff x="201576" y="3100646"/>
            <a:chExt cx="2950119" cy="1490703"/>
          </a:xfrm>
        </p:grpSpPr>
        <p:grpSp>
          <p:nvGrpSpPr>
            <p:cNvPr id="71" name="그룹 70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73" name="직사각형 72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마지막 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승인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)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명만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추가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2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893839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초과하여 추가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56866" y="338220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7695876" y="3296856"/>
            <a:ext cx="2950119" cy="1490703"/>
            <a:chOff x="6872544" y="4197176"/>
            <a:chExt cx="2950119" cy="1490703"/>
          </a:xfrm>
        </p:grpSpPr>
        <p:sp>
          <p:nvSpPr>
            <p:cNvPr id="84" name="직사각형 83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단계에는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확인자를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추가할 수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결재자로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변경하여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추가하시겠습까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7570336" y="3005682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이동 처리 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드래그앤드랍으로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8" name="Freeform 11"/>
          <p:cNvSpPr>
            <a:spLocks noChangeArrowheads="1"/>
          </p:cNvSpPr>
          <p:nvPr/>
        </p:nvSpPr>
        <p:spPr bwMode="auto">
          <a:xfrm>
            <a:off x="10441752" y="335694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7845531" y="336056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380358" y="5184208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결재단계는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7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 까지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54818" y="489303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단계를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단계 초과 추가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6" name="Freeform 11"/>
          <p:cNvSpPr>
            <a:spLocks noChangeArrowheads="1"/>
          </p:cNvSpPr>
          <p:nvPr/>
        </p:nvSpPr>
        <p:spPr bwMode="auto">
          <a:xfrm>
            <a:off x="3126234" y="524429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30013" y="5247921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365803" y="627931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585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결재단계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삭제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376363" y="1412104"/>
            <a:ext cx="2950119" cy="1490703"/>
            <a:chOff x="6872544" y="4197176"/>
            <a:chExt cx="2950119" cy="1490703"/>
          </a:xfrm>
        </p:grpSpPr>
        <p:sp>
          <p:nvSpPr>
            <p:cNvPr id="67" name="직사각형 6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3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50823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없음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2" name="Freeform 11"/>
          <p:cNvSpPr>
            <a:spLocks noChangeArrowheads="1"/>
          </p:cNvSpPr>
          <p:nvPr/>
        </p:nvSpPr>
        <p:spPr bwMode="auto">
          <a:xfrm>
            <a:off x="3122239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526018" y="1475817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20" name="그룹 119"/>
          <p:cNvGrpSpPr/>
          <p:nvPr/>
        </p:nvGrpSpPr>
        <p:grpSpPr>
          <a:xfrm>
            <a:off x="4096892" y="1412104"/>
            <a:ext cx="2950119" cy="1490703"/>
            <a:chOff x="6872544" y="4197176"/>
            <a:chExt cx="2950119" cy="1490703"/>
          </a:xfrm>
        </p:grpSpPr>
        <p:sp>
          <p:nvSpPr>
            <p:cNvPr id="121" name="직사각형 120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구성원이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 포함된 구성원도 삭제됩니다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결재단계를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3971352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존재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5" name="Freeform 11"/>
          <p:cNvSpPr>
            <a:spLocks noChangeArrowheads="1"/>
          </p:cNvSpPr>
          <p:nvPr/>
        </p:nvSpPr>
        <p:spPr bwMode="auto">
          <a:xfrm>
            <a:off x="6842768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246547" y="1475817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</p:spTree>
    <p:extLst>
      <p:ext uri="{BB962C8B-B14F-4D97-AF65-F5344CB8AC3E}">
        <p14:creationId xmlns:p14="http://schemas.microsoft.com/office/powerpoint/2010/main" val="221315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기안자는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결재권자는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001432"/>
            <a:ext cx="29578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결재단계에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결재권자없이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있는경우도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포함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235482" y="504378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결재선정보확인 이동 전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019379" y="4887862"/>
            <a:ext cx="2950119" cy="1490703"/>
            <a:chOff x="6872544" y="4197176"/>
            <a:chExt cx="2950119" cy="1490703"/>
          </a:xfrm>
        </p:grpSpPr>
        <p:sp>
          <p:nvSpPr>
            <p:cNvPr id="48" name="직사각형 47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등록을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893839" y="4596688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Freeform 11"/>
          <p:cNvSpPr>
            <a:spLocks noChangeArrowheads="1"/>
          </p:cNvSpPr>
          <p:nvPr/>
        </p:nvSpPr>
        <p:spPr bwMode="auto">
          <a:xfrm>
            <a:off x="6765255" y="49479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169034" y="495157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029562" y="403628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424390" y="4892833"/>
            <a:ext cx="2950119" cy="1490703"/>
            <a:chOff x="6872544" y="4197176"/>
            <a:chExt cx="2950119" cy="1490703"/>
          </a:xfrm>
        </p:grpSpPr>
        <p:sp>
          <p:nvSpPr>
            <p:cNvPr id="62" name="직사각형 61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기본 설정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화면으로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이동하시겠습니까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98850" y="4601659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이전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6" name="Freeform 11"/>
          <p:cNvSpPr>
            <a:spLocks noChangeArrowheads="1"/>
          </p:cNvSpPr>
          <p:nvPr/>
        </p:nvSpPr>
        <p:spPr bwMode="auto">
          <a:xfrm>
            <a:off x="3170266" y="49529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74045" y="495654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34573" y="4041260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이전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4390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</a:rPr>
              <a:t>결재선기본설정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975347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8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결재선입력확인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677800"/>
              </p:ext>
            </p:extLst>
          </p:nvPr>
        </p:nvGraphicFramePr>
        <p:xfrm>
          <a:off x="9822663" y="540019"/>
          <a:ext cx="2195166" cy="14786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상제 정보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구성원 정보 표시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로그인방법에 따른 전자서명 처리 후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결재선구성완료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등록수정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입력 확인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323"/>
            <a:ext cx="1644931" cy="173081"/>
            <a:chOff x="5063489" y="537323"/>
            <a:chExt cx="1644931" cy="173081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637919" y="537323"/>
              <a:ext cx="83574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3</a:t>
              </a:r>
              <a:r>
                <a:rPr lang="en-US" altLang="ko-KR" sz="80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입력확인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5350704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303628" y="1282662"/>
            <a:ext cx="115833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763"/>
              </p:ext>
            </p:extLst>
          </p:nvPr>
        </p:nvGraphicFramePr>
        <p:xfrm>
          <a:off x="298850" y="1698557"/>
          <a:ext cx="8053842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6277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구분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등록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결재선명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결재선명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승인자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승인자여부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결재선업무범위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%,~,~,~, 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316434" y="3470350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 구성원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551643" y="6030827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sp>
        <p:nvSpPr>
          <p:cNvPr id="87" name="직사각형 86"/>
          <p:cNvSpPr/>
          <p:nvPr/>
        </p:nvSpPr>
        <p:spPr>
          <a:xfrm>
            <a:off x="4574205" y="6030827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2854" y="1557939"/>
            <a:ext cx="251992" cy="230832"/>
            <a:chOff x="4867678" y="3090156"/>
            <a:chExt cx="251992" cy="230832"/>
          </a:xfrm>
        </p:grpSpPr>
        <p:sp>
          <p:nvSpPr>
            <p:cNvPr id="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358472" y="5952175"/>
            <a:ext cx="251992" cy="230832"/>
            <a:chOff x="4867678" y="3090156"/>
            <a:chExt cx="251992" cy="230832"/>
          </a:xfrm>
        </p:grpSpPr>
        <p:sp>
          <p:nvSpPr>
            <p:cNvPr id="9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561726" y="5946664"/>
            <a:ext cx="251992" cy="230832"/>
            <a:chOff x="4867678" y="3090156"/>
            <a:chExt cx="251992" cy="230832"/>
          </a:xfrm>
        </p:grpSpPr>
        <p:sp>
          <p:nvSpPr>
            <p:cNvPr id="9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8922679" y="3931073"/>
            <a:ext cx="2950119" cy="1490703"/>
            <a:chOff x="6872544" y="4197176"/>
            <a:chExt cx="2950119" cy="1490703"/>
          </a:xfrm>
        </p:grpSpPr>
        <p:sp>
          <p:nvSpPr>
            <p:cNvPr id="102" name="직사각형 101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등록을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8797139" y="3639899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6" name="Freeform 11"/>
          <p:cNvSpPr>
            <a:spLocks noChangeArrowheads="1"/>
          </p:cNvSpPr>
          <p:nvPr/>
        </p:nvSpPr>
        <p:spPr bwMode="auto">
          <a:xfrm>
            <a:off x="11668555" y="399116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9072334" y="399478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8932862" y="3079500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878647" y="5490460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924201" y="5891102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전자서명 진행</a:t>
            </a:r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875387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48" name="직사각형 47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696977"/>
              </p:ext>
            </p:extLst>
          </p:nvPr>
        </p:nvGraphicFramePr>
        <p:xfrm>
          <a:off x="316434" y="3821763"/>
          <a:ext cx="8036258" cy="187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831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2393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9913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449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유이재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만수르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유상민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61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한만수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1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(P356710001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안철수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(P356710002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박만옥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29702"/>
                  </a:ext>
                </a:extLst>
              </a:tr>
            </a:tbl>
          </a:graphicData>
        </a:graphic>
      </p:graphicFrame>
      <p:sp>
        <p:nvSpPr>
          <p:cNvPr id="51" name="직사각형 50"/>
          <p:cNvSpPr/>
          <p:nvPr/>
        </p:nvSpPr>
        <p:spPr>
          <a:xfrm>
            <a:off x="1572330" y="526761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572331" y="508658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572330" y="5525925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72329" y="482696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72332" y="438785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572333" y="414439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572334" y="388901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90985" y="3731960"/>
            <a:ext cx="251992" cy="230832"/>
            <a:chOff x="4867678" y="3090156"/>
            <a:chExt cx="251992" cy="230832"/>
          </a:xfrm>
        </p:grpSpPr>
        <p:sp>
          <p:nvSpPr>
            <p:cNvPr id="6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6" name="직사각형 65"/>
          <p:cNvSpPr/>
          <p:nvPr/>
        </p:nvSpPr>
        <p:spPr>
          <a:xfrm>
            <a:off x="1572329" y="464431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37218" y="2192122"/>
            <a:ext cx="7147967" cy="310699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994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323"/>
            <a:ext cx="1697391" cy="173081"/>
            <a:chOff x="5063489" y="537323"/>
            <a:chExt cx="1697391" cy="173081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925134" y="537323"/>
              <a:ext cx="83574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4</a:t>
              </a:r>
              <a:r>
                <a:rPr lang="en-US" altLang="ko-KR" sz="80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실행완료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5350704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5637919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427892" y="1229836"/>
            <a:ext cx="6491458" cy="1062026"/>
          </a:xfrm>
          <a:prstGeom prst="roundRect">
            <a:avLst>
              <a:gd name="adj" fmla="val 498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620065" y="1466259"/>
            <a:ext cx="1013035" cy="541318"/>
            <a:chOff x="3026978" y="5811513"/>
            <a:chExt cx="1116066" cy="527055"/>
          </a:xfrm>
        </p:grpSpPr>
        <p:sp>
          <p:nvSpPr>
            <p:cNvPr id="48" name="Text Box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026979" y="5812592"/>
              <a:ext cx="1116065" cy="5259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2400" rIns="162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image</a:t>
              </a:r>
              <a:endParaRPr lang="en-US" sz="700" dirty="0">
                <a:solidFill>
                  <a:srgbClr val="2626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026978" y="5812592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>
              <a:off x="3026978" y="5811513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1898398" y="1459365"/>
            <a:ext cx="193418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b="1" spc="-150" dirty="0">
                <a:solidFill>
                  <a:schemeClr val="accent5"/>
                </a:solidFill>
                <a:ea typeface="맑은 고딕"/>
              </a:rPr>
              <a:t>결재선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지정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이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완료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되었습니다</a:t>
            </a:r>
            <a:r>
              <a:rPr lang="en-US" altLang="ko-KR" sz="1200" b="1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98398" y="1745152"/>
            <a:ext cx="2535309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spc="-150" dirty="0" smtClean="0">
                <a:solidFill>
                  <a:prstClr val="black"/>
                </a:solidFill>
                <a:ea typeface="맑은 고딕"/>
              </a:rPr>
              <a:t>확인을 누르시면 결재선 목록 화면으로  이동합니다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184007" y="251917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305743"/>
              </p:ext>
            </p:extLst>
          </p:nvPr>
        </p:nvGraphicFramePr>
        <p:xfrm>
          <a:off x="9822663" y="540019"/>
          <a:ext cx="2195166" cy="80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66052" y="2403762"/>
            <a:ext cx="251992" cy="230832"/>
            <a:chOff x="4867678" y="3090156"/>
            <a:chExt cx="251992" cy="230832"/>
          </a:xfrm>
        </p:grpSpPr>
        <p:sp>
          <p:nvSpPr>
            <p:cNvPr id="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407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1.2.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수정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3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49670"/>
              </p:ext>
            </p:extLst>
          </p:nvPr>
        </p:nvGraphicFramePr>
        <p:xfrm>
          <a:off x="9822663" y="540019"/>
          <a:ext cx="2195166" cy="5334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별도의 조건 없이 해당 고객이 가지고 있는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결과를 전체 선택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선택은 삭제를 위한 용도로만 사용됨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기준 일시를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YYYY-MM-DD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있을 경우 그리드 내에서 결과내 재 검색을 할 수 있도록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결재선 등록을 위해 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변경할 수 있는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결재선기본설정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한건만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수정 가능함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두건 이상을 선택한 경우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삭제하기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여러건을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가능하도록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그리드의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결과내역을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엑셀로 다운로드 처리함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좌우정렬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준수 필요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조회된 내역에 대한 건수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현재조회된수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전체건수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1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이상인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제공하며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 마다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건씩 추가로 조회됨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데이터의 조회가 완료된 경우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전문통신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조회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04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결재선유형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승인자여부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결재선 구성에 따라 자동으로 표시 하도록 처리하여야함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07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결과가 없을 경우 그리드에 표시되는 메시지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09836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128"/>
          <p:cNvSpPr/>
          <p:nvPr/>
        </p:nvSpPr>
        <p:spPr>
          <a:xfrm>
            <a:off x="6006470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▽ </a:t>
            </a:r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더보기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86682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05957" y="3313641"/>
            <a:ext cx="251992" cy="230832"/>
            <a:chOff x="4867678" y="3090156"/>
            <a:chExt cx="251992" cy="230832"/>
          </a:xfrm>
        </p:grpSpPr>
        <p:sp>
          <p:nvSpPr>
            <p:cNvPr id="1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8" name="오른쪽 중괄호 157"/>
          <p:cNvSpPr/>
          <p:nvPr/>
        </p:nvSpPr>
        <p:spPr>
          <a:xfrm>
            <a:off x="6908328" y="1597004"/>
            <a:ext cx="419739" cy="2098975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7304366" y="2573443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6008437" y="3823412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현재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20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/ 25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aphicFrame>
        <p:nvGraphicFramePr>
          <p:cNvPr id="162" name="표 161"/>
          <p:cNvGraphicFramePr>
            <a:graphicFrameLocks noGrp="1"/>
          </p:cNvGraphicFramePr>
          <p:nvPr>
            <p:extLst/>
          </p:nvPr>
        </p:nvGraphicFramePr>
        <p:xfrm>
          <a:off x="295529" y="1371211"/>
          <a:ext cx="659935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24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공과금납부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888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6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7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8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9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365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10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공과금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신고</a:t>
                      </a:r>
                      <a:r>
                        <a:rPr lang="en-US" altLang="ko-KR" sz="700" baseline="0" dirty="0" smtClean="0"/>
                        <a:t>/</a:t>
                      </a:r>
                      <a:r>
                        <a:rPr lang="ko-KR" altLang="en-US" sz="700" baseline="0" dirty="0" smtClean="0"/>
                        <a:t>해지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카드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09453"/>
                  </a:ext>
                </a:extLst>
              </a:tr>
            </a:tbl>
          </a:graphicData>
        </a:graphic>
      </p:graphicFrame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6771" y="1257511"/>
            <a:ext cx="251992" cy="230832"/>
            <a:chOff x="4867678" y="3090156"/>
            <a:chExt cx="251992" cy="230832"/>
          </a:xfrm>
        </p:grpSpPr>
        <p:sp>
          <p:nvSpPr>
            <p:cNvPr id="1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90" name="그룹 189"/>
          <p:cNvGrpSpPr/>
          <p:nvPr/>
        </p:nvGrpSpPr>
        <p:grpSpPr>
          <a:xfrm>
            <a:off x="5040869" y="1123542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297950" y="3736787"/>
            <a:ext cx="660010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6852331" y="1602626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9021" y="1545217"/>
            <a:ext cx="251992" cy="230832"/>
            <a:chOff x="4867678" y="3090156"/>
            <a:chExt cx="251992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914873" y="907358"/>
            <a:ext cx="251992" cy="230832"/>
            <a:chOff x="4867678" y="3090156"/>
            <a:chExt cx="251992" cy="230832"/>
          </a:xfrm>
        </p:grpSpPr>
        <p:sp>
          <p:nvSpPr>
            <p:cNvPr id="21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787331" y="3707728"/>
            <a:ext cx="251992" cy="230832"/>
            <a:chOff x="4867678" y="3090156"/>
            <a:chExt cx="251992" cy="230832"/>
          </a:xfrm>
        </p:grpSpPr>
        <p:sp>
          <p:nvSpPr>
            <p:cNvPr id="22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9" name="모서리가 둥근 직사각형 228"/>
          <p:cNvSpPr/>
          <p:nvPr/>
        </p:nvSpPr>
        <p:spPr>
          <a:xfrm>
            <a:off x="780849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1288798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삭제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03733" y="3936633"/>
            <a:ext cx="251992" cy="230832"/>
            <a:chOff x="4867678" y="3090156"/>
            <a:chExt cx="251992" cy="230832"/>
          </a:xfrm>
        </p:grpSpPr>
        <p:sp>
          <p:nvSpPr>
            <p:cNvPr id="2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98595" y="3936633"/>
            <a:ext cx="251992" cy="230832"/>
            <a:chOff x="4867678" y="3090156"/>
            <a:chExt cx="251992" cy="230832"/>
          </a:xfrm>
        </p:grpSpPr>
        <p:sp>
          <p:nvSpPr>
            <p:cNvPr id="2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206181" y="1139696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793939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엑셀다운로드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423745" y="1330569"/>
            <a:ext cx="2218593" cy="24911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32310" y="3939686"/>
            <a:ext cx="251992" cy="230832"/>
            <a:chOff x="4867678" y="3090156"/>
            <a:chExt cx="251992" cy="230832"/>
          </a:xfrm>
        </p:grpSpPr>
        <p:sp>
          <p:nvSpPr>
            <p:cNvPr id="24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5846812" y="3985251"/>
            <a:ext cx="319318" cy="230832"/>
            <a:chOff x="4834016" y="3090156"/>
            <a:chExt cx="319318" cy="230832"/>
          </a:xfrm>
        </p:grpSpPr>
        <p:sp>
          <p:nvSpPr>
            <p:cNvPr id="24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96420" y="988985"/>
            <a:ext cx="251992" cy="230832"/>
            <a:chOff x="4867678" y="3090156"/>
            <a:chExt cx="251992" cy="230832"/>
          </a:xfrm>
        </p:grpSpPr>
        <p:sp>
          <p:nvSpPr>
            <p:cNvPr id="25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264886" y="1229342"/>
            <a:ext cx="319318" cy="230832"/>
            <a:chOff x="4834016" y="3090156"/>
            <a:chExt cx="319318" cy="230832"/>
          </a:xfrm>
        </p:grpSpPr>
        <p:sp>
          <p:nvSpPr>
            <p:cNvPr id="25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61" name="표 260"/>
          <p:cNvGraphicFramePr>
            <a:graphicFrameLocks noGrp="1"/>
          </p:cNvGraphicFramePr>
          <p:nvPr>
            <p:extLst/>
          </p:nvPr>
        </p:nvGraphicFramePr>
        <p:xfrm>
          <a:off x="282348" y="4921408"/>
          <a:ext cx="6599358" cy="15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 gridSpan="7">
                  <a:txBody>
                    <a:bodyPr/>
                    <a:lstStyle/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조회 내역이 없습니다</a:t>
                      </a:r>
                      <a:r>
                        <a:rPr lang="en-US" altLang="ko-KR" sz="700" dirty="0" smtClean="0"/>
                        <a:t>.</a:t>
                      </a:r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  <a:p>
                      <a:pPr algn="ctr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</a:tbl>
          </a:graphicData>
        </a:graphic>
      </p:graphicFrame>
      <p:sp>
        <p:nvSpPr>
          <p:cNvPr id="262" name="TextBox 261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82348" y="4779753"/>
            <a:ext cx="3250331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>
                <a:solidFill>
                  <a:schemeClr val="bg1"/>
                </a:solidFill>
                <a:ea typeface="맑은 고딕"/>
              </a:rPr>
              <a:t>  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조회된 결과가 없을 경우</a:t>
            </a:r>
            <a:r>
              <a:rPr kumimoji="1" lang="en-US" altLang="ko-KR" sz="700" dirty="0" smtClean="0">
                <a:solidFill>
                  <a:schemeClr val="bg1"/>
                </a:solidFill>
                <a:ea typeface="맑은 고딕"/>
              </a:rPr>
              <a:t> </a:t>
            </a:r>
            <a:r>
              <a:rPr kumimoji="1" lang="en-US" altLang="ko-KR" sz="700" dirty="0">
                <a:solidFill>
                  <a:schemeClr val="bg1"/>
                </a:solidFill>
                <a:ea typeface="맑은 고딕"/>
              </a:rPr>
              <a:t>CASE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469886" y="5620929"/>
            <a:ext cx="2218593" cy="527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317834" y="5521902"/>
            <a:ext cx="319318" cy="230832"/>
            <a:chOff x="4834016" y="3090156"/>
            <a:chExt cx="319318" cy="230832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6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18996" y="3936633"/>
            <a:ext cx="251992" cy="230832"/>
            <a:chOff x="4867678" y="3090156"/>
            <a:chExt cx="251992" cy="230832"/>
          </a:xfrm>
        </p:grpSpPr>
        <p:sp>
          <p:nvSpPr>
            <p:cNvPr id="6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11553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3" name="모서리가 둥근 직사각형 72"/>
          <p:cNvSpPr/>
          <p:nvPr/>
        </p:nvSpPr>
        <p:spPr>
          <a:xfrm>
            <a:off x="6832495" y="1125758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74" name="모서리가 둥근 직사각형 73"/>
          <p:cNvSpPr/>
          <p:nvPr/>
        </p:nvSpPr>
        <p:spPr>
          <a:xfrm>
            <a:off x="6685691" y="4834881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69" name="직사각형 68"/>
          <p:cNvSpPr/>
          <p:nvPr/>
        </p:nvSpPr>
        <p:spPr>
          <a:xfrm>
            <a:off x="2317835" y="1239210"/>
            <a:ext cx="954922" cy="2543296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7863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삭제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복사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결재선을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수정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시 선택한 값이 없을 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43786" y="3492172"/>
            <a:ext cx="2950119" cy="1490703"/>
            <a:chOff x="6872544" y="4197176"/>
            <a:chExt cx="2950119" cy="1490703"/>
          </a:xfrm>
        </p:grpSpPr>
        <p:sp>
          <p:nvSpPr>
            <p:cNvPr id="87" name="직사각형 8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선택한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18246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7" name="Freeform 11"/>
          <p:cNvSpPr>
            <a:spLocks noChangeArrowheads="1"/>
          </p:cNvSpPr>
          <p:nvPr/>
        </p:nvSpPr>
        <p:spPr bwMode="auto">
          <a:xfrm>
            <a:off x="3089662" y="355226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결재선은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건 만 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여러건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후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01191" y="35558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7651844" y="1450476"/>
            <a:ext cx="2950119" cy="1490703"/>
            <a:chOff x="201576" y="3100646"/>
            <a:chExt cx="2950119" cy="1490703"/>
          </a:xfrm>
        </p:grpSpPr>
        <p:grpSp>
          <p:nvGrpSpPr>
            <p:cNvPr id="108" name="그룹 10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0" name="직사각형 10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수정이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7570336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795734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3975347" y="3496153"/>
            <a:ext cx="2950119" cy="1490703"/>
            <a:chOff x="201576" y="3100646"/>
            <a:chExt cx="2950119" cy="1490703"/>
          </a:xfrm>
        </p:grpSpPr>
        <p:grpSp>
          <p:nvGrpSpPr>
            <p:cNvPr id="115" name="그룹 11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삭제가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1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3893839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9237" y="355986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7650940" y="3492172"/>
            <a:ext cx="2950119" cy="1490703"/>
            <a:chOff x="201576" y="3100646"/>
            <a:chExt cx="2950119" cy="1490703"/>
          </a:xfrm>
        </p:grpSpPr>
        <p:grpSp>
          <p:nvGrpSpPr>
            <p:cNvPr id="42" name="그룹 41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44" name="직사각형 43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복사할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결재선은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건 만 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43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569432" y="3197017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여러건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후 복사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94830" y="35558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5166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58386"/>
              </p:ext>
            </p:extLst>
          </p:nvPr>
        </p:nvGraphicFramePr>
        <p:xfrm>
          <a:off x="9822663" y="540019"/>
          <a:ext cx="2195166" cy="3810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수정으로 진입 시 모든 값은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기존값을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표시해주도록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진입 경로에 따라 등록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변경으로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구분되어짐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변경할수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있음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활성화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이전과 동일하면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비활성화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수정으로 최초 진입 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버튼은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비활성화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활성화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하다가 원래의 결재선명으로 다시 변경하면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다시 비활성화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사용될 업무를 전체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사용될 업무를 개별 선택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필수 값의 누락 여부를 판단 후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변경하지 않았거나 기존의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동일하면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체크를 하지 않도록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557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93854"/>
              </p:ext>
            </p:extLst>
          </p:nvPr>
        </p:nvGraphicFramePr>
        <p:xfrm>
          <a:off x="298850" y="1289190"/>
          <a:ext cx="6588458" cy="120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1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73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거래구분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수정 </a:t>
                      </a:r>
                      <a:endParaRPr lang="ko-KR" altLang="en-US" sz="900" b="0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7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 </a:t>
                      </a:r>
                      <a:r>
                        <a:rPr lang="ko-KR" altLang="en-US" sz="900" dirty="0" smtClean="0"/>
                        <a:t>□</a:t>
                      </a:r>
                      <a:endParaRPr lang="ko-KR" altLang="en-US" sz="900" b="1" kern="0" spc="-9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/>
                        <a:t>V</a:t>
                      </a:r>
                      <a:r>
                        <a:rPr lang="ko-KR" altLang="en-US" sz="900" dirty="0" smtClean="0"/>
                        <a:t> 이체  </a:t>
                      </a:r>
                      <a:r>
                        <a:rPr lang="en-US" altLang="ko-KR" sz="900" dirty="0" smtClean="0"/>
                        <a:t>V</a:t>
                      </a:r>
                      <a:r>
                        <a:rPr lang="ko-KR" altLang="en-US" sz="900" dirty="0" smtClean="0"/>
                        <a:t> 예금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smtClean="0"/>
                        <a:t>신탁  □</a:t>
                      </a:r>
                      <a:r>
                        <a:rPr lang="ko-KR" altLang="en-US" sz="900" baseline="0" dirty="0" smtClean="0"/>
                        <a:t> </a:t>
                      </a:r>
                      <a:r>
                        <a:rPr lang="en-US" altLang="ko-KR" sz="900" baseline="0" dirty="0" smtClean="0"/>
                        <a:t>B2B</a:t>
                      </a:r>
                      <a:r>
                        <a:rPr lang="ko-KR" altLang="en-US" sz="900" baseline="0" dirty="0" smtClean="0"/>
                        <a:t>전자결재  </a:t>
                      </a:r>
                      <a:r>
                        <a:rPr lang="ko-KR" altLang="en-US" sz="900" dirty="0" smtClean="0"/>
                        <a:t>□ 대출         □ 외환         □ 공과금납부</a:t>
                      </a:r>
                      <a:endParaRPr lang="en-US" altLang="ko-KR" sz="900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□ 카드</a:t>
                      </a:r>
                      <a:r>
                        <a:rPr lang="en-US" altLang="ko-KR" sz="900" baseline="0" dirty="0" smtClean="0"/>
                        <a:t>  </a:t>
                      </a:r>
                      <a:r>
                        <a:rPr lang="ko-KR" altLang="en-US" sz="900" dirty="0" smtClean="0"/>
                        <a:t>□ 펀드       □ 퇴직연금       □ 자금관리   □ </a:t>
                      </a:r>
                      <a:r>
                        <a:rPr lang="ko-KR" altLang="en-US" sz="900" dirty="0" err="1" smtClean="0"/>
                        <a:t>웹펌뱅킹</a:t>
                      </a:r>
                      <a:r>
                        <a:rPr lang="ko-KR" altLang="en-US" sz="900" dirty="0" smtClean="0"/>
                        <a:t>   □ 신고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smtClean="0"/>
                        <a:t>해지</a:t>
                      </a:r>
                      <a:r>
                        <a:rPr lang="ko-KR" altLang="en-US" sz="900" baseline="0" dirty="0" smtClean="0"/>
                        <a:t>  </a:t>
                      </a:r>
                      <a:r>
                        <a:rPr lang="ko-KR" altLang="en-US" sz="900" dirty="0" smtClean="0"/>
                        <a:t>□ </a:t>
                      </a:r>
                      <a:r>
                        <a:rPr lang="ko-KR" altLang="en-US" sz="900" dirty="0" err="1" smtClean="0"/>
                        <a:t>기업서비스</a:t>
                      </a:r>
                      <a:r>
                        <a:rPr lang="ko-KR" altLang="en-US" sz="900" dirty="0" smtClean="0"/>
                        <a:t> 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674420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330570" y="1652954"/>
            <a:ext cx="2098430" cy="2051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tx1"/>
                </a:solidFill>
              </a:rPr>
              <a:t>결재선테스트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492943" y="1633382"/>
            <a:ext cx="662887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중복조회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401923" y="3196309"/>
            <a:ext cx="955387" cy="312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5325923" y="537589"/>
            <a:ext cx="1561385" cy="172815"/>
            <a:chOff x="5147035" y="537589"/>
            <a:chExt cx="1561385" cy="1728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147035" y="537589"/>
              <a:ext cx="803031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1. 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기본설정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6030647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6283432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13270" y="1577525"/>
            <a:ext cx="251992" cy="230832"/>
            <a:chOff x="4867678" y="3090156"/>
            <a:chExt cx="251992" cy="230832"/>
          </a:xfrm>
        </p:grpSpPr>
        <p:sp>
          <p:nvSpPr>
            <p:cNvPr id="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151416" y="1608421"/>
            <a:ext cx="230832" cy="251992"/>
            <a:chOff x="4878258" y="3079576"/>
            <a:chExt cx="230832" cy="251992"/>
          </a:xfrm>
        </p:grpSpPr>
        <p:sp>
          <p:nvSpPr>
            <p:cNvPr id="9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101417" y="1289190"/>
            <a:ext cx="251992" cy="230832"/>
            <a:chOff x="4867678" y="3090156"/>
            <a:chExt cx="251992" cy="230832"/>
          </a:xfrm>
        </p:grpSpPr>
        <p:sp>
          <p:nvSpPr>
            <p:cNvPr id="10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30083" y="3080893"/>
            <a:ext cx="251992" cy="230832"/>
            <a:chOff x="4867678" y="3090156"/>
            <a:chExt cx="251992" cy="230832"/>
          </a:xfrm>
        </p:grpSpPr>
        <p:sp>
          <p:nvSpPr>
            <p:cNvPr id="11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19" name="직사각형 118"/>
          <p:cNvSpPr/>
          <p:nvPr/>
        </p:nvSpPr>
        <p:spPr>
          <a:xfrm>
            <a:off x="3399023" y="3191455"/>
            <a:ext cx="955387" cy="3171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280707" y="3114420"/>
            <a:ext cx="230832" cy="251992"/>
            <a:chOff x="4878258" y="3079576"/>
            <a:chExt cx="230832" cy="251992"/>
          </a:xfrm>
        </p:grpSpPr>
        <p:sp>
          <p:nvSpPr>
            <p:cNvPr id="1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49425" y="1931259"/>
            <a:ext cx="251992" cy="230832"/>
            <a:chOff x="4867678" y="3090156"/>
            <a:chExt cx="251992" cy="230832"/>
          </a:xfrm>
        </p:grpSpPr>
        <p:sp>
          <p:nvSpPr>
            <p:cNvPr id="10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08660" y="1895227"/>
            <a:ext cx="251992" cy="230832"/>
            <a:chOff x="4867678" y="3090156"/>
            <a:chExt cx="251992" cy="230832"/>
          </a:xfrm>
        </p:grpSpPr>
        <p:sp>
          <p:nvSpPr>
            <p:cNvPr id="11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46532" y="1953057"/>
            <a:ext cx="30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□</a:t>
            </a:r>
            <a:endParaRPr lang="ko-KR" alt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1674424" y="1964780"/>
            <a:ext cx="30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□</a:t>
            </a:r>
            <a:endParaRPr lang="ko-KR" altLang="en-US" sz="1200" dirty="0"/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73657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퇴직연금 카테고리 추가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305242" y="2193440"/>
            <a:ext cx="1132200" cy="466209"/>
          </a:xfrm>
          <a:prstGeom prst="rect">
            <a:avLst/>
          </a:prstGeom>
          <a:solidFill>
            <a:srgbClr val="FF0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퇴직연금</a:t>
            </a:r>
            <a:endParaRPr lang="en-US" altLang="ko-KR" sz="900" dirty="0" smtClean="0"/>
          </a:p>
          <a:p>
            <a:pPr algn="ctr"/>
            <a:r>
              <a:rPr lang="ko-KR" altLang="en-US" sz="900" dirty="0" err="1" smtClean="0"/>
              <a:t>업무제외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 algn="ctr"/>
            <a:r>
              <a:rPr lang="en-US" altLang="ko-KR" sz="900" dirty="0" smtClean="0"/>
              <a:t>(2023-04-11)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4322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결재선명을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입력해주세요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입력하지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않았을경우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결재선명을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중복조회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중복조회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하지 않았을 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570336" y="1450476"/>
            <a:ext cx="2950119" cy="1490703"/>
            <a:chOff x="201576" y="3100646"/>
            <a:chExt cx="2950119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대상업무를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488828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결재선대상업무 미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선택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418876" y="3421832"/>
            <a:ext cx="2950119" cy="1490703"/>
            <a:chOff x="6872544" y="4197176"/>
            <a:chExt cx="2950119" cy="1490703"/>
          </a:xfrm>
        </p:grpSpPr>
        <p:sp>
          <p:nvSpPr>
            <p:cNvPr id="40" name="직사각형 39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은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사용가능 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사용하기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 smtClean="0">
                  <a:latin typeface="+mn-ea"/>
                </a:rPr>
                <a:t>다시검색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93336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사용가능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3164752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직사각형 45"/>
          <p:cNvSpPr/>
          <p:nvPr/>
        </p:nvSpPr>
        <p:spPr>
          <a:xfrm>
            <a:off x="4013865" y="3426411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88325" y="3135237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다시검색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0" name="Freeform 11"/>
          <p:cNvSpPr>
            <a:spLocks noChangeArrowheads="1"/>
          </p:cNvSpPr>
          <p:nvPr/>
        </p:nvSpPr>
        <p:spPr bwMode="auto">
          <a:xfrm>
            <a:off x="6759741" y="348650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직사각형 50"/>
          <p:cNvSpPr/>
          <p:nvPr/>
        </p:nvSpPr>
        <p:spPr>
          <a:xfrm>
            <a:off x="4143863" y="4245597"/>
            <a:ext cx="2098430" cy="2051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6314459" y="4235811"/>
            <a:ext cx="51728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검색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33264" y="3940930"/>
            <a:ext cx="157671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spc="-150" dirty="0" smtClean="0">
                <a:solidFill>
                  <a:prstClr val="black"/>
                </a:solidFill>
                <a:ea typeface="맑은 고딕"/>
              </a:rPr>
              <a:t>사용하실 </a:t>
            </a:r>
            <a:r>
              <a:rPr lang="ko-KR" altLang="en-US" sz="900" spc="-150" dirty="0" err="1" smtClean="0">
                <a:solidFill>
                  <a:prstClr val="black"/>
                </a:solidFill>
                <a:ea typeface="맑은 고딕"/>
              </a:rPr>
              <a:t>결재선명을</a:t>
            </a:r>
            <a:r>
              <a:rPr lang="ko-KR" altLang="en-US" sz="900" spc="-150" dirty="0" smtClean="0">
                <a:solidFill>
                  <a:prstClr val="black"/>
                </a:solidFill>
                <a:ea typeface="맑은 고딕"/>
              </a:rPr>
              <a:t> 입력해주세요</a:t>
            </a:r>
            <a:r>
              <a:rPr lang="en-US" altLang="ko-KR" sz="9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9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8531" y="3485545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50377" y="3508666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51855" y="153582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418876" y="5250633"/>
            <a:ext cx="2950119" cy="1490703"/>
            <a:chOff x="6872544" y="4197176"/>
            <a:chExt cx="2950119" cy="1490703"/>
          </a:xfrm>
        </p:grpSpPr>
        <p:sp>
          <p:nvSpPr>
            <p:cNvPr id="63" name="직사각형 62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%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은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사용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중 입니다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852475" y="5298175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 smtClean="0">
                  <a:latin typeface="+mn-ea"/>
                </a:rPr>
                <a:t>다시검색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93336" y="4959459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 중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7" name="Freeform 11"/>
          <p:cNvSpPr>
            <a:spLocks noChangeArrowheads="1"/>
          </p:cNvSpPr>
          <p:nvPr/>
        </p:nvSpPr>
        <p:spPr bwMode="auto">
          <a:xfrm>
            <a:off x="3164752" y="53107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568531" y="5314346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중복조회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8899932" y="4844926"/>
            <a:ext cx="2950119" cy="1490703"/>
            <a:chOff x="6872544" y="4197176"/>
            <a:chExt cx="2950119" cy="1490703"/>
          </a:xfrm>
        </p:grpSpPr>
        <p:sp>
          <p:nvSpPr>
            <p:cNvPr id="91" name="직사각형 90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수정을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8774392" y="4553752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5" name="Freeform 11"/>
          <p:cNvSpPr>
            <a:spLocks noChangeArrowheads="1"/>
          </p:cNvSpPr>
          <p:nvPr/>
        </p:nvSpPr>
        <p:spPr bwMode="auto">
          <a:xfrm>
            <a:off x="11645808" y="490501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9049587" y="490863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8910115" y="3993353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855900" y="6404313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3975347" y="52699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다음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765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70383"/>
              </p:ext>
            </p:extLst>
          </p:nvPr>
        </p:nvGraphicFramePr>
        <p:xfrm>
          <a:off x="9822663" y="498985"/>
          <a:ext cx="2195166" cy="5616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값은 기존에 설정된 값으로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셋팅함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조회된 사용자 내에서 결과내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재검색을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위한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입력창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ID,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직위로 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검색가능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“1”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입력된 정보로 조회 처리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“”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값이면 전체 정보 표시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전체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개별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선택된 사용자를 각 기안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선택된 사용자를 각 기안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추가된 사용자는 사용자 정보에서 삭제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이중 등록을 사전에 막기 위함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1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결재단계별로 선택된 사용자를 결재단계에서 삭제 처리하며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해당 사용자는 다시 추가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단계를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명칭 변경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마지막단계는 삭제가 불가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02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6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 삭제 처리하며 좌측의 사용자 정보 해당 사용자는 다시 추가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9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결재단계의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사용자 전체 선택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결재단계에서는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36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사용자를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결재권자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처리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버튼형으로 디자인 필요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2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기안자를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표시하는 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14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사용자의 상세정보 팝업 호출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28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단계를 초과할 수 없음</a:t>
                      </a:r>
                      <a:endParaRPr lang="en-US" altLang="ko-KR" sz="65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사용자 수에 따라 추가 여부가 판단됨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76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 화면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28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결재선정보확인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1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결재선등록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취소 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92802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589"/>
            <a:ext cx="1644931" cy="172815"/>
            <a:chOff x="5063489" y="537589"/>
            <a:chExt cx="1644931" cy="1728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308916" y="537589"/>
              <a:ext cx="89393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2.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결재선구성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6283432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303628" y="1682956"/>
          <a:ext cx="2250919" cy="355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718056003"/>
                    </a:ext>
                  </a:extLst>
                </a:gridCol>
                <a:gridCol w="2042639">
                  <a:extLst>
                    <a:ext uri="{9D8B030D-6E8A-4147-A177-3AD203B41FA5}">
                      <a16:colId xmlns:a16="http://schemas.microsoft.com/office/drawing/2014/main" val="453830883"/>
                    </a:ext>
                  </a:extLst>
                </a:gridCol>
              </a:tblGrid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49740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 (%ID%/%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%/%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%)</a:t>
                      </a:r>
                    </a:p>
                    <a:p>
                      <a:pPr algn="l" latinLnBrk="1"/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결재자지정구분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 / %</a:t>
                      </a: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%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8910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김부산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(P123001/CEO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대표이사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기한불가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1239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박문현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(P123002/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1395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이경남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(P123003/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차장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82124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이양산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(P123004/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과장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제한없음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32312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최서면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(P123005/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대리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397365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최거제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(P123006/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경영지원부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사원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3640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강영업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(P123007/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영업부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753743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송중기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(P123008/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디자인실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실장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기안불가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63711"/>
                  </a:ext>
                </a:extLst>
              </a:tr>
              <a:tr h="323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이지은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(P123009/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디자인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단독결재불가 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디지털</a:t>
                      </a:r>
                      <a:r>
                        <a:rPr lang="en-US" altLang="ko-KR" sz="7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OTP</a:t>
                      </a:r>
                      <a:endParaRPr lang="ko-KR" altLang="en-US" sz="7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206950"/>
                  </a:ext>
                </a:extLst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303628" y="1089216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사용자 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30054" y="1460160"/>
            <a:ext cx="4009292" cy="14487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3130054" y="4607166"/>
            <a:ext cx="4009292" cy="14888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3130054" y="1089216"/>
            <a:ext cx="128336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결재단계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- %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%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2508828" y="2016801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8" name="그룹 127"/>
          <p:cNvGrpSpPr/>
          <p:nvPr/>
        </p:nvGrpSpPr>
        <p:grpSpPr>
          <a:xfrm>
            <a:off x="295776" y="1441633"/>
            <a:ext cx="2258771" cy="194762"/>
            <a:chOff x="5087887" y="864761"/>
            <a:chExt cx="2258771" cy="194762"/>
          </a:xfrm>
        </p:grpSpPr>
        <p:sp>
          <p:nvSpPr>
            <p:cNvPr id="129" name="모서리가 둥근 직사각형 128"/>
            <p:cNvSpPr/>
            <p:nvPr/>
          </p:nvSpPr>
          <p:spPr>
            <a:xfrm>
              <a:off x="5087887" y="864761"/>
              <a:ext cx="2258771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 검색 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사용자명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,ID,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부서명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,</a:t>
              </a:r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직위</a:t>
              </a:r>
              <a:r>
                <a:rPr lang="en-US" altLang="ko-KR" sz="800" dirty="0" smtClean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5967" y="891838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3226803" y="1512653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2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226803" y="4710815"/>
            <a:ext cx="57964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기안단계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3130054" y="6159542"/>
            <a:ext cx="400929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 </a:t>
            </a:r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 단계 추가하기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3130054" y="2984476"/>
            <a:ext cx="4009292" cy="1552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/>
          <p:cNvSpPr txBox="1"/>
          <p:nvPr/>
        </p:nvSpPr>
        <p:spPr>
          <a:xfrm>
            <a:off x="3226803" y="3059399"/>
            <a:ext cx="642163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</a:t>
            </a:r>
            <a:r>
              <a:rPr lang="en-US" altLang="ko-KR" sz="1100" b="1" spc="-150" dirty="0" smtClean="0">
                <a:solidFill>
                  <a:prstClr val="black"/>
                </a:solidFill>
                <a:ea typeface="맑은 고딕"/>
              </a:rPr>
              <a:t>1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단계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38" name="Freeform 11"/>
          <p:cNvSpPr>
            <a:spLocks noChangeArrowheads="1"/>
          </p:cNvSpPr>
          <p:nvPr/>
        </p:nvSpPr>
        <p:spPr bwMode="auto">
          <a:xfrm>
            <a:off x="6868732" y="311820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678562" y="1821052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2678176" y="2025895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2678176" y="3293241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2678176" y="3479554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확인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2678176" y="3665867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2678176" y="5220458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결재 </a:t>
            </a:r>
            <a:r>
              <a:rPr lang="en-US" altLang="ko-KR" sz="700" dirty="0" smtClean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678176" y="5440679"/>
            <a:ext cx="381000" cy="147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dirty="0" smtClean="0">
                <a:solidFill>
                  <a:schemeClr val="tx1"/>
                </a:solidFill>
              </a:rPr>
              <a:t>삭제 </a:t>
            </a:r>
            <a:r>
              <a:rPr lang="en-US" altLang="ko-KR" sz="700" dirty="0" smtClean="0">
                <a:solidFill>
                  <a:schemeClr val="tx1"/>
                </a:solidFill>
              </a:rPr>
              <a:t>&lt;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8" name="모서리가 둥근 직사각형 147">
            <a:extLst>
              <a:ext uri="{FF2B5EF4-FFF2-40B4-BE49-F238E27FC236}">
                <a16:creationId xmlns:a16="http://schemas.microsoft.com/office/drawing/2014/main" id="{AF77F581-6E31-3CA1-C08B-34F1696CE656}"/>
              </a:ext>
            </a:extLst>
          </p:cNvPr>
          <p:cNvSpPr/>
          <p:nvPr/>
        </p:nvSpPr>
        <p:spPr>
          <a:xfrm>
            <a:off x="6702489" y="1151640"/>
            <a:ext cx="439616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900" dirty="0" smtClean="0"/>
              <a:t>    OFF  </a:t>
            </a:r>
            <a:endParaRPr lang="ko-KR" altLang="en-US" sz="900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BD73752-5059-A861-EF21-114C6DF082E5}"/>
              </a:ext>
            </a:extLst>
          </p:cNvPr>
          <p:cNvSpPr/>
          <p:nvPr/>
        </p:nvSpPr>
        <p:spPr>
          <a:xfrm>
            <a:off x="6708696" y="1152923"/>
            <a:ext cx="165600" cy="165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s</a:t>
            </a:r>
            <a:endParaRPr lang="ko-KR" altLang="en-US" sz="9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0308D79-E0DF-6372-156E-3974C3476643}"/>
              </a:ext>
            </a:extLst>
          </p:cNvPr>
          <p:cNvSpPr/>
          <p:nvPr/>
        </p:nvSpPr>
        <p:spPr>
          <a:xfrm>
            <a:off x="5893599" y="1139062"/>
            <a:ext cx="81199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900" b="1" dirty="0" err="1" smtClean="0">
                <a:latin typeface="+mn-ea"/>
              </a:rPr>
              <a:t>승인자</a:t>
            </a:r>
            <a:r>
              <a:rPr lang="ko-KR" altLang="en-US" sz="900" b="1" dirty="0" smtClean="0">
                <a:latin typeface="+mn-ea"/>
              </a:rPr>
              <a:t> 지정</a:t>
            </a:r>
            <a:endParaRPr lang="en-US" altLang="ko-KR" sz="900" b="1" dirty="0"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2618" y="1341602"/>
            <a:ext cx="251992" cy="230832"/>
            <a:chOff x="4867678" y="3090156"/>
            <a:chExt cx="251992" cy="230832"/>
          </a:xfrm>
        </p:grpSpPr>
        <p:sp>
          <p:nvSpPr>
            <p:cNvPr id="15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453686" y="1334163"/>
            <a:ext cx="230832" cy="251992"/>
            <a:chOff x="4878258" y="3079576"/>
            <a:chExt cx="230832" cy="251992"/>
          </a:xfrm>
        </p:grpSpPr>
        <p:sp>
          <p:nvSpPr>
            <p:cNvPr id="15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174045" y="1759274"/>
            <a:ext cx="1271976" cy="1085792"/>
            <a:chOff x="7294667" y="3583609"/>
            <a:chExt cx="1271976" cy="1085792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7338647" y="3583609"/>
              <a:ext cx="1227995" cy="108579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직사각형 170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493510" y="3346370"/>
            <a:ext cx="1269330" cy="1097082"/>
            <a:chOff x="8789562" y="3583609"/>
            <a:chExt cx="1269330" cy="1097082"/>
          </a:xfrm>
        </p:grpSpPr>
        <p:sp>
          <p:nvSpPr>
            <p:cNvPr id="163" name="모서리가 둥근 직사각형 162"/>
            <p:cNvSpPr/>
            <p:nvPr/>
          </p:nvSpPr>
          <p:spPr>
            <a:xfrm>
              <a:off x="8833542" y="3583609"/>
              <a:ext cx="1225350" cy="1097082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>
              <a:off x="9032840" y="3652230"/>
              <a:ext cx="574431" cy="147938"/>
              <a:chOff x="7549662" y="2134169"/>
              <a:chExt cx="574431" cy="147938"/>
            </a:xfrm>
          </p:grpSpPr>
          <p:sp>
            <p:nvSpPr>
              <p:cNvPr id="165" name="직사각형 164"/>
              <p:cNvSpPr/>
              <p:nvPr/>
            </p:nvSpPr>
            <p:spPr>
              <a:xfrm>
                <a:off x="7836878" y="2134169"/>
                <a:ext cx="287215" cy="14755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tx1"/>
                    </a:solidFill>
                  </a:rPr>
                  <a:t>확인</a:t>
                </a:r>
                <a:endParaRPr lang="ko-KR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직사각형 165"/>
              <p:cNvSpPr/>
              <p:nvPr/>
            </p:nvSpPr>
            <p:spPr>
              <a:xfrm>
                <a:off x="7549662" y="2134557"/>
                <a:ext cx="287215" cy="1475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bg1"/>
                    </a:solidFill>
                  </a:rPr>
                  <a:t>결재</a:t>
                </a:r>
                <a:endParaRPr lang="ko-KR" altLang="en-US" sz="7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8" name="Freeform 11"/>
            <p:cNvSpPr>
              <a:spLocks noChangeArrowheads="1"/>
            </p:cNvSpPr>
            <p:nvPr/>
          </p:nvSpPr>
          <p:spPr bwMode="auto">
            <a:xfrm>
              <a:off x="9911281" y="3671450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8789562" y="3613523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8833540" y="3793918"/>
              <a:ext cx="9525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err="1" smtClean="0"/>
                <a:t>박경북</a:t>
              </a:r>
              <a:r>
                <a:rPr lang="en-US" altLang="ko-KR" sz="800" dirty="0" smtClean="0"/>
                <a:t>(P123010)</a:t>
              </a:r>
            </a:p>
            <a:p>
              <a:r>
                <a:rPr lang="ko-KR" altLang="en-US" sz="800" dirty="0" err="1" smtClean="0"/>
                <a:t>경영지원부</a:t>
              </a:r>
              <a:r>
                <a:rPr lang="en-US" altLang="ko-KR" sz="800" dirty="0" smtClean="0"/>
                <a:t>/</a:t>
              </a:r>
              <a:r>
                <a:rPr lang="ko-KR" altLang="en-US" sz="800" dirty="0" smtClean="0"/>
                <a:t>이사</a:t>
              </a:r>
              <a:endParaRPr lang="ko-KR" altLang="en-US" sz="800" dirty="0"/>
            </a:p>
          </p:txBody>
        </p:sp>
        <p:cxnSp>
          <p:nvCxnSpPr>
            <p:cNvPr id="173" name="직선 연결선 172"/>
            <p:cNvCxnSpPr/>
            <p:nvPr/>
          </p:nvCxnSpPr>
          <p:spPr>
            <a:xfrm flipV="1">
              <a:off x="8891286" y="4189874"/>
              <a:ext cx="1098122" cy="55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직사각형 173"/>
            <p:cNvSpPr/>
            <p:nvPr/>
          </p:nvSpPr>
          <p:spPr>
            <a:xfrm>
              <a:off x="8833540" y="4187121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9078582" y="4189874"/>
              <a:ext cx="910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3221162" y="3346048"/>
            <a:ext cx="1269330" cy="1109119"/>
            <a:chOff x="8789562" y="3583609"/>
            <a:chExt cx="1269330" cy="1109119"/>
          </a:xfrm>
        </p:grpSpPr>
        <p:sp>
          <p:nvSpPr>
            <p:cNvPr id="177" name="모서리가 둥근 직사각형 176"/>
            <p:cNvSpPr/>
            <p:nvPr/>
          </p:nvSpPr>
          <p:spPr>
            <a:xfrm>
              <a:off x="8833542" y="3583609"/>
              <a:ext cx="1225350" cy="1109119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9" name="그룹 178"/>
            <p:cNvGrpSpPr/>
            <p:nvPr/>
          </p:nvGrpSpPr>
          <p:grpSpPr>
            <a:xfrm>
              <a:off x="9032840" y="3646368"/>
              <a:ext cx="574431" cy="153800"/>
              <a:chOff x="7549662" y="2128307"/>
              <a:chExt cx="574431" cy="153800"/>
            </a:xfrm>
          </p:grpSpPr>
          <p:sp>
            <p:nvSpPr>
              <p:cNvPr id="186" name="직사각형 185"/>
              <p:cNvSpPr/>
              <p:nvPr/>
            </p:nvSpPr>
            <p:spPr>
              <a:xfrm>
                <a:off x="7836878" y="2128307"/>
                <a:ext cx="287215" cy="1475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bg1"/>
                    </a:solidFill>
                  </a:rPr>
                  <a:t>확인</a:t>
                </a:r>
                <a:endParaRPr lang="ko-KR" altLang="en-US" sz="7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직사각형 186"/>
              <p:cNvSpPr/>
              <p:nvPr/>
            </p:nvSpPr>
            <p:spPr>
              <a:xfrm>
                <a:off x="7549662" y="2134557"/>
                <a:ext cx="287215" cy="14755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tx1"/>
                    </a:solidFill>
                  </a:rPr>
                  <a:t>결재</a:t>
                </a:r>
                <a:endParaRPr lang="ko-KR" altLang="en-US" sz="7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0" name="Freeform 11"/>
            <p:cNvSpPr>
              <a:spLocks noChangeArrowheads="1"/>
            </p:cNvSpPr>
            <p:nvPr/>
          </p:nvSpPr>
          <p:spPr bwMode="auto">
            <a:xfrm>
              <a:off x="9911281" y="3671450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8789562" y="3613523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8833540" y="3793918"/>
              <a:ext cx="9525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/>
                <a:t>김수현</a:t>
              </a:r>
              <a:r>
                <a:rPr lang="en-US" altLang="ko-KR" sz="800" dirty="0" smtClean="0"/>
                <a:t>(P123020)</a:t>
              </a:r>
            </a:p>
            <a:p>
              <a:r>
                <a:rPr lang="ko-KR" altLang="en-US" sz="800" dirty="0" smtClean="0"/>
                <a:t>디자인</a:t>
              </a:r>
              <a:r>
                <a:rPr lang="en-US" altLang="ko-KR" sz="800" dirty="0" smtClean="0"/>
                <a:t>2</a:t>
              </a:r>
              <a:r>
                <a:rPr lang="ko-KR" altLang="en-US" sz="800" dirty="0" smtClean="0"/>
                <a:t>팀</a:t>
              </a:r>
              <a:r>
                <a:rPr lang="en-US" altLang="ko-KR" sz="800" dirty="0" smtClean="0"/>
                <a:t>/</a:t>
              </a:r>
              <a:r>
                <a:rPr lang="ko-KR" altLang="en-US" sz="800" dirty="0" smtClean="0"/>
                <a:t>팀장</a:t>
              </a:r>
              <a:endParaRPr lang="ko-KR" altLang="en-US" sz="800" dirty="0"/>
            </a:p>
          </p:txBody>
        </p:sp>
        <p:cxnSp>
          <p:nvCxnSpPr>
            <p:cNvPr id="183" name="직선 연결선 182"/>
            <p:cNvCxnSpPr/>
            <p:nvPr/>
          </p:nvCxnSpPr>
          <p:spPr>
            <a:xfrm flipV="1">
              <a:off x="8891286" y="4189874"/>
              <a:ext cx="1098122" cy="55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직사각형 183"/>
            <p:cNvSpPr/>
            <p:nvPr/>
          </p:nvSpPr>
          <p:spPr>
            <a:xfrm>
              <a:off x="8833540" y="4187121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9078582" y="4189874"/>
              <a:ext cx="910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3174045" y="4984663"/>
            <a:ext cx="1271976" cy="1070944"/>
            <a:chOff x="7294667" y="3583609"/>
            <a:chExt cx="1271976" cy="1070944"/>
          </a:xfrm>
        </p:grpSpPr>
        <p:sp>
          <p:nvSpPr>
            <p:cNvPr id="189" name="모서리가 둥근 직사각형 188"/>
            <p:cNvSpPr/>
            <p:nvPr/>
          </p:nvSpPr>
          <p:spPr>
            <a:xfrm>
              <a:off x="7338647" y="3583609"/>
              <a:ext cx="1227995" cy="1070944"/>
            </a:xfrm>
            <a:prstGeom prst="roundRect">
              <a:avLst>
                <a:gd name="adj" fmla="val 499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7537945" y="3659724"/>
              <a:ext cx="287215" cy="147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 smtClean="0">
                  <a:solidFill>
                    <a:schemeClr val="bg1"/>
                  </a:solidFill>
                </a:rPr>
                <a:t>기안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11"/>
            <p:cNvSpPr>
              <a:spLocks noChangeArrowheads="1"/>
            </p:cNvSpPr>
            <p:nvPr/>
          </p:nvSpPr>
          <p:spPr bwMode="auto">
            <a:xfrm>
              <a:off x="8410552" y="3682215"/>
              <a:ext cx="87922" cy="90582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7294667" y="3615354"/>
              <a:ext cx="2872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ko-KR" altLang="en-US" sz="800" dirty="0"/>
                <a:t>□</a:t>
              </a: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7338646" y="3830798"/>
              <a:ext cx="11128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b="1" dirty="0" smtClean="0"/>
                <a:t>%</a:t>
              </a:r>
              <a:r>
                <a:rPr lang="ko-KR" altLang="en-US" sz="800" b="1" dirty="0" smtClean="0"/>
                <a:t>사용자명</a:t>
              </a:r>
              <a:r>
                <a:rPr lang="en-US" altLang="ko-KR" sz="800" b="1" dirty="0" smtClean="0"/>
                <a:t>%</a:t>
              </a:r>
              <a:r>
                <a:rPr lang="en-US" altLang="ko-KR" sz="800" dirty="0" smtClean="0"/>
                <a:t>(%ID%)</a:t>
              </a:r>
            </a:p>
            <a:p>
              <a:r>
                <a:rPr lang="en-US" altLang="ko-KR" sz="800" dirty="0" smtClean="0"/>
                <a:t>%</a:t>
              </a:r>
              <a:r>
                <a:rPr lang="ko-KR" altLang="en-US" sz="800" dirty="0" smtClean="0"/>
                <a:t>부서명</a:t>
              </a:r>
              <a:r>
                <a:rPr lang="en-US" altLang="ko-KR" sz="800" dirty="0" smtClean="0"/>
                <a:t>%/%</a:t>
              </a:r>
              <a:r>
                <a:rPr lang="ko-KR" altLang="en-US" sz="800" dirty="0" smtClean="0"/>
                <a:t>직위</a:t>
              </a:r>
              <a:r>
                <a:rPr lang="en-US" altLang="ko-KR" sz="800" dirty="0" smtClean="0"/>
                <a:t>%</a:t>
              </a:r>
              <a:endParaRPr lang="ko-KR" altLang="en-US" sz="800" dirty="0"/>
            </a:p>
          </p:txBody>
        </p:sp>
        <p:cxnSp>
          <p:nvCxnSpPr>
            <p:cNvPr id="194" name="직선 연결선 193"/>
            <p:cNvCxnSpPr/>
            <p:nvPr/>
          </p:nvCxnSpPr>
          <p:spPr>
            <a:xfrm flipV="1">
              <a:off x="7403123" y="4192373"/>
              <a:ext cx="1055025" cy="4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직사각형 194"/>
            <p:cNvSpPr/>
            <p:nvPr/>
          </p:nvSpPr>
          <p:spPr>
            <a:xfrm>
              <a:off x="7345377" y="4184469"/>
              <a:ext cx="32412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일</a:t>
              </a:r>
              <a:endParaRPr lang="en-US" altLang="ko-KR" sz="700" dirty="0" smtClean="0"/>
            </a:p>
            <a:p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회</a:t>
              </a:r>
              <a:endParaRPr lang="ko-KR" altLang="en-US" sz="700" dirty="0"/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7625810" y="4184469"/>
              <a:ext cx="94083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700" dirty="0" smtClean="0"/>
                <a:t>10,000,000,000 </a:t>
              </a:r>
              <a:r>
                <a:rPr lang="ko-KR" altLang="en-US" sz="700" dirty="0" smtClean="0"/>
                <a:t>원</a:t>
              </a:r>
              <a:endParaRPr lang="en-US" altLang="ko-KR" sz="700" dirty="0" smtClean="0"/>
            </a:p>
            <a:p>
              <a:pPr algn="r"/>
              <a:r>
                <a:rPr lang="en-US" altLang="ko-KR" sz="700" dirty="0" smtClean="0"/>
                <a:t>5,000,000,000 </a:t>
              </a:r>
              <a:r>
                <a:rPr lang="ko-KR" altLang="en-US" sz="700" dirty="0" smtClean="0"/>
                <a:t>원</a:t>
              </a:r>
              <a:endParaRPr lang="ko-KR" altLang="en-US" sz="700" dirty="0"/>
            </a:p>
          </p:txBody>
        </p:sp>
      </p:grpSp>
      <p:sp>
        <p:nvSpPr>
          <p:cNvPr id="200" name="모서리가 둥근 직사각형 199"/>
          <p:cNvSpPr/>
          <p:nvPr/>
        </p:nvSpPr>
        <p:spPr>
          <a:xfrm>
            <a:off x="3833577" y="3116386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45663" y="1657633"/>
            <a:ext cx="251992" cy="230832"/>
            <a:chOff x="4867678" y="3090156"/>
            <a:chExt cx="251992" cy="230832"/>
          </a:xfrm>
        </p:grpSpPr>
        <p:sp>
          <p:nvSpPr>
            <p:cNvPr id="20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29258" y="2959025"/>
            <a:ext cx="251992" cy="230832"/>
            <a:chOff x="4867678" y="3090156"/>
            <a:chExt cx="251992" cy="230832"/>
          </a:xfrm>
        </p:grpSpPr>
        <p:sp>
          <p:nvSpPr>
            <p:cNvPr id="20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76925" y="3120645"/>
            <a:ext cx="251992" cy="230832"/>
            <a:chOff x="4867678" y="3090156"/>
            <a:chExt cx="251992" cy="230832"/>
          </a:xfrm>
        </p:grpSpPr>
        <p:sp>
          <p:nvSpPr>
            <p:cNvPr id="20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948122" y="3385527"/>
            <a:ext cx="230832" cy="251992"/>
            <a:chOff x="4878258" y="3079576"/>
            <a:chExt cx="230832" cy="251992"/>
          </a:xfrm>
        </p:grpSpPr>
        <p:sp>
          <p:nvSpPr>
            <p:cNvPr id="2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471408" y="3553398"/>
            <a:ext cx="251992" cy="230832"/>
            <a:chOff x="4867678" y="3090156"/>
            <a:chExt cx="251992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6539504" y="963087"/>
            <a:ext cx="251992" cy="230832"/>
            <a:chOff x="4867678" y="3090156"/>
            <a:chExt cx="251992" cy="230832"/>
          </a:xfrm>
        </p:grpSpPr>
        <p:sp>
          <p:nvSpPr>
            <p:cNvPr id="21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1" name="Rectangle 4">
            <a:extLst>
              <a:ext uri="{FF2B5EF4-FFF2-40B4-BE49-F238E27FC236}">
                <a16:creationId xmlns:a16="http://schemas.microsoft.com/office/drawing/2014/main" id="{2F14C0AB-AEF4-BA47-1E9E-6F1DBD6BFFFD}"/>
              </a:ext>
            </a:extLst>
          </p:cNvPr>
          <p:cNvSpPr/>
          <p:nvPr/>
        </p:nvSpPr>
        <p:spPr>
          <a:xfrm>
            <a:off x="3036376" y="1660544"/>
            <a:ext cx="319318" cy="230832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ko-KR" sz="900" b="1" dirty="0" smtClean="0">
                <a:solidFill>
                  <a:prstClr val="white"/>
                </a:solidFill>
                <a:latin typeface="+mn-ea"/>
              </a:rPr>
              <a:t>10</a:t>
            </a:r>
            <a:endParaRPr lang="ko-KR" altLang="en-US" sz="9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477515" y="3288459"/>
            <a:ext cx="319318" cy="230832"/>
            <a:chOff x="4834015" y="3090156"/>
            <a:chExt cx="319318" cy="230832"/>
          </a:xfrm>
        </p:grpSpPr>
        <p:sp>
          <p:nvSpPr>
            <p:cNvPr id="22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196244" y="3258913"/>
            <a:ext cx="230832" cy="319318"/>
            <a:chOff x="4878258" y="3045913"/>
            <a:chExt cx="230832" cy="319318"/>
          </a:xfrm>
        </p:grpSpPr>
        <p:sp>
          <p:nvSpPr>
            <p:cNvPr id="22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372169" y="2968319"/>
            <a:ext cx="230832" cy="319318"/>
            <a:chOff x="4878258" y="3045913"/>
            <a:chExt cx="230832" cy="319318"/>
          </a:xfrm>
        </p:grpSpPr>
        <p:sp>
          <p:nvSpPr>
            <p:cNvPr id="23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6969414" y="3038121"/>
            <a:ext cx="230832" cy="251992"/>
            <a:chOff x="4878258" y="3079576"/>
            <a:chExt cx="230832" cy="251992"/>
          </a:xfrm>
        </p:grpSpPr>
        <p:sp>
          <p:nvSpPr>
            <p:cNvPr id="23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372169" y="1687673"/>
            <a:ext cx="230832" cy="319318"/>
            <a:chOff x="4878258" y="3045913"/>
            <a:chExt cx="230832" cy="319318"/>
          </a:xfrm>
        </p:grpSpPr>
        <p:sp>
          <p:nvSpPr>
            <p:cNvPr id="2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206720" y="4867256"/>
            <a:ext cx="319318" cy="230832"/>
            <a:chOff x="4834015" y="3090156"/>
            <a:chExt cx="319318" cy="230832"/>
          </a:xfrm>
        </p:grpSpPr>
        <p:sp>
          <p:nvSpPr>
            <p:cNvPr id="24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947133" y="6053932"/>
            <a:ext cx="230832" cy="319318"/>
            <a:chOff x="4878258" y="3045913"/>
            <a:chExt cx="230832" cy="319318"/>
          </a:xfrm>
        </p:grpSpPr>
        <p:sp>
          <p:nvSpPr>
            <p:cNvPr id="24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29875" y="1693541"/>
            <a:ext cx="319318" cy="230832"/>
            <a:chOff x="4834015" y="3090156"/>
            <a:chExt cx="319318" cy="230832"/>
          </a:xfrm>
        </p:grpSpPr>
        <p:sp>
          <p:nvSpPr>
            <p:cNvPr id="24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108825" y="1761903"/>
            <a:ext cx="2444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smtClean="0">
                <a:solidFill>
                  <a:srgbClr val="FF0000"/>
                </a:solidFill>
              </a:rPr>
              <a:t>마지막 결재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smtClean="0">
                <a:solidFill>
                  <a:srgbClr val="FF0000"/>
                </a:solidFill>
              </a:rPr>
              <a:t>승인</a:t>
            </a:r>
            <a:r>
              <a:rPr lang="en-US" altLang="ko-KR" sz="800" dirty="0" smtClean="0">
                <a:solidFill>
                  <a:srgbClr val="FF0000"/>
                </a:solidFill>
              </a:rPr>
              <a:t>) </a:t>
            </a:r>
            <a:r>
              <a:rPr lang="ko-KR" altLang="en-US" sz="800" dirty="0" smtClean="0">
                <a:solidFill>
                  <a:srgbClr val="FF0000"/>
                </a:solidFill>
              </a:rPr>
              <a:t>단계에는 </a:t>
            </a:r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명만 등록이 가능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확인자를</a:t>
            </a:r>
            <a:r>
              <a:rPr lang="ko-KR" altLang="en-US" sz="800" dirty="0" smtClean="0">
                <a:solidFill>
                  <a:srgbClr val="FF0000"/>
                </a:solidFill>
              </a:rPr>
              <a:t> 등록할 수 없음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3)          :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승인자지정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OFF</a:t>
            </a:r>
          </a:p>
          <a:p>
            <a:endParaRPr lang="en-US" altLang="ko-KR" sz="800" dirty="0" smtClean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4)          :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승인자지정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ON</a:t>
            </a:r>
          </a:p>
          <a:p>
            <a:r>
              <a:rPr lang="en-US" altLang="ko-KR" sz="800" dirty="0">
                <a:solidFill>
                  <a:srgbClr val="FF0000"/>
                </a:solidFill>
              </a:rPr>
              <a:t/>
            </a:r>
            <a:br>
              <a:rPr lang="en-US" altLang="ko-KR" sz="800" dirty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5) </a:t>
            </a:r>
            <a:r>
              <a:rPr lang="ko-KR" altLang="en-US" sz="800" dirty="0" smtClean="0">
                <a:solidFill>
                  <a:srgbClr val="FF0000"/>
                </a:solidFill>
              </a:rPr>
              <a:t>단독결재불가자는 추가 불가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7108825" y="3186896"/>
            <a:ext cx="2444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smtClean="0">
                <a:solidFill>
                  <a:srgbClr val="FF0000"/>
                </a:solidFill>
              </a:rPr>
              <a:t>중간 결재</a:t>
            </a:r>
            <a:r>
              <a:rPr lang="en-US" altLang="ko-KR" sz="800" dirty="0" smtClean="0">
                <a:solidFill>
                  <a:srgbClr val="FF0000"/>
                </a:solidFill>
              </a:rPr>
              <a:t>(</a:t>
            </a:r>
            <a:r>
              <a:rPr lang="ko-KR" altLang="en-US" sz="800" dirty="0" smtClean="0">
                <a:solidFill>
                  <a:srgbClr val="FF0000"/>
                </a:solidFill>
              </a:rPr>
              <a:t>승인</a:t>
            </a:r>
            <a:r>
              <a:rPr lang="en-US" altLang="ko-KR" sz="800" dirty="0" smtClean="0">
                <a:solidFill>
                  <a:srgbClr val="FF0000"/>
                </a:solidFill>
              </a:rPr>
              <a:t>) </a:t>
            </a:r>
            <a:r>
              <a:rPr lang="ko-KR" altLang="en-US" sz="800" dirty="0" smtClean="0">
                <a:solidFill>
                  <a:srgbClr val="FF0000"/>
                </a:solidFill>
              </a:rPr>
              <a:t>단계에는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</a:t>
            </a:r>
            <a:r>
              <a:rPr lang="ko-KR" altLang="en-US" sz="800" dirty="0" smtClean="0">
                <a:solidFill>
                  <a:srgbClr val="FF0000"/>
                </a:solidFill>
              </a:rPr>
              <a:t> 포함하여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   </a:t>
            </a:r>
            <a:r>
              <a:rPr lang="ko-KR" altLang="en-US" sz="800" dirty="0" smtClean="0">
                <a:solidFill>
                  <a:srgbClr val="FF0000"/>
                </a:solidFill>
              </a:rPr>
              <a:t>최대 </a:t>
            </a:r>
            <a:r>
              <a:rPr lang="en-US" altLang="ko-KR" sz="800" dirty="0" smtClean="0">
                <a:solidFill>
                  <a:srgbClr val="FF0000"/>
                </a:solidFill>
              </a:rPr>
              <a:t>9</a:t>
            </a:r>
            <a:r>
              <a:rPr lang="ko-KR" altLang="en-US" sz="800" dirty="0" smtClean="0">
                <a:solidFill>
                  <a:srgbClr val="FF0000"/>
                </a:solidFill>
              </a:rPr>
              <a:t>명까지 설정 가능함</a:t>
            </a:r>
            <a:r>
              <a:rPr lang="en-US" altLang="ko-KR" sz="8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결재권자는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 이상 설정 필수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3)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결재권자</a:t>
            </a:r>
            <a:r>
              <a:rPr lang="en-US" altLang="ko-KR" sz="800" dirty="0" smtClean="0">
                <a:solidFill>
                  <a:srgbClr val="FF0000"/>
                </a:solidFill>
              </a:rPr>
              <a:t>/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확인자를</a:t>
            </a:r>
            <a:r>
              <a:rPr lang="ko-KR" altLang="en-US" sz="800" dirty="0" smtClean="0">
                <a:solidFill>
                  <a:srgbClr val="FF0000"/>
                </a:solidFill>
              </a:rPr>
              <a:t> 카드영역내에서 선택 가능</a:t>
            </a:r>
            <a:endParaRPr lang="en-US" altLang="ko-KR" sz="800" dirty="0" smtClean="0">
              <a:solidFill>
                <a:srgbClr val="FF0000"/>
              </a:solidFill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108825" y="5065840"/>
            <a:ext cx="2444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1)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기안단계는</a:t>
            </a:r>
            <a:r>
              <a:rPr lang="ko-KR" altLang="en-US" sz="800" dirty="0" smtClean="0">
                <a:solidFill>
                  <a:srgbClr val="FF0000"/>
                </a:solidFill>
              </a:rPr>
              <a:t> 최대 </a:t>
            </a:r>
            <a:r>
              <a:rPr lang="en-US" altLang="ko-KR" sz="800" dirty="0" smtClean="0">
                <a:solidFill>
                  <a:srgbClr val="FF0000"/>
                </a:solidFill>
              </a:rPr>
              <a:t>9</a:t>
            </a:r>
            <a:r>
              <a:rPr lang="ko-KR" altLang="en-US" sz="800" dirty="0" smtClean="0">
                <a:solidFill>
                  <a:srgbClr val="FF0000"/>
                </a:solidFill>
              </a:rPr>
              <a:t>명까지 설정 가능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2) </a:t>
            </a:r>
            <a:r>
              <a:rPr lang="ko-KR" altLang="en-US" sz="800" dirty="0" smtClean="0">
                <a:solidFill>
                  <a:srgbClr val="FF0000"/>
                </a:solidFill>
              </a:rPr>
              <a:t>기안불가자는 추가 불가함</a:t>
            </a:r>
            <a:endParaRPr lang="en-US" altLang="ko-KR" sz="800" dirty="0" smtClean="0">
              <a:solidFill>
                <a:srgbClr val="FF0000"/>
              </a:solidFill>
            </a:endParaRPr>
          </a:p>
          <a:p>
            <a:endParaRPr lang="en-US" altLang="ko-KR" sz="800" dirty="0" smtClean="0">
              <a:solidFill>
                <a:srgbClr val="FF0000"/>
              </a:solidFill>
            </a:endParaRPr>
          </a:p>
          <a:p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 smtClean="0">
                <a:solidFill>
                  <a:srgbClr val="FF0000"/>
                </a:solidFill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</a:rPr>
              <a:t>모든 단계는 </a:t>
            </a:r>
            <a:r>
              <a:rPr lang="en-US" altLang="ko-KR" sz="800" dirty="0">
                <a:solidFill>
                  <a:srgbClr val="FF0000"/>
                </a:solidFill>
              </a:rPr>
              <a:t>3X3 </a:t>
            </a:r>
            <a:r>
              <a:rPr lang="ko-KR" altLang="en-US" sz="800" dirty="0">
                <a:solidFill>
                  <a:srgbClr val="FF0000"/>
                </a:solidFill>
              </a:rPr>
              <a:t>배열을 기본으로 </a:t>
            </a:r>
            <a:r>
              <a:rPr lang="ko-KR" altLang="en-US" sz="800" dirty="0" smtClean="0">
                <a:solidFill>
                  <a:srgbClr val="FF0000"/>
                </a:solidFill>
              </a:rPr>
              <a:t>한다</a:t>
            </a:r>
            <a:r>
              <a:rPr lang="en-US" altLang="ko-KR" sz="800" dirty="0" smtClean="0">
                <a:solidFill>
                  <a:srgbClr val="FF0000"/>
                </a:solidFill>
              </a:rPr>
              <a:t>.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  </a:t>
            </a:r>
            <a:r>
              <a:rPr lang="ko-KR" altLang="en-US" sz="800" dirty="0" smtClean="0">
                <a:solidFill>
                  <a:srgbClr val="FF0000"/>
                </a:solidFill>
              </a:rPr>
              <a:t>디자인에 따라 달라질 수 있음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3399674" y="183767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7325276" y="205676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7325276" y="227630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4262436" y="5776226"/>
            <a:ext cx="230832" cy="319318"/>
            <a:chOff x="4878258" y="3045913"/>
            <a:chExt cx="230832" cy="319318"/>
          </a:xfrm>
        </p:grpSpPr>
        <p:sp>
          <p:nvSpPr>
            <p:cNvPr id="25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5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59" name="모서리가 둥근 직사각형 258"/>
          <p:cNvSpPr/>
          <p:nvPr/>
        </p:nvSpPr>
        <p:spPr>
          <a:xfrm>
            <a:off x="3751948" y="4756969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1769717" y="4563664"/>
            <a:ext cx="230832" cy="319318"/>
            <a:chOff x="4878258" y="3045913"/>
            <a:chExt cx="230832" cy="319318"/>
          </a:xfrm>
        </p:grpSpPr>
        <p:sp>
          <p:nvSpPr>
            <p:cNvPr id="26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64" name="모서리가 둥근 직사각형 263"/>
          <p:cNvSpPr/>
          <p:nvPr/>
        </p:nvSpPr>
        <p:spPr>
          <a:xfrm>
            <a:off x="4194788" y="2223750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5" name="모서리가 둥근 직사각형 264"/>
          <p:cNvSpPr/>
          <p:nvPr/>
        </p:nvSpPr>
        <p:spPr>
          <a:xfrm>
            <a:off x="5463874" y="3788448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229745" y="3769643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7" name="모서리가 둥근 직사각형 266"/>
          <p:cNvSpPr/>
          <p:nvPr/>
        </p:nvSpPr>
        <p:spPr>
          <a:xfrm>
            <a:off x="4180614" y="5435457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4007797" y="6445635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049225" y="6350564"/>
            <a:ext cx="319318" cy="230832"/>
            <a:chOff x="4834015" y="3090156"/>
            <a:chExt cx="319318" cy="230832"/>
          </a:xfrm>
        </p:grpSpPr>
        <p:sp>
          <p:nvSpPr>
            <p:cNvPr id="27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2" name="직사각형 271"/>
          <p:cNvSpPr/>
          <p:nvPr/>
        </p:nvSpPr>
        <p:spPr>
          <a:xfrm>
            <a:off x="5030359" y="6445635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953716" y="6379424"/>
            <a:ext cx="230832" cy="319318"/>
            <a:chOff x="4878258" y="3045913"/>
            <a:chExt cx="230832" cy="319318"/>
          </a:xfrm>
        </p:grpSpPr>
        <p:sp>
          <p:nvSpPr>
            <p:cNvPr id="27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276" name="직선 연결선 275"/>
          <p:cNvCxnSpPr/>
          <p:nvPr/>
        </p:nvCxnSpPr>
        <p:spPr>
          <a:xfrm>
            <a:off x="3213581" y="2655883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직사각형 276"/>
          <p:cNvSpPr/>
          <p:nvPr/>
        </p:nvSpPr>
        <p:spPr>
          <a:xfrm>
            <a:off x="3560930" y="2642924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78" name="직선 연결선 277"/>
          <p:cNvCxnSpPr/>
          <p:nvPr/>
        </p:nvCxnSpPr>
        <p:spPr>
          <a:xfrm>
            <a:off x="4542867" y="4261133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직사각형 278"/>
          <p:cNvSpPr/>
          <p:nvPr/>
        </p:nvSpPr>
        <p:spPr>
          <a:xfrm>
            <a:off x="4890216" y="4248174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80" name="직선 연결선 279"/>
          <p:cNvCxnSpPr/>
          <p:nvPr/>
        </p:nvCxnSpPr>
        <p:spPr>
          <a:xfrm>
            <a:off x="3270472" y="4273108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직사각형 280"/>
          <p:cNvSpPr/>
          <p:nvPr/>
        </p:nvSpPr>
        <p:spPr>
          <a:xfrm>
            <a:off x="3617821" y="4260149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cxnSp>
        <p:nvCxnSpPr>
          <p:cNvPr id="282" name="직선 연결선 281"/>
          <p:cNvCxnSpPr/>
          <p:nvPr/>
        </p:nvCxnSpPr>
        <p:spPr>
          <a:xfrm>
            <a:off x="3226610" y="5893115"/>
            <a:ext cx="123243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직사각형 282"/>
          <p:cNvSpPr/>
          <p:nvPr/>
        </p:nvSpPr>
        <p:spPr>
          <a:xfrm>
            <a:off x="3573959" y="5880156"/>
            <a:ext cx="54373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smtClean="0"/>
              <a:t>상세보기</a:t>
            </a:r>
            <a:endParaRPr lang="ko-KR" altLang="en-US" sz="7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461739" y="524442"/>
            <a:ext cx="2222154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버튼 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87" name="직사각형 286"/>
          <p:cNvSpPr/>
          <p:nvPr/>
        </p:nvSpPr>
        <p:spPr>
          <a:xfrm>
            <a:off x="2995234" y="6454390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2823738" y="6350564"/>
            <a:ext cx="319318" cy="230832"/>
            <a:chOff x="4834015" y="3090156"/>
            <a:chExt cx="319318" cy="230832"/>
          </a:xfrm>
        </p:grpSpPr>
        <p:sp>
          <p:nvSpPr>
            <p:cNvPr id="28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5" name="직사각형 294"/>
          <p:cNvSpPr/>
          <p:nvPr/>
        </p:nvSpPr>
        <p:spPr>
          <a:xfrm>
            <a:off x="263771" y="6186456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595160" y="618645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929937" y="6186456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1261326" y="618145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49737" y="6011684"/>
            <a:ext cx="1298804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상태에 따른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08" name="모서리가 둥근 직사각형 307"/>
          <p:cNvSpPr/>
          <p:nvPr/>
        </p:nvSpPr>
        <p:spPr>
          <a:xfrm>
            <a:off x="7290220" y="4069038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전체선택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09" name="모서리가 둥근 직사각형 308"/>
          <p:cNvSpPr/>
          <p:nvPr/>
        </p:nvSpPr>
        <p:spPr>
          <a:xfrm>
            <a:off x="7290220" y="4298168"/>
            <a:ext cx="561782" cy="1577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전체해제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271063" y="3917337"/>
            <a:ext cx="1440473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전체선택 여부에 따라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7811495" y="4040210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r>
              <a:rPr lang="ko-KR" altLang="en-US" sz="800" dirty="0" smtClean="0">
                <a:solidFill>
                  <a:srgbClr val="FF0000"/>
                </a:solidFill>
              </a:rPr>
              <a:t>명이라도 선택 되지 않은 경우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7811495" y="4267954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</a:rPr>
              <a:t>모든 사용자가 선택된 경우에만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구성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198" name="표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11553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99" name="모서리가 둥근 직사각형 198"/>
          <p:cNvSpPr/>
          <p:nvPr/>
        </p:nvSpPr>
        <p:spPr>
          <a:xfrm>
            <a:off x="2242552" y="1671145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12096063" y="316532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기안댄계는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최대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21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명 까지 등록 가능함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089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기안불가자는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기안불가자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추가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9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명만 추가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각 단계에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9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 이상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380358" y="3296856"/>
            <a:ext cx="2950119" cy="1490703"/>
            <a:chOff x="201576" y="3100646"/>
            <a:chExt cx="2950119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단독결재불가자는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마지막 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승인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)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98850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단독결재불가자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695876" y="1450476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확인자는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각 단계별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8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명만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추가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70336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8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초과한 경우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10441752" y="151056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45531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877" y="338220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8681321" y="2545586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3975347" y="3296856"/>
            <a:ext cx="2950119" cy="1490703"/>
            <a:chOff x="201576" y="3100646"/>
            <a:chExt cx="2950119" cy="1490703"/>
          </a:xfrm>
        </p:grpSpPr>
        <p:grpSp>
          <p:nvGrpSpPr>
            <p:cNvPr id="71" name="그룹 70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73" name="직사각형 72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마지막 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승인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)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명만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추가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2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893839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초과하여 추가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156866" y="338220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7695876" y="3296856"/>
            <a:ext cx="2950119" cy="1490703"/>
            <a:chOff x="6872544" y="4197176"/>
            <a:chExt cx="2950119" cy="1490703"/>
          </a:xfrm>
        </p:grpSpPr>
        <p:sp>
          <p:nvSpPr>
            <p:cNvPr id="84" name="직사각형 83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단계에는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확인자를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추가할 수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결재자로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변경하여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추가하시겠습까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7570336" y="3005682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이동 처리 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드래그앤드랍으로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8" name="Freeform 11"/>
          <p:cNvSpPr>
            <a:spLocks noChangeArrowheads="1"/>
          </p:cNvSpPr>
          <p:nvPr/>
        </p:nvSpPr>
        <p:spPr bwMode="auto">
          <a:xfrm>
            <a:off x="10441752" y="335694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7845531" y="336056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380358" y="5184208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결재단계는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7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 까지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54818" y="489303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단계를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단계 초과 추가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6" name="Freeform 11"/>
          <p:cNvSpPr>
            <a:spLocks noChangeArrowheads="1"/>
          </p:cNvSpPr>
          <p:nvPr/>
        </p:nvSpPr>
        <p:spPr bwMode="auto">
          <a:xfrm>
            <a:off x="3126234" y="524429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30013" y="5247921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365803" y="627931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450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결재단계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삭제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376363" y="1412104"/>
            <a:ext cx="2950119" cy="1490703"/>
            <a:chOff x="6872544" y="4197176"/>
            <a:chExt cx="2950119" cy="1490703"/>
          </a:xfrm>
        </p:grpSpPr>
        <p:sp>
          <p:nvSpPr>
            <p:cNvPr id="67" name="직사각형 6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3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50823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없음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2" name="Freeform 11"/>
          <p:cNvSpPr>
            <a:spLocks noChangeArrowheads="1"/>
          </p:cNvSpPr>
          <p:nvPr/>
        </p:nvSpPr>
        <p:spPr bwMode="auto">
          <a:xfrm>
            <a:off x="3122239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526018" y="1475817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20" name="그룹 119"/>
          <p:cNvGrpSpPr/>
          <p:nvPr/>
        </p:nvGrpSpPr>
        <p:grpSpPr>
          <a:xfrm>
            <a:off x="4096892" y="1412104"/>
            <a:ext cx="2950119" cy="1490703"/>
            <a:chOff x="6872544" y="4197176"/>
            <a:chExt cx="2950119" cy="1490703"/>
          </a:xfrm>
        </p:grpSpPr>
        <p:sp>
          <p:nvSpPr>
            <p:cNvPr id="121" name="직사각형 120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구성원이 있습니다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 포함된 구성원도 삭제됩니다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결재단계를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3971352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존재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5" name="Freeform 11"/>
          <p:cNvSpPr>
            <a:spLocks noChangeArrowheads="1"/>
          </p:cNvSpPr>
          <p:nvPr/>
        </p:nvSpPr>
        <p:spPr bwMode="auto">
          <a:xfrm>
            <a:off x="6842768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246547" y="1475817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</p:spTree>
    <p:extLst>
      <p:ext uri="{BB962C8B-B14F-4D97-AF65-F5344CB8AC3E}">
        <p14:creationId xmlns:p14="http://schemas.microsoft.com/office/powerpoint/2010/main" val="72680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기안자는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결재권자는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001432"/>
            <a:ext cx="29578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결재단계에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결재권자없이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있는경우도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포함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235482" y="504378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결재선정보확인 이동 전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019379" y="4887862"/>
            <a:ext cx="2950119" cy="1490703"/>
            <a:chOff x="6872544" y="4197176"/>
            <a:chExt cx="2950119" cy="1490703"/>
          </a:xfrm>
        </p:grpSpPr>
        <p:sp>
          <p:nvSpPr>
            <p:cNvPr id="48" name="직사각형 47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수정을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893839" y="4596688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Freeform 11"/>
          <p:cNvSpPr>
            <a:spLocks noChangeArrowheads="1"/>
          </p:cNvSpPr>
          <p:nvPr/>
        </p:nvSpPr>
        <p:spPr bwMode="auto">
          <a:xfrm>
            <a:off x="6765255" y="49479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169034" y="495157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029562" y="403628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424390" y="4892833"/>
            <a:ext cx="2950119" cy="1490703"/>
            <a:chOff x="6872544" y="4197176"/>
            <a:chExt cx="2950119" cy="1490703"/>
          </a:xfrm>
        </p:grpSpPr>
        <p:sp>
          <p:nvSpPr>
            <p:cNvPr id="62" name="직사각형 61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기본 설정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화면으로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이동하시겠습니까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98850" y="4601659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이전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6" name="Freeform 11"/>
          <p:cNvSpPr>
            <a:spLocks noChangeArrowheads="1"/>
          </p:cNvSpPr>
          <p:nvPr/>
        </p:nvSpPr>
        <p:spPr bwMode="auto">
          <a:xfrm>
            <a:off x="3170266" y="49529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74045" y="495654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34573" y="4041260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이전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4390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</a:rPr>
              <a:t>결재선기본설정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975347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1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확인자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 지정 </a:t>
            </a:r>
            <a:r>
              <a:rPr lang="ko-KR" altLang="en-US" sz="1100" b="1" spc="-150" dirty="0" err="1" smtClean="0">
                <a:solidFill>
                  <a:prstClr val="black"/>
                </a:solidFill>
                <a:ea typeface="맑은 고딕"/>
              </a:rPr>
              <a:t>알럿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50" y="1635504"/>
            <a:ext cx="4639322" cy="2838846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893" y="1635504"/>
            <a:ext cx="4639322" cy="2838846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5515496" y="2543695"/>
            <a:ext cx="374073" cy="66501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252854" y="2543695"/>
            <a:ext cx="3221181" cy="785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287774" y="2566555"/>
            <a:ext cx="14302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[YYYY-MM-DD HH:MM:SS]</a:t>
            </a:r>
            <a:endParaRPr lang="ko-KR" altLang="en-US" sz="800" dirty="0"/>
          </a:p>
        </p:txBody>
      </p:sp>
      <p:sp>
        <p:nvSpPr>
          <p:cNvPr id="44" name="TextBox 43"/>
          <p:cNvSpPr txBox="1"/>
          <p:nvPr/>
        </p:nvSpPr>
        <p:spPr>
          <a:xfrm>
            <a:off x="7287774" y="2804859"/>
            <a:ext cx="3051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/>
              <a:t>확인자가</a:t>
            </a:r>
            <a:r>
              <a:rPr lang="ko-KR" altLang="en-US" sz="800" dirty="0" smtClean="0"/>
              <a:t> 포함 된 </a:t>
            </a:r>
            <a:r>
              <a:rPr lang="ko-KR" altLang="en-US" sz="800" dirty="0" err="1" smtClean="0"/>
              <a:t>결재선은</a:t>
            </a:r>
            <a:r>
              <a:rPr lang="ko-KR" altLang="en-US" sz="800" dirty="0" smtClean="0"/>
              <a:t> </a:t>
            </a:r>
            <a:r>
              <a:rPr lang="en-US" altLang="ko-KR" sz="800" dirty="0" err="1" smtClean="0"/>
              <a:t>sERP</a:t>
            </a:r>
            <a:r>
              <a:rPr lang="ko-KR" altLang="en-US" sz="800" dirty="0" smtClean="0"/>
              <a:t>서비스</a:t>
            </a:r>
            <a:r>
              <a:rPr lang="en-US" altLang="ko-KR" sz="800" dirty="0" smtClean="0"/>
              <a:t>(</a:t>
            </a:r>
            <a:r>
              <a:rPr lang="en-US" altLang="ko-KR" sz="800" dirty="0" err="1" smtClean="0"/>
              <a:t>eCashPlan</a:t>
            </a:r>
            <a:r>
              <a:rPr lang="en-US" altLang="ko-KR" sz="800" dirty="0" smtClean="0"/>
              <a:t>, Lite, </a:t>
            </a:r>
            <a:r>
              <a:rPr lang="ko-KR" altLang="en-US" sz="800" dirty="0" err="1" smtClean="0"/>
              <a:t>경리나라</a:t>
            </a:r>
            <a:r>
              <a:rPr lang="en-US" altLang="ko-KR" sz="800" dirty="0" smtClean="0"/>
              <a:t>) </a:t>
            </a:r>
            <a:r>
              <a:rPr lang="ko-KR" altLang="en-US" sz="800" dirty="0" smtClean="0"/>
              <a:t>의 </a:t>
            </a:r>
            <a:r>
              <a:rPr lang="ko-KR" altLang="en-US" sz="800" dirty="0" err="1" smtClean="0"/>
              <a:t>결재선으로</a:t>
            </a:r>
            <a:r>
              <a:rPr lang="ko-KR" altLang="en-US" sz="800" dirty="0" smtClean="0"/>
              <a:t> 사용하실 수 없습니다</a:t>
            </a:r>
            <a:r>
              <a:rPr lang="en-US" altLang="ko-KR" sz="800" smtClean="0"/>
              <a:t>.</a:t>
            </a:r>
            <a:endParaRPr lang="en-US" altLang="ko-KR" sz="800" dirty="0" smtClean="0"/>
          </a:p>
          <a:p>
            <a:r>
              <a:rPr lang="ko-KR" altLang="en-US" sz="800" dirty="0" smtClean="0"/>
              <a:t>계속 진행 하시겠습니까</a:t>
            </a:r>
            <a:r>
              <a:rPr lang="en-US" altLang="ko-KR" sz="800" dirty="0" smtClean="0"/>
              <a:t>?</a:t>
            </a:r>
            <a:endParaRPr lang="ko-KR" altLang="en-US" sz="800" dirty="0"/>
          </a:p>
        </p:txBody>
      </p:sp>
      <p:sp>
        <p:nvSpPr>
          <p:cNvPr id="6" name="직사각형 5"/>
          <p:cNvSpPr/>
          <p:nvPr/>
        </p:nvSpPr>
        <p:spPr>
          <a:xfrm>
            <a:off x="7272533" y="2507679"/>
            <a:ext cx="3066865" cy="829188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00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결재선입력확인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402866"/>
              </p:ext>
            </p:extLst>
          </p:nvPr>
        </p:nvGraphicFramePr>
        <p:xfrm>
          <a:off x="9822663" y="540019"/>
          <a:ext cx="2195166" cy="14786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상제 정보 표시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구성원 정보 표시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로그인방법에 따른 전자서명 처리 후</a:t>
                      </a:r>
                      <a:endParaRPr lang="en-US" altLang="ko-KR" sz="65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결재선구성완료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65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등록수정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1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</a:t>
                      </a:r>
                      <a:r>
                        <a:rPr lang="en-US" altLang="ko-KR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65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</a:t>
                      </a:r>
                      <a:endParaRPr lang="en-US" altLang="ko-KR" sz="6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1401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입력 확인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323"/>
            <a:ext cx="1644931" cy="173081"/>
            <a:chOff x="5063489" y="537323"/>
            <a:chExt cx="1644931" cy="173081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637919" y="537323"/>
              <a:ext cx="83574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3</a:t>
              </a:r>
              <a:r>
                <a:rPr lang="en-US" altLang="ko-KR" sz="80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입력확인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5350704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6536216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4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303628" y="1282662"/>
            <a:ext cx="1158330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93136"/>
              </p:ext>
            </p:extLst>
          </p:nvPr>
        </p:nvGraphicFramePr>
        <p:xfrm>
          <a:off x="298850" y="1698557"/>
          <a:ext cx="8053842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6277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구분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수정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결재선명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결재선명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결재선유형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결재선단계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승인자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승인자여부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결재선업무범위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%,~,~,~, %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결재대상업무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%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316434" y="3470350"/>
            <a:ext cx="884216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 구성원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551643" y="5925319"/>
            <a:ext cx="955387" cy="24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다음</a:t>
            </a:r>
            <a:endParaRPr lang="ko-KR" altLang="en-US" sz="1200" dirty="0"/>
          </a:p>
        </p:txBody>
      </p:sp>
      <p:sp>
        <p:nvSpPr>
          <p:cNvPr id="87" name="직사각형 86"/>
          <p:cNvSpPr/>
          <p:nvPr/>
        </p:nvSpPr>
        <p:spPr>
          <a:xfrm>
            <a:off x="4574205" y="5925319"/>
            <a:ext cx="955387" cy="242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취소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2854" y="1557939"/>
            <a:ext cx="251992" cy="230832"/>
            <a:chOff x="4867678" y="3090156"/>
            <a:chExt cx="251992" cy="230832"/>
          </a:xfrm>
        </p:grpSpPr>
        <p:sp>
          <p:nvSpPr>
            <p:cNvPr id="90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358472" y="5846667"/>
            <a:ext cx="251992" cy="230832"/>
            <a:chOff x="4867678" y="3090156"/>
            <a:chExt cx="251992" cy="230832"/>
          </a:xfrm>
        </p:grpSpPr>
        <p:sp>
          <p:nvSpPr>
            <p:cNvPr id="9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561726" y="5841156"/>
            <a:ext cx="251992" cy="230832"/>
            <a:chOff x="4867678" y="3090156"/>
            <a:chExt cx="251992" cy="230832"/>
          </a:xfrm>
        </p:grpSpPr>
        <p:sp>
          <p:nvSpPr>
            <p:cNvPr id="9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8852274" y="3764132"/>
            <a:ext cx="2950119" cy="1490703"/>
            <a:chOff x="6872544" y="4197176"/>
            <a:chExt cx="2950119" cy="1490703"/>
          </a:xfrm>
        </p:grpSpPr>
        <p:sp>
          <p:nvSpPr>
            <p:cNvPr id="102" name="직사각형 101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입력하신 정보가 사라집니다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결재선 수정을 취소하시겠습니까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8726734" y="3472958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6" name="Freeform 11"/>
          <p:cNvSpPr>
            <a:spLocks noChangeArrowheads="1"/>
          </p:cNvSpPr>
          <p:nvPr/>
        </p:nvSpPr>
        <p:spPr bwMode="auto">
          <a:xfrm>
            <a:off x="11598150" y="38242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9001929" y="382784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8862457" y="291255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808242" y="532351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74039" y="5751584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전자서명 진행</a:t>
            </a:r>
            <a:endParaRPr lang="ko-KR" altLang="en-US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5690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84853"/>
              </p:ext>
            </p:extLst>
          </p:nvPr>
        </p:nvGraphicFramePr>
        <p:xfrm>
          <a:off x="316434" y="3821763"/>
          <a:ext cx="8036258" cy="187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831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2393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9913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449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유이재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만수르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유상민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61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한만수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</a:t>
                      </a:r>
                      <a:r>
                        <a:rPr lang="en-US" altLang="ko-KR" sz="800" b="0" kern="0" baseline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18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(P356710001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안철수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(P356710002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),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박만옥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29702"/>
                  </a:ext>
                </a:extLst>
              </a:tr>
            </a:tbl>
          </a:graphicData>
        </a:graphic>
      </p:graphicFrame>
      <p:sp>
        <p:nvSpPr>
          <p:cNvPr id="49" name="직사각형 48"/>
          <p:cNvSpPr/>
          <p:nvPr/>
        </p:nvSpPr>
        <p:spPr>
          <a:xfrm>
            <a:off x="1572330" y="526761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572331" y="508658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572330" y="5525925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572329" y="482696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572332" y="438785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72333" y="414439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72334" y="3889017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90985" y="3731960"/>
            <a:ext cx="251992" cy="230832"/>
            <a:chOff x="4867678" y="3090156"/>
            <a:chExt cx="251992" cy="230832"/>
          </a:xfrm>
        </p:grpSpPr>
        <p:sp>
          <p:nvSpPr>
            <p:cNvPr id="5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1572329" y="464431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303628" y="2230113"/>
            <a:ext cx="7207671" cy="264570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3338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323"/>
            <a:ext cx="1697391" cy="173081"/>
            <a:chOff x="5063489" y="537323"/>
            <a:chExt cx="1697391" cy="173081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925134" y="537323"/>
              <a:ext cx="83574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4</a:t>
              </a:r>
              <a:r>
                <a:rPr lang="en-US" altLang="ko-KR" sz="80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실행완료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5350704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5637919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427892" y="1229836"/>
            <a:ext cx="6491458" cy="1062026"/>
          </a:xfrm>
          <a:prstGeom prst="roundRect">
            <a:avLst>
              <a:gd name="adj" fmla="val 498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620065" y="1466259"/>
            <a:ext cx="1013035" cy="541318"/>
            <a:chOff x="3026978" y="5811513"/>
            <a:chExt cx="1116066" cy="527055"/>
          </a:xfrm>
        </p:grpSpPr>
        <p:sp>
          <p:nvSpPr>
            <p:cNvPr id="48" name="Text Box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026979" y="5812592"/>
              <a:ext cx="1116065" cy="5259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2400" rIns="162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image</a:t>
              </a:r>
              <a:endParaRPr lang="en-US" sz="700" dirty="0">
                <a:solidFill>
                  <a:srgbClr val="2626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026978" y="5812592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>
              <a:off x="3026978" y="5811513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1898398" y="1459365"/>
            <a:ext cx="193418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b="1" spc="-150" dirty="0">
                <a:solidFill>
                  <a:schemeClr val="accent5"/>
                </a:solidFill>
                <a:ea typeface="맑은 고딕"/>
              </a:rPr>
              <a:t>결재선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지정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이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완료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되었습니다</a:t>
            </a:r>
            <a:r>
              <a:rPr lang="en-US" altLang="ko-KR" sz="1200" b="1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98398" y="1745152"/>
            <a:ext cx="2535309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spc="-150" dirty="0" smtClean="0">
                <a:solidFill>
                  <a:prstClr val="black"/>
                </a:solidFill>
                <a:ea typeface="맑은 고딕"/>
              </a:rPr>
              <a:t>확인을 누르시면 결재선 목록 화면으로  이동합니다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184007" y="251917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305743"/>
              </p:ext>
            </p:extLst>
          </p:nvPr>
        </p:nvGraphicFramePr>
        <p:xfrm>
          <a:off x="9822663" y="540019"/>
          <a:ext cx="2195166" cy="80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66052" y="2403762"/>
            <a:ext cx="251992" cy="230832"/>
            <a:chOff x="4867678" y="3090156"/>
            <a:chExt cx="251992" cy="230832"/>
          </a:xfrm>
        </p:grpSpPr>
        <p:sp>
          <p:nvSpPr>
            <p:cNvPr id="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20647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74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1.3. </a:t>
            </a:r>
            <a:r>
              <a:rPr lang="ko-KR" altLang="en-US" sz="2400" b="1" dirty="0">
                <a:latin typeface="+mn-ea"/>
                <a:cs typeface="Segoe UI" panose="020B0502040204020203" pitchFamily="34" charset="0"/>
              </a:rPr>
              <a:t>결재선 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삭제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179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302490"/>
              </p:ext>
            </p:extLst>
          </p:nvPr>
        </p:nvGraphicFramePr>
        <p:xfrm>
          <a:off x="9822663" y="540019"/>
          <a:ext cx="2195166" cy="1661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 로드 시 별도의 조건 없이 해당 고객이 가지고 있는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삭제하기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여러건을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가능하도록 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시 로그인 방법에 따른 전자서명 처리 후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결재선구성완료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0124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128"/>
          <p:cNvSpPr/>
          <p:nvPr/>
        </p:nvSpPr>
        <p:spPr>
          <a:xfrm>
            <a:off x="6006470" y="4055102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▽ </a:t>
            </a:r>
            <a:r>
              <a:rPr lang="ko-KR" altLang="en-US" sz="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더보기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286682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005957" y="3313641"/>
            <a:ext cx="251992" cy="230832"/>
            <a:chOff x="4867678" y="3090156"/>
            <a:chExt cx="251992" cy="230832"/>
          </a:xfrm>
        </p:grpSpPr>
        <p:sp>
          <p:nvSpPr>
            <p:cNvPr id="15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8" name="오른쪽 중괄호 157"/>
          <p:cNvSpPr/>
          <p:nvPr/>
        </p:nvSpPr>
        <p:spPr>
          <a:xfrm>
            <a:off x="6908328" y="1597004"/>
            <a:ext cx="419739" cy="2098975"/>
          </a:xfrm>
          <a:prstGeom prst="rightBrace">
            <a:avLst>
              <a:gd name="adj1" fmla="val 8333"/>
              <a:gd name="adj2" fmla="val 509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7304366" y="2573443"/>
            <a:ext cx="130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" spc="-50">
                <a:solidFill>
                  <a:srgbClr val="C00000"/>
                </a:solidFill>
              </a:defRPr>
            </a:lvl1pPr>
          </a:lstStyle>
          <a:p>
            <a:r>
              <a:rPr lang="ko-KR" altLang="en-US" dirty="0" smtClean="0"/>
              <a:t>그리드 내  </a:t>
            </a:r>
            <a:r>
              <a:rPr lang="ko-KR" altLang="en-US" dirty="0" err="1" smtClean="0"/>
              <a:t>스크롤영역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10</a:t>
            </a:r>
            <a:r>
              <a:rPr lang="ko-KR" altLang="en-US" dirty="0" smtClean="0"/>
              <a:t>건 표시 될 정도의 영역으로 설정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스크롤하여 등록 내역 조회</a:t>
            </a:r>
            <a:endParaRPr lang="ko-KR" alt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6008437" y="3823412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현재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20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/ 25</a:t>
            </a: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ea typeface="맑은 고딕"/>
              </a:rPr>
              <a:t>건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aphicFrame>
        <p:nvGraphicFramePr>
          <p:cNvPr id="162" name="표 161"/>
          <p:cNvGraphicFramePr>
            <a:graphicFrameLocks noGrp="1"/>
          </p:cNvGraphicFramePr>
          <p:nvPr>
            <p:extLst/>
          </p:nvPr>
        </p:nvGraphicFramePr>
        <p:xfrm>
          <a:off x="295529" y="1371211"/>
          <a:ext cx="659935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8">
                  <a:extLst>
                    <a:ext uri="{9D8B030D-6E8A-4147-A177-3AD203B41FA5}">
                      <a16:colId xmlns:a16="http://schemas.microsoft.com/office/drawing/2014/main" val="3010098898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4070326017"/>
                    </a:ext>
                  </a:extLst>
                </a:gridCol>
                <a:gridCol w="1549313">
                  <a:extLst>
                    <a:ext uri="{9D8B030D-6E8A-4147-A177-3AD203B41FA5}">
                      <a16:colId xmlns:a16="http://schemas.microsoft.com/office/drawing/2014/main" val="1564084061"/>
                    </a:ext>
                  </a:extLst>
                </a:gridCol>
                <a:gridCol w="744416">
                  <a:extLst>
                    <a:ext uri="{9D8B030D-6E8A-4147-A177-3AD203B41FA5}">
                      <a16:colId xmlns:a16="http://schemas.microsoft.com/office/drawing/2014/main" val="1228333973"/>
                    </a:ext>
                  </a:extLst>
                </a:gridCol>
                <a:gridCol w="727393">
                  <a:extLst>
                    <a:ext uri="{9D8B030D-6E8A-4147-A177-3AD203B41FA5}">
                      <a16:colId xmlns:a16="http://schemas.microsoft.com/office/drawing/2014/main" val="375840521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4015255392"/>
                    </a:ext>
                  </a:extLst>
                </a:gridCol>
                <a:gridCol w="2310275">
                  <a:extLst>
                    <a:ext uri="{9D8B030D-6E8A-4147-A177-3AD203B41FA5}">
                      <a16:colId xmlns:a16="http://schemas.microsoft.com/office/drawing/2014/main" val="199735526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/>
                        <a:t>NO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결재선명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결재선유형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승인자여부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 smtClean="0"/>
                        <a:t>결재단계</a:t>
                      </a:r>
                      <a:endParaRPr lang="ko-KR" altLang="en-US" sz="8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결재대상업무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571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빠른이체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262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_1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24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/>
                        <a:t>□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r>
                        <a:rPr lang="en-US" altLang="ko-KR" sz="700" dirty="0" smtClean="0"/>
                        <a:t>_2</a:t>
                      </a:r>
                      <a:r>
                        <a:rPr lang="ko-KR" altLang="en-US" sz="700" dirty="0" smtClean="0"/>
                        <a:t>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 smtClean="0"/>
                        <a:t>B2B/</a:t>
                      </a:r>
                      <a:r>
                        <a:rPr lang="ko-KR" altLang="en-US" sz="700" dirty="0" smtClean="0"/>
                        <a:t>전자결재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517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수평결재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공과금납부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888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5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6916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6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기업서비스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97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7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err="1" smtClean="0"/>
                        <a:t>만원이하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2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7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8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r>
                        <a:rPr lang="en-US" altLang="ko-KR" sz="700" dirty="0" smtClean="0"/>
                        <a:t>_100</a:t>
                      </a:r>
                      <a:r>
                        <a:rPr lang="ko-KR" altLang="en-US" sz="700" dirty="0" smtClean="0"/>
                        <a:t>만원이상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카드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259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9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확인자결재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4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펀드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365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10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 smtClean="0"/>
                        <a:t>경영지원부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수직결재</a:t>
                      </a:r>
                      <a:endParaRPr lang="ko-KR" altLang="en-US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3</a:t>
                      </a:r>
                      <a:r>
                        <a:rPr lang="ko-KR" altLang="en-US" sz="700" dirty="0" smtClean="0"/>
                        <a:t>단계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smtClean="0"/>
                        <a:t>이체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공과금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신고</a:t>
                      </a:r>
                      <a:r>
                        <a:rPr lang="en-US" altLang="ko-KR" sz="700" baseline="0" dirty="0" smtClean="0"/>
                        <a:t>/</a:t>
                      </a:r>
                      <a:r>
                        <a:rPr lang="ko-KR" altLang="en-US" sz="700" baseline="0" dirty="0" smtClean="0"/>
                        <a:t>해지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카드</a:t>
                      </a:r>
                      <a:r>
                        <a:rPr lang="en-US" altLang="ko-KR" sz="700" baseline="0" dirty="0" smtClean="0"/>
                        <a:t>, </a:t>
                      </a:r>
                      <a:r>
                        <a:rPr lang="ko-KR" altLang="en-US" sz="700" baseline="0" dirty="0" smtClean="0"/>
                        <a:t>자금관리</a:t>
                      </a:r>
                      <a:endParaRPr lang="en-US" altLang="ko-KR" sz="700" dirty="0" smtClean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09453"/>
                  </a:ext>
                </a:extLst>
              </a:tr>
            </a:tbl>
          </a:graphicData>
        </a:graphic>
      </p:graphicFrame>
      <p:grpSp>
        <p:nvGrpSpPr>
          <p:cNvPr id="190" name="그룹 189"/>
          <p:cNvGrpSpPr/>
          <p:nvPr/>
        </p:nvGrpSpPr>
        <p:grpSpPr>
          <a:xfrm>
            <a:off x="5040869" y="1123542"/>
            <a:ext cx="1767513" cy="194762"/>
            <a:chOff x="5087887" y="864761"/>
            <a:chExt cx="1767513" cy="194762"/>
          </a:xfrm>
        </p:grpSpPr>
        <p:sp>
          <p:nvSpPr>
            <p:cNvPr id="191" name="모서리가 둥근 직사각형 190"/>
            <p:cNvSpPr/>
            <p:nvPr/>
          </p:nvSpPr>
          <p:spPr>
            <a:xfrm>
              <a:off x="5087887" y="864761"/>
              <a:ext cx="1767513" cy="194762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65000"/>
                    </a:schemeClr>
                  </a:solidFill>
                </a:rPr>
                <a:t>결과 내 검색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A4B8109E-4184-89DF-B5BB-9DD5FC11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672" y="896111"/>
              <a:ext cx="154972" cy="140607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297950" y="3736787"/>
            <a:ext cx="660010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/>
          <p:cNvSpPr/>
          <p:nvPr/>
        </p:nvSpPr>
        <p:spPr>
          <a:xfrm>
            <a:off x="6852331" y="1602626"/>
            <a:ext cx="45719" cy="2151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780849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1843908" y="4046539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삭제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206181" y="1139696"/>
            <a:ext cx="185820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조회기준일시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: 2022-11-21 </a:t>
            </a:r>
            <a:r>
              <a:rPr lang="ko-KR" altLang="en-US" sz="700" dirty="0">
                <a:solidFill>
                  <a:srgbClr val="666666"/>
                </a:solidFill>
                <a:latin typeface="+mn-ea"/>
              </a:rPr>
              <a:t>오전 </a:t>
            </a:r>
            <a:r>
              <a:rPr lang="en-US" altLang="ko-KR" sz="700" dirty="0">
                <a:solidFill>
                  <a:srgbClr val="666666"/>
                </a:solidFill>
                <a:latin typeface="+mn-ea"/>
              </a:rPr>
              <a:t>10:49:19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2349049" y="4046539"/>
            <a:ext cx="855448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엑셀다운로드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993013" y="4503492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66" name="그룹 65"/>
          <p:cNvGrpSpPr/>
          <p:nvPr/>
        </p:nvGrpSpPr>
        <p:grpSpPr>
          <a:xfrm>
            <a:off x="3784509" y="4697987"/>
            <a:ext cx="2950119" cy="1490703"/>
            <a:chOff x="6872544" y="4197176"/>
            <a:chExt cx="2950119" cy="1490703"/>
          </a:xfrm>
        </p:grpSpPr>
        <p:sp>
          <p:nvSpPr>
            <p:cNvPr id="67" name="직사각형 6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선택한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70" name="Freeform 11"/>
          <p:cNvSpPr>
            <a:spLocks noChangeArrowheads="1"/>
          </p:cNvSpPr>
          <p:nvPr/>
        </p:nvSpPr>
        <p:spPr bwMode="auto">
          <a:xfrm>
            <a:off x="6530385" y="4758077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3941914" y="4761700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286870" y="4055102"/>
            <a:ext cx="426152" cy="2247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1735832" y="3928070"/>
            <a:ext cx="251992" cy="230832"/>
            <a:chOff x="4867678" y="3090156"/>
            <a:chExt cx="251992" cy="230832"/>
          </a:xfrm>
        </p:grpSpPr>
        <p:sp>
          <p:nvSpPr>
            <p:cNvPr id="3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32214" y="4576468"/>
            <a:ext cx="367408" cy="230832"/>
            <a:chOff x="4809970" y="3090156"/>
            <a:chExt cx="367408" cy="230832"/>
          </a:xfrm>
        </p:grpSpPr>
        <p:sp>
          <p:nvSpPr>
            <p:cNvPr id="4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11553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44" name="모서리가 둥근 직사각형 43"/>
          <p:cNvSpPr/>
          <p:nvPr/>
        </p:nvSpPr>
        <p:spPr>
          <a:xfrm>
            <a:off x="6832495" y="1125758"/>
            <a:ext cx="392030" cy="283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/>
              <a:t>그리드</a:t>
            </a:r>
            <a:endParaRPr lang="ko-KR" altLang="en-US" sz="800" dirty="0"/>
          </a:p>
        </p:txBody>
      </p:sp>
      <p:sp>
        <p:nvSpPr>
          <p:cNvPr id="45" name="직사각형 44"/>
          <p:cNvSpPr/>
          <p:nvPr/>
        </p:nvSpPr>
        <p:spPr>
          <a:xfrm>
            <a:off x="2392000" y="1279304"/>
            <a:ext cx="865950" cy="2544108"/>
          </a:xfrm>
          <a:prstGeom prst="rect">
            <a:avLst/>
          </a:prstGeom>
          <a:solidFill>
            <a:srgbClr val="FF0000">
              <a:alpha val="5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항목삭제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algn="ctr"/>
            <a:r>
              <a:rPr lang="ko-KR" altLang="en-US" sz="1000" dirty="0" err="1" smtClean="0"/>
              <a:t>레드마인</a:t>
            </a:r>
            <a:r>
              <a:rPr lang="en-US" altLang="ko-KR" sz="1000" dirty="0" smtClean="0"/>
              <a:t>#5518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38321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결재선 </a:t>
            </a:r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정보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복사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삭제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결재선을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수정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/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시 선택한 값이 없을 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343786" y="3492172"/>
            <a:ext cx="2950119" cy="1490703"/>
            <a:chOff x="6872544" y="4197176"/>
            <a:chExt cx="2950119" cy="1490703"/>
          </a:xfrm>
        </p:grpSpPr>
        <p:sp>
          <p:nvSpPr>
            <p:cNvPr id="87" name="직사각형 8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선택한 </a:t>
              </a:r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</a:p>
            <a:p>
              <a:pPr algn="ctr"/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7395915" y="5292286"/>
              <a:ext cx="979228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확인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476035" y="5287317"/>
              <a:ext cx="96248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취소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18246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7" name="Freeform 11"/>
          <p:cNvSpPr>
            <a:spLocks noChangeArrowheads="1"/>
          </p:cNvSpPr>
          <p:nvPr/>
        </p:nvSpPr>
        <p:spPr bwMode="auto">
          <a:xfrm>
            <a:off x="3089662" y="355226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수정할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결재선은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건 만 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여러건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선택 후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09243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119237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01191" y="3555885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7651844" y="1450476"/>
            <a:ext cx="2950119" cy="1490703"/>
            <a:chOff x="201576" y="3100646"/>
            <a:chExt cx="2950119" cy="1490703"/>
          </a:xfrm>
        </p:grpSpPr>
        <p:grpSp>
          <p:nvGrpSpPr>
            <p:cNvPr id="108" name="그룹 10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0" name="직사각형 10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수정이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7570336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수정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795734" y="1514189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3975347" y="3496153"/>
            <a:ext cx="2950119" cy="1490703"/>
            <a:chOff x="201576" y="3100646"/>
            <a:chExt cx="2950119" cy="1490703"/>
          </a:xfrm>
        </p:grpSpPr>
        <p:grpSp>
          <p:nvGrpSpPr>
            <p:cNvPr id="115" name="그룹 114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결재가 진행중인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결재선입니다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결재완료 후 삭제가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7857989" y="5292286"/>
                <a:ext cx="979228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1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3893839" y="320099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9237" y="3559866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알림 메시지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14447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삭제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242377" y="537323"/>
            <a:ext cx="1697391" cy="173081"/>
            <a:chOff x="5063489" y="537323"/>
            <a:chExt cx="1697391" cy="173081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925134" y="537323"/>
              <a:ext cx="835746" cy="172815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4</a:t>
              </a:r>
              <a:r>
                <a:rPr lang="en-US" altLang="ko-KR" sz="800" smtClean="0">
                  <a:solidFill>
                    <a:schemeClr val="tx1"/>
                  </a:solidFill>
                </a:rPr>
                <a:t>. </a:t>
              </a:r>
              <a:r>
                <a:rPr lang="ko-KR" altLang="en-US" sz="800" dirty="0" err="1" smtClean="0">
                  <a:solidFill>
                    <a:schemeClr val="tx1"/>
                  </a:solidFill>
                </a:rPr>
                <a:t>실행완료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>
              <a:off x="5063489" y="537589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1" name="타원 70"/>
            <p:cNvSpPr>
              <a:spLocks noChangeAspect="1"/>
            </p:cNvSpPr>
            <p:nvPr/>
          </p:nvSpPr>
          <p:spPr>
            <a:xfrm>
              <a:off x="5350704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타원 71"/>
            <p:cNvSpPr>
              <a:spLocks noChangeAspect="1"/>
            </p:cNvSpPr>
            <p:nvPr/>
          </p:nvSpPr>
          <p:spPr>
            <a:xfrm>
              <a:off x="5637919" y="537323"/>
              <a:ext cx="172204" cy="1728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</a:rPr>
                <a:t>3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모서리가 둥근 직사각형 1"/>
          <p:cNvSpPr/>
          <p:nvPr/>
        </p:nvSpPr>
        <p:spPr>
          <a:xfrm>
            <a:off x="427892" y="1229836"/>
            <a:ext cx="6491458" cy="1062026"/>
          </a:xfrm>
          <a:prstGeom prst="roundRect">
            <a:avLst>
              <a:gd name="adj" fmla="val 498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620065" y="1466259"/>
            <a:ext cx="1013035" cy="541318"/>
            <a:chOff x="3026978" y="5811513"/>
            <a:chExt cx="1116066" cy="527055"/>
          </a:xfrm>
        </p:grpSpPr>
        <p:sp>
          <p:nvSpPr>
            <p:cNvPr id="48" name="Text Box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026979" y="5812592"/>
              <a:ext cx="1116065" cy="5259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2400" rIns="162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image</a:t>
              </a:r>
              <a:endParaRPr lang="en-US" sz="700" dirty="0">
                <a:solidFill>
                  <a:srgbClr val="2626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3026978" y="5812592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 flipH="1">
              <a:off x="3026978" y="5811513"/>
              <a:ext cx="1116063" cy="525976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1898398" y="1459365"/>
            <a:ext cx="223875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b="1" spc="-150" dirty="0">
                <a:solidFill>
                  <a:schemeClr val="accent5"/>
                </a:solidFill>
                <a:ea typeface="맑은 고딕"/>
              </a:rPr>
              <a:t>결재선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지정 삭제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가 </a:t>
            </a:r>
            <a:r>
              <a:rPr lang="ko-KR" altLang="en-US" sz="1200" b="1" spc="-150" dirty="0" smtClean="0">
                <a:solidFill>
                  <a:schemeClr val="accent5"/>
                </a:solidFill>
                <a:ea typeface="맑은 고딕"/>
              </a:rPr>
              <a:t>완료</a:t>
            </a:r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되었습니다</a:t>
            </a:r>
            <a:r>
              <a:rPr lang="en-US" altLang="ko-KR" sz="1200" b="1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98398" y="1745152"/>
            <a:ext cx="2535309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spc="-150" dirty="0" smtClean="0">
                <a:solidFill>
                  <a:prstClr val="black"/>
                </a:solidFill>
                <a:ea typeface="맑은 고딕"/>
              </a:rPr>
              <a:t>확인을 누르시면 결재선 목록 화면으로  이동합니다</a:t>
            </a:r>
            <a:r>
              <a:rPr lang="en-US" altLang="ko-KR" sz="1000" spc="-150" dirty="0" smtClean="0">
                <a:solidFill>
                  <a:prstClr val="black"/>
                </a:solidFill>
                <a:ea typeface="맑은 고딕"/>
              </a:rPr>
              <a:t>.</a:t>
            </a:r>
            <a:endParaRPr lang="ko-KR" altLang="en-US" sz="1000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184007" y="2519178"/>
            <a:ext cx="979228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563221"/>
              </p:ext>
            </p:extLst>
          </p:nvPr>
        </p:nvGraphicFramePr>
        <p:xfrm>
          <a:off x="9822663" y="540019"/>
          <a:ext cx="2195166" cy="80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5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65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5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65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결재선목록</a:t>
                      </a:r>
                      <a:r>
                        <a:rPr lang="en-US" altLang="ko-KR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65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이동</a:t>
                      </a:r>
                      <a:endParaRPr lang="en-US" altLang="ko-KR" sz="65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65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6208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5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166052" y="2403762"/>
            <a:ext cx="251992" cy="230832"/>
            <a:chOff x="4867678" y="3090156"/>
            <a:chExt cx="251992" cy="230832"/>
          </a:xfrm>
        </p:grpSpPr>
        <p:sp>
          <p:nvSpPr>
            <p:cNvPr id="2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067540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968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078" y="2252098"/>
            <a:ext cx="430503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모바일뱅킹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 결재선 관리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724" y="2716308"/>
            <a:ext cx="3240087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2.1. MB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결재선등록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.2. MB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결재선수정</a:t>
            </a:r>
            <a:endParaRPr lang="en-US" altLang="ko-KR" dirty="0" smtClean="0">
              <a:latin typeface="+mn-ea"/>
              <a:cs typeface="Segoe UI" panose="020B0502040204020203" pitchFamily="34" charset="0"/>
            </a:endParaRPr>
          </a:p>
          <a:p>
            <a:r>
              <a:rPr lang="en-US" altLang="ko-KR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altLang="ko-KR" dirty="0" smtClean="0">
                <a:latin typeface="+mn-ea"/>
                <a:cs typeface="Segoe UI" panose="020B0502040204020203" pitchFamily="34" charset="0"/>
              </a:rPr>
              <a:t>.3. MB</a:t>
            </a:r>
            <a:r>
              <a:rPr lang="ko-KR" altLang="en-US" dirty="0" err="1" smtClean="0">
                <a:latin typeface="+mn-ea"/>
                <a:cs typeface="Segoe UI" panose="020B0502040204020203" pitchFamily="34" charset="0"/>
              </a:rPr>
              <a:t>결재선삭제</a:t>
            </a:r>
            <a:endParaRPr lang="en-US" altLang="ko-KR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8604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2.1. MB</a:t>
            </a:r>
            <a:r>
              <a:rPr lang="ko-KR" altLang="en-US" sz="2400" b="1" dirty="0" smtClean="0">
                <a:latin typeface="+mn-ea"/>
                <a:cs typeface="Segoe UI" panose="020B0502040204020203" pitchFamily="34" charset="0"/>
              </a:rPr>
              <a:t>결재선 등록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5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25246"/>
              </p:ext>
            </p:extLst>
          </p:nvPr>
        </p:nvGraphicFramePr>
        <p:xfrm>
          <a:off x="9816801" y="552207"/>
          <a:ext cx="2195166" cy="3536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조건 입력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일반키패드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결재선형태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결재자지정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해당결재선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삭제가능시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3-2) 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닫기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처리를 위해 전자서명 처리 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결재선구성완료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3-4)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결재진행중인 결재선 삭제 선택 시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5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5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결재대상업무를 태그형식으로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77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수정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0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5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3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2735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2091785"/>
            <a:ext cx="3064717" cy="855964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239867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en-US" altLang="ko-KR" sz="1050" b="1" kern="0" dirty="0" smtClean="0"/>
              <a:t>%</a:t>
            </a:r>
            <a:r>
              <a:rPr lang="ko-KR" altLang="en-US" sz="1050" b="1" kern="0" dirty="0" err="1" smtClean="0"/>
              <a:t>결재선명</a:t>
            </a:r>
            <a:r>
              <a:rPr lang="en-US" altLang="ko-KR" sz="1050" b="1" kern="0" dirty="0" smtClean="0"/>
              <a:t>%</a:t>
            </a:r>
            <a:endParaRPr lang="en-US" altLang="ko-KR" sz="900" b="1" kern="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9" name="직사각형 148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500097" y="2176340"/>
            <a:ext cx="51717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결재선형태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3037279"/>
            <a:ext cx="3064717" cy="973018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3378754"/>
            <a:ext cx="21496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외환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</a:t>
            </a:r>
            <a:r>
              <a:rPr lang="ko-KR" altLang="en-US" sz="1050" b="1" kern="0" dirty="0" err="1" smtClean="0"/>
              <a:t>결재선은</a:t>
            </a:r>
            <a:endParaRPr lang="en-US" altLang="ko-KR" sz="1050" b="1" kern="0" dirty="0" smtClean="0"/>
          </a:p>
          <a:p>
            <a:pPr defTabSz="914235" latinLnBrk="0">
              <a:defRPr/>
            </a:pPr>
            <a:r>
              <a:rPr lang="ko-KR" altLang="en-US" sz="1050" b="1" kern="0" dirty="0" smtClean="0"/>
              <a:t>최대</a:t>
            </a:r>
            <a:r>
              <a:rPr lang="en-US" altLang="ko-KR" sz="1050" b="1" kern="0" dirty="0" smtClean="0"/>
              <a:t>2</a:t>
            </a:r>
            <a:r>
              <a:rPr lang="ko-KR" altLang="en-US" sz="1050" b="1" kern="0" dirty="0" err="1" smtClean="0"/>
              <a:t>줄까지표시되며</a:t>
            </a:r>
            <a:r>
              <a:rPr lang="ko-KR" altLang="en-US" sz="1050" b="1" kern="0" dirty="0" smtClean="0"/>
              <a:t> </a:t>
            </a:r>
            <a:r>
              <a:rPr lang="en-US" altLang="ko-KR" sz="1050" b="1" kern="0" dirty="0" smtClean="0"/>
              <a:t>…</a:t>
            </a:r>
            <a:r>
              <a:rPr lang="ko-KR" altLang="en-US" sz="1050" b="1" kern="0" dirty="0" smtClean="0"/>
              <a:t>처리</a:t>
            </a:r>
            <a:endParaRPr lang="en-US" altLang="ko-KR" sz="900" b="1" kern="0" dirty="0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555615" y="2720798"/>
            <a:ext cx="682831" cy="13593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r>
              <a:rPr lang="ko-KR" altLang="en-US" sz="600" b="1" dirty="0" smtClean="0">
                <a:solidFill>
                  <a:schemeClr val="accent6">
                    <a:lumMod val="50000"/>
                  </a:schemeClr>
                </a:solidFill>
              </a:rPr>
              <a:t>결재대상업무</a:t>
            </a:r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endParaRPr lang="ko-KR" altLang="en-US" sz="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6561" y="3809365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5120" y="3809365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8352" y="3809365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1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4053856"/>
            <a:ext cx="3064717" cy="93433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438682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자산헷지</a:t>
            </a:r>
            <a:r>
              <a:rPr lang="ko-KR" altLang="en-US" sz="1050" b="1" kern="0" dirty="0"/>
              <a:t> 및 투자 결재선</a:t>
            </a:r>
            <a:endParaRPr lang="en-US" altLang="ko-KR" sz="900" b="1" kern="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546561" y="4694831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펀드</a:t>
            </a: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935120" y="4694831"/>
            <a:ext cx="523641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자금관리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4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7" name="Freeform 11"/>
          <p:cNvSpPr>
            <a:spLocks noChangeAspect="1" noChangeArrowheads="1"/>
          </p:cNvSpPr>
          <p:nvPr/>
        </p:nvSpPr>
        <p:spPr bwMode="auto">
          <a:xfrm>
            <a:off x="3165743" y="2199940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054743" y="218098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결재단계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823" y="310767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4743" y="311232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555616" y="413540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058536" y="414005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5192" y="311775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73761" y="5055999"/>
            <a:ext cx="3064717" cy="109765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57112" y="535387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기본 결재선</a:t>
            </a:r>
            <a:endParaRPr lang="en-US" altLang="ko-KR" sz="900" b="1" kern="0" dirty="0"/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512777" y="5690902"/>
            <a:ext cx="255085" cy="13670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이체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844162" y="5690902"/>
            <a:ext cx="443661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예금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신탁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545280" y="513754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수직결재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1048200" y="514219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1364123" y="5690170"/>
            <a:ext cx="52161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#B2B/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전자결제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1962039" y="5685749"/>
            <a:ext cx="277700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대출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316039" y="5691620"/>
            <a:ext cx="301970" cy="12890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외환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2694309" y="5685749"/>
            <a:ext cx="46986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공과금납부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모서리가 둥근 직사각형 253"/>
          <p:cNvSpPr/>
          <p:nvPr/>
        </p:nvSpPr>
        <p:spPr>
          <a:xfrm>
            <a:off x="512777" y="5935424"/>
            <a:ext cx="255085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카드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32820" y="5935424"/>
            <a:ext cx="263288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펀드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7" name="모서리가 둥근 직사각형 256"/>
          <p:cNvSpPr/>
          <p:nvPr/>
        </p:nvSpPr>
        <p:spPr>
          <a:xfrm>
            <a:off x="1155650" y="5935984"/>
            <a:ext cx="423378" cy="12924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자금관리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1638572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웹펌뱅킹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9606" y="314850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0" name="Freeform 11"/>
          <p:cNvSpPr>
            <a:spLocks noChangeAspect="1" noChangeArrowheads="1"/>
          </p:cNvSpPr>
          <p:nvPr/>
        </p:nvSpPr>
        <p:spPr bwMode="auto">
          <a:xfrm>
            <a:off x="3147518" y="4191598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" name="Freeform 11"/>
          <p:cNvSpPr>
            <a:spLocks noChangeAspect="1" noChangeArrowheads="1"/>
          </p:cNvSpPr>
          <p:nvPr/>
        </p:nvSpPr>
        <p:spPr bwMode="auto">
          <a:xfrm>
            <a:off x="3147518" y="5156944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1555191" y="2180986"/>
            <a:ext cx="55496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승인여부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3" name="그룹 262"/>
          <p:cNvGrpSpPr/>
          <p:nvPr/>
        </p:nvGrpSpPr>
        <p:grpSpPr>
          <a:xfrm>
            <a:off x="244920" y="1976903"/>
            <a:ext cx="367408" cy="230832"/>
            <a:chOff x="4809970" y="3090156"/>
            <a:chExt cx="367408" cy="230832"/>
          </a:xfrm>
        </p:grpSpPr>
        <p:sp>
          <p:nvSpPr>
            <p:cNvPr id="2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6" name="그룹 265"/>
          <p:cNvGrpSpPr/>
          <p:nvPr/>
        </p:nvGrpSpPr>
        <p:grpSpPr>
          <a:xfrm>
            <a:off x="871039" y="1981498"/>
            <a:ext cx="367408" cy="230832"/>
            <a:chOff x="4809970" y="3090156"/>
            <a:chExt cx="367408" cy="230832"/>
          </a:xfrm>
        </p:grpSpPr>
        <p:sp>
          <p:nvSpPr>
            <p:cNvPr id="26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9" name="그룹 268"/>
          <p:cNvGrpSpPr/>
          <p:nvPr/>
        </p:nvGrpSpPr>
        <p:grpSpPr>
          <a:xfrm>
            <a:off x="1462482" y="1983403"/>
            <a:ext cx="367408" cy="230832"/>
            <a:chOff x="4809970" y="3090156"/>
            <a:chExt cx="367408" cy="230832"/>
          </a:xfrm>
        </p:grpSpPr>
        <p:sp>
          <p:nvSpPr>
            <p:cNvPr id="2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2" name="그룹 271"/>
          <p:cNvGrpSpPr/>
          <p:nvPr/>
        </p:nvGrpSpPr>
        <p:grpSpPr>
          <a:xfrm>
            <a:off x="2889990" y="2031428"/>
            <a:ext cx="251992" cy="230832"/>
            <a:chOff x="4867678" y="3090156"/>
            <a:chExt cx="251992" cy="230832"/>
          </a:xfrm>
        </p:grpSpPr>
        <p:sp>
          <p:nvSpPr>
            <p:cNvPr id="2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5" name="그룹 274"/>
          <p:cNvGrpSpPr/>
          <p:nvPr/>
        </p:nvGrpSpPr>
        <p:grpSpPr>
          <a:xfrm>
            <a:off x="305279" y="2308130"/>
            <a:ext cx="251992" cy="230832"/>
            <a:chOff x="4867678" y="3090156"/>
            <a:chExt cx="251992" cy="230832"/>
          </a:xfrm>
        </p:grpSpPr>
        <p:sp>
          <p:nvSpPr>
            <p:cNvPr id="2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310796" y="2610916"/>
            <a:ext cx="251992" cy="230832"/>
            <a:chOff x="4867678" y="3090156"/>
            <a:chExt cx="251992" cy="230832"/>
          </a:xfrm>
        </p:grpSpPr>
        <p:sp>
          <p:nvSpPr>
            <p:cNvPr id="2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81" name="모서리가 둥근 직사각형 280"/>
          <p:cNvSpPr/>
          <p:nvPr/>
        </p:nvSpPr>
        <p:spPr>
          <a:xfrm>
            <a:off x="2164875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신고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2692593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기업서비스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2753553" y="3390603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2753553" y="2430113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2753553" y="441826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2692593" y="538531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7" name="그룹 286"/>
          <p:cNvGrpSpPr/>
          <p:nvPr/>
        </p:nvGrpSpPr>
        <p:grpSpPr>
          <a:xfrm>
            <a:off x="2566597" y="2311963"/>
            <a:ext cx="251992" cy="230832"/>
            <a:chOff x="4867678" y="3090156"/>
            <a:chExt cx="251992" cy="230832"/>
          </a:xfrm>
        </p:grpSpPr>
        <p:sp>
          <p:nvSpPr>
            <p:cNvPr id="28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0" name="직사각형 289"/>
          <p:cNvSpPr/>
          <p:nvPr/>
        </p:nvSpPr>
        <p:spPr>
          <a:xfrm>
            <a:off x="245979" y="5085463"/>
            <a:ext cx="2360783" cy="58736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/>
          <p:cNvSpPr/>
          <p:nvPr/>
        </p:nvSpPr>
        <p:spPr>
          <a:xfrm>
            <a:off x="1564265" y="5109166"/>
            <a:ext cx="420585" cy="42058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 smtClean="0"/>
              <a:t>Click</a:t>
            </a:r>
            <a:endParaRPr lang="ko-KR" altLang="en-US" sz="1000" b="1" dirty="0"/>
          </a:p>
        </p:txBody>
      </p:sp>
      <p:grpSp>
        <p:nvGrpSpPr>
          <p:cNvPr id="292" name="그룹 291"/>
          <p:cNvGrpSpPr/>
          <p:nvPr/>
        </p:nvGrpSpPr>
        <p:grpSpPr>
          <a:xfrm>
            <a:off x="1464476" y="4991999"/>
            <a:ext cx="251992" cy="230832"/>
            <a:chOff x="4867678" y="3090156"/>
            <a:chExt cx="251992" cy="230832"/>
          </a:xfrm>
        </p:grpSpPr>
        <p:sp>
          <p:nvSpPr>
            <p:cNvPr id="29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>
                <a:latin typeface="+mn-ea"/>
                <a:cs typeface="Calibri" pitchFamily="34" charset="0"/>
              </a:rPr>
              <a:t>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4" name="그룹 323"/>
          <p:cNvGrpSpPr/>
          <p:nvPr/>
        </p:nvGrpSpPr>
        <p:grpSpPr>
          <a:xfrm>
            <a:off x="85482" y="1366607"/>
            <a:ext cx="367408" cy="230832"/>
            <a:chOff x="4809970" y="3090156"/>
            <a:chExt cx="367408" cy="230832"/>
          </a:xfrm>
        </p:grpSpPr>
        <p:sp>
          <p:nvSpPr>
            <p:cNvPr id="32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3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4" name="그림 3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pSp>
        <p:nvGrpSpPr>
          <p:cNvPr id="351" name="그룹 350"/>
          <p:cNvGrpSpPr/>
          <p:nvPr/>
        </p:nvGrpSpPr>
        <p:grpSpPr>
          <a:xfrm>
            <a:off x="3811564" y="783121"/>
            <a:ext cx="2619196" cy="1321415"/>
            <a:chOff x="8238032" y="4789014"/>
            <a:chExt cx="2880000" cy="1621951"/>
          </a:xfrm>
        </p:grpSpPr>
        <p:sp>
          <p:nvSpPr>
            <p:cNvPr id="352" name="직사각형 351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3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4" name="직사각형 353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355" name="직사각형 354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아니요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8357310" y="523286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선택한 </a:t>
              </a:r>
              <a:r>
                <a:rPr lang="ko-KR" altLang="en-US" sz="900" dirty="0" err="1"/>
                <a:t>결재선을</a:t>
              </a:r>
              <a:endParaRPr lang="ko-KR" altLang="en-US" sz="900" dirty="0"/>
            </a:p>
            <a:p>
              <a:pPr algn="ctr"/>
              <a:r>
                <a:rPr lang="ko-KR" altLang="en-US" sz="900" dirty="0"/>
                <a:t>삭제하시겠습니까</a:t>
              </a:r>
              <a:r>
                <a:rPr lang="en-US" altLang="ko-KR" sz="900" dirty="0" smtClean="0"/>
                <a:t>?</a:t>
              </a:r>
              <a:endParaRPr lang="en-US" altLang="ko-KR" sz="900" dirty="0"/>
            </a:p>
          </p:txBody>
        </p:sp>
      </p:grpSp>
      <p:grpSp>
        <p:nvGrpSpPr>
          <p:cNvPr id="357" name="그룹 356"/>
          <p:cNvGrpSpPr/>
          <p:nvPr/>
        </p:nvGrpSpPr>
        <p:grpSpPr>
          <a:xfrm>
            <a:off x="6734057" y="788454"/>
            <a:ext cx="2619196" cy="1321415"/>
            <a:chOff x="8238032" y="4789014"/>
            <a:chExt cx="2880000" cy="1621951"/>
          </a:xfrm>
        </p:grpSpPr>
        <p:sp>
          <p:nvSpPr>
            <p:cNvPr id="358" name="직사각형 357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9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" name="직사각형 359"/>
            <p:cNvSpPr/>
            <p:nvPr/>
          </p:nvSpPr>
          <p:spPr>
            <a:xfrm>
              <a:off x="8271666" y="6122965"/>
              <a:ext cx="2846366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확인</a:t>
              </a:r>
              <a:endParaRPr lang="ko-KR" altLang="en-US" sz="900" dirty="0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8384066" y="522421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결재가 진행중인 </a:t>
              </a:r>
              <a:r>
                <a:rPr lang="ko-KR" altLang="en-US" sz="900" dirty="0" err="1"/>
                <a:t>결재선입니다</a:t>
              </a:r>
              <a:r>
                <a:rPr lang="en-US" altLang="ko-KR" sz="900" dirty="0"/>
                <a:t>.</a:t>
              </a:r>
            </a:p>
            <a:p>
              <a:pPr algn="ctr"/>
              <a:r>
                <a:rPr lang="ko-KR" altLang="en-US" sz="900" dirty="0"/>
                <a:t>결재완료 후 </a:t>
              </a:r>
              <a:r>
                <a:rPr lang="ko-KR" altLang="en-US" sz="900" dirty="0" smtClean="0"/>
                <a:t>삭제 </a:t>
              </a:r>
              <a:r>
                <a:rPr lang="ko-KR" altLang="en-US" sz="900" dirty="0"/>
                <a:t>가능합니다</a:t>
              </a:r>
              <a:r>
                <a:rPr lang="en-US" altLang="ko-KR" sz="900" dirty="0"/>
                <a:t>.</a:t>
              </a: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3807092" y="53291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646760" y="5208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8" name="그룹 397"/>
          <p:cNvGrpSpPr/>
          <p:nvPr/>
        </p:nvGrpSpPr>
        <p:grpSpPr>
          <a:xfrm>
            <a:off x="2801687" y="1366607"/>
            <a:ext cx="367408" cy="230832"/>
            <a:chOff x="4809970" y="3090156"/>
            <a:chExt cx="367408" cy="230832"/>
          </a:xfrm>
        </p:grpSpPr>
        <p:sp>
          <p:nvSpPr>
            <p:cNvPr id="39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1" name="그룹 400"/>
          <p:cNvGrpSpPr/>
          <p:nvPr/>
        </p:nvGrpSpPr>
        <p:grpSpPr>
          <a:xfrm>
            <a:off x="3660024" y="699606"/>
            <a:ext cx="367408" cy="230832"/>
            <a:chOff x="4809970" y="3090156"/>
            <a:chExt cx="367408" cy="230832"/>
          </a:xfrm>
        </p:grpSpPr>
        <p:sp>
          <p:nvSpPr>
            <p:cNvPr id="40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4" name="그룹 403"/>
          <p:cNvGrpSpPr/>
          <p:nvPr/>
        </p:nvGrpSpPr>
        <p:grpSpPr>
          <a:xfrm>
            <a:off x="5914736" y="699606"/>
            <a:ext cx="367408" cy="230832"/>
            <a:chOff x="4809970" y="3090156"/>
            <a:chExt cx="367408" cy="230832"/>
          </a:xfrm>
        </p:grpSpPr>
        <p:sp>
          <p:nvSpPr>
            <p:cNvPr id="40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7" name="그룹 406"/>
          <p:cNvGrpSpPr/>
          <p:nvPr/>
        </p:nvGrpSpPr>
        <p:grpSpPr>
          <a:xfrm>
            <a:off x="3833732" y="1803190"/>
            <a:ext cx="367408" cy="230832"/>
            <a:chOff x="4809970" y="3090156"/>
            <a:chExt cx="367408" cy="230832"/>
          </a:xfrm>
        </p:grpSpPr>
        <p:sp>
          <p:nvSpPr>
            <p:cNvPr id="40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0" name="그룹 409"/>
          <p:cNvGrpSpPr/>
          <p:nvPr/>
        </p:nvGrpSpPr>
        <p:grpSpPr>
          <a:xfrm>
            <a:off x="5135268" y="1803190"/>
            <a:ext cx="367408" cy="230832"/>
            <a:chOff x="4809970" y="3090156"/>
            <a:chExt cx="367408" cy="230832"/>
          </a:xfrm>
        </p:grpSpPr>
        <p:sp>
          <p:nvSpPr>
            <p:cNvPr id="4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6713609" y="720890"/>
            <a:ext cx="367408" cy="230832"/>
            <a:chOff x="4809970" y="3090156"/>
            <a:chExt cx="367408" cy="230832"/>
          </a:xfrm>
        </p:grpSpPr>
        <p:sp>
          <p:nvSpPr>
            <p:cNvPr id="4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6" name="그룹 415"/>
          <p:cNvGrpSpPr/>
          <p:nvPr/>
        </p:nvGrpSpPr>
        <p:grpSpPr>
          <a:xfrm>
            <a:off x="8864782" y="717729"/>
            <a:ext cx="367408" cy="230832"/>
            <a:chOff x="4809970" y="3090156"/>
            <a:chExt cx="367408" cy="230832"/>
          </a:xfrm>
        </p:grpSpPr>
        <p:sp>
          <p:nvSpPr>
            <p:cNvPr id="4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2" name="그룹 421"/>
          <p:cNvGrpSpPr/>
          <p:nvPr/>
        </p:nvGrpSpPr>
        <p:grpSpPr>
          <a:xfrm>
            <a:off x="7106163" y="1791284"/>
            <a:ext cx="367408" cy="230832"/>
            <a:chOff x="4809970" y="3090156"/>
            <a:chExt cx="367408" cy="230832"/>
          </a:xfrm>
        </p:grpSpPr>
        <p:sp>
          <p:nvSpPr>
            <p:cNvPr id="4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426" name="그룹 425"/>
          <p:cNvGrpSpPr/>
          <p:nvPr/>
        </p:nvGrpSpPr>
        <p:grpSpPr>
          <a:xfrm>
            <a:off x="935120" y="6285346"/>
            <a:ext cx="251992" cy="230832"/>
            <a:chOff x="4867678" y="3090156"/>
            <a:chExt cx="251992" cy="230832"/>
          </a:xfrm>
        </p:grpSpPr>
        <p:sp>
          <p:nvSpPr>
            <p:cNvPr id="42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1" name="타원 130"/>
          <p:cNvSpPr/>
          <p:nvPr/>
        </p:nvSpPr>
        <p:spPr>
          <a:xfrm>
            <a:off x="5097454" y="3393878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4228084" y="3698338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err="1" smtClean="0">
                <a:latin typeface="+mn-ea"/>
              </a:rPr>
              <a:t>결재선이</a:t>
            </a:r>
            <a:r>
              <a:rPr lang="ko-KR" altLang="en-US" sz="1000" dirty="0" smtClean="0">
                <a:latin typeface="+mn-ea"/>
              </a:rPr>
              <a:t> 없습니다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pPr algn="ctr"/>
            <a:r>
              <a:rPr lang="ko-KR" altLang="en-US" sz="1000" dirty="0" err="1" smtClean="0">
                <a:latin typeface="+mn-ea"/>
              </a:rPr>
              <a:t>결재선을</a:t>
            </a:r>
            <a:r>
              <a:rPr lang="ko-KR" altLang="en-US" sz="1000" dirty="0" smtClean="0">
                <a:latin typeface="+mn-ea"/>
              </a:rPr>
              <a:t> 등록해주세요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4720893" y="3310480"/>
            <a:ext cx="251992" cy="230832"/>
            <a:chOff x="4867678" y="3090156"/>
            <a:chExt cx="251992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6" name="직사각형 135"/>
          <p:cNvSpPr/>
          <p:nvPr/>
        </p:nvSpPr>
        <p:spPr>
          <a:xfrm>
            <a:off x="4083438" y="3191315"/>
            <a:ext cx="2136184" cy="109358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90125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8" name="직사각형 137"/>
          <p:cNvSpPr/>
          <p:nvPr/>
        </p:nvSpPr>
        <p:spPr>
          <a:xfrm>
            <a:off x="389903" y="2163653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39" name="직사각형 138"/>
          <p:cNvSpPr/>
          <p:nvPr/>
        </p:nvSpPr>
        <p:spPr>
          <a:xfrm>
            <a:off x="349826" y="3097966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0" name="직사각형 139"/>
          <p:cNvSpPr/>
          <p:nvPr/>
        </p:nvSpPr>
        <p:spPr>
          <a:xfrm>
            <a:off x="371669" y="4110197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21832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45561"/>
              </p:ext>
            </p:extLst>
          </p:nvPr>
        </p:nvGraphicFramePr>
        <p:xfrm>
          <a:off x="9816801" y="552207"/>
          <a:ext cx="2195166" cy="153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입력 후 터치 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결과내에서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재검색을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빈칸으로 조회 시 전체 내역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텍스트 색상 변경하여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검색조건에 따른 결과값이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299" y="210986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6650" y="245134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>
                <a:solidFill>
                  <a:srgbClr val="FF0000"/>
                </a:solidFill>
              </a:rPr>
              <a:t>외환</a:t>
            </a:r>
            <a:r>
              <a:rPr lang="ko-KR" altLang="en-US" sz="1050" b="1" kern="0" dirty="0" smtClean="0"/>
              <a:t>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5763" y="277092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4322" y="277092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7554" y="277092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1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025" y="21802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3945" y="218491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4394" y="219034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승인자지정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8808" y="222109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3" name="직사각형 282"/>
          <p:cNvSpPr/>
          <p:nvPr/>
        </p:nvSpPr>
        <p:spPr>
          <a:xfrm>
            <a:off x="2752755" y="248278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외환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185714" y="552207"/>
            <a:ext cx="3240000" cy="398482"/>
            <a:chOff x="185714" y="552207"/>
            <a:chExt cx="3240000" cy="398482"/>
          </a:xfrm>
        </p:grpSpPr>
        <p:grpSp>
          <p:nvGrpSpPr>
            <p:cNvPr id="148" name="그룹 147"/>
            <p:cNvGrpSpPr/>
            <p:nvPr/>
          </p:nvGrpSpPr>
          <p:grpSpPr>
            <a:xfrm>
              <a:off x="185714" y="552207"/>
              <a:ext cx="3240000" cy="398482"/>
              <a:chOff x="7321393" y="1839307"/>
              <a:chExt cx="3240000" cy="398482"/>
            </a:xfrm>
          </p:grpSpPr>
          <p:sp>
            <p:nvSpPr>
              <p:cNvPr id="149" name="직사각형 148"/>
              <p:cNvSpPr/>
              <p:nvPr/>
            </p:nvSpPr>
            <p:spPr>
              <a:xfrm>
                <a:off x="7321393" y="1839307"/>
                <a:ext cx="3240000" cy="39848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50" name="Freeform 11"/>
              <p:cNvSpPr>
                <a:spLocks noChangeArrowheads="1"/>
              </p:cNvSpPr>
              <p:nvPr/>
            </p:nvSpPr>
            <p:spPr bwMode="auto">
              <a:xfrm>
                <a:off x="7403266" y="1971915"/>
                <a:ext cx="144000" cy="144000"/>
              </a:xfrm>
              <a:custGeom>
                <a:avLst/>
                <a:gdLst>
                  <a:gd name="T0" fmla="*/ 611 w 612"/>
                  <a:gd name="T1" fmla="*/ 272 h 619"/>
                  <a:gd name="T2" fmla="*/ 140 w 612"/>
                  <a:gd name="T3" fmla="*/ 272 h 619"/>
                  <a:gd name="T4" fmla="*/ 361 w 612"/>
                  <a:gd name="T5" fmla="*/ 52 h 619"/>
                  <a:gd name="T6" fmla="*/ 302 w 612"/>
                  <a:gd name="T7" fmla="*/ 0 h 619"/>
                  <a:gd name="T8" fmla="*/ 0 w 612"/>
                  <a:gd name="T9" fmla="*/ 309 h 619"/>
                  <a:gd name="T10" fmla="*/ 302 w 612"/>
                  <a:gd name="T11" fmla="*/ 618 h 619"/>
                  <a:gd name="T12" fmla="*/ 361 w 612"/>
                  <a:gd name="T13" fmla="*/ 559 h 619"/>
                  <a:gd name="T14" fmla="*/ 140 w 612"/>
                  <a:gd name="T15" fmla="*/ 346 h 619"/>
                  <a:gd name="T16" fmla="*/ 611 w 612"/>
                  <a:gd name="T17" fmla="*/ 346 h 619"/>
                  <a:gd name="T18" fmla="*/ 611 w 612"/>
                  <a:gd name="T19" fmla="*/ 27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2" h="619">
                    <a:moveTo>
                      <a:pt x="611" y="272"/>
                    </a:moveTo>
                    <a:lnTo>
                      <a:pt x="140" y="272"/>
                    </a:lnTo>
                    <a:lnTo>
                      <a:pt x="361" y="52"/>
                    </a:lnTo>
                    <a:lnTo>
                      <a:pt x="302" y="0"/>
                    </a:lnTo>
                    <a:lnTo>
                      <a:pt x="0" y="309"/>
                    </a:lnTo>
                    <a:lnTo>
                      <a:pt x="302" y="618"/>
                    </a:lnTo>
                    <a:lnTo>
                      <a:pt x="361" y="559"/>
                    </a:lnTo>
                    <a:lnTo>
                      <a:pt x="140" y="346"/>
                    </a:lnTo>
                    <a:lnTo>
                      <a:pt x="611" y="346"/>
                    </a:lnTo>
                    <a:lnTo>
                      <a:pt x="611" y="272"/>
                    </a:ln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612445" y="1912726"/>
                <a:ext cx="701474" cy="26161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r>
                  <a:rPr lang="ko-KR" altLang="en-US" sz="1100" b="1" spc="-150" dirty="0" err="1" smtClean="0">
                    <a:solidFill>
                      <a:prstClr val="black"/>
                    </a:solidFill>
                    <a:ea typeface="맑은 고딕"/>
                  </a:rPr>
                  <a:t>결재선관리</a:t>
                </a:r>
                <a:endParaRPr lang="ko-KR" altLang="en-US" sz="1100" b="1" spc="-150" dirty="0">
                  <a:solidFill>
                    <a:prstClr val="black"/>
                  </a:solidFill>
                  <a:ea typeface="맑은 고딕"/>
                </a:endParaRPr>
              </a:p>
            </p:txBody>
          </p:sp>
        </p:grpSp>
        <p:sp>
          <p:nvSpPr>
            <p:cNvPr id="333" name="Freeform 24"/>
            <p:cNvSpPr>
              <a:spLocks noChangeArrowheads="1"/>
            </p:cNvSpPr>
            <p:nvPr/>
          </p:nvSpPr>
          <p:spPr bwMode="auto">
            <a:xfrm>
              <a:off x="3134929" y="644007"/>
              <a:ext cx="216000" cy="216000"/>
            </a:xfrm>
            <a:custGeom>
              <a:avLst/>
              <a:gdLst>
                <a:gd name="T0" fmla="*/ 0 w 461"/>
                <a:gd name="T1" fmla="*/ 303 h 304"/>
                <a:gd name="T2" fmla="*/ 460 w 461"/>
                <a:gd name="T3" fmla="*/ 303 h 304"/>
                <a:gd name="T4" fmla="*/ 460 w 461"/>
                <a:gd name="T5" fmla="*/ 254 h 304"/>
                <a:gd name="T6" fmla="*/ 0 w 461"/>
                <a:gd name="T7" fmla="*/ 254 h 304"/>
                <a:gd name="T8" fmla="*/ 0 w 461"/>
                <a:gd name="T9" fmla="*/ 303 h 304"/>
                <a:gd name="T10" fmla="*/ 0 w 461"/>
                <a:gd name="T11" fmla="*/ 176 h 304"/>
                <a:gd name="T12" fmla="*/ 460 w 461"/>
                <a:gd name="T13" fmla="*/ 176 h 304"/>
                <a:gd name="T14" fmla="*/ 460 w 461"/>
                <a:gd name="T15" fmla="*/ 127 h 304"/>
                <a:gd name="T16" fmla="*/ 0 w 461"/>
                <a:gd name="T17" fmla="*/ 127 h 304"/>
                <a:gd name="T18" fmla="*/ 0 w 461"/>
                <a:gd name="T19" fmla="*/ 176 h 304"/>
                <a:gd name="T20" fmla="*/ 0 w 461"/>
                <a:gd name="T21" fmla="*/ 0 h 304"/>
                <a:gd name="T22" fmla="*/ 0 w 461"/>
                <a:gd name="T23" fmla="*/ 49 h 304"/>
                <a:gd name="T24" fmla="*/ 460 w 461"/>
                <a:gd name="T25" fmla="*/ 49 h 304"/>
                <a:gd name="T26" fmla="*/ 460 w 461"/>
                <a:gd name="T27" fmla="*/ 0 h 304"/>
                <a:gd name="T28" fmla="*/ 0 w 461"/>
                <a:gd name="T2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1" h="304">
                  <a:moveTo>
                    <a:pt x="0" y="303"/>
                  </a:moveTo>
                  <a:lnTo>
                    <a:pt x="460" y="303"/>
                  </a:lnTo>
                  <a:lnTo>
                    <a:pt x="460" y="254"/>
                  </a:lnTo>
                  <a:lnTo>
                    <a:pt x="0" y="254"/>
                  </a:lnTo>
                  <a:lnTo>
                    <a:pt x="0" y="303"/>
                  </a:lnTo>
                  <a:close/>
                  <a:moveTo>
                    <a:pt x="0" y="176"/>
                  </a:moveTo>
                  <a:lnTo>
                    <a:pt x="460" y="176"/>
                  </a:lnTo>
                  <a:lnTo>
                    <a:pt x="460" y="127"/>
                  </a:lnTo>
                  <a:lnTo>
                    <a:pt x="0" y="127"/>
                  </a:lnTo>
                  <a:lnTo>
                    <a:pt x="0" y="176"/>
                  </a:lnTo>
                  <a:close/>
                  <a:moveTo>
                    <a:pt x="0" y="0"/>
                  </a:moveTo>
                  <a:lnTo>
                    <a:pt x="0" y="49"/>
                  </a:lnTo>
                  <a:lnTo>
                    <a:pt x="460" y="49"/>
                  </a:lnTo>
                  <a:lnTo>
                    <a:pt x="4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34" name="그림 33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822" y="644007"/>
              <a:ext cx="216000" cy="216000"/>
            </a:xfrm>
            <a:prstGeom prst="rect">
              <a:avLst/>
            </a:prstGeom>
          </p:spPr>
        </p:pic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4298094" y="555682"/>
            <a:ext cx="3240000" cy="398482"/>
            <a:chOff x="7321393" y="1839307"/>
            <a:chExt cx="3240000" cy="398482"/>
          </a:xfrm>
        </p:grpSpPr>
        <p:sp>
          <p:nvSpPr>
            <p:cNvPr id="132" name="직사각형 131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4452097" y="1019932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387706" y="1817969"/>
            <a:ext cx="15023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0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427487" y="1415579"/>
            <a:ext cx="3039047" cy="330118"/>
            <a:chOff x="5804087" y="4215557"/>
            <a:chExt cx="3024000" cy="288696"/>
          </a:xfrm>
        </p:grpSpPr>
        <p:sp>
          <p:nvSpPr>
            <p:cNvPr id="153" name="직사각형 1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직사각형 154"/>
          <p:cNvSpPr/>
          <p:nvPr/>
        </p:nvSpPr>
        <p:spPr>
          <a:xfrm>
            <a:off x="4427487" y="1480965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smtClean="0">
                <a:latin typeface="+mn-ea"/>
                <a:cs typeface="Calibri" pitchFamily="34" charset="0"/>
              </a:rPr>
              <a:t>빠른이체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6" name="개체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498683"/>
              </p:ext>
            </p:extLst>
          </p:nvPr>
        </p:nvGraphicFramePr>
        <p:xfrm>
          <a:off x="7181844" y="1473455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1844" y="1473455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Freeform 24"/>
          <p:cNvSpPr>
            <a:spLocks noChangeArrowheads="1"/>
          </p:cNvSpPr>
          <p:nvPr/>
        </p:nvSpPr>
        <p:spPr bwMode="auto">
          <a:xfrm>
            <a:off x="7247309" y="647482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02" y="647482"/>
            <a:ext cx="216000" cy="216000"/>
          </a:xfrm>
          <a:prstGeom prst="rect">
            <a:avLst/>
          </a:prstGeom>
        </p:spPr>
      </p:pic>
      <p:sp>
        <p:nvSpPr>
          <p:cNvPr id="159" name="타원 158"/>
          <p:cNvSpPr/>
          <p:nvPr/>
        </p:nvSpPr>
        <p:spPr>
          <a:xfrm>
            <a:off x="5720170" y="2605143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850800" y="2909603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smtClean="0">
                <a:latin typeface="+mn-ea"/>
              </a:rPr>
              <a:t>검색결과가</a:t>
            </a:r>
            <a:endParaRPr lang="en-US" altLang="ko-KR" sz="1000" dirty="0" smtClean="0">
              <a:latin typeface="+mn-ea"/>
            </a:endParaRPr>
          </a:p>
          <a:p>
            <a:pPr algn="ctr"/>
            <a:r>
              <a:rPr lang="ko-KR" altLang="en-US" sz="1000" dirty="0" smtClean="0">
                <a:latin typeface="+mn-ea"/>
              </a:rPr>
              <a:t>없습니다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2817472" y="1319127"/>
            <a:ext cx="251992" cy="230832"/>
            <a:chOff x="4867678" y="3090156"/>
            <a:chExt cx="251992" cy="230832"/>
          </a:xfrm>
        </p:grpSpPr>
        <p:sp>
          <p:nvSpPr>
            <p:cNvPr id="1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2" name="그룹 171"/>
          <p:cNvGrpSpPr/>
          <p:nvPr/>
        </p:nvGrpSpPr>
        <p:grpSpPr>
          <a:xfrm>
            <a:off x="315107" y="2374311"/>
            <a:ext cx="251992" cy="230832"/>
            <a:chOff x="4867678" y="3090156"/>
            <a:chExt cx="251992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5343609" y="2521745"/>
            <a:ext cx="251992" cy="230832"/>
            <a:chOff x="4867678" y="3090156"/>
            <a:chExt cx="251992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350583" y="2148347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79605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sp>
        <p:nvSpPr>
          <p:cNvPr id="112" name="직사각형 111"/>
          <p:cNvSpPr/>
          <p:nvPr/>
        </p:nvSpPr>
        <p:spPr>
          <a:xfrm>
            <a:off x="185714" y="6390198"/>
            <a:ext cx="3251652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다음</a:t>
            </a:r>
            <a:endParaRPr lang="ko-KR" altLang="en-US" sz="1000" b="1" dirty="0"/>
          </a:p>
        </p:txBody>
      </p:sp>
      <p:sp>
        <p:nvSpPr>
          <p:cNvPr id="42" name="직사각형 41"/>
          <p:cNvSpPr/>
          <p:nvPr/>
        </p:nvSpPr>
        <p:spPr>
          <a:xfrm>
            <a:off x="411587" y="1599496"/>
            <a:ext cx="235800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결재선명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364634" y="1907634"/>
            <a:ext cx="2082938" cy="330118"/>
            <a:chOff x="5804087" y="4215557"/>
            <a:chExt cx="3024000" cy="288696"/>
          </a:xfrm>
        </p:grpSpPr>
        <p:sp>
          <p:nvSpPr>
            <p:cNvPr id="44" name="직사각형 43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 err="1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결재선명을</a:t>
              </a:r>
              <a:r>
                <a:rPr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입력해주세요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/>
          <p:cNvSpPr/>
          <p:nvPr/>
        </p:nvSpPr>
        <p:spPr>
          <a:xfrm>
            <a:off x="2462854" y="1907634"/>
            <a:ext cx="791546" cy="33011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중복확인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64634" y="2646778"/>
            <a:ext cx="235800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결재선대상업무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70633" y="2930665"/>
            <a:ext cx="1352466" cy="328001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이체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37399" y="2930665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신탁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72358" y="3354745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B2B/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전자결재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839124" y="3354745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361598" y="3776146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외환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828364" y="3776146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공과금납부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361598" y="4204981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카드 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828364" y="4204981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펀드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823283" y="4666286"/>
            <a:ext cx="1417284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자금관리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351447" y="5095121"/>
            <a:ext cx="135753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웹펌뱅킹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823283" y="5095121"/>
            <a:ext cx="1417284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신고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해지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51447" y="5530504"/>
            <a:ext cx="135753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기업서비스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62201" y="1756820"/>
            <a:ext cx="251992" cy="230832"/>
            <a:chOff x="4867678" y="3090156"/>
            <a:chExt cx="251992" cy="230832"/>
          </a:xfrm>
        </p:grpSpPr>
        <p:sp>
          <p:nvSpPr>
            <p:cNvPr id="6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59789" y="2768657"/>
            <a:ext cx="251992" cy="230832"/>
            <a:chOff x="4867678" y="3090156"/>
            <a:chExt cx="251992" cy="230832"/>
          </a:xfrm>
        </p:grpSpPr>
        <p:sp>
          <p:nvSpPr>
            <p:cNvPr id="6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464332"/>
              </p:ext>
            </p:extLst>
          </p:nvPr>
        </p:nvGraphicFramePr>
        <p:xfrm>
          <a:off x="9822663" y="557185"/>
          <a:ext cx="2195166" cy="42429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기본정보를 입력하는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7715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일반키패드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</a:t>
                      </a: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 입력하고 중복확인을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선택하는 경우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결재선명이 기존의 결재선과 중복이 되는 지 체크를 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[1-2]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결재선명이 중복이 되는 경우 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메시지 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경고창을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표시함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폼이 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리셋되고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Focus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이동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[1-3]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결재선명이 중복되지 않는 경우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메세지창을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노출함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결재선 유형선택 버튼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온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오프 버튼으로 구성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(Check</a:t>
                      </a:r>
                      <a:r>
                        <a:rPr lang="en-US" altLang="ko-KR" sz="700" baseline="0" dirty="0">
                          <a:latin typeface="+mn-ea"/>
                          <a:ea typeface="+mn-ea"/>
                        </a:rPr>
                        <a:t> box </a:t>
                      </a:r>
                      <a:r>
                        <a:rPr lang="ko-KR" altLang="en-US" sz="700" baseline="0" dirty="0">
                          <a:latin typeface="+mn-ea"/>
                          <a:ea typeface="+mn-ea"/>
                        </a:rPr>
                        <a:t>타입으로 중복 선택 가능</a:t>
                      </a:r>
                      <a:r>
                        <a:rPr lang="en-US" altLang="ko-KR" sz="70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aseline="0" dirty="0">
                          <a:latin typeface="+mn-ea"/>
                          <a:ea typeface="+mn-ea"/>
                        </a:rPr>
                        <a:t>디폴트는 </a:t>
                      </a:r>
                      <a:r>
                        <a:rPr lang="ko-KR" altLang="en-US" sz="700" baseline="0" dirty="0" err="1">
                          <a:latin typeface="+mn-ea"/>
                          <a:ea typeface="+mn-ea"/>
                        </a:rPr>
                        <a:t>선택없음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Valodation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체크 후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입력값을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저장한후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닫고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구성 페이지로 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85" name="그룹 84"/>
          <p:cNvGrpSpPr/>
          <p:nvPr/>
        </p:nvGrpSpPr>
        <p:grpSpPr>
          <a:xfrm>
            <a:off x="122384" y="5835935"/>
            <a:ext cx="251992" cy="230832"/>
            <a:chOff x="4867678" y="3090156"/>
            <a:chExt cx="251992" cy="230832"/>
          </a:xfrm>
        </p:grpSpPr>
        <p:sp>
          <p:nvSpPr>
            <p:cNvPr id="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</a:t>
            </a:r>
            <a:endParaRPr lang="en-US" altLang="ko-KR" sz="800" kern="0" dirty="0"/>
          </a:p>
        </p:txBody>
      </p:sp>
      <p:sp>
        <p:nvSpPr>
          <p:cNvPr id="96" name="TextBox 95"/>
          <p:cNvSpPr txBox="1"/>
          <p:nvPr/>
        </p:nvSpPr>
        <p:spPr>
          <a:xfrm>
            <a:off x="361598" y="1066498"/>
            <a:ext cx="1204817" cy="461665"/>
          </a:xfrm>
          <a:prstGeom prst="rect">
            <a:avLst/>
          </a:prstGeom>
          <a:solidFill>
            <a:schemeClr val="bg1"/>
          </a:solidFill>
        </p:spPr>
        <p:txBody>
          <a:bodyPr wrap="none" lIns="0" rtlCol="0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ea typeface="맑은 고딕"/>
              </a:rPr>
              <a:t>결재선 기본설정을</a:t>
            </a:r>
            <a:endParaRPr lang="en-US" altLang="ko-KR" sz="1200" b="1" spc="-150" dirty="0">
              <a:solidFill>
                <a:prstClr val="black"/>
              </a:solidFill>
              <a:ea typeface="맑은 고딕"/>
            </a:endParaRPr>
          </a:p>
          <a:p>
            <a:r>
              <a:rPr lang="ko-KR" altLang="en-US" sz="1200" b="1" spc="-150" dirty="0" smtClean="0">
                <a:solidFill>
                  <a:prstClr val="black"/>
                </a:solidFill>
                <a:ea typeface="맑은 고딕"/>
              </a:rPr>
              <a:t>입력해주세요</a:t>
            </a:r>
            <a:endParaRPr lang="ko-KR" altLang="en-US" sz="12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34963" y="2297158"/>
            <a:ext cx="2878969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결재선명을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 후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중복확인을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실행해주세요</a:t>
            </a:r>
            <a:r>
              <a:rPr lang="en-US" altLang="ko-KR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61598" y="5865718"/>
            <a:ext cx="2878969" cy="5078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spc="-150" dirty="0" smtClean="0">
                <a:latin typeface="맑은 고딕" panose="020B0503020000020004" pitchFamily="50" charset="-127"/>
              </a:rPr>
              <a:t>안내사항</a:t>
            </a:r>
            <a:endParaRPr lang="en-US" altLang="ko-KR" sz="900" b="1" spc="-150" dirty="0" smtClean="0">
              <a:latin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 smtClean="0">
                <a:latin typeface="맑은 고딕" panose="020B0503020000020004" pitchFamily="50" charset="-127"/>
              </a:rPr>
              <a:t>결재선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업무범위는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1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개이상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 지정되어야 합니다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.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업무범위는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복수 선택이 가능합니다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6" name="그룹 45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68" name="직사각형 6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7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351447" y="4662202"/>
            <a:ext cx="135753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퇴직연금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286870" y="498728"/>
            <a:ext cx="2773274" cy="1062756"/>
            <a:chOff x="4535050" y="819597"/>
            <a:chExt cx="1560950" cy="1258233"/>
          </a:xfrm>
        </p:grpSpPr>
        <p:sp>
          <p:nvSpPr>
            <p:cNvPr id="76" name="직사각형 75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4544262" y="1021158"/>
              <a:ext cx="941491" cy="105667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79" name="직사각형 78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직사각형 79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81" name="그룹 80"/>
          <p:cNvGrpSpPr/>
          <p:nvPr/>
        </p:nvGrpSpPr>
        <p:grpSpPr>
          <a:xfrm>
            <a:off x="322346" y="2113778"/>
            <a:ext cx="2773274" cy="732380"/>
            <a:chOff x="4535050" y="819597"/>
            <a:chExt cx="1560950" cy="867089"/>
          </a:xfrm>
        </p:grpSpPr>
        <p:sp>
          <p:nvSpPr>
            <p:cNvPr id="82" name="직사각형 8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4544262" y="1021158"/>
              <a:ext cx="1527714" cy="665528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88" name="직사각형 8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직사각형 8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0" name="그룹 89"/>
          <p:cNvGrpSpPr/>
          <p:nvPr/>
        </p:nvGrpSpPr>
        <p:grpSpPr>
          <a:xfrm>
            <a:off x="322346" y="5742295"/>
            <a:ext cx="2773274" cy="673694"/>
            <a:chOff x="4535050" y="819597"/>
            <a:chExt cx="1560950" cy="797609"/>
          </a:xfrm>
        </p:grpSpPr>
        <p:sp>
          <p:nvSpPr>
            <p:cNvPr id="91" name="직사각형 9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4544263" y="1021158"/>
              <a:ext cx="1036882" cy="18484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93" name="그룹 9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94" name="직사각형 9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직사각형 9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7" name="그룹 96"/>
          <p:cNvGrpSpPr/>
          <p:nvPr/>
        </p:nvGrpSpPr>
        <p:grpSpPr>
          <a:xfrm>
            <a:off x="3676933" y="788454"/>
            <a:ext cx="2619196" cy="1321415"/>
            <a:chOff x="8238032" y="4789014"/>
            <a:chExt cx="2880000" cy="1621951"/>
          </a:xfrm>
        </p:grpSpPr>
        <p:sp>
          <p:nvSpPr>
            <p:cNvPr id="98" name="직사각형 97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8271666" y="6122965"/>
              <a:ext cx="2846366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확인</a:t>
              </a:r>
              <a:endParaRPr lang="ko-KR" altLang="en-US" sz="9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384066" y="5428763"/>
              <a:ext cx="2472268" cy="28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 err="1" smtClean="0"/>
                <a:t>결재선명은</a:t>
              </a:r>
              <a:r>
                <a:rPr lang="ko-KR" altLang="en-US" sz="900" dirty="0" smtClean="0"/>
                <a:t> </a:t>
              </a:r>
              <a:r>
                <a:rPr lang="en-US" altLang="ko-KR" sz="900" dirty="0" smtClean="0"/>
                <a:t>18</a:t>
              </a:r>
              <a:r>
                <a:rPr lang="ko-KR" altLang="en-US" sz="900" dirty="0" smtClean="0"/>
                <a:t>자리까지 가능합니다</a:t>
              </a:r>
              <a:r>
                <a:rPr lang="en-US" altLang="ko-KR" sz="900" dirty="0" smtClean="0"/>
                <a:t>.</a:t>
              </a:r>
              <a:endParaRPr lang="en-US" altLang="ko-KR" sz="900" dirty="0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3701668" y="684815"/>
            <a:ext cx="2773274" cy="1380468"/>
            <a:chOff x="4535050" y="819597"/>
            <a:chExt cx="1560950" cy="1634383"/>
          </a:xfrm>
        </p:grpSpPr>
        <p:sp>
          <p:nvSpPr>
            <p:cNvPr id="105" name="직사각형 10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직사각형 1"/>
          <p:cNvSpPr/>
          <p:nvPr/>
        </p:nvSpPr>
        <p:spPr>
          <a:xfrm>
            <a:off x="307397" y="4562791"/>
            <a:ext cx="1442745" cy="471325"/>
          </a:xfrm>
          <a:prstGeom prst="rect">
            <a:avLst/>
          </a:prstGeom>
          <a:solidFill>
            <a:srgbClr val="FF0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퇴직연금</a:t>
            </a:r>
            <a:endParaRPr lang="en-US" altLang="ko-KR" sz="900" dirty="0" smtClean="0"/>
          </a:p>
          <a:p>
            <a:pPr algn="ctr"/>
            <a:r>
              <a:rPr lang="ko-KR" altLang="en-US" sz="900" dirty="0" err="1" smtClean="0"/>
              <a:t>업무제외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(2023-04-11)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6572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78153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sp>
          <p:nvSpPr>
            <p:cNvPr id="80" name="직사각형 79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입력하지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않았을경우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sp>
          <p:nvSpPr>
            <p:cNvPr id="101" name="직사각형 100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중복 조회해주세요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중복조회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하지 않았을 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570336" y="1450476"/>
            <a:ext cx="2950120" cy="1490703"/>
            <a:chOff x="201575" y="3100646"/>
            <a:chExt cx="2950120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대상업무를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99879"/>
                <a:ext cx="2950119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488828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결재선대상업무 미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선택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8876" y="342183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</a:t>
            </a:r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결재선명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은 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사용 가능 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3336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사용가능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3164752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직사각형 62"/>
          <p:cNvSpPr/>
          <p:nvPr/>
        </p:nvSpPr>
        <p:spPr>
          <a:xfrm>
            <a:off x="3969231" y="342183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</a:t>
            </a:r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결재선명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은 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사용 중 입니다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843691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 중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7" name="Freeform 11"/>
          <p:cNvSpPr>
            <a:spLocks noChangeArrowheads="1"/>
          </p:cNvSpPr>
          <p:nvPr/>
        </p:nvSpPr>
        <p:spPr bwMode="auto">
          <a:xfrm>
            <a:off x="6715107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3975347" y="52699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다음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69231" y="2650682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69231" y="4615260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18875" y="4608025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80357" y="2642781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595721" y="3311489"/>
            <a:ext cx="2773274" cy="1380468"/>
            <a:chOff x="4535050" y="819597"/>
            <a:chExt cx="1560950" cy="1634383"/>
          </a:xfrm>
        </p:grpSpPr>
        <p:sp>
          <p:nvSpPr>
            <p:cNvPr id="32" name="직사각형 3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35" name="직사각형 3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4146076" y="1278431"/>
            <a:ext cx="2773274" cy="1380468"/>
            <a:chOff x="4535050" y="819597"/>
            <a:chExt cx="1560950" cy="1634383"/>
          </a:xfrm>
        </p:grpSpPr>
        <p:sp>
          <p:nvSpPr>
            <p:cNvPr id="47" name="직사각형 4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50" name="직사각형 4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49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200595" y="1767334"/>
            <a:ext cx="3225119" cy="4602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TextBox 231"/>
          <p:cNvSpPr txBox="1"/>
          <p:nvPr/>
        </p:nvSpPr>
        <p:spPr>
          <a:xfrm>
            <a:off x="352753" y="1114525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3772930" y="1884214"/>
            <a:ext cx="0" cy="412042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84379" y="1516901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직사각형 346"/>
          <p:cNvSpPr/>
          <p:nvPr/>
        </p:nvSpPr>
        <p:spPr>
          <a:xfrm>
            <a:off x="187784" y="2920151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/>
          <p:cNvSpPr txBox="1"/>
          <p:nvPr/>
        </p:nvSpPr>
        <p:spPr>
          <a:xfrm>
            <a:off x="336412" y="2994677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2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39" name="모서리가 둥근 직사각형 438"/>
          <p:cNvSpPr/>
          <p:nvPr/>
        </p:nvSpPr>
        <p:spPr>
          <a:xfrm>
            <a:off x="2529731" y="1159599"/>
            <a:ext cx="83701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기본설정변경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19" name="표 5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34972"/>
              </p:ext>
            </p:extLst>
          </p:nvPr>
        </p:nvGraphicFramePr>
        <p:xfrm>
          <a:off x="9822663" y="475905"/>
          <a:ext cx="2195166" cy="6264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신규등록으로 진입한 경우에는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단계만 표시한다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99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명을 표시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기본설정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버튼을 클릭하면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결재선 기본설정</a:t>
                      </a:r>
                      <a:r>
                        <a:rPr lang="en-US" altLang="ko-KR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변경</a:t>
                      </a:r>
                      <a:r>
                        <a:rPr lang="en-US" altLang="ko-KR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)’ 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페이지로 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 여부를 체크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마지막단계를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표시함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마지막단계를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승인으로 변경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불러오기 버튼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신규 등록에서만 노출되는 버튼으로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13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단계가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단계에 추가됨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단계명은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“2”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생성되도록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단계까지 가능하며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단계가 되면 버튼은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등록된 구성원 전체를 삭제 </a:t>
                      </a:r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 삭제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가안단계와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마지막단계를 제외한 결재단계에만 버튼 제공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dirty="0" err="1" smtClean="0">
                          <a:latin typeface="+mn-ea"/>
                          <a:ea typeface="+mn-ea"/>
                        </a:rPr>
                        <a:t>결재권한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결재와 확인을 버튼형으로 하여 변경할 수 있도록 처리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   ex)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버튼형 또는 스위치형으로 디자인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승인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별도의 </a:t>
                      </a:r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없이 구성원 삭제 처리</a:t>
                      </a:r>
                    </a:p>
                    <a:p>
                      <a:pPr latinLnBrk="1"/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토스트메시지로 처리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사용하는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43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위한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사용자검색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명인 경우 버튼을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3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후 이전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결재선등록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취소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5771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Validation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체크한 후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결재선입력확인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63116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520" name="그룹 519"/>
          <p:cNvGrpSpPr/>
          <p:nvPr/>
        </p:nvGrpSpPr>
        <p:grpSpPr>
          <a:xfrm>
            <a:off x="97452" y="962384"/>
            <a:ext cx="251992" cy="230832"/>
            <a:chOff x="4867678" y="3090156"/>
            <a:chExt cx="251992" cy="230832"/>
          </a:xfrm>
        </p:grpSpPr>
        <p:sp>
          <p:nvSpPr>
            <p:cNvPr id="5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2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23" name="그룹 522"/>
          <p:cNvGrpSpPr/>
          <p:nvPr/>
        </p:nvGrpSpPr>
        <p:grpSpPr>
          <a:xfrm>
            <a:off x="2384429" y="1018999"/>
            <a:ext cx="367408" cy="230832"/>
            <a:chOff x="4809970" y="3090156"/>
            <a:chExt cx="367408" cy="230832"/>
          </a:xfrm>
        </p:grpSpPr>
        <p:sp>
          <p:nvSpPr>
            <p:cNvPr id="52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2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30" name="모서리가 둥근 직사각형 529"/>
          <p:cNvSpPr/>
          <p:nvPr/>
        </p:nvSpPr>
        <p:spPr>
          <a:xfrm>
            <a:off x="2472686" y="1564260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8761" y="1563475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634893" y="1591222"/>
            <a:ext cx="396000" cy="171048"/>
            <a:chOff x="5960994" y="6443081"/>
            <a:chExt cx="396000" cy="180000"/>
          </a:xfrm>
        </p:grpSpPr>
        <p:sp>
          <p:nvSpPr>
            <p:cNvPr id="544" name="모서리가 둥근 직사각형 543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545" name="타원 544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546" name="직사각형 545"/>
          <p:cNvSpPr/>
          <p:nvPr/>
        </p:nvSpPr>
        <p:spPr>
          <a:xfrm>
            <a:off x="3539015" y="2743556"/>
            <a:ext cx="478899" cy="142981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맑은 고딕" pitchFamily="50" charset="-127"/>
              </a:rPr>
              <a:t>스크롤영역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2397153" y="3022650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012849" y="1557939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" name="직사각형 2"/>
          <p:cNvSpPr/>
          <p:nvPr/>
        </p:nvSpPr>
        <p:spPr>
          <a:xfrm>
            <a:off x="267587" y="2036833"/>
            <a:ext cx="3082144" cy="571364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/>
          <p:cNvSpPr txBox="1"/>
          <p:nvPr/>
        </p:nvSpPr>
        <p:spPr>
          <a:xfrm>
            <a:off x="1416318" y="2324107"/>
            <a:ext cx="86177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결제단계추가</a:t>
            </a:r>
            <a:endParaRPr lang="en-US" altLang="ko-KR" sz="1000" dirty="0" smtClean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83778" y="1869966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+</a:t>
            </a:r>
            <a:endParaRPr lang="ko-KR" altLang="en-US" sz="3200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grpSp>
        <p:nvGrpSpPr>
          <p:cNvPr id="185" name="그룹 184"/>
          <p:cNvGrpSpPr/>
          <p:nvPr/>
        </p:nvGrpSpPr>
        <p:grpSpPr>
          <a:xfrm rot="10800000">
            <a:off x="1658208" y="2684960"/>
            <a:ext cx="154946" cy="123678"/>
            <a:chOff x="6691038" y="2985393"/>
            <a:chExt cx="122504" cy="97782"/>
          </a:xfrm>
        </p:grpSpPr>
        <p:cxnSp>
          <p:nvCxnSpPr>
            <p:cNvPr id="186" name="직선 연결선 185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8" name="직선 연결선 187"/>
          <p:cNvCxnSpPr/>
          <p:nvPr/>
        </p:nvCxnSpPr>
        <p:spPr>
          <a:xfrm>
            <a:off x="628611" y="1825801"/>
            <a:ext cx="3591625" cy="14100"/>
          </a:xfrm>
          <a:prstGeom prst="line">
            <a:avLst/>
          </a:prstGeom>
          <a:ln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그룹 200"/>
          <p:cNvGrpSpPr/>
          <p:nvPr/>
        </p:nvGrpSpPr>
        <p:grpSpPr>
          <a:xfrm>
            <a:off x="280935" y="3260127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02" name="모서리가 둥근 직사각형 20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6" name="직선 연결선 20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타원 20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8" name="직사각형 207"/>
          <p:cNvSpPr/>
          <p:nvPr/>
        </p:nvSpPr>
        <p:spPr>
          <a:xfrm>
            <a:off x="576594" y="4018641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09" name="타원 208"/>
          <p:cNvSpPr/>
          <p:nvPr/>
        </p:nvSpPr>
        <p:spPr>
          <a:xfrm>
            <a:off x="1187465" y="3305107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268124" y="3545859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937228" y="3490352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923211" y="3819788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187784" y="4795777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/>
          <p:cNvSpPr txBox="1"/>
          <p:nvPr/>
        </p:nvSpPr>
        <p:spPr>
          <a:xfrm>
            <a:off x="336412" y="4870303"/>
            <a:ext cx="323165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기안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17" name="그룹 216"/>
          <p:cNvGrpSpPr/>
          <p:nvPr/>
        </p:nvGrpSpPr>
        <p:grpSpPr>
          <a:xfrm>
            <a:off x="65604" y="4749975"/>
            <a:ext cx="251992" cy="230832"/>
            <a:chOff x="4867678" y="3090156"/>
            <a:chExt cx="251992" cy="230832"/>
          </a:xfrm>
        </p:grpSpPr>
        <p:sp>
          <p:nvSpPr>
            <p:cNvPr id="21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0" name="모서리가 둥근 직사각형 219"/>
          <p:cNvSpPr/>
          <p:nvPr/>
        </p:nvSpPr>
        <p:spPr>
          <a:xfrm>
            <a:off x="1961086" y="4911281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1" name="그룹 220"/>
          <p:cNvGrpSpPr/>
          <p:nvPr/>
        </p:nvGrpSpPr>
        <p:grpSpPr>
          <a:xfrm rot="10800000">
            <a:off x="1658208" y="4560586"/>
            <a:ext cx="154946" cy="123678"/>
            <a:chOff x="6691038" y="2985393"/>
            <a:chExt cx="122504" cy="97782"/>
          </a:xfrm>
        </p:grpSpPr>
        <p:cxnSp>
          <p:nvCxnSpPr>
            <p:cNvPr id="222" name="직선 연결선 221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/>
          <p:cNvGrpSpPr/>
          <p:nvPr/>
        </p:nvGrpSpPr>
        <p:grpSpPr>
          <a:xfrm>
            <a:off x="354572" y="5163673"/>
            <a:ext cx="1104400" cy="958355"/>
            <a:chOff x="4630176" y="3963919"/>
            <a:chExt cx="1104400" cy="958355"/>
          </a:xfrm>
        </p:grpSpPr>
        <p:sp>
          <p:nvSpPr>
            <p:cNvPr id="225" name="모서리가 둥근 직사각형 22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29" name="직선 연결선 22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타원 22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34" name="그룹 233"/>
          <p:cNvGrpSpPr/>
          <p:nvPr/>
        </p:nvGrpSpPr>
        <p:grpSpPr>
          <a:xfrm>
            <a:off x="1591077" y="5169805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35" name="모서리가 둥근 직사각형 23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rgbClr val="FBE5D6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solidFill>
              <a:srgbClr val="FBE5D6"/>
            </a:solidFill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solidFill>
              <a:srgbClr val="FBE5D6"/>
            </a:solidFill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타원 23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2" name="타원 241"/>
          <p:cNvSpPr/>
          <p:nvPr/>
        </p:nvSpPr>
        <p:spPr>
          <a:xfrm>
            <a:off x="2497607" y="5214785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345017" y="543930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1578266" y="545553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5" name="타원 244"/>
          <p:cNvSpPr/>
          <p:nvPr/>
        </p:nvSpPr>
        <p:spPr>
          <a:xfrm>
            <a:off x="2937228" y="5365978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2923211" y="5695414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4" name="직사각형 423"/>
          <p:cNvSpPr/>
          <p:nvPr/>
        </p:nvSpPr>
        <p:spPr>
          <a:xfrm>
            <a:off x="1208697" y="6013094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425" name="직사각형 424"/>
          <p:cNvSpPr/>
          <p:nvPr/>
        </p:nvSpPr>
        <p:spPr>
          <a:xfrm>
            <a:off x="176362" y="6013094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취소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28" name="직선 연결선 427"/>
          <p:cNvCxnSpPr/>
          <p:nvPr/>
        </p:nvCxnSpPr>
        <p:spPr>
          <a:xfrm>
            <a:off x="314161" y="5997591"/>
            <a:ext cx="3591625" cy="14100"/>
          </a:xfrm>
          <a:prstGeom prst="line">
            <a:avLst/>
          </a:prstGeom>
          <a:ln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/>
          <p:cNvSpPr/>
          <p:nvPr/>
        </p:nvSpPr>
        <p:spPr>
          <a:xfrm>
            <a:off x="1886736" y="5928319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74599" y="1480109"/>
            <a:ext cx="251992" cy="230832"/>
            <a:chOff x="4867678" y="3090156"/>
            <a:chExt cx="251992" cy="230832"/>
          </a:xfrm>
        </p:grpSpPr>
        <p:sp>
          <p:nvSpPr>
            <p:cNvPr id="15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4" name="직사각형 153"/>
          <p:cNvSpPr/>
          <p:nvPr/>
        </p:nvSpPr>
        <p:spPr>
          <a:xfrm>
            <a:off x="4814762" y="540954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7103069" y="58831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4869144" y="58752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157" name="그룹 156"/>
          <p:cNvGrpSpPr/>
          <p:nvPr/>
        </p:nvGrpSpPr>
        <p:grpSpPr>
          <a:xfrm>
            <a:off x="5265276" y="615275"/>
            <a:ext cx="396000" cy="171048"/>
            <a:chOff x="5960994" y="6443081"/>
            <a:chExt cx="396000" cy="180000"/>
          </a:xfrm>
        </p:grpSpPr>
        <p:sp>
          <p:nvSpPr>
            <p:cNvPr id="158" name="모서리가 둥근 직사각형 157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159" name="타원 158"/>
            <p:cNvSpPr/>
            <p:nvPr/>
          </p:nvSpPr>
          <p:spPr>
            <a:xfrm>
              <a:off x="5967237" y="6454957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160" name="직사각형 159"/>
          <p:cNvSpPr/>
          <p:nvPr/>
        </p:nvSpPr>
        <p:spPr>
          <a:xfrm>
            <a:off x="5643232" y="581992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164" name="직사각형 163"/>
          <p:cNvSpPr/>
          <p:nvPr/>
        </p:nvSpPr>
        <p:spPr>
          <a:xfrm>
            <a:off x="4811862" y="905278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4960490" y="979804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7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8551785" y="99134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1" name="그룹 170"/>
          <p:cNvGrpSpPr/>
          <p:nvPr/>
        </p:nvGrpSpPr>
        <p:grpSpPr>
          <a:xfrm>
            <a:off x="4978650" y="1273174"/>
            <a:ext cx="1104400" cy="958355"/>
            <a:chOff x="4630176" y="3963919"/>
            <a:chExt cx="1104400" cy="958355"/>
          </a:xfrm>
        </p:grpSpPr>
        <p:sp>
          <p:nvSpPr>
            <p:cNvPr id="172" name="모서리가 둥근 직사각형 17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4696540" y="4017825"/>
              <a:ext cx="376422" cy="1203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5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결재자</a:t>
              </a:r>
            </a:p>
          </p:txBody>
        </p:sp>
        <p:cxnSp>
          <p:nvCxnSpPr>
            <p:cNvPr id="176" name="직선 연결선 17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타원 17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73" name="직사각형 272"/>
          <p:cNvSpPr/>
          <p:nvPr/>
        </p:nvSpPr>
        <p:spPr>
          <a:xfrm>
            <a:off x="4969095" y="1548803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6313125" y="1464449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299108" y="1793885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4814762" y="2619214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7103069" y="266657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4869144" y="266578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300" name="그룹 299"/>
          <p:cNvGrpSpPr/>
          <p:nvPr/>
        </p:nvGrpSpPr>
        <p:grpSpPr>
          <a:xfrm>
            <a:off x="5265276" y="2693535"/>
            <a:ext cx="396000" cy="171048"/>
            <a:chOff x="5960994" y="6443081"/>
            <a:chExt cx="396000" cy="180000"/>
          </a:xfrm>
        </p:grpSpPr>
        <p:sp>
          <p:nvSpPr>
            <p:cNvPr id="301" name="모서리가 둥근 직사각형 300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302" name="타원 301"/>
            <p:cNvSpPr/>
            <p:nvPr/>
          </p:nvSpPr>
          <p:spPr>
            <a:xfrm>
              <a:off x="6162077" y="6444442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303" name="직사각형 302"/>
          <p:cNvSpPr/>
          <p:nvPr/>
        </p:nvSpPr>
        <p:spPr>
          <a:xfrm>
            <a:off x="5643232" y="2660252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04" name="직사각형 303"/>
          <p:cNvSpPr/>
          <p:nvPr/>
        </p:nvSpPr>
        <p:spPr>
          <a:xfrm>
            <a:off x="4811862" y="2978876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/>
          <p:cNvSpPr txBox="1"/>
          <p:nvPr/>
        </p:nvSpPr>
        <p:spPr>
          <a:xfrm>
            <a:off x="4960490" y="3053402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7084143" y="309516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8" name="그룹 307"/>
          <p:cNvGrpSpPr/>
          <p:nvPr/>
        </p:nvGrpSpPr>
        <p:grpSpPr>
          <a:xfrm>
            <a:off x="4978650" y="3346772"/>
            <a:ext cx="1104400" cy="958355"/>
            <a:chOff x="4630176" y="3963919"/>
            <a:chExt cx="1104400" cy="958355"/>
          </a:xfrm>
        </p:grpSpPr>
        <p:sp>
          <p:nvSpPr>
            <p:cNvPr id="309" name="모서리가 둥근 직사각형 308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13" name="직선 연결선 31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타원 31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6" name="직사각형 315"/>
          <p:cNvSpPr/>
          <p:nvPr/>
        </p:nvSpPr>
        <p:spPr>
          <a:xfrm>
            <a:off x="4969095" y="362240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17" name="타원 316"/>
          <p:cNvSpPr/>
          <p:nvPr/>
        </p:nvSpPr>
        <p:spPr>
          <a:xfrm>
            <a:off x="6313125" y="3538047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299108" y="3867483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319" name="그룹 318"/>
          <p:cNvGrpSpPr/>
          <p:nvPr/>
        </p:nvGrpSpPr>
        <p:grpSpPr>
          <a:xfrm>
            <a:off x="4659395" y="437447"/>
            <a:ext cx="367408" cy="230832"/>
            <a:chOff x="4809970" y="3090156"/>
            <a:chExt cx="367408" cy="230832"/>
          </a:xfrm>
        </p:grpSpPr>
        <p:sp>
          <p:nvSpPr>
            <p:cNvPr id="32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2" name="그룹 321"/>
          <p:cNvGrpSpPr/>
          <p:nvPr/>
        </p:nvGrpSpPr>
        <p:grpSpPr>
          <a:xfrm>
            <a:off x="4653878" y="2472029"/>
            <a:ext cx="367408" cy="230832"/>
            <a:chOff x="4809970" y="3090156"/>
            <a:chExt cx="367408" cy="230832"/>
          </a:xfrm>
        </p:grpSpPr>
        <p:sp>
          <p:nvSpPr>
            <p:cNvPr id="3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5" name="그룹 324"/>
          <p:cNvGrpSpPr/>
          <p:nvPr/>
        </p:nvGrpSpPr>
        <p:grpSpPr>
          <a:xfrm>
            <a:off x="2304996" y="1491819"/>
            <a:ext cx="251992" cy="230832"/>
            <a:chOff x="4867678" y="3090156"/>
            <a:chExt cx="251992" cy="230832"/>
          </a:xfrm>
        </p:grpSpPr>
        <p:sp>
          <p:nvSpPr>
            <p:cNvPr id="32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dirty="0"/>
            </a:p>
          </p:txBody>
        </p:sp>
        <p:sp>
          <p:nvSpPr>
            <p:cNvPr id="32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8" name="그룹 327"/>
          <p:cNvGrpSpPr/>
          <p:nvPr/>
        </p:nvGrpSpPr>
        <p:grpSpPr>
          <a:xfrm>
            <a:off x="1409008" y="1966867"/>
            <a:ext cx="251992" cy="230832"/>
            <a:chOff x="4867678" y="3090156"/>
            <a:chExt cx="251992" cy="230832"/>
          </a:xfrm>
        </p:grpSpPr>
        <p:sp>
          <p:nvSpPr>
            <p:cNvPr id="32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3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31" name="그룹 330"/>
          <p:cNvGrpSpPr/>
          <p:nvPr/>
        </p:nvGrpSpPr>
        <p:grpSpPr>
          <a:xfrm>
            <a:off x="2250147" y="2845758"/>
            <a:ext cx="251992" cy="230832"/>
            <a:chOff x="4867678" y="3090156"/>
            <a:chExt cx="251992" cy="230832"/>
          </a:xfrm>
        </p:grpSpPr>
        <p:sp>
          <p:nvSpPr>
            <p:cNvPr id="33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3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4" name="Freeform 11"/>
          <p:cNvSpPr>
            <a:spLocks noChangeArrowheads="1"/>
          </p:cNvSpPr>
          <p:nvPr/>
        </p:nvSpPr>
        <p:spPr bwMode="auto">
          <a:xfrm>
            <a:off x="3176316" y="30401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" name="Freeform 11"/>
          <p:cNvSpPr>
            <a:spLocks noChangeArrowheads="1"/>
          </p:cNvSpPr>
          <p:nvPr/>
        </p:nvSpPr>
        <p:spPr bwMode="auto">
          <a:xfrm>
            <a:off x="7780015" y="1021839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" name="Freeform 11"/>
          <p:cNvSpPr>
            <a:spLocks noChangeArrowheads="1"/>
          </p:cNvSpPr>
          <p:nvPr/>
        </p:nvSpPr>
        <p:spPr bwMode="auto">
          <a:xfrm>
            <a:off x="7780015" y="309681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" name="그룹 337"/>
          <p:cNvGrpSpPr/>
          <p:nvPr/>
        </p:nvGrpSpPr>
        <p:grpSpPr>
          <a:xfrm>
            <a:off x="2969878" y="2900015"/>
            <a:ext cx="251992" cy="230832"/>
            <a:chOff x="4867678" y="3090156"/>
            <a:chExt cx="251992" cy="230832"/>
          </a:xfrm>
        </p:grpSpPr>
        <p:sp>
          <p:nvSpPr>
            <p:cNvPr id="33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4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41" name="그룹 340"/>
          <p:cNvGrpSpPr/>
          <p:nvPr/>
        </p:nvGrpSpPr>
        <p:grpSpPr>
          <a:xfrm>
            <a:off x="85160" y="4310713"/>
            <a:ext cx="3455988" cy="255343"/>
            <a:chOff x="2638132" y="2022105"/>
            <a:chExt cx="3455988" cy="255343"/>
          </a:xfrm>
        </p:grpSpPr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344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343" name="TextBox 342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 smtClean="0">
                <a:solidFill>
                  <a:srgbClr val="C00000"/>
                </a:solidFill>
              </a:endParaRPr>
            </a:p>
          </p:txBody>
        </p:sp>
      </p:grpSp>
      <p:grpSp>
        <p:nvGrpSpPr>
          <p:cNvPr id="348" name="그룹 347"/>
          <p:cNvGrpSpPr/>
          <p:nvPr/>
        </p:nvGrpSpPr>
        <p:grpSpPr>
          <a:xfrm>
            <a:off x="143334" y="4485598"/>
            <a:ext cx="3455988" cy="255343"/>
            <a:chOff x="2638132" y="2022105"/>
            <a:chExt cx="3455988" cy="255343"/>
          </a:xfrm>
        </p:grpSpPr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351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350" name="TextBox 349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 smtClean="0">
                <a:solidFill>
                  <a:srgbClr val="C00000"/>
                </a:solidFill>
              </a:endParaRPr>
            </a:p>
          </p:txBody>
        </p:sp>
      </p:grpSp>
      <p:sp>
        <p:nvSpPr>
          <p:cNvPr id="363" name="직사각형 362"/>
          <p:cNvSpPr/>
          <p:nvPr/>
        </p:nvSpPr>
        <p:spPr>
          <a:xfrm>
            <a:off x="552373" y="3301094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342596" y="330109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65" name="직사각형 364"/>
          <p:cNvSpPr/>
          <p:nvPr/>
        </p:nvSpPr>
        <p:spPr>
          <a:xfrm>
            <a:off x="441853" y="5209943"/>
            <a:ext cx="209748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기안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1690384" y="5209943"/>
            <a:ext cx="209748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기안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5060715" y="3382659"/>
            <a:ext cx="209748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승인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3205804" y="3390301"/>
            <a:ext cx="230832" cy="319318"/>
            <a:chOff x="4878258" y="3045913"/>
            <a:chExt cx="230832" cy="319318"/>
          </a:xfrm>
        </p:grpSpPr>
        <p:sp>
          <p:nvSpPr>
            <p:cNvPr id="37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7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80" name="모서리가 둥근 직사각형 379"/>
          <p:cNvSpPr/>
          <p:nvPr/>
        </p:nvSpPr>
        <p:spPr>
          <a:xfrm>
            <a:off x="330081" y="388522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2" name="모서리가 둥근 직사각형 381"/>
          <p:cNvSpPr/>
          <p:nvPr/>
        </p:nvSpPr>
        <p:spPr>
          <a:xfrm>
            <a:off x="409120" y="580693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3" name="모서리가 둥근 직사각형 382"/>
          <p:cNvSpPr/>
          <p:nvPr/>
        </p:nvSpPr>
        <p:spPr>
          <a:xfrm>
            <a:off x="1651230" y="581730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모서리가 둥근 직사각형 383"/>
          <p:cNvSpPr/>
          <p:nvPr/>
        </p:nvSpPr>
        <p:spPr>
          <a:xfrm>
            <a:off x="5045014" y="3978009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모서리가 둥근 직사각형 384"/>
          <p:cNvSpPr/>
          <p:nvPr/>
        </p:nvSpPr>
        <p:spPr>
          <a:xfrm>
            <a:off x="5045014" y="190739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1E306F9E-713D-471B-104D-5FE44A42CE96}"/>
              </a:ext>
            </a:extLst>
          </p:cNvPr>
          <p:cNvSpPr/>
          <p:nvPr/>
        </p:nvSpPr>
        <p:spPr>
          <a:xfrm>
            <a:off x="4803280" y="5153560"/>
            <a:ext cx="2154587" cy="3114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결재단계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구성원을 삭제하였습니다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63963" y="5032325"/>
            <a:ext cx="367408" cy="230832"/>
            <a:chOff x="4809970" y="3090156"/>
            <a:chExt cx="367408" cy="230832"/>
          </a:xfrm>
        </p:grpSpPr>
        <p:sp>
          <p:nvSpPr>
            <p:cNvPr id="39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9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1E306F9E-713D-471B-104D-5FE44A42CE96}"/>
              </a:ext>
            </a:extLst>
          </p:cNvPr>
          <p:cNvSpPr/>
          <p:nvPr/>
        </p:nvSpPr>
        <p:spPr>
          <a:xfrm>
            <a:off x="4808162" y="4666152"/>
            <a:ext cx="2154587" cy="3114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결재단계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삭제하였습니다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68845" y="4544917"/>
            <a:ext cx="367408" cy="230832"/>
            <a:chOff x="4809970" y="3090156"/>
            <a:chExt cx="367408" cy="230832"/>
          </a:xfrm>
        </p:grpSpPr>
        <p:sp>
          <p:nvSpPr>
            <p:cNvPr id="39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9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00" name="사각형 설명선 399"/>
          <p:cNvSpPr/>
          <p:nvPr/>
        </p:nvSpPr>
        <p:spPr>
          <a:xfrm>
            <a:off x="4816478" y="5692088"/>
            <a:ext cx="1080230" cy="656449"/>
          </a:xfrm>
          <a:prstGeom prst="wedgeRectCallout">
            <a:avLst>
              <a:gd name="adj1" fmla="val -49827"/>
              <a:gd name="adj2" fmla="val 29168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1" name="직사각형 400"/>
          <p:cNvSpPr/>
          <p:nvPr/>
        </p:nvSpPr>
        <p:spPr>
          <a:xfrm>
            <a:off x="4805301" y="5728732"/>
            <a:ext cx="10274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보안카드</a:t>
            </a:r>
            <a:endParaRPr lang="en-US" altLang="ko-KR" sz="800" dirty="0" smtClean="0"/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디지털</a:t>
            </a: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미사용</a:t>
            </a:r>
            <a:endParaRPr lang="en-US" altLang="ko-KR" sz="800" dirty="0"/>
          </a:p>
        </p:txBody>
      </p: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53878" y="5523940"/>
            <a:ext cx="367408" cy="230832"/>
            <a:chOff x="4809970" y="3090156"/>
            <a:chExt cx="367408" cy="230832"/>
          </a:xfrm>
        </p:grpSpPr>
        <p:sp>
          <p:nvSpPr>
            <p:cNvPr id="40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9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05" name="직사각형 404"/>
          <p:cNvSpPr/>
          <p:nvPr/>
        </p:nvSpPr>
        <p:spPr>
          <a:xfrm>
            <a:off x="7281674" y="482784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6" name="직사각형 405"/>
          <p:cNvSpPr/>
          <p:nvPr/>
        </p:nvSpPr>
        <p:spPr>
          <a:xfrm>
            <a:off x="7613063" y="4827841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7947840" y="4827841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8" name="직사각형 407"/>
          <p:cNvSpPr/>
          <p:nvPr/>
        </p:nvSpPr>
        <p:spPr>
          <a:xfrm>
            <a:off x="8279229" y="4822842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267640" y="4653069"/>
            <a:ext cx="1298804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상태에 따른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013956" y="4490142"/>
            <a:ext cx="367408" cy="230832"/>
            <a:chOff x="4809970" y="3090156"/>
            <a:chExt cx="367408" cy="230832"/>
          </a:xfrm>
        </p:grpSpPr>
        <p:sp>
          <p:nvSpPr>
            <p:cNvPr id="4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185714" y="552207"/>
            <a:ext cx="3240000" cy="398482"/>
            <a:chOff x="185714" y="552207"/>
            <a:chExt cx="3240000" cy="398482"/>
          </a:xfrm>
        </p:grpSpPr>
        <p:grpSp>
          <p:nvGrpSpPr>
            <p:cNvPr id="414" name="그룹 413"/>
            <p:cNvGrpSpPr/>
            <p:nvPr/>
          </p:nvGrpSpPr>
          <p:grpSpPr>
            <a:xfrm>
              <a:off x="185714" y="552207"/>
              <a:ext cx="3240000" cy="398482"/>
              <a:chOff x="7321393" y="1839307"/>
              <a:chExt cx="3240000" cy="398482"/>
            </a:xfrm>
          </p:grpSpPr>
          <p:sp>
            <p:nvSpPr>
              <p:cNvPr id="417" name="직사각형 416"/>
              <p:cNvSpPr/>
              <p:nvPr/>
            </p:nvSpPr>
            <p:spPr>
              <a:xfrm>
                <a:off x="7321393" y="1839307"/>
                <a:ext cx="3240000" cy="39848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418" name="Freeform 11"/>
              <p:cNvSpPr>
                <a:spLocks noChangeArrowheads="1"/>
              </p:cNvSpPr>
              <p:nvPr/>
            </p:nvSpPr>
            <p:spPr bwMode="auto">
              <a:xfrm>
                <a:off x="7403266" y="1971915"/>
                <a:ext cx="144000" cy="144000"/>
              </a:xfrm>
              <a:custGeom>
                <a:avLst/>
                <a:gdLst>
                  <a:gd name="T0" fmla="*/ 611 w 612"/>
                  <a:gd name="T1" fmla="*/ 272 h 619"/>
                  <a:gd name="T2" fmla="*/ 140 w 612"/>
                  <a:gd name="T3" fmla="*/ 272 h 619"/>
                  <a:gd name="T4" fmla="*/ 361 w 612"/>
                  <a:gd name="T5" fmla="*/ 52 h 619"/>
                  <a:gd name="T6" fmla="*/ 302 w 612"/>
                  <a:gd name="T7" fmla="*/ 0 h 619"/>
                  <a:gd name="T8" fmla="*/ 0 w 612"/>
                  <a:gd name="T9" fmla="*/ 309 h 619"/>
                  <a:gd name="T10" fmla="*/ 302 w 612"/>
                  <a:gd name="T11" fmla="*/ 618 h 619"/>
                  <a:gd name="T12" fmla="*/ 361 w 612"/>
                  <a:gd name="T13" fmla="*/ 559 h 619"/>
                  <a:gd name="T14" fmla="*/ 140 w 612"/>
                  <a:gd name="T15" fmla="*/ 346 h 619"/>
                  <a:gd name="T16" fmla="*/ 611 w 612"/>
                  <a:gd name="T17" fmla="*/ 346 h 619"/>
                  <a:gd name="T18" fmla="*/ 611 w 612"/>
                  <a:gd name="T19" fmla="*/ 27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2" h="619">
                    <a:moveTo>
                      <a:pt x="611" y="272"/>
                    </a:moveTo>
                    <a:lnTo>
                      <a:pt x="140" y="272"/>
                    </a:lnTo>
                    <a:lnTo>
                      <a:pt x="361" y="52"/>
                    </a:lnTo>
                    <a:lnTo>
                      <a:pt x="302" y="0"/>
                    </a:lnTo>
                    <a:lnTo>
                      <a:pt x="0" y="309"/>
                    </a:lnTo>
                    <a:lnTo>
                      <a:pt x="302" y="618"/>
                    </a:lnTo>
                    <a:lnTo>
                      <a:pt x="361" y="559"/>
                    </a:lnTo>
                    <a:lnTo>
                      <a:pt x="140" y="346"/>
                    </a:lnTo>
                    <a:lnTo>
                      <a:pt x="611" y="346"/>
                    </a:lnTo>
                    <a:lnTo>
                      <a:pt x="611" y="272"/>
                    </a:ln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" name="TextBox 418"/>
              <p:cNvSpPr txBox="1"/>
              <p:nvPr/>
            </p:nvSpPr>
            <p:spPr>
              <a:xfrm>
                <a:off x="7612445" y="1912726"/>
                <a:ext cx="701474" cy="26161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r>
                  <a:rPr lang="ko-KR" altLang="en-US" sz="1100" b="1" spc="-150" dirty="0" err="1" smtClean="0">
                    <a:solidFill>
                      <a:prstClr val="black"/>
                    </a:solidFill>
                    <a:ea typeface="맑은 고딕"/>
                  </a:rPr>
                  <a:t>결재선관리</a:t>
                </a:r>
                <a:endParaRPr lang="ko-KR" altLang="en-US" sz="1100" b="1" spc="-150" dirty="0">
                  <a:solidFill>
                    <a:prstClr val="black"/>
                  </a:solidFill>
                  <a:ea typeface="맑은 고딕"/>
                </a:endParaRPr>
              </a:p>
            </p:txBody>
          </p:sp>
        </p:grpSp>
        <p:sp>
          <p:nvSpPr>
            <p:cNvPr id="415" name="Freeform 24"/>
            <p:cNvSpPr>
              <a:spLocks noChangeArrowheads="1"/>
            </p:cNvSpPr>
            <p:nvPr/>
          </p:nvSpPr>
          <p:spPr bwMode="auto">
            <a:xfrm>
              <a:off x="3134929" y="644007"/>
              <a:ext cx="216000" cy="216000"/>
            </a:xfrm>
            <a:custGeom>
              <a:avLst/>
              <a:gdLst>
                <a:gd name="T0" fmla="*/ 0 w 461"/>
                <a:gd name="T1" fmla="*/ 303 h 304"/>
                <a:gd name="T2" fmla="*/ 460 w 461"/>
                <a:gd name="T3" fmla="*/ 303 h 304"/>
                <a:gd name="T4" fmla="*/ 460 w 461"/>
                <a:gd name="T5" fmla="*/ 254 h 304"/>
                <a:gd name="T6" fmla="*/ 0 w 461"/>
                <a:gd name="T7" fmla="*/ 254 h 304"/>
                <a:gd name="T8" fmla="*/ 0 w 461"/>
                <a:gd name="T9" fmla="*/ 303 h 304"/>
                <a:gd name="T10" fmla="*/ 0 w 461"/>
                <a:gd name="T11" fmla="*/ 176 h 304"/>
                <a:gd name="T12" fmla="*/ 460 w 461"/>
                <a:gd name="T13" fmla="*/ 176 h 304"/>
                <a:gd name="T14" fmla="*/ 460 w 461"/>
                <a:gd name="T15" fmla="*/ 127 h 304"/>
                <a:gd name="T16" fmla="*/ 0 w 461"/>
                <a:gd name="T17" fmla="*/ 127 h 304"/>
                <a:gd name="T18" fmla="*/ 0 w 461"/>
                <a:gd name="T19" fmla="*/ 176 h 304"/>
                <a:gd name="T20" fmla="*/ 0 w 461"/>
                <a:gd name="T21" fmla="*/ 0 h 304"/>
                <a:gd name="T22" fmla="*/ 0 w 461"/>
                <a:gd name="T23" fmla="*/ 49 h 304"/>
                <a:gd name="T24" fmla="*/ 460 w 461"/>
                <a:gd name="T25" fmla="*/ 49 h 304"/>
                <a:gd name="T26" fmla="*/ 460 w 461"/>
                <a:gd name="T27" fmla="*/ 0 h 304"/>
                <a:gd name="T28" fmla="*/ 0 w 461"/>
                <a:gd name="T2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1" h="304">
                  <a:moveTo>
                    <a:pt x="0" y="303"/>
                  </a:moveTo>
                  <a:lnTo>
                    <a:pt x="460" y="303"/>
                  </a:lnTo>
                  <a:lnTo>
                    <a:pt x="460" y="254"/>
                  </a:lnTo>
                  <a:lnTo>
                    <a:pt x="0" y="254"/>
                  </a:lnTo>
                  <a:lnTo>
                    <a:pt x="0" y="303"/>
                  </a:lnTo>
                  <a:close/>
                  <a:moveTo>
                    <a:pt x="0" y="176"/>
                  </a:moveTo>
                  <a:lnTo>
                    <a:pt x="460" y="176"/>
                  </a:lnTo>
                  <a:lnTo>
                    <a:pt x="460" y="127"/>
                  </a:lnTo>
                  <a:lnTo>
                    <a:pt x="0" y="127"/>
                  </a:lnTo>
                  <a:lnTo>
                    <a:pt x="0" y="176"/>
                  </a:lnTo>
                  <a:close/>
                  <a:moveTo>
                    <a:pt x="0" y="0"/>
                  </a:moveTo>
                  <a:lnTo>
                    <a:pt x="0" y="49"/>
                  </a:lnTo>
                  <a:lnTo>
                    <a:pt x="460" y="49"/>
                  </a:lnTo>
                  <a:lnTo>
                    <a:pt x="4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16" name="그림 4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822" y="644007"/>
              <a:ext cx="216000" cy="216000"/>
            </a:xfrm>
            <a:prstGeom prst="rect">
              <a:avLst/>
            </a:prstGeom>
          </p:spPr>
        </p:pic>
      </p:grpSp>
      <p:grpSp>
        <p:nvGrpSpPr>
          <p:cNvPr id="420" name="그룹 419"/>
          <p:cNvGrpSpPr/>
          <p:nvPr/>
        </p:nvGrpSpPr>
        <p:grpSpPr>
          <a:xfrm>
            <a:off x="50757" y="522517"/>
            <a:ext cx="319318" cy="230832"/>
            <a:chOff x="4834015" y="3090156"/>
            <a:chExt cx="319318" cy="230832"/>
          </a:xfrm>
        </p:grpSpPr>
        <p:sp>
          <p:nvSpPr>
            <p:cNvPr id="4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2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3" name="그룹 422"/>
          <p:cNvGrpSpPr/>
          <p:nvPr/>
        </p:nvGrpSpPr>
        <p:grpSpPr>
          <a:xfrm>
            <a:off x="60928" y="6033412"/>
            <a:ext cx="319318" cy="230832"/>
            <a:chOff x="4834015" y="3090156"/>
            <a:chExt cx="319318" cy="230832"/>
          </a:xfrm>
        </p:grpSpPr>
        <p:sp>
          <p:nvSpPr>
            <p:cNvPr id="42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7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30" name="그룹 429"/>
          <p:cNvGrpSpPr/>
          <p:nvPr/>
        </p:nvGrpSpPr>
        <p:grpSpPr>
          <a:xfrm>
            <a:off x="1220890" y="6050508"/>
            <a:ext cx="319318" cy="230832"/>
            <a:chOff x="4834015" y="3090156"/>
            <a:chExt cx="319318" cy="230832"/>
          </a:xfrm>
        </p:grpSpPr>
        <p:sp>
          <p:nvSpPr>
            <p:cNvPr id="4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32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28" name="표 2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03701"/>
              </p:ext>
            </p:extLst>
          </p:nvPr>
        </p:nvGraphicFramePr>
        <p:xfrm>
          <a:off x="7363841" y="6348537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251" name="그룹 250"/>
          <p:cNvGrpSpPr/>
          <p:nvPr/>
        </p:nvGrpSpPr>
        <p:grpSpPr>
          <a:xfrm>
            <a:off x="1445751" y="3261162"/>
            <a:ext cx="1104400" cy="958355"/>
            <a:chOff x="4630176" y="3963919"/>
            <a:chExt cx="1104400" cy="958355"/>
          </a:xfrm>
        </p:grpSpPr>
        <p:sp>
          <p:nvSpPr>
            <p:cNvPr id="252" name="모서리가 둥근 직사각형 25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55" name="직선 연결선 254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타원 255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58" name="직사각형 257"/>
          <p:cNvSpPr/>
          <p:nvPr/>
        </p:nvSpPr>
        <p:spPr>
          <a:xfrm>
            <a:off x="1436196" y="353679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1505125" y="330694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1717379" y="330694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61" name="그룹 260"/>
          <p:cNvGrpSpPr/>
          <p:nvPr/>
        </p:nvGrpSpPr>
        <p:grpSpPr>
          <a:xfrm>
            <a:off x="1310073" y="3119709"/>
            <a:ext cx="251992" cy="230832"/>
            <a:chOff x="4867678" y="3090156"/>
            <a:chExt cx="251992" cy="230832"/>
          </a:xfrm>
        </p:grpSpPr>
        <p:sp>
          <p:nvSpPr>
            <p:cNvPr id="26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232799" y="3907787"/>
            <a:ext cx="230832" cy="319318"/>
            <a:chOff x="4878258" y="3045913"/>
            <a:chExt cx="230832" cy="319318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521717" y="3176750"/>
            <a:ext cx="230832" cy="251992"/>
            <a:chOff x="4878258" y="3079576"/>
            <a:chExt cx="230832" cy="251992"/>
          </a:xfrm>
        </p:grpSpPr>
        <p:sp>
          <p:nvSpPr>
            <p:cNvPr id="2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0" name="모서리가 둥근 직사각형 269"/>
          <p:cNvSpPr/>
          <p:nvPr/>
        </p:nvSpPr>
        <p:spPr>
          <a:xfrm>
            <a:off x="1512504" y="3904291"/>
            <a:ext cx="380593" cy="10831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보안카드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1915484" y="3795858"/>
            <a:ext cx="230832" cy="251992"/>
            <a:chOff x="4878258" y="3079576"/>
            <a:chExt cx="230832" cy="251992"/>
          </a:xfrm>
        </p:grpSpPr>
        <p:sp>
          <p:nvSpPr>
            <p:cNvPr id="27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기존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버튼 순서에서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순서로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33" name="그룹 232"/>
          <p:cNvGrpSpPr/>
          <p:nvPr/>
        </p:nvGrpSpPr>
        <p:grpSpPr>
          <a:xfrm>
            <a:off x="2430708" y="1357673"/>
            <a:ext cx="2773274" cy="673694"/>
            <a:chOff x="4535050" y="819597"/>
            <a:chExt cx="1560950" cy="797609"/>
          </a:xfrm>
        </p:grpSpPr>
        <p:sp>
          <p:nvSpPr>
            <p:cNvPr id="238" name="직사각형 23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4544262" y="1021159"/>
              <a:ext cx="552562" cy="37261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48" name="그룹 247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49" name="직사각형 248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직사각형 249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77" name="그룹 276"/>
          <p:cNvGrpSpPr/>
          <p:nvPr/>
        </p:nvGrpSpPr>
        <p:grpSpPr>
          <a:xfrm>
            <a:off x="1345393" y="2083370"/>
            <a:ext cx="2773274" cy="673694"/>
            <a:chOff x="4535050" y="819597"/>
            <a:chExt cx="1560950" cy="797609"/>
          </a:xfrm>
        </p:grpSpPr>
        <p:sp>
          <p:nvSpPr>
            <p:cNvPr id="278" name="직사각형 27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79" name="직사각형 278"/>
            <p:cNvSpPr/>
            <p:nvPr/>
          </p:nvSpPr>
          <p:spPr>
            <a:xfrm>
              <a:off x="4544262" y="1021159"/>
              <a:ext cx="552562" cy="37261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80" name="그룹 279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81" name="직사각형 280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직사각형 281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83" name="그룹 282"/>
          <p:cNvGrpSpPr/>
          <p:nvPr/>
        </p:nvGrpSpPr>
        <p:grpSpPr>
          <a:xfrm>
            <a:off x="1889534" y="5860112"/>
            <a:ext cx="2773274" cy="673694"/>
            <a:chOff x="4535050" y="819597"/>
            <a:chExt cx="1560950" cy="797609"/>
          </a:xfrm>
        </p:grpSpPr>
        <p:sp>
          <p:nvSpPr>
            <p:cNvPr id="284" name="직사각형 28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85" name="직사각형 284"/>
            <p:cNvSpPr/>
            <p:nvPr/>
          </p:nvSpPr>
          <p:spPr>
            <a:xfrm>
              <a:off x="4544262" y="1021159"/>
              <a:ext cx="552562" cy="37261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86" name="그룹 28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87" name="직사각형 286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" name="직사각형 287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89" name="그룹 288"/>
          <p:cNvGrpSpPr/>
          <p:nvPr/>
        </p:nvGrpSpPr>
        <p:grpSpPr>
          <a:xfrm>
            <a:off x="4798143" y="4418816"/>
            <a:ext cx="2773274" cy="1057620"/>
            <a:chOff x="4535050" y="819597"/>
            <a:chExt cx="1560950" cy="1252152"/>
          </a:xfrm>
        </p:grpSpPr>
        <p:sp>
          <p:nvSpPr>
            <p:cNvPr id="290" name="직사각형 289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91" name="직사각형 290"/>
            <p:cNvSpPr/>
            <p:nvPr/>
          </p:nvSpPr>
          <p:spPr>
            <a:xfrm>
              <a:off x="4544262" y="1021159"/>
              <a:ext cx="1261929" cy="1050590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92" name="그룹 291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93" name="직사각형 292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" name="직사각형 293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486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직사각형 127"/>
          <p:cNvSpPr/>
          <p:nvPr/>
        </p:nvSpPr>
        <p:spPr>
          <a:xfrm>
            <a:off x="6074771" y="1264194"/>
            <a:ext cx="3225119" cy="2108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77993" y="18757"/>
            <a:ext cx="5348205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단계 구성원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CELL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070848" y="1278182"/>
            <a:ext cx="3225119" cy="365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6065478" y="186444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/>
          <p:cNvGrpSpPr/>
          <p:nvPr/>
        </p:nvGrpSpPr>
        <p:grpSpPr>
          <a:xfrm rot="10800000">
            <a:off x="7586270" y="1672665"/>
            <a:ext cx="154946" cy="123678"/>
            <a:chOff x="6691038" y="2985393"/>
            <a:chExt cx="122504" cy="97782"/>
          </a:xfrm>
        </p:grpSpPr>
        <p:cxnSp>
          <p:nvCxnSpPr>
            <p:cNvPr id="47" name="직선 연결선 46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6214106" y="1919305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기안단계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5888354" y="2237787"/>
            <a:ext cx="1104400" cy="958355"/>
            <a:chOff x="4630176" y="3963919"/>
            <a:chExt cx="1104400" cy="958355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56" name="직선 연결선 5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타원 5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60" name="모서리가 둥근 직사각형 59"/>
          <p:cNvSpPr/>
          <p:nvPr/>
        </p:nvSpPr>
        <p:spPr>
          <a:xfrm>
            <a:off x="7116240" y="223778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198305" y="242224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198305" y="261350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64" name="직선 연결선 63"/>
          <p:cNvCxnSpPr/>
          <p:nvPr/>
        </p:nvCxnSpPr>
        <p:spPr>
          <a:xfrm>
            <a:off x="7145903" y="299835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8034298" y="229470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7411899" y="299630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8358942" y="222983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441007" y="241429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441007" y="260555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8388605" y="299040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/>
          <p:cNvSpPr/>
          <p:nvPr/>
        </p:nvSpPr>
        <p:spPr>
          <a:xfrm>
            <a:off x="9277000" y="228675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654601" y="298835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9601644" y="223778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9683709" y="242224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683709" y="261350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9631307" y="299835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10519702" y="229470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9897303" y="299630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10844346" y="222983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10926411" y="241429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926411" y="260555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09" name="직선 연결선 108"/>
          <p:cNvCxnSpPr/>
          <p:nvPr/>
        </p:nvCxnSpPr>
        <p:spPr>
          <a:xfrm>
            <a:off x="10874009" y="299040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/>
          <p:cNvSpPr/>
          <p:nvPr/>
        </p:nvSpPr>
        <p:spPr>
          <a:xfrm>
            <a:off x="11762404" y="228675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1140005" y="298835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664425" y="2236766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4746490" y="2421227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746490" y="2612488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16" name="직선 연결선 115"/>
          <p:cNvCxnSpPr/>
          <p:nvPr/>
        </p:nvCxnSpPr>
        <p:spPr>
          <a:xfrm>
            <a:off x="4694088" y="2997329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5582483" y="2293688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960084" y="2995280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9086352" y="2183886"/>
            <a:ext cx="3043765" cy="113003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아래쪽 화살표 119"/>
          <p:cNvSpPr/>
          <p:nvPr/>
        </p:nvSpPr>
        <p:spPr>
          <a:xfrm rot="16200000">
            <a:off x="9394830" y="1877251"/>
            <a:ext cx="206172" cy="334147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2" name="그룹 121"/>
          <p:cNvGrpSpPr/>
          <p:nvPr/>
        </p:nvGrpSpPr>
        <p:grpSpPr>
          <a:xfrm>
            <a:off x="5990344" y="1149383"/>
            <a:ext cx="3455988" cy="255343"/>
            <a:chOff x="2638132" y="2022105"/>
            <a:chExt cx="3455988" cy="255343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25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3" name="개체 2"/>
          <p:cNvGraphicFramePr>
            <a:graphicFrameLocks noChangeAspect="1"/>
          </p:cNvGraphicFramePr>
          <p:nvPr>
            <p:extLst/>
          </p:nvPr>
        </p:nvGraphicFramePr>
        <p:xfrm>
          <a:off x="11201319" y="3384035"/>
          <a:ext cx="518546" cy="59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01319" y="3384035"/>
                        <a:ext cx="518546" cy="59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개체 128"/>
          <p:cNvGraphicFramePr>
            <a:graphicFrameLocks noChangeAspect="1"/>
          </p:cNvGraphicFramePr>
          <p:nvPr>
            <p:extLst/>
          </p:nvPr>
        </p:nvGraphicFramePr>
        <p:xfrm>
          <a:off x="4729455" y="3448476"/>
          <a:ext cx="518546" cy="59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" name="Image" r:id="rId5" imgW="2158560" imgH="2488680" progId="Photoshop.Image.13">
                  <p:embed/>
                </p:oleObj>
              </mc:Choice>
              <mc:Fallback>
                <p:oleObj name="Image" r:id="rId5" imgW="2158560" imgH="2488680" progId="Photoshop.Image.13">
                  <p:embed/>
                  <p:pic>
                    <p:nvPicPr>
                      <p:cNvPr id="129" name="개체 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9455" y="3448476"/>
                        <a:ext cx="518546" cy="59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아래쪽 화살표 120"/>
          <p:cNvSpPr/>
          <p:nvPr/>
        </p:nvSpPr>
        <p:spPr>
          <a:xfrm rot="5400000">
            <a:off x="6122593" y="2347734"/>
            <a:ext cx="238063" cy="243239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536342" y="626190"/>
            <a:ext cx="3004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구성원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이 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단계영역을</a:t>
            </a:r>
            <a:r>
              <a:rPr lang="ko-KR" altLang="en-US" sz="1200" b="1" dirty="0">
                <a:latin typeface="맑은 고딕" panose="020B0503020000020004" pitchFamily="50" charset="-127"/>
              </a:rPr>
              <a:t> 넘치는 경우 </a:t>
            </a:r>
            <a:endParaRPr lang="ko-KR" altLang="en-US" sz="1200" dirty="0"/>
          </a:p>
        </p:txBody>
      </p:sp>
      <p:sp>
        <p:nvSpPr>
          <p:cNvPr id="130" name="직사각형 129"/>
          <p:cNvSpPr/>
          <p:nvPr/>
        </p:nvSpPr>
        <p:spPr>
          <a:xfrm>
            <a:off x="7341892" y="3719354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드래그</a:t>
            </a:r>
            <a:endParaRPr lang="ko-KR" altLang="en-US" sz="1200" dirty="0"/>
          </a:p>
        </p:txBody>
      </p:sp>
      <p:grpSp>
        <p:nvGrpSpPr>
          <p:cNvPr id="147" name="그룹 146"/>
          <p:cNvGrpSpPr/>
          <p:nvPr/>
        </p:nvGrpSpPr>
        <p:grpSpPr>
          <a:xfrm>
            <a:off x="1328502" y="1017232"/>
            <a:ext cx="1832844" cy="1593730"/>
            <a:chOff x="4630176" y="3963919"/>
            <a:chExt cx="1104400" cy="999713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4630176" y="3963919"/>
              <a:ext cx="1104400" cy="999713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719808" y="4149604"/>
              <a:ext cx="786828" cy="14479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4717307" y="4375913"/>
              <a:ext cx="761715" cy="231674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152" name="직선 연결선 151"/>
            <p:cNvCxnSpPr/>
            <p:nvPr/>
          </p:nvCxnSpPr>
          <p:spPr>
            <a:xfrm>
              <a:off x="4659839" y="4808427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타원 152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X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4974412" y="4818836"/>
              <a:ext cx="389454" cy="144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55" name="직사각형 154"/>
          <p:cNvSpPr/>
          <p:nvPr/>
        </p:nvSpPr>
        <p:spPr>
          <a:xfrm>
            <a:off x="1385350" y="1486176"/>
            <a:ext cx="9768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cxnSp>
        <p:nvCxnSpPr>
          <p:cNvPr id="156" name="직선 연결선 155"/>
          <p:cNvCxnSpPr/>
          <p:nvPr/>
        </p:nvCxnSpPr>
        <p:spPr>
          <a:xfrm>
            <a:off x="4480677" y="552372"/>
            <a:ext cx="0" cy="61688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/>
          <p:nvPr/>
        </p:nvSpPr>
        <p:spPr>
          <a:xfrm>
            <a:off x="137119" y="552372"/>
            <a:ext cx="14013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구성원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정의</a:t>
            </a:r>
            <a:endParaRPr lang="ko-KR" altLang="en-US" sz="1200" dirty="0"/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04744"/>
              </p:ext>
            </p:extLst>
          </p:nvPr>
        </p:nvGraphicFramePr>
        <p:xfrm>
          <a:off x="306485" y="2869919"/>
          <a:ext cx="4010479" cy="2754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0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결재권한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</a:p>
                    <a:p>
                      <a:pPr latinLnBrk="1"/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결재와 확인을 버튼형으로 하여 변경할 수 있도록 처리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버튼형 또는 스위치형으로 디자인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en-US" altLang="ko-KR" sz="7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아이콘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latinLnBrk="1"/>
                      <a:endParaRPr lang="ko-KR" altLang="en-US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별도의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없이 구성원 삭제 처리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토스트메시지로 처리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있는 경우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(ex: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(P12345567) )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ex : P123456789 )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부서명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직책 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노출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부서명 혹은 직책이 없는 경우  </a:t>
                      </a:r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노출안함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한도 및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한도 표시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원화만 보여줌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smtClean="0"/>
                        <a:t>OTP , </a:t>
                      </a:r>
                      <a:r>
                        <a:rPr lang="ko-KR" altLang="en-US" sz="700" dirty="0" smtClean="0"/>
                        <a:t>보안카드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dirty="0" smtClean="0"/>
                        <a:t>디지털</a:t>
                      </a:r>
                      <a:r>
                        <a:rPr lang="en-US" altLang="ko-KR" sz="700" dirty="0" smtClean="0"/>
                        <a:t>OTP, </a:t>
                      </a:r>
                      <a:r>
                        <a:rPr lang="ko-KR" altLang="en-US" sz="700" dirty="0" smtClean="0"/>
                        <a:t>미사용</a:t>
                      </a:r>
                      <a:r>
                        <a:rPr lang="en-US" altLang="ko-KR" sz="700" dirty="0" smtClean="0"/>
                        <a:t>)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138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ko-KR" altLang="en-US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9" name="모서리가 둥근 직사각형 158"/>
          <p:cNvSpPr/>
          <p:nvPr/>
        </p:nvSpPr>
        <p:spPr>
          <a:xfrm>
            <a:off x="1473103" y="2085552"/>
            <a:ext cx="282745" cy="19193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2657065" y="877159"/>
            <a:ext cx="251992" cy="230832"/>
            <a:chOff x="4867678" y="3090156"/>
            <a:chExt cx="251992" cy="230832"/>
          </a:xfrm>
        </p:grpSpPr>
        <p:sp>
          <p:nvSpPr>
            <p:cNvPr id="1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166" name="직선 화살표 연결선 165"/>
          <p:cNvCxnSpPr/>
          <p:nvPr/>
        </p:nvCxnSpPr>
        <p:spPr>
          <a:xfrm>
            <a:off x="1172145" y="1428667"/>
            <a:ext cx="26649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/>
          <p:nvPr/>
        </p:nvCxnSpPr>
        <p:spPr>
          <a:xfrm>
            <a:off x="1218526" y="1628718"/>
            <a:ext cx="22011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>
            <a:endCxn id="150" idx="3"/>
          </p:cNvCxnSpPr>
          <p:nvPr/>
        </p:nvCxnSpPr>
        <p:spPr>
          <a:xfrm flipH="1">
            <a:off x="2737233" y="1858696"/>
            <a:ext cx="64561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/>
          <p:cNvCxnSpPr/>
          <p:nvPr/>
        </p:nvCxnSpPr>
        <p:spPr>
          <a:xfrm flipV="1">
            <a:off x="1051702" y="2175343"/>
            <a:ext cx="333648" cy="6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그룹 169"/>
          <p:cNvGrpSpPr/>
          <p:nvPr/>
        </p:nvGrpSpPr>
        <p:grpSpPr>
          <a:xfrm>
            <a:off x="857726" y="1199137"/>
            <a:ext cx="251992" cy="230832"/>
            <a:chOff x="4867678" y="3090156"/>
            <a:chExt cx="251992" cy="230832"/>
          </a:xfrm>
        </p:grpSpPr>
        <p:sp>
          <p:nvSpPr>
            <p:cNvPr id="17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3" name="그룹 172"/>
          <p:cNvGrpSpPr/>
          <p:nvPr/>
        </p:nvGrpSpPr>
        <p:grpSpPr>
          <a:xfrm>
            <a:off x="862206" y="1459625"/>
            <a:ext cx="251992" cy="230832"/>
            <a:chOff x="4867678" y="3090156"/>
            <a:chExt cx="251992" cy="230832"/>
          </a:xfrm>
        </p:grpSpPr>
        <p:sp>
          <p:nvSpPr>
            <p:cNvPr id="17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764117" y="1992799"/>
            <a:ext cx="251992" cy="230832"/>
            <a:chOff x="4867678" y="3090156"/>
            <a:chExt cx="251992" cy="230832"/>
          </a:xfrm>
        </p:grpSpPr>
        <p:sp>
          <p:nvSpPr>
            <p:cNvPr id="17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9" name="그룹 178"/>
          <p:cNvGrpSpPr/>
          <p:nvPr/>
        </p:nvGrpSpPr>
        <p:grpSpPr>
          <a:xfrm>
            <a:off x="3450167" y="1701620"/>
            <a:ext cx="251992" cy="230832"/>
            <a:chOff x="4867678" y="3090156"/>
            <a:chExt cx="251992" cy="230832"/>
          </a:xfrm>
        </p:grpSpPr>
        <p:sp>
          <p:nvSpPr>
            <p:cNvPr id="18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2" name="그룹 181"/>
          <p:cNvGrpSpPr/>
          <p:nvPr/>
        </p:nvGrpSpPr>
        <p:grpSpPr>
          <a:xfrm>
            <a:off x="1658542" y="2272875"/>
            <a:ext cx="251992" cy="230832"/>
            <a:chOff x="4867678" y="3090156"/>
            <a:chExt cx="251992" cy="230832"/>
          </a:xfrm>
        </p:grpSpPr>
        <p:sp>
          <p:nvSpPr>
            <p:cNvPr id="1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185" name="직선 연결선 184"/>
          <p:cNvCxnSpPr/>
          <p:nvPr/>
        </p:nvCxnSpPr>
        <p:spPr>
          <a:xfrm flipH="1">
            <a:off x="4480677" y="4310743"/>
            <a:ext cx="73139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직사각형 185"/>
          <p:cNvSpPr/>
          <p:nvPr/>
        </p:nvSpPr>
        <p:spPr>
          <a:xfrm>
            <a:off x="4631727" y="4444786"/>
            <a:ext cx="33522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</a:rPr>
              <a:t>결재단계의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latin typeface="맑은 고딕" panose="020B0503020000020004" pitchFamily="50" charset="-127"/>
              </a:rPr>
              <a:t>결재자 </a:t>
            </a:r>
            <a:r>
              <a:rPr lang="en-US" altLang="ko-KR" sz="1200" b="1" dirty="0" smtClean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과 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확인자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차별화</a:t>
            </a:r>
            <a:endParaRPr lang="ko-KR" altLang="en-US" sz="1200" dirty="0"/>
          </a:p>
        </p:txBody>
      </p:sp>
      <p:grpSp>
        <p:nvGrpSpPr>
          <p:cNvPr id="195" name="그룹 194"/>
          <p:cNvGrpSpPr/>
          <p:nvPr/>
        </p:nvGrpSpPr>
        <p:grpSpPr>
          <a:xfrm>
            <a:off x="4746490" y="4947188"/>
            <a:ext cx="1104400" cy="958355"/>
            <a:chOff x="4630176" y="3963919"/>
            <a:chExt cx="1104400" cy="95835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0" name="직선 연결선 199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타원 200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02" name="직사각형 201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03" name="그룹 202"/>
          <p:cNvGrpSpPr/>
          <p:nvPr/>
        </p:nvGrpSpPr>
        <p:grpSpPr>
          <a:xfrm>
            <a:off x="6313921" y="4953320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04" name="모서리가 둥근 직사각형 20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타원 20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0" name="직사각형 209"/>
          <p:cNvSpPr/>
          <p:nvPr/>
        </p:nvSpPr>
        <p:spPr>
          <a:xfrm>
            <a:off x="6609580" y="5711834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11" name="타원 210"/>
          <p:cNvSpPr/>
          <p:nvPr/>
        </p:nvSpPr>
        <p:spPr>
          <a:xfrm>
            <a:off x="7220451" y="4998300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4736935" y="522281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301110" y="523905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288370" y="3999334"/>
            <a:ext cx="54719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>
                <a:latin typeface="+mn-ea"/>
              </a:rPr>
              <a:t>구성원을 </a:t>
            </a:r>
            <a:r>
              <a:rPr lang="ko-KR" altLang="en-US" sz="800" dirty="0" err="1">
                <a:latin typeface="+mn-ea"/>
              </a:rPr>
              <a:t>추가할때</a:t>
            </a:r>
            <a:r>
              <a:rPr lang="ko-KR" altLang="en-US" sz="800" dirty="0">
                <a:latin typeface="+mn-ea"/>
              </a:rPr>
              <a:t> 오른쪽에서 생성이 되나 화면에 넘치는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경우 </a:t>
            </a:r>
            <a:r>
              <a:rPr lang="en-US" altLang="ko-KR" sz="800" dirty="0">
                <a:latin typeface="+mn-ea"/>
              </a:rPr>
              <a:t>Cell </a:t>
            </a:r>
            <a:r>
              <a:rPr lang="ko-KR" altLang="en-US" sz="800" dirty="0">
                <a:latin typeface="+mn-ea"/>
              </a:rPr>
              <a:t>전체를 드래그로 이동시킬 수 있도록 처리</a:t>
            </a:r>
            <a:endParaRPr lang="en-US" altLang="ko-KR" sz="800" dirty="0">
              <a:latin typeface="+mn-ea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4644391" y="6275209"/>
            <a:ext cx="391766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>
                <a:latin typeface="+mn-ea"/>
              </a:rPr>
              <a:t>결재자 </a:t>
            </a:r>
            <a:r>
              <a:rPr lang="en-US" altLang="ko-KR" sz="800" dirty="0">
                <a:latin typeface="+mn-ea"/>
              </a:rPr>
              <a:t>Cell</a:t>
            </a:r>
            <a:r>
              <a:rPr lang="ko-KR" altLang="en-US" sz="800" dirty="0">
                <a:latin typeface="+mn-ea"/>
              </a:rPr>
              <a:t>과 </a:t>
            </a:r>
            <a:r>
              <a:rPr lang="ko-KR" altLang="en-US" sz="800" dirty="0" err="1">
                <a:latin typeface="+mn-ea"/>
              </a:rPr>
              <a:t>확인자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Cell</a:t>
            </a:r>
            <a:r>
              <a:rPr lang="ko-KR" altLang="en-US" sz="800" dirty="0">
                <a:latin typeface="+mn-ea"/>
              </a:rPr>
              <a:t>의 구성은 동일하나 </a:t>
            </a:r>
            <a:r>
              <a:rPr lang="ko-KR" altLang="en-US" sz="800" dirty="0" smtClean="0">
                <a:latin typeface="+mn-ea"/>
              </a:rPr>
              <a:t>색상 배색을 </a:t>
            </a:r>
            <a:r>
              <a:rPr lang="ko-KR" altLang="en-US" sz="800" dirty="0">
                <a:latin typeface="+mn-ea"/>
              </a:rPr>
              <a:t>달리하여 차별화 함</a:t>
            </a:r>
            <a:r>
              <a:rPr lang="en-US" altLang="ko-KR" sz="800" dirty="0">
                <a:latin typeface="+mn-ea"/>
              </a:rPr>
              <a:t>.</a:t>
            </a: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4828556" y="5574897"/>
            <a:ext cx="290440" cy="1116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보안카드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6390949" y="5599193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422111" y="110023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634365" y="110023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139" name="그룹 138"/>
          <p:cNvGrpSpPr/>
          <p:nvPr/>
        </p:nvGrpSpPr>
        <p:grpSpPr>
          <a:xfrm>
            <a:off x="1259354" y="895595"/>
            <a:ext cx="251992" cy="230832"/>
            <a:chOff x="4867678" y="3090156"/>
            <a:chExt cx="251992" cy="230832"/>
          </a:xfrm>
        </p:grpSpPr>
        <p:sp>
          <p:nvSpPr>
            <p:cNvPr id="14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4510544" y="2157648"/>
            <a:ext cx="1391220" cy="106497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9067925" y="195367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8367879" y="193245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1592740" y="384630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1924129" y="384630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258906" y="384630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2590295" y="3841303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4751724" y="228043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5976680" y="227403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7207597" y="2286759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3" name="직사각형 192"/>
          <p:cNvSpPr/>
          <p:nvPr/>
        </p:nvSpPr>
        <p:spPr>
          <a:xfrm>
            <a:off x="8443239" y="2270166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9683709" y="2273677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10930447" y="2267160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818180" y="499052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6395844" y="4990527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60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177993" y="18757"/>
            <a:ext cx="707598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단계 구성원 </a:t>
            </a:r>
            <a:r>
              <a:rPr lang="ko-KR" altLang="en-US" sz="20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인터렉션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정의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드래그앤드롭이동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455785" y="260138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/>
          <p:cNvSpPr txBox="1"/>
          <p:nvPr/>
        </p:nvSpPr>
        <p:spPr>
          <a:xfrm>
            <a:off x="604413" y="267590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622573" y="2969279"/>
            <a:ext cx="1104400" cy="958355"/>
            <a:chOff x="4630176" y="3963919"/>
            <a:chExt cx="1104400" cy="958355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18" name="직선 연결선 21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타원 21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21" name="직사각형 220"/>
          <p:cNvSpPr/>
          <p:nvPr/>
        </p:nvSpPr>
        <p:spPr>
          <a:xfrm>
            <a:off x="613018" y="3244908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2" name="타원 221"/>
          <p:cNvSpPr/>
          <p:nvPr/>
        </p:nvSpPr>
        <p:spPr>
          <a:xfrm>
            <a:off x="1957048" y="316055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1943031" y="348999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455785" y="93003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TextBox 231"/>
          <p:cNvSpPr txBox="1"/>
          <p:nvPr/>
        </p:nvSpPr>
        <p:spPr>
          <a:xfrm>
            <a:off x="604413" y="100455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2728066" y="104631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622573" y="1297926"/>
            <a:ext cx="1104400" cy="958355"/>
            <a:chOff x="4630176" y="3963919"/>
            <a:chExt cx="1104400" cy="958355"/>
          </a:xfrm>
        </p:grpSpPr>
        <p:sp>
          <p:nvSpPr>
            <p:cNvPr id="235" name="모서리가 둥근 직사각형 23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38" name="직선 연결선 23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타원 23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40" name="직사각형 23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41" name="직사각형 240"/>
          <p:cNvSpPr/>
          <p:nvPr/>
        </p:nvSpPr>
        <p:spPr>
          <a:xfrm>
            <a:off x="613018" y="1573555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2" name="타원 241"/>
          <p:cNvSpPr/>
          <p:nvPr/>
        </p:nvSpPr>
        <p:spPr>
          <a:xfrm>
            <a:off x="1957048" y="1489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943031" y="1818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47" name="Freeform 11"/>
          <p:cNvSpPr>
            <a:spLocks noChangeArrowheads="1"/>
          </p:cNvSpPr>
          <p:nvPr/>
        </p:nvSpPr>
        <p:spPr bwMode="auto">
          <a:xfrm>
            <a:off x="3423938" y="27179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8" name="Freeform 11"/>
          <p:cNvSpPr>
            <a:spLocks noChangeArrowheads="1"/>
          </p:cNvSpPr>
          <p:nvPr/>
        </p:nvSpPr>
        <p:spPr bwMode="auto">
          <a:xfrm>
            <a:off x="3423938" y="104797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9" name="직사각형 248"/>
          <p:cNvSpPr/>
          <p:nvPr/>
        </p:nvSpPr>
        <p:spPr>
          <a:xfrm>
            <a:off x="704638" y="1333813"/>
            <a:ext cx="209748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승인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688937" y="192916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688937" y="360350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728066" y="274540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455785" y="418406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TextBox 253"/>
          <p:cNvSpPr txBox="1"/>
          <p:nvPr/>
        </p:nvSpPr>
        <p:spPr>
          <a:xfrm>
            <a:off x="604413" y="425858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264" name="타원 263"/>
          <p:cNvSpPr/>
          <p:nvPr/>
        </p:nvSpPr>
        <p:spPr>
          <a:xfrm>
            <a:off x="3105048" y="478924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3091031" y="511868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66" name="Freeform 11"/>
          <p:cNvSpPr>
            <a:spLocks noChangeArrowheads="1"/>
          </p:cNvSpPr>
          <p:nvPr/>
        </p:nvSpPr>
        <p:spPr bwMode="auto">
          <a:xfrm>
            <a:off x="3423938" y="43006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2728066" y="432808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69" name="그룹 268"/>
          <p:cNvGrpSpPr/>
          <p:nvPr/>
        </p:nvGrpSpPr>
        <p:grpSpPr>
          <a:xfrm>
            <a:off x="555471" y="4586938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70" name="모서리가 둥근 직사각형 269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73" name="직선 연결선 27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타원 27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5" name="직사각형 274"/>
          <p:cNvSpPr/>
          <p:nvPr/>
        </p:nvSpPr>
        <p:spPr>
          <a:xfrm>
            <a:off x="851130" y="5345452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76" name="타원 275"/>
          <p:cNvSpPr/>
          <p:nvPr/>
        </p:nvSpPr>
        <p:spPr>
          <a:xfrm>
            <a:off x="1462001" y="4631918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542660" y="487267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632499" y="5232811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688468" y="3019552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900722" y="3019552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847170" y="4619783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637393" y="461978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aphicFrame>
        <p:nvGraphicFramePr>
          <p:cNvPr id="287" name="개체 2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210163"/>
              </p:ext>
            </p:extLst>
          </p:nvPr>
        </p:nvGraphicFramePr>
        <p:xfrm>
          <a:off x="858105" y="1959605"/>
          <a:ext cx="288471" cy="33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129" name="개체 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8105" y="1959605"/>
                        <a:ext cx="288471" cy="33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" name="굽은 화살표 288"/>
          <p:cNvSpPr/>
          <p:nvPr/>
        </p:nvSpPr>
        <p:spPr>
          <a:xfrm rot="9141819" flipH="1">
            <a:off x="1403746" y="2131793"/>
            <a:ext cx="324870" cy="1421151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1123943" y="2549557"/>
            <a:ext cx="478899" cy="288139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 smtClean="0">
                <a:solidFill>
                  <a:schemeClr val="bg1"/>
                </a:solidFill>
                <a:latin typeface="맑은 고딕" pitchFamily="50" charset="-127"/>
              </a:rPr>
              <a:t>롱탭</a:t>
            </a:r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</a:rPr>
              <a:t> 후</a:t>
            </a:r>
            <a:endParaRPr lang="en-US" altLang="ko-KR" sz="600" b="1" dirty="0" smtClean="0">
              <a:solidFill>
                <a:schemeClr val="bg1"/>
              </a:solidFill>
              <a:latin typeface="맑은 고딕" pitchFamily="50" charset="-127"/>
            </a:endParaRPr>
          </a:p>
          <a:p>
            <a:pPr algn="ctr"/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드래그앤드롭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4355382" y="260766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TextBox 291"/>
          <p:cNvSpPr txBox="1"/>
          <p:nvPr/>
        </p:nvSpPr>
        <p:spPr>
          <a:xfrm>
            <a:off x="4504010" y="268218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4522170" y="2975559"/>
            <a:ext cx="1104400" cy="958355"/>
            <a:chOff x="4630176" y="3963919"/>
            <a:chExt cx="1104400" cy="958355"/>
          </a:xfrm>
        </p:grpSpPr>
        <p:sp>
          <p:nvSpPr>
            <p:cNvPr id="294" name="모서리가 둥근 직사각형 29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97" name="직선 연결선 296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타원 297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9" name="직사각형 298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00" name="직사각형 299"/>
          <p:cNvSpPr/>
          <p:nvPr/>
        </p:nvSpPr>
        <p:spPr>
          <a:xfrm>
            <a:off x="4512615" y="3251188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7046663" y="3102209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7032646" y="3431645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4355382" y="93631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TextBox 303"/>
          <p:cNvSpPr txBox="1"/>
          <p:nvPr/>
        </p:nvSpPr>
        <p:spPr>
          <a:xfrm>
            <a:off x="4504010" y="101083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05" name="모서리가 둥근 직사각형 304"/>
          <p:cNvSpPr/>
          <p:nvPr/>
        </p:nvSpPr>
        <p:spPr>
          <a:xfrm>
            <a:off x="6627663" y="105259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6" name="그룹 305"/>
          <p:cNvGrpSpPr/>
          <p:nvPr/>
        </p:nvGrpSpPr>
        <p:grpSpPr>
          <a:xfrm>
            <a:off x="5692465" y="2987547"/>
            <a:ext cx="1104400" cy="958355"/>
            <a:chOff x="4630176" y="3963919"/>
            <a:chExt cx="1104400" cy="958355"/>
          </a:xfrm>
        </p:grpSpPr>
        <p:sp>
          <p:nvSpPr>
            <p:cNvPr id="307" name="모서리가 둥근 직사각형 306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10" name="직선 연결선 309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타원 310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3" name="직사각형 312"/>
          <p:cNvSpPr/>
          <p:nvPr/>
        </p:nvSpPr>
        <p:spPr>
          <a:xfrm>
            <a:off x="5682910" y="3263176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5856645" y="149548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842628" y="182491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16" name="Freeform 11"/>
          <p:cNvSpPr>
            <a:spLocks noChangeArrowheads="1"/>
          </p:cNvSpPr>
          <p:nvPr/>
        </p:nvSpPr>
        <p:spPr bwMode="auto">
          <a:xfrm>
            <a:off x="7323535" y="272422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" name="Freeform 11"/>
          <p:cNvSpPr>
            <a:spLocks noChangeArrowheads="1"/>
          </p:cNvSpPr>
          <p:nvPr/>
        </p:nvSpPr>
        <p:spPr bwMode="auto">
          <a:xfrm>
            <a:off x="7323535" y="10542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5758829" y="3618784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4588534" y="360978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1" name="모서리가 둥근 직사각형 320"/>
          <p:cNvSpPr/>
          <p:nvPr/>
        </p:nvSpPr>
        <p:spPr>
          <a:xfrm>
            <a:off x="6627663" y="275168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4355382" y="419034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TextBox 322"/>
          <p:cNvSpPr txBox="1"/>
          <p:nvPr/>
        </p:nvSpPr>
        <p:spPr>
          <a:xfrm>
            <a:off x="4504010" y="426486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32" name="타원 331"/>
          <p:cNvSpPr/>
          <p:nvPr/>
        </p:nvSpPr>
        <p:spPr>
          <a:xfrm>
            <a:off x="7004645" y="479552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6990628" y="512496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4" name="Freeform 11"/>
          <p:cNvSpPr>
            <a:spLocks noChangeArrowheads="1"/>
          </p:cNvSpPr>
          <p:nvPr/>
        </p:nvSpPr>
        <p:spPr bwMode="auto">
          <a:xfrm>
            <a:off x="7323535" y="430690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" name="모서리가 둥근 직사각형 335"/>
          <p:cNvSpPr/>
          <p:nvPr/>
        </p:nvSpPr>
        <p:spPr>
          <a:xfrm>
            <a:off x="6627663" y="433436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7" name="그룹 336"/>
          <p:cNvGrpSpPr/>
          <p:nvPr/>
        </p:nvGrpSpPr>
        <p:grpSpPr>
          <a:xfrm>
            <a:off x="4444594" y="4562769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338" name="모서리가 둥근 직사각형 337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41" name="직선 연결선 340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타원 341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3" name="직사각형 342"/>
          <p:cNvSpPr/>
          <p:nvPr/>
        </p:nvSpPr>
        <p:spPr>
          <a:xfrm>
            <a:off x="4740253" y="5321283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44" name="타원 343"/>
          <p:cNvSpPr/>
          <p:nvPr/>
        </p:nvSpPr>
        <p:spPr>
          <a:xfrm>
            <a:off x="5351124" y="460774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4431783" y="484850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46" name="모서리가 둥근 직사각형 345"/>
          <p:cNvSpPr/>
          <p:nvPr/>
        </p:nvSpPr>
        <p:spPr>
          <a:xfrm>
            <a:off x="4521622" y="520864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4588065" y="3025832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48" name="직사각형 347"/>
          <p:cNvSpPr/>
          <p:nvPr/>
        </p:nvSpPr>
        <p:spPr>
          <a:xfrm>
            <a:off x="4800319" y="3025832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49" name="직사각형 348"/>
          <p:cNvSpPr/>
          <p:nvPr/>
        </p:nvSpPr>
        <p:spPr>
          <a:xfrm>
            <a:off x="4736293" y="4595614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4526516" y="459561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5789203" y="3019705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6001457" y="3019705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3748095" y="3249418"/>
            <a:ext cx="481299" cy="280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직사각형 357"/>
          <p:cNvSpPr/>
          <p:nvPr/>
        </p:nvSpPr>
        <p:spPr>
          <a:xfrm>
            <a:off x="8486354" y="260138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TextBox 358"/>
          <p:cNvSpPr txBox="1"/>
          <p:nvPr/>
        </p:nvSpPr>
        <p:spPr>
          <a:xfrm>
            <a:off x="8634982" y="267590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60" name="그룹 359"/>
          <p:cNvGrpSpPr/>
          <p:nvPr/>
        </p:nvGrpSpPr>
        <p:grpSpPr>
          <a:xfrm>
            <a:off x="9790625" y="3032481"/>
            <a:ext cx="1104400" cy="958355"/>
            <a:chOff x="4630176" y="3963919"/>
            <a:chExt cx="1104400" cy="958355"/>
          </a:xfrm>
        </p:grpSpPr>
        <p:sp>
          <p:nvSpPr>
            <p:cNvPr id="361" name="모서리가 둥근 직사각형 36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64" name="직선 연결선 36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타원 36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66" name="직사각형 36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67" name="직사각형 366"/>
          <p:cNvSpPr/>
          <p:nvPr/>
        </p:nvSpPr>
        <p:spPr>
          <a:xfrm>
            <a:off x="9781070" y="330811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8486354" y="93003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TextBox 370"/>
          <p:cNvSpPr txBox="1"/>
          <p:nvPr/>
        </p:nvSpPr>
        <p:spPr>
          <a:xfrm>
            <a:off x="8570500" y="100455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10758635" y="104631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3" name="그룹 372"/>
          <p:cNvGrpSpPr/>
          <p:nvPr/>
        </p:nvGrpSpPr>
        <p:grpSpPr>
          <a:xfrm>
            <a:off x="10943011" y="3026201"/>
            <a:ext cx="1104400" cy="958355"/>
            <a:chOff x="4630176" y="3963919"/>
            <a:chExt cx="1104400" cy="958355"/>
          </a:xfrm>
        </p:grpSpPr>
        <p:sp>
          <p:nvSpPr>
            <p:cNvPr id="374" name="모서리가 둥근 직사각형 37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77" name="직선 연결선 376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타원 377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직사각형 378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80" name="직사각형 379"/>
          <p:cNvSpPr/>
          <p:nvPr/>
        </p:nvSpPr>
        <p:spPr>
          <a:xfrm>
            <a:off x="10933456" y="330183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81" name="타원 380"/>
          <p:cNvSpPr/>
          <p:nvPr/>
        </p:nvSpPr>
        <p:spPr>
          <a:xfrm>
            <a:off x="9987617" y="1489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9973600" y="1818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83" name="Freeform 11"/>
          <p:cNvSpPr>
            <a:spLocks noChangeArrowheads="1"/>
          </p:cNvSpPr>
          <p:nvPr/>
        </p:nvSpPr>
        <p:spPr bwMode="auto">
          <a:xfrm>
            <a:off x="11454507" y="27179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4" name="Freeform 11"/>
          <p:cNvSpPr>
            <a:spLocks noChangeArrowheads="1"/>
          </p:cNvSpPr>
          <p:nvPr/>
        </p:nvSpPr>
        <p:spPr bwMode="auto">
          <a:xfrm>
            <a:off x="11454507" y="104797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5" name="모서리가 둥근 직사각형 384"/>
          <p:cNvSpPr/>
          <p:nvPr/>
        </p:nvSpPr>
        <p:spPr>
          <a:xfrm>
            <a:off x="11009375" y="365743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6" name="모서리가 둥근 직사각형 385"/>
          <p:cNvSpPr/>
          <p:nvPr/>
        </p:nvSpPr>
        <p:spPr>
          <a:xfrm>
            <a:off x="9856989" y="366670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7" name="모서리가 둥근 직사각형 386"/>
          <p:cNvSpPr/>
          <p:nvPr/>
        </p:nvSpPr>
        <p:spPr>
          <a:xfrm>
            <a:off x="10758635" y="274540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8" name="직사각형 387"/>
          <p:cNvSpPr/>
          <p:nvPr/>
        </p:nvSpPr>
        <p:spPr>
          <a:xfrm>
            <a:off x="8486354" y="418406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9" name="TextBox 388"/>
          <p:cNvSpPr txBox="1"/>
          <p:nvPr/>
        </p:nvSpPr>
        <p:spPr>
          <a:xfrm>
            <a:off x="8634982" y="425858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90" name="그룹 389"/>
          <p:cNvGrpSpPr/>
          <p:nvPr/>
        </p:nvGrpSpPr>
        <p:grpSpPr>
          <a:xfrm>
            <a:off x="8653142" y="4551958"/>
            <a:ext cx="1104400" cy="958355"/>
            <a:chOff x="4630176" y="3963919"/>
            <a:chExt cx="1104400" cy="958355"/>
          </a:xfrm>
        </p:grpSpPr>
        <p:sp>
          <p:nvSpPr>
            <p:cNvPr id="391" name="모서리가 둥근 직사각형 39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94" name="직선 연결선 39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타원 39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6" name="직사각형 39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97" name="직사각형 396"/>
          <p:cNvSpPr/>
          <p:nvPr/>
        </p:nvSpPr>
        <p:spPr>
          <a:xfrm>
            <a:off x="8643587" y="482758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98" name="타원 397"/>
          <p:cNvSpPr/>
          <p:nvPr/>
        </p:nvSpPr>
        <p:spPr>
          <a:xfrm>
            <a:off x="10064124" y="475171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10050107" y="508114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400" name="Freeform 11"/>
          <p:cNvSpPr>
            <a:spLocks noChangeArrowheads="1"/>
          </p:cNvSpPr>
          <p:nvPr/>
        </p:nvSpPr>
        <p:spPr bwMode="auto">
          <a:xfrm>
            <a:off x="11454507" y="43006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1" name="모서리가 둥근 직사각형 400"/>
          <p:cNvSpPr/>
          <p:nvPr/>
        </p:nvSpPr>
        <p:spPr>
          <a:xfrm>
            <a:off x="8655024" y="5186182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2" name="모서리가 둥근 직사각형 401"/>
          <p:cNvSpPr/>
          <p:nvPr/>
        </p:nvSpPr>
        <p:spPr>
          <a:xfrm>
            <a:off x="10758635" y="432808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3" name="직사각형 412"/>
          <p:cNvSpPr/>
          <p:nvPr/>
        </p:nvSpPr>
        <p:spPr>
          <a:xfrm>
            <a:off x="9856520" y="3082754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14" name="직사각형 413"/>
          <p:cNvSpPr/>
          <p:nvPr/>
        </p:nvSpPr>
        <p:spPr>
          <a:xfrm>
            <a:off x="10068774" y="308275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17" name="직사각형 416"/>
          <p:cNvSpPr/>
          <p:nvPr/>
        </p:nvSpPr>
        <p:spPr>
          <a:xfrm>
            <a:off x="11039749" y="3058359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18" name="직사각형 417"/>
          <p:cNvSpPr/>
          <p:nvPr/>
        </p:nvSpPr>
        <p:spPr>
          <a:xfrm>
            <a:off x="11252003" y="3058359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20" name="오른쪽 화살표 419"/>
          <p:cNvSpPr/>
          <p:nvPr/>
        </p:nvSpPr>
        <p:spPr>
          <a:xfrm>
            <a:off x="7771116" y="4139942"/>
            <a:ext cx="574431" cy="280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3" name="굽은 화살표 432"/>
          <p:cNvSpPr/>
          <p:nvPr/>
        </p:nvSpPr>
        <p:spPr>
          <a:xfrm rot="3734340">
            <a:off x="6732901" y="2015119"/>
            <a:ext cx="378307" cy="3794678"/>
          </a:xfrm>
          <a:prstGeom prst="bentArrow">
            <a:avLst>
              <a:gd name="adj1" fmla="val 25000"/>
              <a:gd name="adj2" fmla="val 20731"/>
              <a:gd name="adj3" fmla="val 50000"/>
              <a:gd name="adj4" fmla="val 268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434" name="개체 4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635752"/>
              </p:ext>
            </p:extLst>
          </p:nvPr>
        </p:nvGraphicFramePr>
        <p:xfrm>
          <a:off x="4955502" y="4525078"/>
          <a:ext cx="288471" cy="33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287" name="개체 2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5502" y="4525078"/>
                        <a:ext cx="288471" cy="33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" name="직사각형 434"/>
          <p:cNvSpPr/>
          <p:nvPr/>
        </p:nvSpPr>
        <p:spPr>
          <a:xfrm>
            <a:off x="7331691" y="3940205"/>
            <a:ext cx="478899" cy="288139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 smtClean="0">
                <a:solidFill>
                  <a:schemeClr val="bg1"/>
                </a:solidFill>
                <a:latin typeface="맑은 고딕" pitchFamily="50" charset="-127"/>
              </a:rPr>
              <a:t>롱탭</a:t>
            </a:r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</a:rPr>
              <a:t> 후</a:t>
            </a:r>
            <a:endParaRPr lang="en-US" altLang="ko-KR" sz="600" b="1" dirty="0" smtClean="0">
              <a:solidFill>
                <a:schemeClr val="bg1"/>
              </a:solidFill>
              <a:latin typeface="맑은 고딕" pitchFamily="50" charset="-127"/>
            </a:endParaRPr>
          </a:p>
          <a:p>
            <a:pPr algn="ctr"/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드래그앤드롭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6" name="직사각형 435"/>
          <p:cNvSpPr/>
          <p:nvPr/>
        </p:nvSpPr>
        <p:spPr>
          <a:xfrm>
            <a:off x="455785" y="5768783"/>
            <a:ext cx="3233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 err="1" smtClean="0">
                <a:latin typeface="+mn-ea"/>
              </a:rPr>
              <a:t>결재자는</a:t>
            </a:r>
            <a:r>
              <a:rPr lang="ko-KR" altLang="en-US" sz="800" dirty="0" smtClean="0">
                <a:latin typeface="+mn-ea"/>
              </a:rPr>
              <a:t> 이동 후 단계에 따라 결재</a:t>
            </a:r>
            <a:r>
              <a:rPr lang="en-US" altLang="ko-KR" sz="800" dirty="0" smtClean="0">
                <a:latin typeface="+mn-ea"/>
              </a:rPr>
              <a:t>/</a:t>
            </a:r>
            <a:r>
              <a:rPr lang="ko-KR" altLang="en-US" sz="800" dirty="0" smtClean="0">
                <a:latin typeface="+mn-ea"/>
              </a:rPr>
              <a:t>승인으로 표시</a:t>
            </a:r>
            <a:r>
              <a:rPr lang="en-US" altLang="ko-KR" sz="800" dirty="0" smtClean="0">
                <a:latin typeface="+mn-ea"/>
              </a:rPr>
              <a:t/>
            </a:r>
            <a:br>
              <a:rPr lang="en-US" altLang="ko-KR" sz="800" dirty="0" smtClean="0">
                <a:latin typeface="+mn-ea"/>
              </a:rPr>
            </a:br>
            <a:r>
              <a:rPr lang="en-US" altLang="ko-KR" sz="800" dirty="0" smtClean="0">
                <a:latin typeface="+mn-ea"/>
              </a:rPr>
              <a:t>ex1)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구성원은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 smtClean="0">
                <a:latin typeface="+mn-ea"/>
              </a:rPr>
              <a:t>ex2) </a:t>
            </a:r>
            <a:r>
              <a:rPr lang="ko-KR" altLang="en-US" sz="800" dirty="0" err="1">
                <a:latin typeface="+mn-ea"/>
              </a:rPr>
              <a:t>승</a:t>
            </a:r>
            <a:r>
              <a:rPr lang="ko-KR" altLang="en-US" sz="800" dirty="0" err="1" smtClean="0">
                <a:latin typeface="+mn-ea"/>
              </a:rPr>
              <a:t>인단계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구성원은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>
                <a:latin typeface="+mn-ea"/>
              </a:rPr>
              <a:t>Ex3) </a:t>
            </a:r>
            <a:r>
              <a:rPr lang="ko-KR" altLang="en-US" sz="800" dirty="0" err="1">
                <a:latin typeface="+mn-ea"/>
              </a:rPr>
              <a:t>결재단계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>
                <a:latin typeface="+mn-ea"/>
                <a:sym typeface="Wingdings" panose="05000000000000000000" pitchFamily="2" charset="2"/>
              </a:rPr>
              <a:t>기안단계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>
                <a:latin typeface="+mn-ea"/>
                <a:sym typeface="Wingdings" panose="05000000000000000000" pitchFamily="2" charset="2"/>
              </a:rPr>
              <a:t>기안자로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 변경</a:t>
            </a:r>
            <a:endParaRPr lang="en-US" altLang="ko-KR" sz="800" dirty="0">
              <a:latin typeface="+mn-ea"/>
            </a:endParaRPr>
          </a:p>
        </p:txBody>
      </p:sp>
      <p:sp>
        <p:nvSpPr>
          <p:cNvPr id="437" name="직사각형 436"/>
          <p:cNvSpPr/>
          <p:nvPr/>
        </p:nvSpPr>
        <p:spPr>
          <a:xfrm>
            <a:off x="4403034" y="5818392"/>
            <a:ext cx="3233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 err="1" smtClean="0">
                <a:latin typeface="+mn-ea"/>
              </a:rPr>
              <a:t>확인자는</a:t>
            </a:r>
            <a:r>
              <a:rPr lang="ko-KR" altLang="en-US" sz="800" dirty="0" smtClean="0">
                <a:latin typeface="+mn-ea"/>
              </a:rPr>
              <a:t> 이동 후 단계에 따라 처리</a:t>
            </a:r>
            <a:r>
              <a:rPr lang="en-US" altLang="ko-KR" sz="800" dirty="0" smtClean="0">
                <a:latin typeface="+mn-ea"/>
              </a:rPr>
              <a:t/>
            </a:r>
            <a:br>
              <a:rPr lang="en-US" altLang="ko-KR" sz="800" dirty="0" smtClean="0">
                <a:latin typeface="+mn-ea"/>
              </a:rPr>
            </a:br>
            <a:r>
              <a:rPr lang="en-US" altLang="ko-KR" sz="800" dirty="0" smtClean="0">
                <a:latin typeface="+mn-ea"/>
              </a:rPr>
              <a:t>ex1)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확인자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유지</a:t>
            </a:r>
            <a:endParaRPr lang="en-US" altLang="ko-KR" sz="800" dirty="0" smtClean="0">
              <a:latin typeface="+mn-ea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altLang="ko-KR" sz="800" dirty="0" smtClean="0">
                <a:latin typeface="+mn-ea"/>
              </a:rPr>
              <a:t>Ex2)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 smtClean="0">
                <a:latin typeface="+mn-ea"/>
              </a:rPr>
              <a:t>Ex3) </a:t>
            </a:r>
            <a:r>
              <a:rPr lang="ko-KR" altLang="en-US" sz="800" dirty="0" err="1">
                <a:latin typeface="+mn-ea"/>
              </a:rPr>
              <a:t>결재단계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기안단계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기안자로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endParaRPr lang="en-US" altLang="ko-KR" sz="800" dirty="0">
              <a:latin typeface="+mn-ea"/>
            </a:endParaRPr>
          </a:p>
        </p:txBody>
      </p:sp>
      <p:grpSp>
        <p:nvGrpSpPr>
          <p:cNvPr id="200" name="그룹 199"/>
          <p:cNvGrpSpPr/>
          <p:nvPr/>
        </p:nvGrpSpPr>
        <p:grpSpPr>
          <a:xfrm>
            <a:off x="1757117" y="4569313"/>
            <a:ext cx="1104400" cy="958355"/>
            <a:chOff x="4630176" y="3963919"/>
            <a:chExt cx="1104400" cy="958355"/>
          </a:xfrm>
        </p:grpSpPr>
        <p:sp>
          <p:nvSpPr>
            <p:cNvPr id="201" name="모서리가 둥근 직사각형 20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4" name="직선 연결선 20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타원 20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07" name="직사각형 206"/>
          <p:cNvSpPr/>
          <p:nvPr/>
        </p:nvSpPr>
        <p:spPr>
          <a:xfrm>
            <a:off x="1747562" y="484494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1823481" y="5203537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1836354" y="4606748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2048608" y="4606748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11" name="그룹 210"/>
          <p:cNvGrpSpPr/>
          <p:nvPr/>
        </p:nvGrpSpPr>
        <p:grpSpPr>
          <a:xfrm>
            <a:off x="8597252" y="3033533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12" name="모서리가 둥근 직사각형 21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15" name="직선 연결선 214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타원 215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7" name="직사각형 216"/>
          <p:cNvSpPr/>
          <p:nvPr/>
        </p:nvSpPr>
        <p:spPr>
          <a:xfrm>
            <a:off x="8892911" y="3792047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4" name="타원 223"/>
          <p:cNvSpPr/>
          <p:nvPr/>
        </p:nvSpPr>
        <p:spPr>
          <a:xfrm>
            <a:off x="9602393" y="3084674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8584441" y="3319265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8674280" y="367940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8888951" y="3066378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8679174" y="3066378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8763443" y="461096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8975697" y="461096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44" name="그룹 243"/>
          <p:cNvGrpSpPr/>
          <p:nvPr/>
        </p:nvGrpSpPr>
        <p:grpSpPr>
          <a:xfrm>
            <a:off x="5641480" y="4546951"/>
            <a:ext cx="1104400" cy="958355"/>
            <a:chOff x="4630176" y="3963919"/>
            <a:chExt cx="1104400" cy="958355"/>
          </a:xfrm>
        </p:grpSpPr>
        <p:sp>
          <p:nvSpPr>
            <p:cNvPr id="245" name="모서리가 둥근 직사각형 24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79" name="직선 연결선 27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타원 27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1" name="직사각형 280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86" name="직사각형 285"/>
          <p:cNvSpPr/>
          <p:nvPr/>
        </p:nvSpPr>
        <p:spPr>
          <a:xfrm>
            <a:off x="5631925" y="482258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88" name="모서리가 둥근 직사각형 287"/>
          <p:cNvSpPr/>
          <p:nvPr/>
        </p:nvSpPr>
        <p:spPr>
          <a:xfrm>
            <a:off x="5643362" y="518117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8" name="직사각형 317"/>
          <p:cNvSpPr/>
          <p:nvPr/>
        </p:nvSpPr>
        <p:spPr>
          <a:xfrm>
            <a:off x="5751781" y="460595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1" name="직사각형 350"/>
          <p:cNvSpPr/>
          <p:nvPr/>
        </p:nvSpPr>
        <p:spPr>
          <a:xfrm>
            <a:off x="5964035" y="460595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35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관리</a:t>
            </a:r>
            <a:endParaRPr lang="en-US" altLang="ko-KR" sz="800" kern="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194472" y="545210"/>
            <a:ext cx="3230372" cy="398482"/>
            <a:chOff x="7330918" y="3572857"/>
            <a:chExt cx="3168000" cy="398482"/>
          </a:xfrm>
        </p:grpSpPr>
        <p:sp>
          <p:nvSpPr>
            <p:cNvPr id="43" name="직사각형 42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30131" y="3638178"/>
              <a:ext cx="687930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구성원추가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5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85218" y="1548352"/>
            <a:ext cx="3039047" cy="330118"/>
            <a:chOff x="5804087" y="4215557"/>
            <a:chExt cx="3024000" cy="288696"/>
          </a:xfrm>
        </p:grpSpPr>
        <p:sp>
          <p:nvSpPr>
            <p:cNvPr id="53" name="직사각형 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12359" y="1597995"/>
            <a:ext cx="104387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이름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’ ‘ID’ ‘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부서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 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6" name="개체 55"/>
          <p:cNvGraphicFramePr>
            <a:graphicFrameLocks noChangeAspect="1"/>
          </p:cNvGraphicFramePr>
          <p:nvPr>
            <p:extLst/>
          </p:nvPr>
        </p:nvGraphicFramePr>
        <p:xfrm>
          <a:off x="3039575" y="1606228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1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9575" y="1606228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직사각형 56"/>
          <p:cNvSpPr/>
          <p:nvPr/>
        </p:nvSpPr>
        <p:spPr>
          <a:xfrm>
            <a:off x="295637" y="226070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67409" y="232518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%</a:t>
            </a:r>
            <a:r>
              <a:rPr lang="ko-KR" altLang="en-US" sz="1100" b="1" dirty="0" smtClean="0">
                <a:latin typeface="+mn-ea"/>
              </a:rPr>
              <a:t>성명</a:t>
            </a:r>
            <a:r>
              <a:rPr lang="en-US" altLang="ko-KR" sz="1100" b="1" dirty="0" smtClean="0">
                <a:latin typeface="+mn-ea"/>
              </a:rPr>
              <a:t>% (%</a:t>
            </a:r>
            <a:r>
              <a:rPr lang="ko-KR" altLang="en-US" sz="1100" b="1" dirty="0" smtClean="0">
                <a:latin typeface="+mn-ea"/>
              </a:rPr>
              <a:t>아이디</a:t>
            </a:r>
            <a:r>
              <a:rPr lang="en-US" altLang="ko-KR" sz="1100" b="1" dirty="0" smtClean="0">
                <a:latin typeface="+mn-ea"/>
              </a:rPr>
              <a:t>%)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53441" y="2560332"/>
            <a:ext cx="13756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부서명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직위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435100" y="2618695"/>
            <a:ext cx="162390" cy="177311"/>
            <a:chOff x="4774349" y="5330127"/>
            <a:chExt cx="162390" cy="177311"/>
          </a:xfrm>
        </p:grpSpPr>
        <p:sp>
          <p:nvSpPr>
            <p:cNvPr id="61" name="직사각형 60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01087" y="3101580"/>
            <a:ext cx="2530006" cy="405790"/>
            <a:chOff x="754673" y="2028264"/>
            <a:chExt cx="2530006" cy="405790"/>
          </a:xfrm>
        </p:grpSpPr>
        <p:sp>
          <p:nvSpPr>
            <p:cNvPr id="63" name="직사각형 62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95" name="직사각형 94"/>
          <p:cNvSpPr/>
          <p:nvPr/>
        </p:nvSpPr>
        <p:spPr>
          <a:xfrm>
            <a:off x="3853831" y="6075249"/>
            <a:ext cx="3158168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sp>
        <p:nvSpPr>
          <p:cNvPr id="96" name="직사각형 95"/>
          <p:cNvSpPr/>
          <p:nvPr/>
        </p:nvSpPr>
        <p:spPr>
          <a:xfrm>
            <a:off x="3858748" y="5421405"/>
            <a:ext cx="1588514" cy="34382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확인자지정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423485" y="5421405"/>
            <a:ext cx="158851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결재자지정</a:t>
            </a:r>
            <a:endParaRPr lang="ko-KR" altLang="en-US" sz="10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3858748" y="583927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기안단계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858748" y="514601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결재단계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840537" y="4426231"/>
            <a:ext cx="157671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마지막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단계 </a:t>
            </a:r>
            <a:r>
              <a:rPr lang="en-US" altLang="ko-KR" sz="900" b="1" dirty="0">
                <a:latin typeface="+mn-ea"/>
              </a:rPr>
              <a:t>/ </a:t>
            </a:r>
            <a:r>
              <a:rPr lang="ko-KR" altLang="en-US" sz="900" b="1" dirty="0" err="1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3840537" y="4686404"/>
            <a:ext cx="3166545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결재자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승인자</a:t>
            </a:r>
            <a:r>
              <a:rPr lang="en-US" altLang="ko-KR" sz="1000" b="1" dirty="0"/>
              <a:t>) </a:t>
            </a:r>
            <a:r>
              <a:rPr lang="ko-KR" altLang="en-US" sz="1000" b="1" dirty="0" smtClean="0"/>
              <a:t>지정</a:t>
            </a:r>
            <a:endParaRPr lang="ko-KR" altLang="en-US" sz="1000" b="1" dirty="0"/>
          </a:p>
        </p:txBody>
      </p:sp>
      <p:cxnSp>
        <p:nvCxnSpPr>
          <p:cNvPr id="94" name="직선 연결선 93"/>
          <p:cNvCxnSpPr/>
          <p:nvPr/>
        </p:nvCxnSpPr>
        <p:spPr>
          <a:xfrm>
            <a:off x="756173" y="3033608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753441" y="2759509"/>
            <a:ext cx="2401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결재자지정구분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사용보안매체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295637" y="3629502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667409" y="3693979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n-ea"/>
              </a:rPr>
              <a:t>김길수</a:t>
            </a:r>
            <a:r>
              <a:rPr lang="en-US" altLang="ko-KR" sz="1100" b="1" dirty="0">
                <a:latin typeface="+mn-ea"/>
              </a:rPr>
              <a:t> (P01023045)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67409" y="3929125"/>
            <a:ext cx="9460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철강팀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435100" y="3987488"/>
            <a:ext cx="162390" cy="177311"/>
            <a:chOff x="4774349" y="5330127"/>
            <a:chExt cx="162390" cy="177311"/>
          </a:xfrm>
        </p:grpSpPr>
        <p:sp>
          <p:nvSpPr>
            <p:cNvPr id="108" name="직사각형 107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9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701087" y="4435201"/>
            <a:ext cx="2530006" cy="405790"/>
            <a:chOff x="754673" y="2028264"/>
            <a:chExt cx="2530006" cy="405790"/>
          </a:xfrm>
        </p:grpSpPr>
        <p:sp>
          <p:nvSpPr>
            <p:cNvPr id="111" name="직사각형 110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cxnSp>
        <p:nvCxnSpPr>
          <p:cNvPr id="115" name="직선 연결선 114"/>
          <p:cNvCxnSpPr/>
          <p:nvPr/>
        </p:nvCxnSpPr>
        <p:spPr>
          <a:xfrm>
            <a:off x="756173" y="4384815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667409" y="4128302"/>
            <a:ext cx="1444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기안불가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295637" y="498097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67409" y="504545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이지은</a:t>
            </a:r>
            <a:r>
              <a:rPr lang="en-US" altLang="ko-KR" sz="1100" b="1" dirty="0" smtClean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en-US" altLang="ko-KR" sz="1100" b="1" dirty="0" smtClean="0">
                <a:latin typeface="+mn-ea"/>
              </a:rPr>
              <a:t>P01023047)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7407" y="5280602"/>
            <a:ext cx="9460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영어팀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35100" y="5391572"/>
            <a:ext cx="124704" cy="12470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681050" y="5786678"/>
            <a:ext cx="2550043" cy="405790"/>
            <a:chOff x="734636" y="2028264"/>
            <a:chExt cx="2550043" cy="405790"/>
          </a:xfrm>
        </p:grpSpPr>
        <p:sp>
          <p:nvSpPr>
            <p:cNvPr id="124" name="직사각형 123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397799" y="2202545"/>
              <a:ext cx="864339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34636" y="2203222"/>
              <a:ext cx="67518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 한도 </a:t>
              </a:r>
            </a:p>
          </p:txBody>
        </p:sp>
      </p:grpSp>
      <p:cxnSp>
        <p:nvCxnSpPr>
          <p:cNvPr id="128" name="직선 연결선 127"/>
          <p:cNvCxnSpPr/>
          <p:nvPr/>
        </p:nvCxnSpPr>
        <p:spPr>
          <a:xfrm>
            <a:off x="756173" y="5736292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/>
          <p:cNvSpPr/>
          <p:nvPr/>
        </p:nvSpPr>
        <p:spPr>
          <a:xfrm>
            <a:off x="667410" y="5479779"/>
            <a:ext cx="14446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제한없음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54335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1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구성원을 추가하는 팝업으로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이미 추가된 구성원은 별도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시 다른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경우에는 등록되지 않은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결재단계별로 정렬하여 목록에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타이틀에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결재단계를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구성원 수를 표시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3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 입력 후 검색 처리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구성원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목록 정렬 기능 제공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정렬기준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이름순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 2)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부서순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직위순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 표시 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4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참여중인 기안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참여중인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없으면 표시 안함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따라 버튼 제공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터치 시 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구성원으로 추가 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54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마직막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단계이거나 승인 단계일 경우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 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2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0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4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또는 아이디 클릭 시사용자정보팝업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8634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33" name="직사각형 132"/>
          <p:cNvSpPr/>
          <p:nvPr/>
        </p:nvSpPr>
        <p:spPr>
          <a:xfrm>
            <a:off x="2806656" y="5032724"/>
            <a:ext cx="432412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r>
              <a:rPr lang="en-US" altLang="ko-KR" sz="600" dirty="0" smtClean="0">
                <a:solidFill>
                  <a:schemeClr val="bg1"/>
                </a:solidFill>
              </a:rPr>
              <a:t>1</a:t>
            </a:r>
            <a:r>
              <a:rPr lang="ko-KR" altLang="en-US" sz="600" dirty="0" smtClean="0">
                <a:solidFill>
                  <a:schemeClr val="bg1"/>
                </a:solidFill>
              </a:rPr>
              <a:t>단계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2825935" y="1466925"/>
            <a:ext cx="251992" cy="230832"/>
            <a:chOff x="4867678" y="3090156"/>
            <a:chExt cx="251992" cy="230832"/>
          </a:xfrm>
        </p:grpSpPr>
        <p:sp>
          <p:nvSpPr>
            <p:cNvPr id="16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5" name="그룹 164"/>
          <p:cNvGrpSpPr/>
          <p:nvPr/>
        </p:nvGrpSpPr>
        <p:grpSpPr>
          <a:xfrm>
            <a:off x="201120" y="2532894"/>
            <a:ext cx="251992" cy="230832"/>
            <a:chOff x="4867678" y="3090156"/>
            <a:chExt cx="251992" cy="230832"/>
          </a:xfrm>
        </p:grpSpPr>
        <p:sp>
          <p:nvSpPr>
            <p:cNvPr id="16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2633896" y="4907063"/>
            <a:ext cx="251992" cy="230832"/>
            <a:chOff x="4867678" y="3090156"/>
            <a:chExt cx="251992" cy="230832"/>
          </a:xfrm>
        </p:grpSpPr>
        <p:sp>
          <p:nvSpPr>
            <p:cNvPr id="16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1" name="직사각형 170"/>
          <p:cNvSpPr/>
          <p:nvPr/>
        </p:nvSpPr>
        <p:spPr>
          <a:xfrm>
            <a:off x="201840" y="6040487"/>
            <a:ext cx="322300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grpSp>
        <p:nvGrpSpPr>
          <p:cNvPr id="172" name="그룹 171"/>
          <p:cNvGrpSpPr/>
          <p:nvPr/>
        </p:nvGrpSpPr>
        <p:grpSpPr>
          <a:xfrm>
            <a:off x="3638327" y="4715341"/>
            <a:ext cx="367408" cy="230832"/>
            <a:chOff x="4809970" y="3090156"/>
            <a:chExt cx="367408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3638327" y="5474788"/>
            <a:ext cx="367408" cy="230832"/>
            <a:chOff x="4809970" y="3090156"/>
            <a:chExt cx="367408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241325" y="6096982"/>
            <a:ext cx="251992" cy="230832"/>
            <a:chOff x="4867678" y="3090156"/>
            <a:chExt cx="251992" cy="230832"/>
          </a:xfrm>
        </p:grpSpPr>
        <p:sp>
          <p:nvSpPr>
            <p:cNvPr id="1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276794" y="1014852"/>
            <a:ext cx="191975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200" b="1" dirty="0" smtClean="0">
                <a:latin typeface="+mn-ea"/>
              </a:rPr>
              <a:t>%</a:t>
            </a:r>
            <a:r>
              <a:rPr lang="ko-KR" altLang="en-US" sz="1200" b="1" dirty="0" err="1" smtClean="0">
                <a:latin typeface="+mn-ea"/>
              </a:rPr>
              <a:t>결재단계</a:t>
            </a:r>
            <a:r>
              <a:rPr lang="en-US" altLang="ko-KR" sz="1200" b="1" dirty="0" smtClean="0">
                <a:latin typeface="+mn-ea"/>
              </a:rPr>
              <a:t>%     </a:t>
            </a:r>
            <a:r>
              <a:rPr lang="ko-KR" altLang="en-US" sz="1200" b="1" dirty="0" smtClean="0">
                <a:latin typeface="+mn-ea"/>
              </a:rPr>
              <a:t>에 추가할</a:t>
            </a:r>
            <a:endParaRPr lang="en-US" altLang="ko-KR" sz="1200" b="1" dirty="0" smtClean="0">
              <a:latin typeface="+mn-ea"/>
            </a:endParaRPr>
          </a:p>
          <a:p>
            <a:r>
              <a:rPr lang="ko-KR" altLang="en-US" sz="1200" b="1" dirty="0" smtClean="0">
                <a:latin typeface="+mn-ea"/>
              </a:rPr>
              <a:t>구성원을 선택해주세요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82" name="그룹 181"/>
          <p:cNvGrpSpPr/>
          <p:nvPr/>
        </p:nvGrpSpPr>
        <p:grpSpPr>
          <a:xfrm>
            <a:off x="87603" y="937905"/>
            <a:ext cx="251992" cy="230832"/>
            <a:chOff x="4867678" y="3090156"/>
            <a:chExt cx="251992" cy="230832"/>
          </a:xfrm>
        </p:grpSpPr>
        <p:sp>
          <p:nvSpPr>
            <p:cNvPr id="1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5" name="그룹 184"/>
          <p:cNvGrpSpPr/>
          <p:nvPr/>
        </p:nvGrpSpPr>
        <p:grpSpPr>
          <a:xfrm>
            <a:off x="3638327" y="6040990"/>
            <a:ext cx="367408" cy="230832"/>
            <a:chOff x="4809970" y="3090156"/>
            <a:chExt cx="367408" cy="230832"/>
          </a:xfrm>
        </p:grpSpPr>
        <p:sp>
          <p:nvSpPr>
            <p:cNvPr id="1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5386768" y="5453924"/>
            <a:ext cx="367408" cy="230832"/>
            <a:chOff x="4809970" y="3090156"/>
            <a:chExt cx="367408" cy="230832"/>
          </a:xfrm>
        </p:grpSpPr>
        <p:sp>
          <p:nvSpPr>
            <p:cNvPr id="18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1163342" y="1054159"/>
            <a:ext cx="222738" cy="17941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3</a:t>
            </a:r>
            <a:endParaRPr lang="ko-KR" altLang="en-US" sz="900" dirty="0"/>
          </a:p>
        </p:txBody>
      </p:sp>
      <p:grpSp>
        <p:nvGrpSpPr>
          <p:cNvPr id="191" name="그룹 190"/>
          <p:cNvGrpSpPr/>
          <p:nvPr/>
        </p:nvGrpSpPr>
        <p:grpSpPr>
          <a:xfrm>
            <a:off x="967569" y="859672"/>
            <a:ext cx="367408" cy="230832"/>
            <a:chOff x="4809970" y="3090156"/>
            <a:chExt cx="367408" cy="230832"/>
          </a:xfrm>
        </p:grpSpPr>
        <p:sp>
          <p:nvSpPr>
            <p:cNvPr id="19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구성원추가</a:t>
            </a:r>
            <a:endParaRPr lang="en-US" altLang="ko-KR" sz="800" kern="0" dirty="0"/>
          </a:p>
        </p:txBody>
      </p:sp>
      <p:grpSp>
        <p:nvGrpSpPr>
          <p:cNvPr id="120" name="그룹 119"/>
          <p:cNvGrpSpPr/>
          <p:nvPr/>
        </p:nvGrpSpPr>
        <p:grpSpPr>
          <a:xfrm>
            <a:off x="521293" y="3627100"/>
            <a:ext cx="251992" cy="230832"/>
            <a:chOff x="4867678" y="3090156"/>
            <a:chExt cx="251992" cy="230832"/>
          </a:xfrm>
        </p:grpSpPr>
        <p:sp>
          <p:nvSpPr>
            <p:cNvPr id="12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34" name="표 133"/>
          <p:cNvGraphicFramePr>
            <a:graphicFrameLocks noGrp="1"/>
          </p:cNvGraphicFramePr>
          <p:nvPr>
            <p:extLst/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뱃지안내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표시 영역 삭제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표시방법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정렬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설명 추가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정렬순서</a:t>
            </a:r>
            <a:r>
              <a:rPr lang="ko-KR" altLang="en-US" sz="800" smtClean="0">
                <a:solidFill>
                  <a:schemeClr val="bg1"/>
                </a:solidFill>
                <a:latin typeface="+mn-ea"/>
              </a:rPr>
              <a:t> 변경 기능 제공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2474956" y="1891683"/>
            <a:ext cx="251992" cy="230832"/>
            <a:chOff x="4867678" y="3090156"/>
            <a:chExt cx="251992" cy="230832"/>
          </a:xfrm>
        </p:grpSpPr>
        <p:sp>
          <p:nvSpPr>
            <p:cNvPr id="15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2562412" y="1918959"/>
            <a:ext cx="770297" cy="273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35" latinLnBrk="0">
              <a:lnSpc>
                <a:spcPct val="150000"/>
              </a:lnSpc>
              <a:defRPr/>
            </a:pPr>
            <a:r>
              <a:rPr lang="ko-KR" altLang="en-US" sz="900" kern="0" dirty="0" smtClean="0"/>
              <a:t>이름순↓</a:t>
            </a:r>
            <a:endParaRPr lang="en-US" altLang="ko-KR" sz="800" kern="0" dirty="0"/>
          </a:p>
        </p:txBody>
      </p:sp>
      <p:sp>
        <p:nvSpPr>
          <p:cNvPr id="158" name="양쪽 모서리가 둥근 사각형 157">
            <a:extLst>
              <a:ext uri="{FF2B5EF4-FFF2-40B4-BE49-F238E27FC236}">
                <a16:creationId xmlns:a16="http://schemas.microsoft.com/office/drawing/2014/main" id="{5EFC62E7-EDD4-860E-024C-E96B7C455B02}"/>
              </a:ext>
            </a:extLst>
          </p:cNvPr>
          <p:cNvSpPr/>
          <p:nvPr/>
        </p:nvSpPr>
        <p:spPr>
          <a:xfrm>
            <a:off x="3638327" y="1878470"/>
            <a:ext cx="3240000" cy="1816751"/>
          </a:xfrm>
          <a:prstGeom prst="round2SameRect">
            <a:avLst>
              <a:gd name="adj1" fmla="val 545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F7E6862-C61D-0227-D0B8-90010ED41B83}"/>
              </a:ext>
            </a:extLst>
          </p:cNvPr>
          <p:cNvSpPr/>
          <p:nvPr/>
        </p:nvSpPr>
        <p:spPr>
          <a:xfrm>
            <a:off x="4890273" y="1958254"/>
            <a:ext cx="706284" cy="26161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ko-KR" altLang="en-US" sz="1100" b="1" dirty="0" smtClean="0">
                <a:latin typeface="맑은 고딕" pitchFamily="50" charset="-127"/>
              </a:rPr>
              <a:t>정렬 순서</a:t>
            </a:r>
            <a:endParaRPr lang="ko-KR" altLang="en-US" sz="1100" b="1" dirty="0">
              <a:latin typeface="맑은 고딕" pitchFamily="50" charset="-127"/>
            </a:endParaRPr>
          </a:p>
        </p:txBody>
      </p:sp>
      <p:cxnSp>
        <p:nvCxnSpPr>
          <p:cNvPr id="196" name="직선 연결선 245">
            <a:extLst>
              <a:ext uri="{FF2B5EF4-FFF2-40B4-BE49-F238E27FC236}">
                <a16:creationId xmlns:a16="http://schemas.microsoft.com/office/drawing/2014/main" id="{80CBD149-1864-F74E-5E64-C3FC61301BEC}"/>
              </a:ext>
            </a:extLst>
          </p:cNvPr>
          <p:cNvCxnSpPr/>
          <p:nvPr/>
        </p:nvCxnSpPr>
        <p:spPr>
          <a:xfrm>
            <a:off x="3732216" y="2282802"/>
            <a:ext cx="3024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3F880367-8584-31CD-F25C-1E4377E4672E}"/>
              </a:ext>
            </a:extLst>
          </p:cNvPr>
          <p:cNvSpPr/>
          <p:nvPr/>
        </p:nvSpPr>
        <p:spPr>
          <a:xfrm>
            <a:off x="3818327" y="3322551"/>
            <a:ext cx="2880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조회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98" name="Freeform 11"/>
          <p:cNvSpPr>
            <a:spLocks noChangeArrowheads="1"/>
          </p:cNvSpPr>
          <p:nvPr/>
        </p:nvSpPr>
        <p:spPr bwMode="auto">
          <a:xfrm>
            <a:off x="6604755" y="202339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A8BDC54-56BE-714D-EDB3-A8A0BF5E9A92}"/>
              </a:ext>
            </a:extLst>
          </p:cNvPr>
          <p:cNvGrpSpPr/>
          <p:nvPr/>
        </p:nvGrpSpPr>
        <p:grpSpPr>
          <a:xfrm>
            <a:off x="3824255" y="2345741"/>
            <a:ext cx="2881664" cy="531184"/>
            <a:chOff x="4506018" y="5391782"/>
            <a:chExt cx="2881664" cy="531184"/>
          </a:xfrm>
        </p:grpSpPr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15C6B085-1A56-40BB-6F6A-EFAD7B667842}"/>
                </a:ext>
              </a:extLst>
            </p:cNvPr>
            <p:cNvGrpSpPr/>
            <p:nvPr/>
          </p:nvGrpSpPr>
          <p:grpSpPr>
            <a:xfrm>
              <a:off x="4506018" y="5630498"/>
              <a:ext cx="2881664" cy="292468"/>
              <a:chOff x="6943648" y="3301562"/>
              <a:chExt cx="2881664" cy="292468"/>
            </a:xfrm>
          </p:grpSpPr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7C23D274-0CE4-3257-51BD-4D4D1FCDD28E}"/>
                  </a:ext>
                </a:extLst>
              </p:cNvPr>
              <p:cNvSpPr/>
              <p:nvPr/>
            </p:nvSpPr>
            <p:spPr>
              <a:xfrm>
                <a:off x="6943648" y="3301562"/>
                <a:ext cx="2880000" cy="28869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이름순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4" name="직선 연결선 267">
                <a:extLst>
                  <a:ext uri="{FF2B5EF4-FFF2-40B4-BE49-F238E27FC236}">
                    <a16:creationId xmlns:a16="http://schemas.microsoft.com/office/drawing/2014/main" id="{79F50B30-C897-359C-4BFF-CBDEEAB6C16A}"/>
                  </a:ext>
                </a:extLst>
              </p:cNvPr>
              <p:cNvCxnSpPr/>
              <p:nvPr/>
            </p:nvCxnSpPr>
            <p:spPr>
              <a:xfrm>
                <a:off x="6945312" y="3594030"/>
                <a:ext cx="2880000" cy="0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1" name="Freeform 10">
              <a:extLst>
                <a:ext uri="{FF2B5EF4-FFF2-40B4-BE49-F238E27FC236}">
                  <a16:creationId xmlns:a16="http://schemas.microsoft.com/office/drawing/2014/main" id="{2E06611C-96EA-E91A-8B36-E12B00D533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08218" y="5695084"/>
              <a:ext cx="100246" cy="163364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5B266E35-E0B2-3098-9F32-591ADF5BCA25}"/>
                </a:ext>
              </a:extLst>
            </p:cNvPr>
            <p:cNvSpPr/>
            <p:nvPr/>
          </p:nvSpPr>
          <p:spPr>
            <a:xfrm>
              <a:off x="4542982" y="5391782"/>
              <a:ext cx="958078" cy="23083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r>
                <a:rPr lang="ko-KR" altLang="en-US" sz="900" b="1" dirty="0" err="1" smtClean="0">
                  <a:latin typeface="+mn-ea"/>
                </a:rPr>
                <a:t>정렬기준</a:t>
              </a:r>
              <a:endParaRPr lang="en-US" altLang="ko-KR" sz="900" b="1" dirty="0">
                <a:latin typeface="+mn-ea"/>
              </a:endParaRPr>
            </a:p>
          </p:txBody>
        </p:sp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1266C6E-7C97-A62E-B96A-99C59D37C1ED}"/>
              </a:ext>
            </a:extLst>
          </p:cNvPr>
          <p:cNvSpPr/>
          <p:nvPr/>
        </p:nvSpPr>
        <p:spPr>
          <a:xfrm>
            <a:off x="3832345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오름차순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1D82E488-BCD4-28E1-1A40-35290A823233}"/>
              </a:ext>
            </a:extLst>
          </p:cNvPr>
          <p:cNvSpPr/>
          <p:nvPr/>
        </p:nvSpPr>
        <p:spPr>
          <a:xfrm>
            <a:off x="5268409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</a:rPr>
              <a:t>내림차순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CB008CE5-E879-9963-17D3-5B7697416595}"/>
              </a:ext>
            </a:extLst>
          </p:cNvPr>
          <p:cNvSpPr/>
          <p:nvPr/>
        </p:nvSpPr>
        <p:spPr>
          <a:xfrm>
            <a:off x="3953219" y="2988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72CADD19-811A-27C2-C02F-7E1A2CF33EE0}"/>
              </a:ext>
            </a:extLst>
          </p:cNvPr>
          <p:cNvSpPr/>
          <p:nvPr/>
        </p:nvSpPr>
        <p:spPr>
          <a:xfrm>
            <a:off x="5385335" y="2979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7BC6CEF1-D498-AC84-8F62-ACB165660DFC}"/>
              </a:ext>
            </a:extLst>
          </p:cNvPr>
          <p:cNvSpPr>
            <a:spLocks noChangeAspect="1"/>
          </p:cNvSpPr>
          <p:nvPr/>
        </p:nvSpPr>
        <p:spPr>
          <a:xfrm>
            <a:off x="3969585" y="3011620"/>
            <a:ext cx="108000" cy="108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34604" y="1805880"/>
            <a:ext cx="251992" cy="230832"/>
            <a:chOff x="4867678" y="3090156"/>
            <a:chExt cx="251992" cy="230832"/>
          </a:xfrm>
        </p:grpSpPr>
        <p:sp>
          <p:nvSpPr>
            <p:cNvPr id="2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59885" y="2539984"/>
            <a:ext cx="367408" cy="230832"/>
            <a:chOff x="4809970" y="3090156"/>
            <a:chExt cx="367408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01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직사각형 145"/>
          <p:cNvSpPr/>
          <p:nvPr/>
        </p:nvSpPr>
        <p:spPr>
          <a:xfrm>
            <a:off x="200595" y="1767334"/>
            <a:ext cx="3225119" cy="4602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8" name="직사각형 14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12445" y="1912726"/>
              <a:ext cx="73193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>
                  <a:solidFill>
                    <a:prstClr val="black"/>
                  </a:solidFill>
                  <a:ea typeface="맑은 고딕"/>
                </a:rPr>
                <a:t>결재선 </a:t>
              </a:r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151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352753" y="1114525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87842" y="1516901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/>
          <p:cNvSpPr/>
          <p:nvPr/>
        </p:nvSpPr>
        <p:spPr>
          <a:xfrm>
            <a:off x="1208697" y="6013094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162" name="직사각형 161"/>
          <p:cNvSpPr/>
          <p:nvPr/>
        </p:nvSpPr>
        <p:spPr>
          <a:xfrm>
            <a:off x="176362" y="6013094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2712721" y="1159599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2482198" y="1583050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 불러오기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216662" y="1576314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169" name="그룹 168"/>
          <p:cNvGrpSpPr/>
          <p:nvPr/>
        </p:nvGrpSpPr>
        <p:grpSpPr>
          <a:xfrm>
            <a:off x="612794" y="1604061"/>
            <a:ext cx="396000" cy="171048"/>
            <a:chOff x="5960994" y="6443081"/>
            <a:chExt cx="396000" cy="180000"/>
          </a:xfrm>
        </p:grpSpPr>
        <p:sp>
          <p:nvSpPr>
            <p:cNvPr id="170" name="모서리가 둥근 직사각형 169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171" name="타원 170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172" name="직사각형 171"/>
          <p:cNvSpPr/>
          <p:nvPr/>
        </p:nvSpPr>
        <p:spPr>
          <a:xfrm>
            <a:off x="990750" y="157077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grpSp>
        <p:nvGrpSpPr>
          <p:cNvPr id="173" name="그룹 172"/>
          <p:cNvGrpSpPr/>
          <p:nvPr/>
        </p:nvGrpSpPr>
        <p:grpSpPr>
          <a:xfrm>
            <a:off x="2681395" y="1558814"/>
            <a:ext cx="401071" cy="286418"/>
            <a:chOff x="7122762" y="2119930"/>
            <a:chExt cx="401071" cy="286418"/>
          </a:xfrm>
        </p:grpSpPr>
        <p:sp>
          <p:nvSpPr>
            <p:cNvPr id="174" name="타원 17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3" name="직사각형 212"/>
          <p:cNvSpPr/>
          <p:nvPr/>
        </p:nvSpPr>
        <p:spPr>
          <a:xfrm>
            <a:off x="5370795" y="6000468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214" name="직사각형 213"/>
          <p:cNvSpPr/>
          <p:nvPr/>
        </p:nvSpPr>
        <p:spPr>
          <a:xfrm>
            <a:off x="4306366" y="549639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4311398" y="559165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347398" y="975716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7" name="그룹 216"/>
          <p:cNvGrpSpPr/>
          <p:nvPr/>
        </p:nvGrpSpPr>
        <p:grpSpPr>
          <a:xfrm>
            <a:off x="4347398" y="587739"/>
            <a:ext cx="3168000" cy="398482"/>
            <a:chOff x="7330918" y="3572857"/>
            <a:chExt cx="3168000" cy="398482"/>
          </a:xfrm>
        </p:grpSpPr>
        <p:sp>
          <p:nvSpPr>
            <p:cNvPr id="218" name="직사각형 217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20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1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1938312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212737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4921522" y="203771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4412984" y="968674"/>
            <a:ext cx="1183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 smtClean="0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 smtClean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5" name="타원 224"/>
          <p:cNvSpPr/>
          <p:nvPr/>
        </p:nvSpPr>
        <p:spPr>
          <a:xfrm>
            <a:off x="4539575" y="2163594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2673001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947426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921522" y="2772404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229" name="그룹 228"/>
          <p:cNvGrpSpPr/>
          <p:nvPr/>
        </p:nvGrpSpPr>
        <p:grpSpPr>
          <a:xfrm>
            <a:off x="4539575" y="2898283"/>
            <a:ext cx="200894" cy="200894"/>
            <a:chOff x="3027532" y="1509066"/>
            <a:chExt cx="144000" cy="144000"/>
          </a:xfrm>
        </p:grpSpPr>
        <p:sp>
          <p:nvSpPr>
            <p:cNvPr id="230" name="타원 229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31" name="타원 230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232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3407690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3682115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921522" y="350709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35" name="타원 234"/>
          <p:cNvSpPr/>
          <p:nvPr/>
        </p:nvSpPr>
        <p:spPr>
          <a:xfrm>
            <a:off x="4539575" y="3632972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Freeform 10"/>
          <p:cNvSpPr>
            <a:spLocks noChangeArrowheads="1"/>
          </p:cNvSpPr>
          <p:nvPr/>
        </p:nvSpPr>
        <p:spPr bwMode="auto">
          <a:xfrm rot="5400000">
            <a:off x="7113044" y="220249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" name="Freeform 10"/>
          <p:cNvSpPr>
            <a:spLocks noChangeArrowheads="1"/>
          </p:cNvSpPr>
          <p:nvPr/>
        </p:nvSpPr>
        <p:spPr bwMode="auto">
          <a:xfrm rot="5400000">
            <a:off x="7113043" y="2962910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Freeform 10"/>
          <p:cNvSpPr>
            <a:spLocks noChangeArrowheads="1"/>
          </p:cNvSpPr>
          <p:nvPr/>
        </p:nvSpPr>
        <p:spPr bwMode="auto">
          <a:xfrm rot="5400000">
            <a:off x="7131547" y="369930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" name="직사각형 238"/>
          <p:cNvSpPr/>
          <p:nvPr/>
        </p:nvSpPr>
        <p:spPr>
          <a:xfrm>
            <a:off x="4305006" y="6013665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240" name="그룹 239"/>
          <p:cNvGrpSpPr/>
          <p:nvPr/>
        </p:nvGrpSpPr>
        <p:grpSpPr>
          <a:xfrm>
            <a:off x="6805411" y="1885587"/>
            <a:ext cx="367408" cy="230832"/>
            <a:chOff x="4809970" y="3090156"/>
            <a:chExt cx="367408" cy="230832"/>
          </a:xfrm>
        </p:grpSpPr>
        <p:sp>
          <p:nvSpPr>
            <p:cNvPr id="24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3" name="그룹 242"/>
          <p:cNvGrpSpPr/>
          <p:nvPr/>
        </p:nvGrpSpPr>
        <p:grpSpPr>
          <a:xfrm>
            <a:off x="6966282" y="2113311"/>
            <a:ext cx="401071" cy="286418"/>
            <a:chOff x="7122762" y="2119930"/>
            <a:chExt cx="401071" cy="286418"/>
          </a:xfrm>
        </p:grpSpPr>
        <p:sp>
          <p:nvSpPr>
            <p:cNvPr id="244" name="타원 24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245" name="직사각형 24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" name="꺾인 연결선 4"/>
          <p:cNvCxnSpPr>
            <a:stCxn id="174" idx="6"/>
            <a:endCxn id="216" idx="1"/>
          </p:cNvCxnSpPr>
          <p:nvPr/>
        </p:nvCxnSpPr>
        <p:spPr>
          <a:xfrm>
            <a:off x="3019628" y="1702023"/>
            <a:ext cx="1327770" cy="17511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직사각형 247"/>
          <p:cNvSpPr/>
          <p:nvPr/>
        </p:nvSpPr>
        <p:spPr>
          <a:xfrm>
            <a:off x="8425484" y="5397673"/>
            <a:ext cx="3233596" cy="1005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9" name="그룹 248"/>
          <p:cNvGrpSpPr/>
          <p:nvPr/>
        </p:nvGrpSpPr>
        <p:grpSpPr>
          <a:xfrm>
            <a:off x="8419578" y="558913"/>
            <a:ext cx="3240000" cy="398482"/>
            <a:chOff x="7321393" y="1839307"/>
            <a:chExt cx="3240000" cy="398482"/>
          </a:xfrm>
        </p:grpSpPr>
        <p:sp>
          <p:nvSpPr>
            <p:cNvPr id="250" name="직사각형 249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1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53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257" name="TextBox 256"/>
          <p:cNvSpPr txBox="1"/>
          <p:nvPr/>
        </p:nvSpPr>
        <p:spPr>
          <a:xfrm>
            <a:off x="8586617" y="1121231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415169" y="1542332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직사각형 259"/>
          <p:cNvSpPr/>
          <p:nvPr/>
        </p:nvSpPr>
        <p:spPr>
          <a:xfrm>
            <a:off x="8427018" y="1939387"/>
            <a:ext cx="3225119" cy="1477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직사각형 260"/>
          <p:cNvSpPr/>
          <p:nvPr/>
        </p:nvSpPr>
        <p:spPr>
          <a:xfrm>
            <a:off x="8421648" y="3652957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2" name="그룹 261"/>
          <p:cNvGrpSpPr/>
          <p:nvPr/>
        </p:nvGrpSpPr>
        <p:grpSpPr>
          <a:xfrm rot="10800000">
            <a:off x="9905917" y="3451207"/>
            <a:ext cx="154946" cy="123678"/>
            <a:chOff x="6691038" y="2985393"/>
            <a:chExt cx="122504" cy="97782"/>
          </a:xfrm>
        </p:grpSpPr>
        <p:cxnSp>
          <p:nvCxnSpPr>
            <p:cNvPr id="263" name="직선 연결선 262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/>
          <p:cNvSpPr txBox="1"/>
          <p:nvPr/>
        </p:nvSpPr>
        <p:spPr>
          <a:xfrm>
            <a:off x="8560444" y="2009832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4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561065" y="547842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2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10946585" y="1166305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grpSp>
        <p:nvGrpSpPr>
          <p:cNvPr id="273" name="그룹 272"/>
          <p:cNvGrpSpPr/>
          <p:nvPr/>
        </p:nvGrpSpPr>
        <p:grpSpPr>
          <a:xfrm rot="10800000">
            <a:off x="9882427" y="5197835"/>
            <a:ext cx="154946" cy="123678"/>
            <a:chOff x="6691038" y="2985393"/>
            <a:chExt cx="122504" cy="97782"/>
          </a:xfrm>
        </p:grpSpPr>
        <p:cxnSp>
          <p:nvCxnSpPr>
            <p:cNvPr id="274" name="직선 연결선 273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그룹 275"/>
          <p:cNvGrpSpPr/>
          <p:nvPr/>
        </p:nvGrpSpPr>
        <p:grpSpPr>
          <a:xfrm>
            <a:off x="8620521" y="4058185"/>
            <a:ext cx="1104400" cy="958355"/>
            <a:chOff x="4630176" y="3963919"/>
            <a:chExt cx="1104400" cy="958355"/>
          </a:xfrm>
        </p:grpSpPr>
        <p:sp>
          <p:nvSpPr>
            <p:cNvPr id="277" name="모서리가 둥근 직사각형 276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81" name="직선 연결선 280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타원 281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3" name="직사각형 282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84" name="직사각형 283"/>
          <p:cNvSpPr/>
          <p:nvPr/>
        </p:nvSpPr>
        <p:spPr>
          <a:xfrm>
            <a:off x="8610966" y="431415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9442561" y="6019800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286" name="직사각형 285"/>
          <p:cNvSpPr/>
          <p:nvPr/>
        </p:nvSpPr>
        <p:spPr>
          <a:xfrm>
            <a:off x="8410226" y="6019800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524963" y="372378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3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grpSp>
        <p:nvGrpSpPr>
          <p:cNvPr id="288" name="그룹 287"/>
          <p:cNvGrpSpPr/>
          <p:nvPr/>
        </p:nvGrpSpPr>
        <p:grpSpPr>
          <a:xfrm>
            <a:off x="9854565" y="4060095"/>
            <a:ext cx="1104400" cy="958355"/>
            <a:chOff x="4630176" y="3963919"/>
            <a:chExt cx="1104400" cy="958355"/>
          </a:xfrm>
        </p:grpSpPr>
        <p:sp>
          <p:nvSpPr>
            <p:cNvPr id="289" name="모서리가 둥근 직사각형 288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93" name="직선 연결선 29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타원 29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5" name="직사각형 294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97" name="직사각형 296"/>
          <p:cNvSpPr/>
          <p:nvPr/>
        </p:nvSpPr>
        <p:spPr>
          <a:xfrm>
            <a:off x="9845010" y="4335724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303" name="그룹 302"/>
          <p:cNvGrpSpPr/>
          <p:nvPr/>
        </p:nvGrpSpPr>
        <p:grpSpPr>
          <a:xfrm>
            <a:off x="8624267" y="2294283"/>
            <a:ext cx="1104400" cy="958355"/>
            <a:chOff x="4630176" y="3963919"/>
            <a:chExt cx="1104400" cy="958355"/>
          </a:xfrm>
        </p:grpSpPr>
        <p:sp>
          <p:nvSpPr>
            <p:cNvPr id="304" name="모서리가 둥근 직사각형 30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08" name="직선 연결선 30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타원 30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직사각형 30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1" name="직사각형 310"/>
          <p:cNvSpPr/>
          <p:nvPr/>
        </p:nvSpPr>
        <p:spPr>
          <a:xfrm>
            <a:off x="8419578" y="555981"/>
            <a:ext cx="3247304" cy="58475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모서리가 둥근 직사각형 333"/>
          <p:cNvSpPr/>
          <p:nvPr/>
        </p:nvSpPr>
        <p:spPr>
          <a:xfrm>
            <a:off x="10672370" y="158542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8457792" y="1591606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336" name="그룹 335"/>
          <p:cNvGrpSpPr/>
          <p:nvPr/>
        </p:nvGrpSpPr>
        <p:grpSpPr>
          <a:xfrm>
            <a:off x="8853924" y="1619353"/>
            <a:ext cx="396000" cy="171048"/>
            <a:chOff x="5960994" y="6443081"/>
            <a:chExt cx="396000" cy="180000"/>
          </a:xfrm>
        </p:grpSpPr>
        <p:sp>
          <p:nvSpPr>
            <p:cNvPr id="337" name="모서리가 둥근 직사각형 336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338" name="타원 337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339" name="직사각형 338"/>
          <p:cNvSpPr/>
          <p:nvPr/>
        </p:nvSpPr>
        <p:spPr>
          <a:xfrm>
            <a:off x="9231880" y="1586070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43" name="TextBox 342"/>
          <p:cNvSpPr txBox="1"/>
          <p:nvPr/>
        </p:nvSpPr>
        <p:spPr>
          <a:xfrm>
            <a:off x="8410226" y="6486280"/>
            <a:ext cx="261866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불러온 </a:t>
            </a:r>
            <a:r>
              <a:rPr lang="ko-KR" altLang="en-US" sz="1200" dirty="0" err="1" smtClean="0">
                <a:latin typeface="+mn-ea"/>
              </a:rPr>
              <a:t>결재선의</a:t>
            </a:r>
            <a:r>
              <a:rPr lang="ko-KR" altLang="en-US" sz="1200" dirty="0" smtClean="0">
                <a:latin typeface="+mn-ea"/>
              </a:rPr>
              <a:t> 설정을 그대로 복사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7834808" y="3194707"/>
            <a:ext cx="394791" cy="517029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직사각형 343"/>
          <p:cNvSpPr/>
          <p:nvPr/>
        </p:nvSpPr>
        <p:spPr>
          <a:xfrm>
            <a:off x="155575" y="-21549"/>
            <a:ext cx="580955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985790" y="81687"/>
            <a:ext cx="17812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신규등록에만 있는 기능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/>
          </a:p>
        </p:txBody>
      </p:sp>
      <p:sp>
        <p:nvSpPr>
          <p:cNvPr id="129" name="타원 128"/>
          <p:cNvSpPr/>
          <p:nvPr/>
        </p:nvSpPr>
        <p:spPr>
          <a:xfrm>
            <a:off x="10053555" y="2414970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0039538" y="2744406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8682451" y="2946232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11192273" y="4250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1178256" y="4579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10700031" y="2020885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11395903" y="202254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10748959" y="375570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5" name="Freeform 11"/>
          <p:cNvSpPr>
            <a:spLocks noChangeArrowheads="1"/>
          </p:cNvSpPr>
          <p:nvPr/>
        </p:nvSpPr>
        <p:spPr bwMode="auto">
          <a:xfrm>
            <a:off x="11444831" y="375735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10775349" y="5466730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8" name="Freeform 11"/>
          <p:cNvSpPr>
            <a:spLocks noChangeArrowheads="1"/>
          </p:cNvSpPr>
          <p:nvPr/>
        </p:nvSpPr>
        <p:spPr bwMode="auto">
          <a:xfrm>
            <a:off x="11471221" y="546838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" name="직사각형 158"/>
          <p:cNvSpPr/>
          <p:nvPr/>
        </p:nvSpPr>
        <p:spPr>
          <a:xfrm>
            <a:off x="8716251" y="409523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8928505" y="409523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9961798" y="4109564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0174052" y="410956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8693080" y="234294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8905334" y="234294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8706332" y="470443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9917934" y="467612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4412984" y="1509075"/>
            <a:ext cx="3039047" cy="330118"/>
            <a:chOff x="5804087" y="4215557"/>
            <a:chExt cx="3024000" cy="288696"/>
          </a:xfrm>
        </p:grpSpPr>
        <p:sp>
          <p:nvSpPr>
            <p:cNvPr id="180" name="직사각형 179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1" name="직선 연결선 180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직사각형 181"/>
          <p:cNvSpPr/>
          <p:nvPr/>
        </p:nvSpPr>
        <p:spPr>
          <a:xfrm>
            <a:off x="4390751" y="1550009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83" name="개체 182"/>
          <p:cNvGraphicFramePr>
            <a:graphicFrameLocks noChangeAspect="1"/>
          </p:cNvGraphicFramePr>
          <p:nvPr>
            <p:extLst/>
          </p:nvPr>
        </p:nvGraphicFramePr>
        <p:xfrm>
          <a:off x="7167341" y="1566951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8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83" name="개체 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7341" y="1566951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23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불러오기</a:t>
            </a:r>
            <a:endParaRPr lang="en-US" altLang="ko-KR" sz="800" kern="0" dirty="0"/>
          </a:p>
        </p:txBody>
      </p:sp>
      <p:sp>
        <p:nvSpPr>
          <p:cNvPr id="119" name="직사각형 118"/>
          <p:cNvSpPr/>
          <p:nvPr/>
        </p:nvSpPr>
        <p:spPr>
          <a:xfrm>
            <a:off x="1247775" y="6005942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3346" y="555113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8378" y="564639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24378" y="981190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224378" y="593213"/>
            <a:ext cx="3168000" cy="398482"/>
            <a:chOff x="7330918" y="3572857"/>
            <a:chExt cx="3168000" cy="398482"/>
          </a:xfrm>
        </p:grpSpPr>
        <p:sp>
          <p:nvSpPr>
            <p:cNvPr id="39" name="직사각형 38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1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" name="표 51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5448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선택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0131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이체선을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있는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플래이트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명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개수는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개를 기본으로 화면에 표시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개가 넘는 경우 스크롤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형태로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개단위로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추가로 표시함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charset="0"/>
                        <a:buChar char="•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개수는 디지털사업부의 의견에 따라 조정될 수 있음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버튼타입을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버튼을 체크하고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하단의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불러오기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누르는 경우 체크된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charset="0"/>
                        <a:buNone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[1-2]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펼침 버튼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토글타입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펼침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모두표시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[2-1]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 확인자가 있는 경우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 표시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아이콘으로 처리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[2-2]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펼친 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접음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팝업닫기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팝업을 닫고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불러온 결재선의 설정이 적용된 결재선 구성페이지로 이동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1905686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18011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8502" y="2005089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56116" y="1038542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416555" y="2130968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2640375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914800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798502" y="273977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60" name="그룹 59"/>
          <p:cNvGrpSpPr/>
          <p:nvPr/>
        </p:nvGrpSpPr>
        <p:grpSpPr>
          <a:xfrm>
            <a:off x="416555" y="2865657"/>
            <a:ext cx="200894" cy="200894"/>
            <a:chOff x="3027532" y="1509066"/>
            <a:chExt cx="144000" cy="144000"/>
          </a:xfrm>
        </p:grpSpPr>
        <p:sp>
          <p:nvSpPr>
            <p:cNvPr id="61" name="타원 60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62" name="타원 61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6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3375064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3649489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798502" y="347446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67" name="타원 66"/>
          <p:cNvSpPr/>
          <p:nvPr/>
        </p:nvSpPr>
        <p:spPr>
          <a:xfrm>
            <a:off x="416555" y="3600346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70" name="Freeform 10"/>
          <p:cNvSpPr>
            <a:spLocks noChangeArrowheads="1"/>
          </p:cNvSpPr>
          <p:nvPr/>
        </p:nvSpPr>
        <p:spPr bwMode="auto">
          <a:xfrm rot="5400000">
            <a:off x="2990024" y="216987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Freeform 10"/>
          <p:cNvSpPr>
            <a:spLocks noChangeArrowheads="1"/>
          </p:cNvSpPr>
          <p:nvPr/>
        </p:nvSpPr>
        <p:spPr bwMode="auto">
          <a:xfrm rot="5400000">
            <a:off x="2990023" y="293028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Freeform 10"/>
          <p:cNvSpPr>
            <a:spLocks noChangeArrowheads="1"/>
          </p:cNvSpPr>
          <p:nvPr/>
        </p:nvSpPr>
        <p:spPr bwMode="auto">
          <a:xfrm rot="5400000">
            <a:off x="3008527" y="366668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직사각형 72"/>
          <p:cNvSpPr/>
          <p:nvPr/>
        </p:nvSpPr>
        <p:spPr>
          <a:xfrm>
            <a:off x="4280276" y="563029"/>
            <a:ext cx="3240000" cy="58255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351315" y="6016561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불러오기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286886" y="565732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291918" y="575258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327918" y="991809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327918" y="603832"/>
            <a:ext cx="3168000" cy="398482"/>
            <a:chOff x="7330918" y="3572857"/>
            <a:chExt cx="3168000" cy="398482"/>
          </a:xfrm>
        </p:grpSpPr>
        <p:sp>
          <p:nvSpPr>
            <p:cNvPr id="80" name="직사각형 79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1837228"/>
            <a:ext cx="3064717" cy="3306383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21116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02042" y="193663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88" name="타원 87"/>
          <p:cNvSpPr/>
          <p:nvPr/>
        </p:nvSpPr>
        <p:spPr>
          <a:xfrm>
            <a:off x="4520095" y="2062511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5256063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5530488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4902042" y="53554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92" name="그룹 91"/>
          <p:cNvGrpSpPr/>
          <p:nvPr/>
        </p:nvGrpSpPr>
        <p:grpSpPr>
          <a:xfrm>
            <a:off x="4520095" y="5481345"/>
            <a:ext cx="200894" cy="200894"/>
            <a:chOff x="3027532" y="1509066"/>
            <a:chExt cx="144000" cy="144000"/>
          </a:xfrm>
        </p:grpSpPr>
        <p:sp>
          <p:nvSpPr>
            <p:cNvPr id="93" name="타원 92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94" name="타원 93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99" name="Freeform 10"/>
          <p:cNvSpPr>
            <a:spLocks noChangeArrowheads="1"/>
          </p:cNvSpPr>
          <p:nvPr/>
        </p:nvSpPr>
        <p:spPr bwMode="auto">
          <a:xfrm rot="16200000">
            <a:off x="7093564" y="210141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10"/>
          <p:cNvSpPr>
            <a:spLocks noChangeArrowheads="1"/>
          </p:cNvSpPr>
          <p:nvPr/>
        </p:nvSpPr>
        <p:spPr bwMode="auto">
          <a:xfrm rot="5400000">
            <a:off x="7093563" y="5545972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04" name="직선 연결선 103"/>
          <p:cNvCxnSpPr/>
          <p:nvPr/>
        </p:nvCxnSpPr>
        <p:spPr>
          <a:xfrm>
            <a:off x="3338169" y="1000518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 flipV="1">
            <a:off x="3724018" y="1018990"/>
            <a:ext cx="0" cy="491057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184794" y="5929567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3459346" y="3296135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latin typeface="+mn-ea"/>
              </a:rPr>
              <a:t>스크롤 </a:t>
            </a:r>
            <a:r>
              <a:rPr lang="ko-KR" altLang="en-US" sz="700" dirty="0">
                <a:latin typeface="+mn-ea"/>
              </a:rPr>
              <a:t>영역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181986" y="6019139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4280276" y="6029961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112925" y="1795472"/>
            <a:ext cx="251992" cy="230832"/>
            <a:chOff x="4867678" y="3090156"/>
            <a:chExt cx="251992" cy="230832"/>
          </a:xfrm>
        </p:grpSpPr>
        <p:sp>
          <p:nvSpPr>
            <p:cNvPr id="1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2682391" y="1852961"/>
            <a:ext cx="367408" cy="230832"/>
            <a:chOff x="4809970" y="3090156"/>
            <a:chExt cx="367408" cy="230832"/>
          </a:xfrm>
        </p:grpSpPr>
        <p:sp>
          <p:nvSpPr>
            <p:cNvPr id="1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4208558" y="2290950"/>
            <a:ext cx="251992" cy="230832"/>
            <a:chOff x="4867678" y="3090156"/>
            <a:chExt cx="251992" cy="230832"/>
          </a:xfrm>
        </p:grpSpPr>
        <p:sp>
          <p:nvSpPr>
            <p:cNvPr id="1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4177564" y="5857625"/>
            <a:ext cx="251992" cy="230832"/>
            <a:chOff x="4867678" y="3090156"/>
            <a:chExt cx="251992" cy="230832"/>
          </a:xfrm>
        </p:grpSpPr>
        <p:sp>
          <p:nvSpPr>
            <p:cNvPr id="12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95" name="직선 화살표 연결선 94"/>
          <p:cNvCxnSpPr/>
          <p:nvPr/>
        </p:nvCxnSpPr>
        <p:spPr>
          <a:xfrm flipV="1">
            <a:off x="7668345" y="2478070"/>
            <a:ext cx="0" cy="235622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7288334" y="2478069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238363" y="4834294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668345" y="3658743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latin typeface="+mn-ea"/>
              </a:rPr>
              <a:t>영역펼침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5349495" y="5842225"/>
            <a:ext cx="251992" cy="230832"/>
            <a:chOff x="4867678" y="3090156"/>
            <a:chExt cx="251992" cy="230832"/>
          </a:xfrm>
        </p:grpSpPr>
        <p:sp>
          <p:nvSpPr>
            <p:cNvPr id="1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4334554" y="1046719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02" name="그룹 101"/>
          <p:cNvGrpSpPr/>
          <p:nvPr/>
        </p:nvGrpSpPr>
        <p:grpSpPr>
          <a:xfrm>
            <a:off x="2843262" y="2080685"/>
            <a:ext cx="401071" cy="286418"/>
            <a:chOff x="7122762" y="2119930"/>
            <a:chExt cx="401071" cy="286418"/>
          </a:xfrm>
        </p:grpSpPr>
        <p:sp>
          <p:nvSpPr>
            <p:cNvPr id="126" name="타원 125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24278" y="2059031"/>
            <a:ext cx="367408" cy="230832"/>
            <a:chOff x="4809970" y="3090156"/>
            <a:chExt cx="367408" cy="230832"/>
          </a:xfrm>
        </p:grpSpPr>
        <p:sp>
          <p:nvSpPr>
            <p:cNvPr id="1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7202336" y="2101035"/>
            <a:ext cx="367408" cy="230832"/>
            <a:chOff x="4809970" y="3090156"/>
            <a:chExt cx="367408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4418028" y="1417521"/>
            <a:ext cx="3039047" cy="330118"/>
            <a:chOff x="5804087" y="4215557"/>
            <a:chExt cx="3024000" cy="288696"/>
          </a:xfrm>
        </p:grpSpPr>
        <p:sp>
          <p:nvSpPr>
            <p:cNvPr id="137" name="직사각형 13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8" name="직선 연결선 13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직사각형 138"/>
          <p:cNvSpPr/>
          <p:nvPr/>
        </p:nvSpPr>
        <p:spPr>
          <a:xfrm>
            <a:off x="4453504" y="1458455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대출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40" name="개체 139"/>
          <p:cNvGraphicFramePr>
            <a:graphicFrameLocks noChangeAspect="1"/>
          </p:cNvGraphicFramePr>
          <p:nvPr>
            <p:extLst/>
          </p:nvPr>
        </p:nvGraphicFramePr>
        <p:xfrm>
          <a:off x="7172385" y="1475397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6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40" name="개체 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2385" y="1475397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" name="그룹 145"/>
          <p:cNvGrpSpPr/>
          <p:nvPr/>
        </p:nvGrpSpPr>
        <p:grpSpPr>
          <a:xfrm>
            <a:off x="298086" y="1474684"/>
            <a:ext cx="3039047" cy="330118"/>
            <a:chOff x="5804087" y="4215557"/>
            <a:chExt cx="3024000" cy="288696"/>
          </a:xfrm>
        </p:grpSpPr>
        <p:sp>
          <p:nvSpPr>
            <p:cNvPr id="147" name="직사각형 14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48" name="직선 연결선 14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직사각형 148"/>
          <p:cNvSpPr/>
          <p:nvPr/>
        </p:nvSpPr>
        <p:spPr>
          <a:xfrm>
            <a:off x="275853" y="1515618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0" name="개체 149"/>
          <p:cNvGraphicFramePr>
            <a:graphicFrameLocks noChangeAspect="1"/>
          </p:cNvGraphicFramePr>
          <p:nvPr>
            <p:extLst/>
          </p:nvPr>
        </p:nvGraphicFramePr>
        <p:xfrm>
          <a:off x="3052443" y="153256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7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50" name="개체 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2443" y="153256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직사각형 128"/>
          <p:cNvSpPr/>
          <p:nvPr/>
        </p:nvSpPr>
        <p:spPr>
          <a:xfrm>
            <a:off x="7956433" y="5258375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정보가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결재선을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불러오시겠습니까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830893" y="4967201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 불러오기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일때만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가능함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44" name="Freeform 11"/>
          <p:cNvSpPr>
            <a:spLocks noChangeArrowheads="1"/>
          </p:cNvSpPr>
          <p:nvPr/>
        </p:nvSpPr>
        <p:spPr bwMode="auto">
          <a:xfrm>
            <a:off x="10702309" y="5318465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8106088" y="532208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807761" y="5190770"/>
            <a:ext cx="367408" cy="230832"/>
            <a:chOff x="4809970" y="3090156"/>
            <a:chExt cx="367408" cy="230832"/>
          </a:xfrm>
        </p:grpSpPr>
        <p:sp>
          <p:nvSpPr>
            <p:cNvPr id="15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962711" y="6457446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288350" y="6264461"/>
            <a:ext cx="367408" cy="230832"/>
            <a:chOff x="4809970" y="3090156"/>
            <a:chExt cx="367408" cy="230832"/>
          </a:xfrm>
        </p:grpSpPr>
        <p:sp>
          <p:nvSpPr>
            <p:cNvPr id="16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9448570" y="6457446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466207" y="6267238"/>
            <a:ext cx="367408" cy="230832"/>
            <a:chOff x="4809970" y="3090156"/>
            <a:chExt cx="367408" cy="230832"/>
          </a:xfrm>
        </p:grpSpPr>
        <p:sp>
          <p:nvSpPr>
            <p:cNvPr id="17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28" name="표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70604"/>
              </p:ext>
            </p:extLst>
          </p:nvPr>
        </p:nvGraphicFramePr>
        <p:xfrm>
          <a:off x="5134765" y="644642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aphicFrame>
        <p:nvGraphicFramePr>
          <p:cNvPr id="196" name="표 1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3427"/>
              </p:ext>
            </p:extLst>
          </p:nvPr>
        </p:nvGraphicFramePr>
        <p:xfrm>
          <a:off x="4504460" y="2544223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197" name="직선 연결선 196"/>
          <p:cNvCxnSpPr/>
          <p:nvPr/>
        </p:nvCxnSpPr>
        <p:spPr>
          <a:xfrm flipV="1">
            <a:off x="5482559" y="3123871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/>
          <p:cNvSpPr/>
          <p:nvPr/>
        </p:nvSpPr>
        <p:spPr>
          <a:xfrm>
            <a:off x="5469788" y="417952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5469788" y="392570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5469788" y="368076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5469788" y="342411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5460595" y="282215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5462523" y="297120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5469788" y="317917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5460594" y="259207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698433" y="2645509"/>
            <a:ext cx="230832" cy="367408"/>
            <a:chOff x="4878258" y="3021868"/>
            <a:chExt cx="230832" cy="367408"/>
          </a:xfrm>
        </p:grpSpPr>
        <p:sp>
          <p:nvSpPr>
            <p:cNvPr id="20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576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기안불가자는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8761" y="5395010"/>
                <a:ext cx="2943902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기안불가자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추가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9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명까지 추가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8761" y="5398991"/>
                <a:ext cx="2937786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각 단계에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9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 이상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380358" y="3296856"/>
            <a:ext cx="2950119" cy="1490703"/>
            <a:chOff x="201576" y="3100646"/>
            <a:chExt cx="2950119" cy="1490703"/>
          </a:xfrm>
        </p:grpSpPr>
        <p:sp>
          <p:nvSpPr>
            <p:cNvPr id="27" name="직사각형 26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단독결재불가자는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추가할 수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98850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단독결재불가자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695876" y="1450476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확인자는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각 단계별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8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명까지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추가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70336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8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초과한 경우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10441752" y="151056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975347" y="3296856"/>
            <a:ext cx="2950119" cy="1490703"/>
            <a:chOff x="201576" y="3100646"/>
            <a:chExt cx="2950119" cy="1490703"/>
          </a:xfrm>
        </p:grpSpPr>
        <p:sp>
          <p:nvSpPr>
            <p:cNvPr id="73" name="직사각형 72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최대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명만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추가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가능합니다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72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893839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초과하여 추가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695876" y="3257970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결재단계는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7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단계까지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570336" y="29667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단계를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단계 초과 추가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6" name="Freeform 11"/>
          <p:cNvSpPr>
            <a:spLocks noChangeArrowheads="1"/>
          </p:cNvSpPr>
          <p:nvPr/>
        </p:nvSpPr>
        <p:spPr bwMode="auto">
          <a:xfrm>
            <a:off x="10441752" y="3318060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86575" y="4499559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78455" y="4493364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702093" y="4460673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702093" y="2648751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4146076" y="1278431"/>
            <a:ext cx="2773274" cy="1380468"/>
            <a:chOff x="4535050" y="819597"/>
            <a:chExt cx="1560950" cy="1634383"/>
          </a:xfrm>
        </p:grpSpPr>
        <p:sp>
          <p:nvSpPr>
            <p:cNvPr id="38" name="직사각형 3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6" name="그룹 45"/>
          <p:cNvGrpSpPr/>
          <p:nvPr/>
        </p:nvGrpSpPr>
        <p:grpSpPr>
          <a:xfrm>
            <a:off x="7872721" y="1278431"/>
            <a:ext cx="2773274" cy="1380468"/>
            <a:chOff x="4535050" y="819597"/>
            <a:chExt cx="1560950" cy="1634383"/>
          </a:xfrm>
        </p:grpSpPr>
        <p:sp>
          <p:nvSpPr>
            <p:cNvPr id="47" name="직사각형 4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9" name="그룹 48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50" name="직사각형 4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56" name="그룹 55"/>
          <p:cNvGrpSpPr/>
          <p:nvPr/>
        </p:nvGrpSpPr>
        <p:grpSpPr>
          <a:xfrm>
            <a:off x="7872721" y="3112896"/>
            <a:ext cx="2773274" cy="1380468"/>
            <a:chOff x="4535050" y="819597"/>
            <a:chExt cx="1560950" cy="1634383"/>
          </a:xfrm>
        </p:grpSpPr>
        <p:sp>
          <p:nvSpPr>
            <p:cNvPr id="57" name="직사각형 5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60" name="그룹 59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62" name="직사각형 6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302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결재단계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삭제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376363" y="1412104"/>
            <a:ext cx="2950119" cy="1490703"/>
            <a:chOff x="6872544" y="4197176"/>
            <a:chExt cx="2950119" cy="1490703"/>
          </a:xfrm>
        </p:grpSpPr>
        <p:sp>
          <p:nvSpPr>
            <p:cNvPr id="67" name="직사각형 66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3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358403" y="5399879"/>
              <a:ext cx="146426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예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6872544" y="5399879"/>
              <a:ext cx="148585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아니요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250823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없음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2" name="Freeform 11"/>
          <p:cNvSpPr>
            <a:spLocks noChangeArrowheads="1"/>
          </p:cNvSpPr>
          <p:nvPr/>
        </p:nvSpPr>
        <p:spPr bwMode="auto">
          <a:xfrm>
            <a:off x="3122239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직사각형 120"/>
          <p:cNvSpPr/>
          <p:nvPr/>
        </p:nvSpPr>
        <p:spPr>
          <a:xfrm>
            <a:off x="4096892" y="1412104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구성원이 있습니다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단계에 포함된 구성원도 삭제됩니다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결재단계를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삭제하시겠습니까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971352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존재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5" name="Freeform 11"/>
          <p:cNvSpPr>
            <a:spLocks noChangeArrowheads="1"/>
          </p:cNvSpPr>
          <p:nvPr/>
        </p:nvSpPr>
        <p:spPr bwMode="auto">
          <a:xfrm>
            <a:off x="6842768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82751" y="2614807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096892" y="2614807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620065" y="1472194"/>
            <a:ext cx="2773274" cy="1380468"/>
            <a:chOff x="4535050" y="819597"/>
            <a:chExt cx="1560950" cy="1634383"/>
          </a:xfrm>
        </p:grpSpPr>
        <p:sp>
          <p:nvSpPr>
            <p:cNvPr id="21" name="직사각형 2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6" name="그룹 25"/>
          <p:cNvGrpSpPr/>
          <p:nvPr/>
        </p:nvGrpSpPr>
        <p:grpSpPr>
          <a:xfrm>
            <a:off x="4424810" y="2428635"/>
            <a:ext cx="2773274" cy="673694"/>
            <a:chOff x="4535050" y="819597"/>
            <a:chExt cx="1560950" cy="797609"/>
          </a:xfrm>
        </p:grpSpPr>
        <p:sp>
          <p:nvSpPr>
            <p:cNvPr id="29" name="직사각형 2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544262" y="1021159"/>
              <a:ext cx="1405069" cy="41304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31" name="그룹 3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32" name="직사각형 3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1194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7" y="1454457"/>
            <a:ext cx="2950120" cy="1490703"/>
            <a:chOff x="201575" y="3100646"/>
            <a:chExt cx="2950120" cy="1490703"/>
          </a:xfrm>
        </p:grpSpPr>
        <p:grpSp>
          <p:nvGrpSpPr>
            <p:cNvPr id="78" name="그룹 77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기안자는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89840"/>
                <a:ext cx="2950119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6" y="1450476"/>
            <a:ext cx="2950120" cy="1490703"/>
            <a:chOff x="201575" y="3100646"/>
            <a:chExt cx="2950120" cy="1490703"/>
          </a:xfrm>
        </p:grpSpPr>
        <p:grpSp>
          <p:nvGrpSpPr>
            <p:cNvPr id="99" name="그룹 98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101" name="직사각형 10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결재권자는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91335"/>
                <a:ext cx="2944004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001432"/>
            <a:ext cx="29578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결재단계에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결재권자없이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있는경우도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포함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235482" y="504378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결재선정보확인 이동 전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019379" y="488786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결재선 등록 취소하시겠습니까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93839" y="4596688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Freeform 11"/>
          <p:cNvSpPr>
            <a:spLocks noChangeArrowheads="1"/>
          </p:cNvSpPr>
          <p:nvPr/>
        </p:nvSpPr>
        <p:spPr bwMode="auto">
          <a:xfrm>
            <a:off x="6765255" y="49479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029562" y="403628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24390" y="4892833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결재선 기본 설정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화면으로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이동하시겠습니까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8850" y="4601659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이전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6" name="Freeform 11"/>
          <p:cNvSpPr>
            <a:spLocks noChangeArrowheads="1"/>
          </p:cNvSpPr>
          <p:nvPr/>
        </p:nvSpPr>
        <p:spPr bwMode="auto">
          <a:xfrm>
            <a:off x="3170266" y="49529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34573" y="4041260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이전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4390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</a:rPr>
              <a:t>결재선기본설정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975347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910249" y="6122003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24390" y="6122003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08733" y="6112685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022874" y="6112685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687717" y="5040314"/>
            <a:ext cx="2773274" cy="1380468"/>
            <a:chOff x="4535050" y="819597"/>
            <a:chExt cx="1560950" cy="1634383"/>
          </a:xfrm>
        </p:grpSpPr>
        <p:sp>
          <p:nvSpPr>
            <p:cNvPr id="38" name="직사각형 3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5" name="직사각형 4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7" name="그룹 46"/>
          <p:cNvGrpSpPr/>
          <p:nvPr/>
        </p:nvGrpSpPr>
        <p:grpSpPr>
          <a:xfrm>
            <a:off x="4196225" y="5040314"/>
            <a:ext cx="2773274" cy="1380468"/>
            <a:chOff x="4535050" y="819597"/>
            <a:chExt cx="1560950" cy="1634383"/>
          </a:xfrm>
        </p:grpSpPr>
        <p:sp>
          <p:nvSpPr>
            <p:cNvPr id="49" name="직사각형 4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3" name="그룹 62"/>
          <p:cNvGrpSpPr/>
          <p:nvPr/>
        </p:nvGrpSpPr>
        <p:grpSpPr>
          <a:xfrm>
            <a:off x="687717" y="1282796"/>
            <a:ext cx="2773274" cy="1380468"/>
            <a:chOff x="4535050" y="819597"/>
            <a:chExt cx="1560950" cy="1634383"/>
          </a:xfrm>
        </p:grpSpPr>
        <p:sp>
          <p:nvSpPr>
            <p:cNvPr id="64" name="직사각형 6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71" name="직사각형 70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3" name="그룹 72"/>
          <p:cNvGrpSpPr/>
          <p:nvPr/>
        </p:nvGrpSpPr>
        <p:grpSpPr>
          <a:xfrm>
            <a:off x="4196225" y="1282796"/>
            <a:ext cx="2773274" cy="1380468"/>
            <a:chOff x="4535050" y="819597"/>
            <a:chExt cx="1560950" cy="1634383"/>
          </a:xfrm>
        </p:grpSpPr>
        <p:sp>
          <p:nvSpPr>
            <p:cNvPr id="74" name="직사각형 7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76" name="그룹 7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83" name="직사각형 82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79898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+mn-ea"/>
              </a:rPr>
              <a:t>결재선 입력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2954" y="1044417"/>
            <a:ext cx="1510991" cy="43088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결재선 정보를 확인 후</a:t>
            </a:r>
            <a:endParaRPr lang="en-US" altLang="ko-KR" sz="1100" b="1" dirty="0" smtClean="0">
              <a:latin typeface="+mn-ea"/>
            </a:endParaRPr>
          </a:p>
          <a:p>
            <a:r>
              <a:rPr lang="ko-KR" altLang="en-US" sz="1100" b="1" dirty="0" smtClean="0">
                <a:latin typeface="+mn-ea"/>
              </a:rPr>
              <a:t>등록해주세요</a:t>
            </a:r>
            <a:endParaRPr lang="ko-KR" altLang="en-US" sz="1100" b="1" dirty="0"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366960" y="1755147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366960" y="3113708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366960" y="2092967"/>
            <a:ext cx="29045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863638" y="1790619"/>
            <a:ext cx="140026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35" latinLnBrk="0">
              <a:lnSpc>
                <a:spcPct val="150000"/>
              </a:lnSpc>
              <a:defRPr/>
            </a:pPr>
            <a:r>
              <a:rPr lang="ko-KR" altLang="en-US" sz="900" kern="0" dirty="0"/>
              <a:t>이체</a:t>
            </a:r>
            <a:r>
              <a:rPr lang="en-US" altLang="ko-KR" sz="900" kern="0" dirty="0"/>
              <a:t>/</a:t>
            </a:r>
            <a:r>
              <a:rPr lang="ko-KR" altLang="en-US" sz="900" kern="0" dirty="0"/>
              <a:t>송금 결재선</a:t>
            </a:r>
            <a:endParaRPr lang="en-US" altLang="ko-KR" sz="900" kern="0" dirty="0"/>
          </a:p>
        </p:txBody>
      </p:sp>
      <p:sp>
        <p:nvSpPr>
          <p:cNvPr id="48" name="직사각형 47"/>
          <p:cNvSpPr/>
          <p:nvPr/>
        </p:nvSpPr>
        <p:spPr>
          <a:xfrm>
            <a:off x="184553" y="1500125"/>
            <a:ext cx="1082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1000" b="1" kern="0" dirty="0" smtClean="0"/>
              <a:t>결재선기본설정</a:t>
            </a:r>
            <a:endParaRPr lang="ko-KR" altLang="en-US" sz="1000" b="1" kern="0" dirty="0"/>
          </a:p>
        </p:txBody>
      </p:sp>
      <p:sp>
        <p:nvSpPr>
          <p:cNvPr id="49" name="직사각형 48"/>
          <p:cNvSpPr/>
          <p:nvPr/>
        </p:nvSpPr>
        <p:spPr>
          <a:xfrm>
            <a:off x="339587" y="1856883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결재선명</a:t>
            </a:r>
            <a:endParaRPr lang="en-US" altLang="ko-KR" sz="8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42885" y="2161547"/>
            <a:ext cx="2909073" cy="302348"/>
            <a:chOff x="342885" y="2184407"/>
            <a:chExt cx="2909073" cy="302348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347398" y="248675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1844076" y="2184407"/>
              <a:ext cx="1400262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 err="1"/>
                <a:t>수직결재</a:t>
              </a:r>
              <a:endParaRPr lang="en-US" altLang="ko-KR" sz="900" kern="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2885" y="2243051"/>
              <a:ext cx="7344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 유형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342885" y="2490312"/>
            <a:ext cx="2909073" cy="300082"/>
            <a:chOff x="342885" y="2214887"/>
            <a:chExt cx="2909073" cy="300082"/>
          </a:xfrm>
        </p:grpSpPr>
        <p:cxnSp>
          <p:nvCxnSpPr>
            <p:cNvPr id="56" name="직선 연결선 55"/>
            <p:cNvCxnSpPr/>
            <p:nvPr/>
          </p:nvCxnSpPr>
          <p:spPr>
            <a:xfrm>
              <a:off x="347398" y="250961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/>
            <p:cNvSpPr/>
            <p:nvPr/>
          </p:nvSpPr>
          <p:spPr>
            <a:xfrm>
              <a:off x="1844076" y="2214887"/>
              <a:ext cx="1400262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결재 </a:t>
              </a:r>
              <a:r>
                <a:rPr lang="en-US" altLang="ko-KR" sz="900" kern="0" dirty="0"/>
                <a:t>7</a:t>
              </a:r>
              <a:r>
                <a:rPr lang="ko-KR" altLang="en-US" sz="900" kern="0" dirty="0"/>
                <a:t>단계</a:t>
              </a:r>
              <a:endParaRPr lang="en-US" altLang="ko-KR" sz="900" kern="0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2885" y="2265911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결재선단계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335265" y="2773260"/>
            <a:ext cx="2909073" cy="340448"/>
            <a:chOff x="342885" y="2214887"/>
            <a:chExt cx="2909073" cy="340448"/>
          </a:xfrm>
        </p:grpSpPr>
        <p:cxnSp>
          <p:nvCxnSpPr>
            <p:cNvPr id="60" name="직선 연결선 59"/>
            <p:cNvCxnSpPr/>
            <p:nvPr/>
          </p:nvCxnSpPr>
          <p:spPr>
            <a:xfrm>
              <a:off x="347398" y="255533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/>
            <p:cNvSpPr/>
            <p:nvPr/>
          </p:nvSpPr>
          <p:spPr>
            <a:xfrm>
              <a:off x="1844076" y="2214887"/>
              <a:ext cx="1400262" cy="273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있음</a:t>
              </a:r>
              <a:endParaRPr lang="en-US" altLang="ko-KR" sz="900" kern="0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42885" y="2265911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승인자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275207" y="3183529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1000" b="1" kern="0" dirty="0" err="1" smtClean="0"/>
              <a:t>결재구성원</a:t>
            </a:r>
            <a:endParaRPr lang="en-US" altLang="ko-KR" sz="1000" b="1" kern="0" dirty="0"/>
          </a:p>
        </p:txBody>
      </p:sp>
      <p:sp>
        <p:nvSpPr>
          <p:cNvPr id="66" name="직사각형 65"/>
          <p:cNvSpPr/>
          <p:nvPr/>
        </p:nvSpPr>
        <p:spPr>
          <a:xfrm>
            <a:off x="1208698" y="5995782"/>
            <a:ext cx="2217016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다음</a:t>
            </a:r>
            <a:endParaRPr lang="ko-KR" altLang="en-US" sz="1000" b="1" dirty="0"/>
          </a:p>
        </p:txBody>
      </p:sp>
      <p:sp>
        <p:nvSpPr>
          <p:cNvPr id="68" name="직사각형 67"/>
          <p:cNvSpPr/>
          <p:nvPr/>
        </p:nvSpPr>
        <p:spPr>
          <a:xfrm>
            <a:off x="191511" y="6012180"/>
            <a:ext cx="1020069" cy="375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84" name="직선 연결선 83"/>
          <p:cNvCxnSpPr/>
          <p:nvPr/>
        </p:nvCxnSpPr>
        <p:spPr>
          <a:xfrm>
            <a:off x="339778" y="3113708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28325"/>
              </p:ext>
            </p:extLst>
          </p:nvPr>
        </p:nvGraphicFramePr>
        <p:xfrm>
          <a:off x="9822663" y="557186"/>
          <a:ext cx="2195166" cy="3425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6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구성을 저장한 후 결재선 구성을 확인하는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기본정보 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수직결재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수평결재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확인자가</a:t>
                      </a:r>
                      <a:r>
                        <a:rPr lang="ko-KR" altLang="en-US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한명이라도 있으면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ko-KR" altLang="en-US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결재로 표시</a:t>
                      </a:r>
                      <a:endParaRPr lang="en-US" altLang="ko-KR" sz="700" strike="sngStrik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결재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%n% 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단계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있음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없음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단계표시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승인자가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있는 경우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마지막단계명은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40079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소속된 사용자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Ex1)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김부산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(ID123456)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Ex2) ID123457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85576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취소를 선택하는 경우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3138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다음을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선택하면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인증을 한 후 결재선 등록 완료 페이지로 이동함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653684"/>
                  </a:ext>
                </a:extLst>
              </a:tr>
            </a:tbl>
          </a:graphicData>
        </a:graphic>
      </p:graphicFrame>
      <p:grpSp>
        <p:nvGrpSpPr>
          <p:cNvPr id="74" name="그룹 73"/>
          <p:cNvGrpSpPr/>
          <p:nvPr/>
        </p:nvGrpSpPr>
        <p:grpSpPr>
          <a:xfrm>
            <a:off x="91503" y="1700847"/>
            <a:ext cx="367408" cy="230832"/>
            <a:chOff x="4809970" y="3090156"/>
            <a:chExt cx="367408" cy="230832"/>
          </a:xfrm>
        </p:grpSpPr>
        <p:sp>
          <p:nvSpPr>
            <p:cNvPr id="7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01887" y="2047206"/>
            <a:ext cx="367408" cy="230832"/>
            <a:chOff x="4809970" y="3090156"/>
            <a:chExt cx="367408" cy="230832"/>
          </a:xfrm>
        </p:grpSpPr>
        <p:sp>
          <p:nvSpPr>
            <p:cNvPr id="7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83883" y="2424662"/>
            <a:ext cx="367408" cy="230832"/>
            <a:chOff x="4809970" y="3090156"/>
            <a:chExt cx="367408" cy="230832"/>
          </a:xfrm>
        </p:grpSpPr>
        <p:sp>
          <p:nvSpPr>
            <p:cNvPr id="8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83883" y="2770172"/>
            <a:ext cx="367408" cy="230832"/>
            <a:chOff x="4809970" y="3090156"/>
            <a:chExt cx="367408" cy="230832"/>
          </a:xfrm>
        </p:grpSpPr>
        <p:sp>
          <p:nvSpPr>
            <p:cNvPr id="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137679" y="1416612"/>
            <a:ext cx="251992" cy="230832"/>
            <a:chOff x="4867678" y="3090156"/>
            <a:chExt cx="251992" cy="230832"/>
          </a:xfrm>
        </p:grpSpPr>
        <p:sp>
          <p:nvSpPr>
            <p:cNvPr id="8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128395" y="5949883"/>
            <a:ext cx="251992" cy="230832"/>
            <a:chOff x="4867678" y="3090156"/>
            <a:chExt cx="251992" cy="230832"/>
          </a:xfrm>
        </p:grpSpPr>
        <p:sp>
          <p:nvSpPr>
            <p:cNvPr id="1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248065" y="5936957"/>
            <a:ext cx="251992" cy="230832"/>
            <a:chOff x="4867678" y="3090156"/>
            <a:chExt cx="251992" cy="230832"/>
          </a:xfrm>
        </p:grpSpPr>
        <p:sp>
          <p:nvSpPr>
            <p:cNvPr id="11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수정</a:t>
            </a:r>
            <a:endParaRPr lang="en-US" altLang="ko-KR" sz="800" kern="0" dirty="0"/>
          </a:p>
        </p:txBody>
      </p:sp>
      <p:grpSp>
        <p:nvGrpSpPr>
          <p:cNvPr id="117" name="그룹 116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18" name="직사각형 11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2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22" name="그림 1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sp>
        <p:nvSpPr>
          <p:cNvPr id="123" name="직사각형 122"/>
          <p:cNvSpPr/>
          <p:nvPr/>
        </p:nvSpPr>
        <p:spPr>
          <a:xfrm>
            <a:off x="3966965" y="5476091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전자서명 진행</a:t>
            </a:r>
            <a:endParaRPr lang="ko-KR" altLang="en-US"/>
          </a:p>
        </p:txBody>
      </p:sp>
      <p:graphicFrame>
        <p:nvGraphicFramePr>
          <p:cNvPr id="90" name="표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1" name="직사각형 90"/>
          <p:cNvSpPr/>
          <p:nvPr/>
        </p:nvSpPr>
        <p:spPr>
          <a:xfrm>
            <a:off x="360064" y="2181112"/>
            <a:ext cx="2876654" cy="219882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223499"/>
              </p:ext>
            </p:extLst>
          </p:nvPr>
        </p:nvGraphicFramePr>
        <p:xfrm>
          <a:off x="348291" y="3509554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93" name="직선 연결선 92"/>
          <p:cNvCxnSpPr/>
          <p:nvPr/>
        </p:nvCxnSpPr>
        <p:spPr>
          <a:xfrm flipV="1">
            <a:off x="1326390" y="4089202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1313619" y="5144859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313619" y="489103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1313619" y="464609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313619" y="438944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304426" y="3787483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1306354" y="393654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313619" y="414450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304425" y="3557406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91511" y="3112088"/>
            <a:ext cx="251992" cy="230832"/>
            <a:chOff x="4867678" y="3090156"/>
            <a:chExt cx="251992" cy="230832"/>
          </a:xfrm>
        </p:grpSpPr>
        <p:sp>
          <p:nvSpPr>
            <p:cNvPr id="1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1380708" y="4002916"/>
            <a:ext cx="367408" cy="230832"/>
            <a:chOff x="4809970" y="3090156"/>
            <a:chExt cx="367408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128395" y="3464869"/>
            <a:ext cx="367408" cy="230832"/>
            <a:chOff x="4809970" y="3090156"/>
            <a:chExt cx="367408" cy="230832"/>
          </a:xfrm>
        </p:grpSpPr>
        <p:sp>
          <p:nvSpPr>
            <p:cNvPr id="13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356655" y="513921"/>
            <a:ext cx="2773274" cy="2920941"/>
            <a:chOff x="4535050" y="819597"/>
            <a:chExt cx="1560950" cy="3458200"/>
          </a:xfrm>
        </p:grpSpPr>
        <p:sp>
          <p:nvSpPr>
            <p:cNvPr id="101" name="직사각형 10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4544263" y="1021158"/>
              <a:ext cx="1026024" cy="325663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04" name="직사각형 10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1" name="그룹 140"/>
          <p:cNvGrpSpPr/>
          <p:nvPr/>
        </p:nvGrpSpPr>
        <p:grpSpPr>
          <a:xfrm>
            <a:off x="335265" y="5842036"/>
            <a:ext cx="2773274" cy="673694"/>
            <a:chOff x="4535050" y="819597"/>
            <a:chExt cx="1560950" cy="797609"/>
          </a:xfrm>
        </p:grpSpPr>
        <p:sp>
          <p:nvSpPr>
            <p:cNvPr id="142" name="직사각형 14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4544262" y="1021159"/>
              <a:ext cx="1405069" cy="496625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45" name="직사각형 14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6" name="직사각형 145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53" name="그룹 152"/>
          <p:cNvGrpSpPr/>
          <p:nvPr/>
        </p:nvGrpSpPr>
        <p:grpSpPr>
          <a:xfrm>
            <a:off x="3559632" y="1178642"/>
            <a:ext cx="2540461" cy="1461711"/>
            <a:chOff x="7999781" y="4616810"/>
            <a:chExt cx="3118251" cy="1794155"/>
          </a:xfrm>
        </p:grpSpPr>
        <p:sp>
          <p:nvSpPr>
            <p:cNvPr id="154" name="직사각형 153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5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아니오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8447150" y="5090475"/>
              <a:ext cx="2472268" cy="623329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등록을 취소하시겠습니까</a:t>
              </a:r>
              <a:r>
                <a:rPr lang="en-US" altLang="ko-KR" sz="900" dirty="0"/>
                <a:t>?</a:t>
              </a:r>
            </a:p>
            <a:p>
              <a:pPr algn="ctr"/>
              <a:r>
                <a:rPr lang="ko-KR" altLang="en-US" sz="900" dirty="0" err="1" smtClean="0"/>
                <a:t>취소시</a:t>
              </a:r>
              <a:r>
                <a:rPr lang="ko-KR" altLang="en-US" sz="900" dirty="0"/>
                <a:t> </a:t>
              </a:r>
              <a:r>
                <a:rPr lang="ko-KR" altLang="en-US" sz="900" dirty="0" smtClean="0"/>
                <a:t>설정이 초기화되고</a:t>
              </a:r>
              <a:endParaRPr lang="en-US" altLang="ko-KR" sz="900" dirty="0" smtClean="0"/>
            </a:p>
            <a:p>
              <a:pPr algn="ctr"/>
              <a:r>
                <a:rPr lang="ko-KR" altLang="en-US" sz="900" dirty="0" smtClean="0"/>
                <a:t>결재선</a:t>
              </a:r>
              <a:r>
                <a:rPr lang="en-US" altLang="ko-KR" sz="900" dirty="0"/>
                <a:t> </a:t>
              </a:r>
              <a:r>
                <a:rPr lang="ko-KR" altLang="en-US" sz="900" dirty="0" smtClean="0"/>
                <a:t>목록으로 </a:t>
              </a:r>
              <a:r>
                <a:rPr lang="ko-KR" altLang="en-US" sz="900" dirty="0"/>
                <a:t>이동합니다</a:t>
              </a:r>
              <a:r>
                <a:rPr lang="en-US" altLang="ko-KR" sz="900" dirty="0"/>
                <a:t>.</a:t>
              </a:r>
            </a:p>
          </p:txBody>
        </p:sp>
        <p:grpSp>
          <p:nvGrpSpPr>
            <p:cNvPr id="159" name="그룹 158"/>
            <p:cNvGrpSpPr/>
            <p:nvPr/>
          </p:nvGrpSpPr>
          <p:grpSpPr>
            <a:xfrm>
              <a:off x="7999781" y="4616810"/>
              <a:ext cx="450969" cy="283331"/>
              <a:chOff x="4768191" y="3063907"/>
              <a:chExt cx="450969" cy="283331"/>
            </a:xfrm>
          </p:grpSpPr>
          <p:sp>
            <p:nvSpPr>
              <p:cNvPr id="160" name="Teardrop 1"/>
              <p:cNvSpPr/>
              <p:nvPr/>
            </p:nvSpPr>
            <p:spPr>
              <a:xfrm rot="16200000" flipH="1" flipV="1">
                <a:off x="4880157" y="3092062"/>
                <a:ext cx="216000" cy="216000"/>
              </a:xfrm>
              <a:prstGeom prst="teardrop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800" b="1" dirty="0"/>
              </a:p>
            </p:txBody>
          </p:sp>
          <p:sp>
            <p:nvSpPr>
              <p:cNvPr id="161" name="Rectangle 4"/>
              <p:cNvSpPr/>
              <p:nvPr/>
            </p:nvSpPr>
            <p:spPr>
              <a:xfrm>
                <a:off x="4768191" y="3063907"/>
                <a:ext cx="450969" cy="28333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/>
                <a:r>
                  <a:rPr lang="en-US" altLang="ko-KR" sz="900" b="1" dirty="0" smtClean="0">
                    <a:solidFill>
                      <a:prstClr val="white"/>
                    </a:solidFill>
                    <a:latin typeface="+mn-ea"/>
                  </a:rPr>
                  <a:t>3-1</a:t>
                </a:r>
                <a:endParaRPr lang="ko-KR" altLang="en-US" sz="900" b="1" dirty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</p:grpSp>
      <p:sp>
        <p:nvSpPr>
          <p:cNvPr id="162" name="TextBox 161"/>
          <p:cNvSpPr txBox="1"/>
          <p:nvPr/>
        </p:nvSpPr>
        <p:spPr>
          <a:xfrm>
            <a:off x="3704428" y="2770172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3704428" y="1105608"/>
            <a:ext cx="2773274" cy="1732466"/>
            <a:chOff x="4535050" y="819597"/>
            <a:chExt cx="1560950" cy="2051125"/>
          </a:xfrm>
        </p:grpSpPr>
        <p:sp>
          <p:nvSpPr>
            <p:cNvPr id="164" name="직사각형 16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544262" y="1021158"/>
              <a:ext cx="1386896" cy="184956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6" name="그룹 16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67" name="직사각형 166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" name="직사각형 167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91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등록수정</a:t>
            </a:r>
            <a:endParaRPr lang="ko-KR" altLang="en-US" sz="8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187618" y="552086"/>
            <a:ext cx="3235214" cy="398482"/>
            <a:chOff x="7321393" y="1839307"/>
            <a:chExt cx="3240000" cy="398482"/>
          </a:xfrm>
        </p:grpSpPr>
        <p:sp>
          <p:nvSpPr>
            <p:cNvPr id="85" name="직사각형 84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482713" y="1912726"/>
              <a:ext cx="73193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>
                  <a:solidFill>
                    <a:prstClr val="black"/>
                  </a:solidFill>
                  <a:ea typeface="맑은 고딕"/>
                </a:rPr>
                <a:t>결재선 관리</a:t>
              </a:r>
            </a:p>
          </p:txBody>
        </p:sp>
      </p:grpSp>
      <p:sp>
        <p:nvSpPr>
          <p:cNvPr id="99" name="직사각형 98"/>
          <p:cNvSpPr/>
          <p:nvPr/>
        </p:nvSpPr>
        <p:spPr>
          <a:xfrm>
            <a:off x="197778" y="5995782"/>
            <a:ext cx="3241382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확인</a:t>
            </a:r>
            <a:endParaRPr lang="ko-KR" altLang="en-US" sz="1000" b="1" dirty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169074"/>
              </p:ext>
            </p:extLst>
          </p:nvPr>
        </p:nvGraphicFramePr>
        <p:xfrm>
          <a:off x="9822663" y="557185"/>
          <a:ext cx="2195166" cy="2063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완료 페이지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확인을 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터치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하면 결재선 목록으로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33" name="그룹 32"/>
          <p:cNvGrpSpPr/>
          <p:nvPr/>
        </p:nvGrpSpPr>
        <p:grpSpPr>
          <a:xfrm>
            <a:off x="90006" y="5884068"/>
            <a:ext cx="251992" cy="230832"/>
            <a:chOff x="4867678" y="3090156"/>
            <a:chExt cx="251992" cy="230832"/>
          </a:xfrm>
        </p:grpSpPr>
        <p:sp>
          <p:nvSpPr>
            <p:cNvPr id="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결재선삭제</a:t>
            </a:r>
            <a:endParaRPr lang="en-US" altLang="ko-KR" sz="800" kern="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1275762" y="1425594"/>
            <a:ext cx="868512" cy="807267"/>
            <a:chOff x="3433905" y="4984546"/>
            <a:chExt cx="396044" cy="396044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>
            <a:xfrm>
              <a:off x="3433905" y="4984546"/>
              <a:ext cx="396044" cy="3960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" rIns="0" bIns="32400" rtlCol="0" anchor="ctr"/>
            <a:lstStyle/>
            <a:p>
              <a:pPr algn="ctr" latinLnBrk="0"/>
              <a:r>
                <a:rPr lang="en-US" altLang="ko-KR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SVG</a:t>
              </a:r>
              <a:endParaRPr lang="ko-KR" altLang="en-US" sz="700" dirty="0">
                <a:solidFill>
                  <a:srgbClr val="2626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28" name="직선 연결선 27"/>
            <p:cNvCxnSpPr>
              <a:cxnSpLocks noChangeAspect="1"/>
              <a:stCxn id="27" idx="1"/>
              <a:endCxn id="27" idx="5"/>
            </p:cNvCxnSpPr>
            <p:nvPr/>
          </p:nvCxnSpPr>
          <p:spPr>
            <a:xfrm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cxnSpLocks noChangeAspect="1"/>
              <a:stCxn id="27" idx="7"/>
              <a:endCxn id="27" idx="3"/>
            </p:cNvCxnSpPr>
            <p:nvPr/>
          </p:nvCxnSpPr>
          <p:spPr>
            <a:xfrm flipH="1"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99963" y="2668456"/>
            <a:ext cx="3239197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</a:rPr>
              <a:t>결재선</a:t>
            </a:r>
            <a:endParaRPr lang="en-US" altLang="ko-KR" sz="1200" b="1" dirty="0" smtClean="0">
              <a:latin typeface="+mn-ea"/>
            </a:endParaRPr>
          </a:p>
          <a:p>
            <a:pPr algn="ctr"/>
            <a:r>
              <a:rPr lang="ko-KR" altLang="en-US" sz="1200" b="1" dirty="0" smtClean="0">
                <a:latin typeface="+mn-ea"/>
              </a:rPr>
              <a:t>등록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완료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3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20" name="그룹 19"/>
          <p:cNvGrpSpPr/>
          <p:nvPr/>
        </p:nvGrpSpPr>
        <p:grpSpPr>
          <a:xfrm>
            <a:off x="577655" y="2342669"/>
            <a:ext cx="2773274" cy="1380468"/>
            <a:chOff x="4535050" y="819597"/>
            <a:chExt cx="1560950" cy="1634383"/>
          </a:xfrm>
        </p:grpSpPr>
        <p:sp>
          <p:nvSpPr>
            <p:cNvPr id="22" name="직사각형 2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023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2.2. MB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결재선수정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77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844344"/>
              </p:ext>
            </p:extLst>
          </p:nvPr>
        </p:nvGraphicFramePr>
        <p:xfrm>
          <a:off x="9816801" y="552207"/>
          <a:ext cx="2195166" cy="3536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조건 입력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일반키패드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결재선형태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결재자지정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해당결재선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삭제가능시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3-2) 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닫기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처리를 위해 전자서명 처리 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결재선구성완료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3-4)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결재진행중인 결재선 삭제 선택 시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5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5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결재대상업무를 태그형식으로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77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수정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0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5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3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2735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2091785"/>
            <a:ext cx="3064717" cy="855964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239867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en-US" altLang="ko-KR" sz="1050" b="1" kern="0" dirty="0" smtClean="0"/>
              <a:t>%</a:t>
            </a:r>
            <a:r>
              <a:rPr lang="ko-KR" altLang="en-US" sz="1050" b="1" kern="0" dirty="0" err="1" smtClean="0"/>
              <a:t>결재선명</a:t>
            </a:r>
            <a:r>
              <a:rPr lang="en-US" altLang="ko-KR" sz="1050" b="1" kern="0" dirty="0" smtClean="0"/>
              <a:t>%</a:t>
            </a:r>
            <a:endParaRPr lang="en-US" altLang="ko-KR" sz="900" b="1" kern="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9" name="직사각형 148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500097" y="2176340"/>
            <a:ext cx="51717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결재선형태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303727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33787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외환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555615" y="2720798"/>
            <a:ext cx="682831" cy="13593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r>
              <a:rPr lang="ko-KR" altLang="en-US" sz="600" b="1" dirty="0" smtClean="0">
                <a:solidFill>
                  <a:schemeClr val="accent6">
                    <a:lumMod val="50000"/>
                  </a:schemeClr>
                </a:solidFill>
              </a:rPr>
              <a:t>결재대상업무</a:t>
            </a:r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endParaRPr lang="ko-KR" altLang="en-US" sz="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6561" y="369833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5120" y="369833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8352" y="369833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1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4053856"/>
            <a:ext cx="3064717" cy="93433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438682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자산헷지</a:t>
            </a:r>
            <a:r>
              <a:rPr lang="ko-KR" altLang="en-US" sz="1050" b="1" kern="0" dirty="0"/>
              <a:t> 및 투자 결재선</a:t>
            </a:r>
            <a:endParaRPr lang="en-US" altLang="ko-KR" sz="900" b="1" kern="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546561" y="4694831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펀드</a:t>
            </a: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935120" y="4694831"/>
            <a:ext cx="523641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자금관리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4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7" name="Freeform 11"/>
          <p:cNvSpPr>
            <a:spLocks noChangeAspect="1" noChangeArrowheads="1"/>
          </p:cNvSpPr>
          <p:nvPr/>
        </p:nvSpPr>
        <p:spPr bwMode="auto">
          <a:xfrm>
            <a:off x="3165743" y="2199940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054743" y="218098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결재단계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823" y="310767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4743" y="311232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555616" y="413540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058536" y="414005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5192" y="311775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73761" y="5055999"/>
            <a:ext cx="3064717" cy="109765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57112" y="535387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기본 결재선</a:t>
            </a:r>
            <a:endParaRPr lang="en-US" altLang="ko-KR" sz="900" b="1" kern="0" dirty="0"/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512777" y="5690902"/>
            <a:ext cx="255085" cy="13670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이체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844162" y="5690902"/>
            <a:ext cx="443661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예금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신탁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545280" y="513754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수직결재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1048200" y="514219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1364123" y="5690170"/>
            <a:ext cx="52161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#B2B/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전자결제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1962039" y="5685749"/>
            <a:ext cx="277700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대출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316039" y="5691620"/>
            <a:ext cx="301970" cy="12890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외환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2694309" y="5685749"/>
            <a:ext cx="46986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공과금납부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모서리가 둥근 직사각형 253"/>
          <p:cNvSpPr/>
          <p:nvPr/>
        </p:nvSpPr>
        <p:spPr>
          <a:xfrm>
            <a:off x="512777" y="5935424"/>
            <a:ext cx="255085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카드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32820" y="5935424"/>
            <a:ext cx="263288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펀드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7" name="모서리가 둥근 직사각형 256"/>
          <p:cNvSpPr/>
          <p:nvPr/>
        </p:nvSpPr>
        <p:spPr>
          <a:xfrm>
            <a:off x="1155650" y="5935984"/>
            <a:ext cx="423378" cy="12924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자금관리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1638572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웹펌뱅킹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9606" y="314850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0" name="Freeform 11"/>
          <p:cNvSpPr>
            <a:spLocks noChangeAspect="1" noChangeArrowheads="1"/>
          </p:cNvSpPr>
          <p:nvPr/>
        </p:nvSpPr>
        <p:spPr bwMode="auto">
          <a:xfrm>
            <a:off x="3147518" y="4191598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" name="Freeform 11"/>
          <p:cNvSpPr>
            <a:spLocks noChangeAspect="1" noChangeArrowheads="1"/>
          </p:cNvSpPr>
          <p:nvPr/>
        </p:nvSpPr>
        <p:spPr bwMode="auto">
          <a:xfrm>
            <a:off x="3147518" y="5156944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1555191" y="2180986"/>
            <a:ext cx="55496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승인여부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3" name="그룹 262"/>
          <p:cNvGrpSpPr/>
          <p:nvPr/>
        </p:nvGrpSpPr>
        <p:grpSpPr>
          <a:xfrm>
            <a:off x="244920" y="1976903"/>
            <a:ext cx="367408" cy="230832"/>
            <a:chOff x="4809970" y="3090156"/>
            <a:chExt cx="367408" cy="230832"/>
          </a:xfrm>
        </p:grpSpPr>
        <p:sp>
          <p:nvSpPr>
            <p:cNvPr id="2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6" name="그룹 265"/>
          <p:cNvGrpSpPr/>
          <p:nvPr/>
        </p:nvGrpSpPr>
        <p:grpSpPr>
          <a:xfrm>
            <a:off x="871039" y="1981498"/>
            <a:ext cx="367408" cy="230832"/>
            <a:chOff x="4809970" y="3090156"/>
            <a:chExt cx="367408" cy="230832"/>
          </a:xfrm>
        </p:grpSpPr>
        <p:sp>
          <p:nvSpPr>
            <p:cNvPr id="26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9" name="그룹 268"/>
          <p:cNvGrpSpPr/>
          <p:nvPr/>
        </p:nvGrpSpPr>
        <p:grpSpPr>
          <a:xfrm>
            <a:off x="1462482" y="1983403"/>
            <a:ext cx="367408" cy="230832"/>
            <a:chOff x="4809970" y="3090156"/>
            <a:chExt cx="367408" cy="230832"/>
          </a:xfrm>
        </p:grpSpPr>
        <p:sp>
          <p:nvSpPr>
            <p:cNvPr id="2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2" name="그룹 271"/>
          <p:cNvGrpSpPr/>
          <p:nvPr/>
        </p:nvGrpSpPr>
        <p:grpSpPr>
          <a:xfrm>
            <a:off x="2889990" y="2031428"/>
            <a:ext cx="251992" cy="230832"/>
            <a:chOff x="4867678" y="3090156"/>
            <a:chExt cx="251992" cy="230832"/>
          </a:xfrm>
        </p:grpSpPr>
        <p:sp>
          <p:nvSpPr>
            <p:cNvPr id="2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5" name="그룹 274"/>
          <p:cNvGrpSpPr/>
          <p:nvPr/>
        </p:nvGrpSpPr>
        <p:grpSpPr>
          <a:xfrm>
            <a:off x="305279" y="2308130"/>
            <a:ext cx="251992" cy="230832"/>
            <a:chOff x="4867678" y="3090156"/>
            <a:chExt cx="251992" cy="230832"/>
          </a:xfrm>
        </p:grpSpPr>
        <p:sp>
          <p:nvSpPr>
            <p:cNvPr id="2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310796" y="2610916"/>
            <a:ext cx="251992" cy="230832"/>
            <a:chOff x="4867678" y="3090156"/>
            <a:chExt cx="251992" cy="230832"/>
          </a:xfrm>
        </p:grpSpPr>
        <p:sp>
          <p:nvSpPr>
            <p:cNvPr id="2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81" name="모서리가 둥근 직사각형 280"/>
          <p:cNvSpPr/>
          <p:nvPr/>
        </p:nvSpPr>
        <p:spPr>
          <a:xfrm>
            <a:off x="2164875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신고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2692593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기업서비스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2753553" y="341019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2753553" y="2430113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2753553" y="441826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2692593" y="538531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7" name="그룹 286"/>
          <p:cNvGrpSpPr/>
          <p:nvPr/>
        </p:nvGrpSpPr>
        <p:grpSpPr>
          <a:xfrm>
            <a:off x="2566597" y="2311963"/>
            <a:ext cx="251992" cy="230832"/>
            <a:chOff x="4867678" y="3090156"/>
            <a:chExt cx="251992" cy="230832"/>
          </a:xfrm>
        </p:grpSpPr>
        <p:sp>
          <p:nvSpPr>
            <p:cNvPr id="28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0" name="직사각형 289"/>
          <p:cNvSpPr/>
          <p:nvPr/>
        </p:nvSpPr>
        <p:spPr>
          <a:xfrm>
            <a:off x="245979" y="5062499"/>
            <a:ext cx="3119470" cy="108290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/>
          <p:cNvSpPr/>
          <p:nvPr/>
        </p:nvSpPr>
        <p:spPr>
          <a:xfrm>
            <a:off x="1595421" y="5407269"/>
            <a:ext cx="420585" cy="42058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 smtClean="0"/>
              <a:t>Click</a:t>
            </a:r>
            <a:endParaRPr lang="ko-KR" altLang="en-US" sz="1000" b="1" dirty="0"/>
          </a:p>
        </p:txBody>
      </p:sp>
      <p:grpSp>
        <p:nvGrpSpPr>
          <p:cNvPr id="292" name="그룹 291"/>
          <p:cNvGrpSpPr/>
          <p:nvPr/>
        </p:nvGrpSpPr>
        <p:grpSpPr>
          <a:xfrm>
            <a:off x="1469425" y="5312462"/>
            <a:ext cx="251992" cy="230832"/>
            <a:chOff x="4867678" y="3090156"/>
            <a:chExt cx="251992" cy="230832"/>
          </a:xfrm>
        </p:grpSpPr>
        <p:sp>
          <p:nvSpPr>
            <p:cNvPr id="29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>
                <a:latin typeface="+mn-ea"/>
                <a:cs typeface="Calibri" pitchFamily="34" charset="0"/>
              </a:rPr>
              <a:t>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4" name="그룹 323"/>
          <p:cNvGrpSpPr/>
          <p:nvPr/>
        </p:nvGrpSpPr>
        <p:grpSpPr>
          <a:xfrm>
            <a:off x="85482" y="1366607"/>
            <a:ext cx="367408" cy="230832"/>
            <a:chOff x="4809970" y="3090156"/>
            <a:chExt cx="367408" cy="230832"/>
          </a:xfrm>
        </p:grpSpPr>
        <p:sp>
          <p:nvSpPr>
            <p:cNvPr id="32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3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4" name="그림 3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pSp>
        <p:nvGrpSpPr>
          <p:cNvPr id="351" name="그룹 350"/>
          <p:cNvGrpSpPr/>
          <p:nvPr/>
        </p:nvGrpSpPr>
        <p:grpSpPr>
          <a:xfrm>
            <a:off x="3811564" y="783121"/>
            <a:ext cx="2619196" cy="1321415"/>
            <a:chOff x="8238032" y="4789014"/>
            <a:chExt cx="2880000" cy="1621951"/>
          </a:xfrm>
        </p:grpSpPr>
        <p:sp>
          <p:nvSpPr>
            <p:cNvPr id="352" name="직사각형 351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3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4" name="직사각형 353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355" name="직사각형 354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아니요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8357310" y="523286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선택한 </a:t>
              </a:r>
              <a:r>
                <a:rPr lang="ko-KR" altLang="en-US" sz="900" dirty="0" err="1"/>
                <a:t>결재선을</a:t>
              </a:r>
              <a:endParaRPr lang="ko-KR" altLang="en-US" sz="900" dirty="0"/>
            </a:p>
            <a:p>
              <a:pPr algn="ctr"/>
              <a:r>
                <a:rPr lang="ko-KR" altLang="en-US" sz="900" dirty="0"/>
                <a:t>삭제하시겠습니까</a:t>
              </a:r>
              <a:r>
                <a:rPr lang="en-US" altLang="ko-KR" sz="900" dirty="0" smtClean="0"/>
                <a:t>?</a:t>
              </a:r>
              <a:endParaRPr lang="en-US" altLang="ko-KR" sz="900" dirty="0"/>
            </a:p>
          </p:txBody>
        </p:sp>
      </p:grpSp>
      <p:grpSp>
        <p:nvGrpSpPr>
          <p:cNvPr id="357" name="그룹 356"/>
          <p:cNvGrpSpPr/>
          <p:nvPr/>
        </p:nvGrpSpPr>
        <p:grpSpPr>
          <a:xfrm>
            <a:off x="6734057" y="788454"/>
            <a:ext cx="2619196" cy="1321415"/>
            <a:chOff x="8238032" y="4789014"/>
            <a:chExt cx="2880000" cy="1621951"/>
          </a:xfrm>
        </p:grpSpPr>
        <p:sp>
          <p:nvSpPr>
            <p:cNvPr id="358" name="직사각형 357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9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" name="직사각형 359"/>
            <p:cNvSpPr/>
            <p:nvPr/>
          </p:nvSpPr>
          <p:spPr>
            <a:xfrm>
              <a:off x="8271666" y="6122965"/>
              <a:ext cx="2846366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확인</a:t>
              </a:r>
              <a:endParaRPr lang="ko-KR" altLang="en-US" sz="900" dirty="0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8384066" y="522421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결재가 진행중인 </a:t>
              </a:r>
              <a:r>
                <a:rPr lang="ko-KR" altLang="en-US" sz="900" dirty="0" err="1"/>
                <a:t>결재선입니다</a:t>
              </a:r>
              <a:r>
                <a:rPr lang="en-US" altLang="ko-KR" sz="900" dirty="0"/>
                <a:t>.</a:t>
              </a:r>
            </a:p>
            <a:p>
              <a:pPr algn="ctr"/>
              <a:r>
                <a:rPr lang="ko-KR" altLang="en-US" sz="900" dirty="0"/>
                <a:t>결재완료 후 </a:t>
              </a:r>
              <a:r>
                <a:rPr lang="ko-KR" altLang="en-US" sz="900" dirty="0" smtClean="0"/>
                <a:t>삭제 </a:t>
              </a:r>
              <a:r>
                <a:rPr lang="ko-KR" altLang="en-US" sz="900" dirty="0"/>
                <a:t>가능합니다</a:t>
              </a:r>
              <a:r>
                <a:rPr lang="en-US" altLang="ko-KR" sz="900" dirty="0"/>
                <a:t>.</a:t>
              </a: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3807092" y="53291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646760" y="5208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8" name="그룹 397"/>
          <p:cNvGrpSpPr/>
          <p:nvPr/>
        </p:nvGrpSpPr>
        <p:grpSpPr>
          <a:xfrm>
            <a:off x="2801687" y="1366607"/>
            <a:ext cx="367408" cy="230832"/>
            <a:chOff x="4809970" y="3090156"/>
            <a:chExt cx="367408" cy="230832"/>
          </a:xfrm>
        </p:grpSpPr>
        <p:sp>
          <p:nvSpPr>
            <p:cNvPr id="39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1" name="그룹 400"/>
          <p:cNvGrpSpPr/>
          <p:nvPr/>
        </p:nvGrpSpPr>
        <p:grpSpPr>
          <a:xfrm>
            <a:off x="3660024" y="699606"/>
            <a:ext cx="367408" cy="230832"/>
            <a:chOff x="4809970" y="3090156"/>
            <a:chExt cx="367408" cy="230832"/>
          </a:xfrm>
        </p:grpSpPr>
        <p:sp>
          <p:nvSpPr>
            <p:cNvPr id="40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4" name="그룹 403"/>
          <p:cNvGrpSpPr/>
          <p:nvPr/>
        </p:nvGrpSpPr>
        <p:grpSpPr>
          <a:xfrm>
            <a:off x="5914736" y="699606"/>
            <a:ext cx="367408" cy="230832"/>
            <a:chOff x="4809970" y="3090156"/>
            <a:chExt cx="367408" cy="230832"/>
          </a:xfrm>
        </p:grpSpPr>
        <p:sp>
          <p:nvSpPr>
            <p:cNvPr id="40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7" name="그룹 406"/>
          <p:cNvGrpSpPr/>
          <p:nvPr/>
        </p:nvGrpSpPr>
        <p:grpSpPr>
          <a:xfrm>
            <a:off x="3833732" y="1803190"/>
            <a:ext cx="367408" cy="230832"/>
            <a:chOff x="4809970" y="3090156"/>
            <a:chExt cx="367408" cy="230832"/>
          </a:xfrm>
        </p:grpSpPr>
        <p:sp>
          <p:nvSpPr>
            <p:cNvPr id="40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0" name="그룹 409"/>
          <p:cNvGrpSpPr/>
          <p:nvPr/>
        </p:nvGrpSpPr>
        <p:grpSpPr>
          <a:xfrm>
            <a:off x="5135268" y="1803190"/>
            <a:ext cx="367408" cy="230832"/>
            <a:chOff x="4809970" y="3090156"/>
            <a:chExt cx="367408" cy="230832"/>
          </a:xfrm>
        </p:grpSpPr>
        <p:sp>
          <p:nvSpPr>
            <p:cNvPr id="4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6713609" y="720890"/>
            <a:ext cx="367408" cy="230832"/>
            <a:chOff x="4809970" y="3090156"/>
            <a:chExt cx="367408" cy="230832"/>
          </a:xfrm>
        </p:grpSpPr>
        <p:sp>
          <p:nvSpPr>
            <p:cNvPr id="4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6" name="그룹 415"/>
          <p:cNvGrpSpPr/>
          <p:nvPr/>
        </p:nvGrpSpPr>
        <p:grpSpPr>
          <a:xfrm>
            <a:off x="8864782" y="717729"/>
            <a:ext cx="367408" cy="230832"/>
            <a:chOff x="4809970" y="3090156"/>
            <a:chExt cx="367408" cy="230832"/>
          </a:xfrm>
        </p:grpSpPr>
        <p:sp>
          <p:nvSpPr>
            <p:cNvPr id="4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2" name="그룹 421"/>
          <p:cNvGrpSpPr/>
          <p:nvPr/>
        </p:nvGrpSpPr>
        <p:grpSpPr>
          <a:xfrm>
            <a:off x="7106163" y="1791284"/>
            <a:ext cx="367408" cy="230832"/>
            <a:chOff x="4809970" y="3090156"/>
            <a:chExt cx="367408" cy="230832"/>
          </a:xfrm>
        </p:grpSpPr>
        <p:sp>
          <p:nvSpPr>
            <p:cNvPr id="4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426" name="그룹 425"/>
          <p:cNvGrpSpPr/>
          <p:nvPr/>
        </p:nvGrpSpPr>
        <p:grpSpPr>
          <a:xfrm>
            <a:off x="935120" y="6285346"/>
            <a:ext cx="251992" cy="230832"/>
            <a:chOff x="4867678" y="3090156"/>
            <a:chExt cx="251992" cy="230832"/>
          </a:xfrm>
        </p:grpSpPr>
        <p:sp>
          <p:nvSpPr>
            <p:cNvPr id="42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1" name="타원 130"/>
          <p:cNvSpPr/>
          <p:nvPr/>
        </p:nvSpPr>
        <p:spPr>
          <a:xfrm>
            <a:off x="5097454" y="3393878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4228084" y="3698338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err="1" smtClean="0">
                <a:latin typeface="+mn-ea"/>
              </a:rPr>
              <a:t>결재선이</a:t>
            </a:r>
            <a:r>
              <a:rPr lang="ko-KR" altLang="en-US" sz="1000" dirty="0" smtClean="0">
                <a:latin typeface="+mn-ea"/>
              </a:rPr>
              <a:t> 없습니다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pPr algn="ctr"/>
            <a:r>
              <a:rPr lang="ko-KR" altLang="en-US" sz="1000" dirty="0" err="1" smtClean="0">
                <a:latin typeface="+mn-ea"/>
              </a:rPr>
              <a:t>결재선을</a:t>
            </a:r>
            <a:r>
              <a:rPr lang="ko-KR" altLang="en-US" sz="1000" dirty="0" smtClean="0">
                <a:latin typeface="+mn-ea"/>
              </a:rPr>
              <a:t> 등록해주세요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4720893" y="3310480"/>
            <a:ext cx="251992" cy="230832"/>
            <a:chOff x="4867678" y="3090156"/>
            <a:chExt cx="251992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36" name="직사각형 135"/>
          <p:cNvSpPr/>
          <p:nvPr/>
        </p:nvSpPr>
        <p:spPr>
          <a:xfrm>
            <a:off x="4083438" y="3191315"/>
            <a:ext cx="2136184" cy="109358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7" name="표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8" name="직사각형 137"/>
          <p:cNvSpPr/>
          <p:nvPr/>
        </p:nvSpPr>
        <p:spPr>
          <a:xfrm>
            <a:off x="376468" y="2174661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39" name="직사각형 138"/>
          <p:cNvSpPr/>
          <p:nvPr/>
        </p:nvSpPr>
        <p:spPr>
          <a:xfrm>
            <a:off x="387647" y="3090961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0" name="직사각형 139"/>
          <p:cNvSpPr/>
          <p:nvPr/>
        </p:nvSpPr>
        <p:spPr>
          <a:xfrm>
            <a:off x="362463" y="4140696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23513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/>
          </p:nvPr>
        </p:nvGraphicFramePr>
        <p:xfrm>
          <a:off x="9816801" y="552207"/>
          <a:ext cx="2195166" cy="153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입력 후 터치 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결과내에서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재검색을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빈칸으로 조회 시 전체 내역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검색조건 텍스트 색상 변경하여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입력된 검색조건에 따른 결과값이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299" y="210986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6650" y="245134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>
                <a:solidFill>
                  <a:srgbClr val="FF0000"/>
                </a:solidFill>
              </a:rPr>
              <a:t>외환</a:t>
            </a:r>
            <a:r>
              <a:rPr lang="ko-KR" altLang="en-US" sz="1050" b="1" kern="0" dirty="0" smtClean="0"/>
              <a:t>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5763" y="277092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4322" y="277092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7554" y="277092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1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025" y="21802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3945" y="218491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4394" y="219034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승인자지정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8808" y="222109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3" name="직사각형 282"/>
          <p:cNvSpPr/>
          <p:nvPr/>
        </p:nvSpPr>
        <p:spPr>
          <a:xfrm>
            <a:off x="2752755" y="248278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외환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/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0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311" name="개체 3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185714" y="552207"/>
            <a:ext cx="3240000" cy="398482"/>
            <a:chOff x="185714" y="552207"/>
            <a:chExt cx="3240000" cy="398482"/>
          </a:xfrm>
        </p:grpSpPr>
        <p:grpSp>
          <p:nvGrpSpPr>
            <p:cNvPr id="148" name="그룹 147"/>
            <p:cNvGrpSpPr/>
            <p:nvPr/>
          </p:nvGrpSpPr>
          <p:grpSpPr>
            <a:xfrm>
              <a:off x="185714" y="552207"/>
              <a:ext cx="3240000" cy="398482"/>
              <a:chOff x="7321393" y="1839307"/>
              <a:chExt cx="3240000" cy="398482"/>
            </a:xfrm>
          </p:grpSpPr>
          <p:sp>
            <p:nvSpPr>
              <p:cNvPr id="149" name="직사각형 148"/>
              <p:cNvSpPr/>
              <p:nvPr/>
            </p:nvSpPr>
            <p:spPr>
              <a:xfrm>
                <a:off x="7321393" y="1839307"/>
                <a:ext cx="3240000" cy="39848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50" name="Freeform 11"/>
              <p:cNvSpPr>
                <a:spLocks noChangeArrowheads="1"/>
              </p:cNvSpPr>
              <p:nvPr/>
            </p:nvSpPr>
            <p:spPr bwMode="auto">
              <a:xfrm>
                <a:off x="7403266" y="1971915"/>
                <a:ext cx="144000" cy="144000"/>
              </a:xfrm>
              <a:custGeom>
                <a:avLst/>
                <a:gdLst>
                  <a:gd name="T0" fmla="*/ 611 w 612"/>
                  <a:gd name="T1" fmla="*/ 272 h 619"/>
                  <a:gd name="T2" fmla="*/ 140 w 612"/>
                  <a:gd name="T3" fmla="*/ 272 h 619"/>
                  <a:gd name="T4" fmla="*/ 361 w 612"/>
                  <a:gd name="T5" fmla="*/ 52 h 619"/>
                  <a:gd name="T6" fmla="*/ 302 w 612"/>
                  <a:gd name="T7" fmla="*/ 0 h 619"/>
                  <a:gd name="T8" fmla="*/ 0 w 612"/>
                  <a:gd name="T9" fmla="*/ 309 h 619"/>
                  <a:gd name="T10" fmla="*/ 302 w 612"/>
                  <a:gd name="T11" fmla="*/ 618 h 619"/>
                  <a:gd name="T12" fmla="*/ 361 w 612"/>
                  <a:gd name="T13" fmla="*/ 559 h 619"/>
                  <a:gd name="T14" fmla="*/ 140 w 612"/>
                  <a:gd name="T15" fmla="*/ 346 h 619"/>
                  <a:gd name="T16" fmla="*/ 611 w 612"/>
                  <a:gd name="T17" fmla="*/ 346 h 619"/>
                  <a:gd name="T18" fmla="*/ 611 w 612"/>
                  <a:gd name="T19" fmla="*/ 27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2" h="619">
                    <a:moveTo>
                      <a:pt x="611" y="272"/>
                    </a:moveTo>
                    <a:lnTo>
                      <a:pt x="140" y="272"/>
                    </a:lnTo>
                    <a:lnTo>
                      <a:pt x="361" y="52"/>
                    </a:lnTo>
                    <a:lnTo>
                      <a:pt x="302" y="0"/>
                    </a:lnTo>
                    <a:lnTo>
                      <a:pt x="0" y="309"/>
                    </a:lnTo>
                    <a:lnTo>
                      <a:pt x="302" y="618"/>
                    </a:lnTo>
                    <a:lnTo>
                      <a:pt x="361" y="559"/>
                    </a:lnTo>
                    <a:lnTo>
                      <a:pt x="140" y="346"/>
                    </a:lnTo>
                    <a:lnTo>
                      <a:pt x="611" y="346"/>
                    </a:lnTo>
                    <a:lnTo>
                      <a:pt x="611" y="272"/>
                    </a:ln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612445" y="1912726"/>
                <a:ext cx="701474" cy="26161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r>
                  <a:rPr lang="ko-KR" altLang="en-US" sz="1100" b="1" spc="-150" dirty="0" err="1" smtClean="0">
                    <a:solidFill>
                      <a:prstClr val="black"/>
                    </a:solidFill>
                    <a:ea typeface="맑은 고딕"/>
                  </a:rPr>
                  <a:t>결재선관리</a:t>
                </a:r>
                <a:endParaRPr lang="ko-KR" altLang="en-US" sz="1100" b="1" spc="-150" dirty="0">
                  <a:solidFill>
                    <a:prstClr val="black"/>
                  </a:solidFill>
                  <a:ea typeface="맑은 고딕"/>
                </a:endParaRPr>
              </a:p>
            </p:txBody>
          </p:sp>
        </p:grpSp>
        <p:sp>
          <p:nvSpPr>
            <p:cNvPr id="333" name="Freeform 24"/>
            <p:cNvSpPr>
              <a:spLocks noChangeArrowheads="1"/>
            </p:cNvSpPr>
            <p:nvPr/>
          </p:nvSpPr>
          <p:spPr bwMode="auto">
            <a:xfrm>
              <a:off x="3134929" y="644007"/>
              <a:ext cx="216000" cy="216000"/>
            </a:xfrm>
            <a:custGeom>
              <a:avLst/>
              <a:gdLst>
                <a:gd name="T0" fmla="*/ 0 w 461"/>
                <a:gd name="T1" fmla="*/ 303 h 304"/>
                <a:gd name="T2" fmla="*/ 460 w 461"/>
                <a:gd name="T3" fmla="*/ 303 h 304"/>
                <a:gd name="T4" fmla="*/ 460 w 461"/>
                <a:gd name="T5" fmla="*/ 254 h 304"/>
                <a:gd name="T6" fmla="*/ 0 w 461"/>
                <a:gd name="T7" fmla="*/ 254 h 304"/>
                <a:gd name="T8" fmla="*/ 0 w 461"/>
                <a:gd name="T9" fmla="*/ 303 h 304"/>
                <a:gd name="T10" fmla="*/ 0 w 461"/>
                <a:gd name="T11" fmla="*/ 176 h 304"/>
                <a:gd name="T12" fmla="*/ 460 w 461"/>
                <a:gd name="T13" fmla="*/ 176 h 304"/>
                <a:gd name="T14" fmla="*/ 460 w 461"/>
                <a:gd name="T15" fmla="*/ 127 h 304"/>
                <a:gd name="T16" fmla="*/ 0 w 461"/>
                <a:gd name="T17" fmla="*/ 127 h 304"/>
                <a:gd name="T18" fmla="*/ 0 w 461"/>
                <a:gd name="T19" fmla="*/ 176 h 304"/>
                <a:gd name="T20" fmla="*/ 0 w 461"/>
                <a:gd name="T21" fmla="*/ 0 h 304"/>
                <a:gd name="T22" fmla="*/ 0 w 461"/>
                <a:gd name="T23" fmla="*/ 49 h 304"/>
                <a:gd name="T24" fmla="*/ 460 w 461"/>
                <a:gd name="T25" fmla="*/ 49 h 304"/>
                <a:gd name="T26" fmla="*/ 460 w 461"/>
                <a:gd name="T27" fmla="*/ 0 h 304"/>
                <a:gd name="T28" fmla="*/ 0 w 461"/>
                <a:gd name="T2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1" h="304">
                  <a:moveTo>
                    <a:pt x="0" y="303"/>
                  </a:moveTo>
                  <a:lnTo>
                    <a:pt x="460" y="303"/>
                  </a:lnTo>
                  <a:lnTo>
                    <a:pt x="460" y="254"/>
                  </a:lnTo>
                  <a:lnTo>
                    <a:pt x="0" y="254"/>
                  </a:lnTo>
                  <a:lnTo>
                    <a:pt x="0" y="303"/>
                  </a:lnTo>
                  <a:close/>
                  <a:moveTo>
                    <a:pt x="0" y="176"/>
                  </a:moveTo>
                  <a:lnTo>
                    <a:pt x="460" y="176"/>
                  </a:lnTo>
                  <a:lnTo>
                    <a:pt x="460" y="127"/>
                  </a:lnTo>
                  <a:lnTo>
                    <a:pt x="0" y="127"/>
                  </a:lnTo>
                  <a:lnTo>
                    <a:pt x="0" y="176"/>
                  </a:lnTo>
                  <a:close/>
                  <a:moveTo>
                    <a:pt x="0" y="0"/>
                  </a:moveTo>
                  <a:lnTo>
                    <a:pt x="0" y="49"/>
                  </a:lnTo>
                  <a:lnTo>
                    <a:pt x="460" y="49"/>
                  </a:lnTo>
                  <a:lnTo>
                    <a:pt x="4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34" name="그림 33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822" y="644007"/>
              <a:ext cx="216000" cy="216000"/>
            </a:xfrm>
            <a:prstGeom prst="rect">
              <a:avLst/>
            </a:prstGeom>
          </p:spPr>
        </p:pic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4298094" y="555682"/>
            <a:ext cx="3240000" cy="398482"/>
            <a:chOff x="7321393" y="1839307"/>
            <a:chExt cx="3240000" cy="398482"/>
          </a:xfrm>
        </p:grpSpPr>
        <p:sp>
          <p:nvSpPr>
            <p:cNvPr id="132" name="직사각형 131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4452097" y="1019932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387706" y="1817969"/>
            <a:ext cx="15023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0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427487" y="1415579"/>
            <a:ext cx="3039047" cy="330118"/>
            <a:chOff x="5804087" y="4215557"/>
            <a:chExt cx="3024000" cy="288696"/>
          </a:xfrm>
        </p:grpSpPr>
        <p:sp>
          <p:nvSpPr>
            <p:cNvPr id="153" name="직사각형 1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직사각형 154"/>
          <p:cNvSpPr/>
          <p:nvPr/>
        </p:nvSpPr>
        <p:spPr>
          <a:xfrm>
            <a:off x="4427487" y="1480965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smtClean="0">
                <a:latin typeface="+mn-ea"/>
                <a:cs typeface="Calibri" pitchFamily="34" charset="0"/>
              </a:rPr>
              <a:t>빠른이체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6" name="개체 155"/>
          <p:cNvGraphicFramePr>
            <a:graphicFrameLocks noChangeAspect="1"/>
          </p:cNvGraphicFramePr>
          <p:nvPr>
            <p:extLst/>
          </p:nvPr>
        </p:nvGraphicFramePr>
        <p:xfrm>
          <a:off x="7181844" y="1473455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1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156" name="개체 15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1844" y="1473455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Freeform 24"/>
          <p:cNvSpPr>
            <a:spLocks noChangeArrowheads="1"/>
          </p:cNvSpPr>
          <p:nvPr/>
        </p:nvSpPr>
        <p:spPr bwMode="auto">
          <a:xfrm>
            <a:off x="7247309" y="647482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58" name="그림 15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02" y="647482"/>
            <a:ext cx="216000" cy="216000"/>
          </a:xfrm>
          <a:prstGeom prst="rect">
            <a:avLst/>
          </a:prstGeom>
        </p:spPr>
      </p:pic>
      <p:sp>
        <p:nvSpPr>
          <p:cNvPr id="159" name="타원 158"/>
          <p:cNvSpPr/>
          <p:nvPr/>
        </p:nvSpPr>
        <p:spPr>
          <a:xfrm>
            <a:off x="5720170" y="2605143"/>
            <a:ext cx="216000" cy="216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850800" y="2909603"/>
            <a:ext cx="1954741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ko-KR" altLang="en-US" sz="1000" dirty="0" smtClean="0">
                <a:latin typeface="+mn-ea"/>
              </a:rPr>
              <a:t>검색결과가</a:t>
            </a:r>
            <a:endParaRPr lang="en-US" altLang="ko-KR" sz="1000" dirty="0" smtClean="0">
              <a:latin typeface="+mn-ea"/>
            </a:endParaRPr>
          </a:p>
          <a:p>
            <a:pPr algn="ctr"/>
            <a:r>
              <a:rPr lang="ko-KR" altLang="en-US" sz="1000" dirty="0" smtClean="0">
                <a:latin typeface="+mn-ea"/>
              </a:rPr>
              <a:t>없습니다</a:t>
            </a:r>
            <a:r>
              <a:rPr lang="en-US" altLang="ko-KR" sz="1000" dirty="0" smtClean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2817472" y="1319127"/>
            <a:ext cx="251992" cy="230832"/>
            <a:chOff x="4867678" y="3090156"/>
            <a:chExt cx="251992" cy="230832"/>
          </a:xfrm>
        </p:grpSpPr>
        <p:sp>
          <p:nvSpPr>
            <p:cNvPr id="1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2" name="그룹 171"/>
          <p:cNvGrpSpPr/>
          <p:nvPr/>
        </p:nvGrpSpPr>
        <p:grpSpPr>
          <a:xfrm>
            <a:off x="315107" y="2374311"/>
            <a:ext cx="251992" cy="230832"/>
            <a:chOff x="4867678" y="3090156"/>
            <a:chExt cx="251992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5343609" y="2521745"/>
            <a:ext cx="251992" cy="230832"/>
            <a:chOff x="4867678" y="3090156"/>
            <a:chExt cx="251992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383147" y="2149261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051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sp>
        <p:nvSpPr>
          <p:cNvPr id="112" name="직사각형 111"/>
          <p:cNvSpPr/>
          <p:nvPr/>
        </p:nvSpPr>
        <p:spPr>
          <a:xfrm>
            <a:off x="172268" y="6049907"/>
            <a:ext cx="3251652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다음</a:t>
            </a:r>
            <a:endParaRPr lang="ko-KR" altLang="en-US" sz="1000" b="1" dirty="0"/>
          </a:p>
        </p:txBody>
      </p:sp>
      <p:sp>
        <p:nvSpPr>
          <p:cNvPr id="42" name="직사각형 41"/>
          <p:cNvSpPr/>
          <p:nvPr/>
        </p:nvSpPr>
        <p:spPr>
          <a:xfrm>
            <a:off x="411587" y="1599496"/>
            <a:ext cx="235800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결재선명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364634" y="1907634"/>
            <a:ext cx="2082938" cy="330118"/>
            <a:chOff x="5804087" y="4215557"/>
            <a:chExt cx="3024000" cy="288696"/>
          </a:xfrm>
        </p:grpSpPr>
        <p:sp>
          <p:nvSpPr>
            <p:cNvPr id="44" name="직사각형 43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이체수정테스트</a:t>
              </a:r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/>
          <p:cNvSpPr/>
          <p:nvPr/>
        </p:nvSpPr>
        <p:spPr>
          <a:xfrm>
            <a:off x="2462854" y="1907634"/>
            <a:ext cx="791546" cy="33011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중복확인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64634" y="2646778"/>
            <a:ext cx="235800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결재선대상업무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70633" y="2930665"/>
            <a:ext cx="1352466" cy="328001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이체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37399" y="2930665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신탁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72358" y="3354745"/>
            <a:ext cx="1352466" cy="3280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B2B/</a:t>
            </a:r>
            <a:r>
              <a:rPr lang="ko-KR" altLang="en-US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전자결재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839124" y="3354745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361598" y="3776146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외환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828364" y="3776146"/>
            <a:ext cx="1423000" cy="3280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공과금납부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361598" y="4204981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카드 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828364" y="4204981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펀드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56517" y="4672834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자금관리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1823283" y="4672834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웹펌뱅킹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56517" y="5101669"/>
            <a:ext cx="1352466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신고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해지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1823283" y="5101669"/>
            <a:ext cx="1423000" cy="32800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기업서비스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62201" y="1756820"/>
            <a:ext cx="251992" cy="230832"/>
            <a:chOff x="4867678" y="3090156"/>
            <a:chExt cx="251992" cy="230832"/>
          </a:xfrm>
        </p:grpSpPr>
        <p:sp>
          <p:nvSpPr>
            <p:cNvPr id="6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59789" y="2768657"/>
            <a:ext cx="251992" cy="230832"/>
            <a:chOff x="4867678" y="3090156"/>
            <a:chExt cx="251992" cy="230832"/>
          </a:xfrm>
        </p:grpSpPr>
        <p:sp>
          <p:nvSpPr>
            <p:cNvPr id="6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6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86686"/>
              </p:ext>
            </p:extLst>
          </p:nvPr>
        </p:nvGraphicFramePr>
        <p:xfrm>
          <a:off x="9822663" y="557185"/>
          <a:ext cx="2195166" cy="3543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기본정보를 입력하는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수정으로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진입시에는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기존에 입력한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결재선명과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결재선대상업무를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선택해놓는다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82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일반키패드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수정으로 진입 시에는 기존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변경하지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않는한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중복조회를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하지 않아도 되며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 시에는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변경하였다가 원래의 결재선명으로 변경하면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중복조회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하지 않아도 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결재선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대상 업무 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온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오프 버튼으로 구성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(Check</a:t>
                      </a:r>
                      <a:r>
                        <a:rPr lang="en-US" altLang="ko-KR" sz="700" baseline="0" dirty="0">
                          <a:latin typeface="+mn-ea"/>
                          <a:ea typeface="+mn-ea"/>
                        </a:rPr>
                        <a:t> box </a:t>
                      </a:r>
                      <a:r>
                        <a:rPr lang="ko-KR" altLang="en-US" sz="700" baseline="0" dirty="0">
                          <a:latin typeface="+mn-ea"/>
                          <a:ea typeface="+mn-ea"/>
                        </a:rPr>
                        <a:t>타입으로 중복 선택 가능</a:t>
                      </a:r>
                      <a:r>
                        <a:rPr lang="en-US" altLang="ko-KR" sz="70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aseline="0" dirty="0">
                          <a:latin typeface="+mn-ea"/>
                          <a:ea typeface="+mn-ea"/>
                        </a:rPr>
                        <a:t>디폴트는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원래의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대상업무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Valodation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체크 후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입력값을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저장한후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팝업을 닫고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구성 페이지로 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85" name="그룹 84"/>
          <p:cNvGrpSpPr/>
          <p:nvPr/>
        </p:nvGrpSpPr>
        <p:grpSpPr>
          <a:xfrm>
            <a:off x="122384" y="5835935"/>
            <a:ext cx="251992" cy="230832"/>
            <a:chOff x="4867678" y="3090156"/>
            <a:chExt cx="251992" cy="230832"/>
          </a:xfrm>
        </p:grpSpPr>
        <p:sp>
          <p:nvSpPr>
            <p:cNvPr id="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96" name="TextBox 95"/>
          <p:cNvSpPr txBox="1"/>
          <p:nvPr/>
        </p:nvSpPr>
        <p:spPr>
          <a:xfrm>
            <a:off x="361598" y="1066498"/>
            <a:ext cx="1644040" cy="461665"/>
          </a:xfrm>
          <a:prstGeom prst="rect">
            <a:avLst/>
          </a:prstGeom>
          <a:solidFill>
            <a:schemeClr val="bg1"/>
          </a:solidFill>
        </p:spPr>
        <p:txBody>
          <a:bodyPr wrap="none" lIns="0" rtlCol="0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ea typeface="맑은 고딕"/>
              </a:rPr>
              <a:t>등록할 결재선 기본설정을</a:t>
            </a:r>
          </a:p>
          <a:p>
            <a:r>
              <a:rPr lang="ko-KR" altLang="en-US" sz="1200" b="1" spc="-150" dirty="0">
                <a:solidFill>
                  <a:prstClr val="black"/>
                </a:solidFill>
                <a:ea typeface="맑은 고딕"/>
              </a:rPr>
              <a:t>입력해주세요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34963" y="2297158"/>
            <a:ext cx="2878969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결재선명을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 후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중복확인을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실행해주세요</a:t>
            </a:r>
            <a:r>
              <a:rPr lang="en-US" altLang="ko-KR" sz="9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34962" y="5451394"/>
            <a:ext cx="2878969" cy="5078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900" b="1" spc="-150" dirty="0" smtClean="0">
                <a:latin typeface="맑은 고딕" panose="020B0503020000020004" pitchFamily="50" charset="-127"/>
              </a:rPr>
              <a:t>안내사항</a:t>
            </a:r>
            <a:endParaRPr lang="en-US" altLang="ko-KR" sz="900" b="1" spc="-150" dirty="0" smtClean="0">
              <a:latin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 smtClean="0">
                <a:latin typeface="맑은 고딕" panose="020B0503020000020004" pitchFamily="50" charset="-127"/>
              </a:rPr>
              <a:t>결재선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업무범위는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1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개이상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 지정되어야 합니다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.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업무범위는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복수 선택이 가능합니다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6" name="그룹 45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68" name="직사각형 6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7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74" name="그룹 73"/>
          <p:cNvGrpSpPr/>
          <p:nvPr/>
        </p:nvGrpSpPr>
        <p:grpSpPr>
          <a:xfrm>
            <a:off x="242863" y="405078"/>
            <a:ext cx="2773274" cy="1123085"/>
            <a:chOff x="4535050" y="819597"/>
            <a:chExt cx="1560950" cy="1329659"/>
          </a:xfrm>
        </p:grpSpPr>
        <p:sp>
          <p:nvSpPr>
            <p:cNvPr id="75" name="직사각형 7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4544262" y="1021159"/>
              <a:ext cx="980681" cy="1128097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77" name="그룹 7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78" name="직사각형 7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80" name="그룹 79"/>
          <p:cNvGrpSpPr/>
          <p:nvPr/>
        </p:nvGrpSpPr>
        <p:grpSpPr>
          <a:xfrm>
            <a:off x="298340" y="2122646"/>
            <a:ext cx="2773274" cy="717337"/>
            <a:chOff x="4535050" y="819597"/>
            <a:chExt cx="1560950" cy="849279"/>
          </a:xfrm>
        </p:grpSpPr>
        <p:sp>
          <p:nvSpPr>
            <p:cNvPr id="81" name="직사각형 8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4544262" y="1021159"/>
              <a:ext cx="1417607" cy="647717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83" name="그룹 8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84" name="직사각형 8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298340" y="5332570"/>
            <a:ext cx="2773274" cy="673694"/>
            <a:chOff x="4535050" y="819597"/>
            <a:chExt cx="1560950" cy="797609"/>
          </a:xfrm>
        </p:grpSpPr>
        <p:sp>
          <p:nvSpPr>
            <p:cNvPr id="90" name="직사각형 89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4544262" y="1021159"/>
              <a:ext cx="1275194" cy="20554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93" name="직사각형 92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직사각형 93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14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결재선기본설정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sp>
          <p:nvSpPr>
            <p:cNvPr id="80" name="직사각형 79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결재선명을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입력해주세요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7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입력하지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않았을경우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sp>
          <p:nvSpPr>
            <p:cNvPr id="101" name="직사각형 100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결재선명을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중복 조회해주세요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0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결재선명을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중복조회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하지 않았을 경우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570336" y="1450476"/>
            <a:ext cx="2950120" cy="1490703"/>
            <a:chOff x="201575" y="3100646"/>
            <a:chExt cx="2950120" cy="1490703"/>
          </a:xfrm>
        </p:grpSpPr>
        <p:grpSp>
          <p:nvGrpSpPr>
            <p:cNvPr id="25" name="그룹 24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결재선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대상업무를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선택해주세요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99879"/>
                <a:ext cx="2950119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26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488828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결재선대상업무 미</a:t>
            </a:r>
            <a:r>
              <a:rPr lang="en-US" altLang="ko-KR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선택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8876" y="342183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</a:t>
            </a:r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결재선명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은 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사용가능 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3336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-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사용가능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Freeform 11"/>
          <p:cNvSpPr>
            <a:spLocks noChangeArrowheads="1"/>
          </p:cNvSpPr>
          <p:nvPr/>
        </p:nvSpPr>
        <p:spPr bwMode="auto">
          <a:xfrm>
            <a:off x="3164752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직사각형 62"/>
          <p:cNvSpPr/>
          <p:nvPr/>
        </p:nvSpPr>
        <p:spPr>
          <a:xfrm>
            <a:off x="3969231" y="342183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</a:t>
            </a:r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결재선명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%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은 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사용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중 입니다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843691" y="3130658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결재선중복조회 결과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사용 중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7" name="Freeform 11"/>
          <p:cNvSpPr>
            <a:spLocks noChangeArrowheads="1"/>
          </p:cNvSpPr>
          <p:nvPr/>
        </p:nvSpPr>
        <p:spPr bwMode="auto">
          <a:xfrm>
            <a:off x="6715107" y="348192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3975347" y="52699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다음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69231" y="2650682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69231" y="4615260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18875" y="4608025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80357" y="2642781"/>
            <a:ext cx="2950119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519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200595" y="1767334"/>
            <a:ext cx="3225119" cy="4602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TextBox 231"/>
          <p:cNvSpPr txBox="1"/>
          <p:nvPr/>
        </p:nvSpPr>
        <p:spPr>
          <a:xfrm>
            <a:off x="352753" y="1114525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3772930" y="1884214"/>
            <a:ext cx="0" cy="412042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84379" y="1516901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직사각형 346"/>
          <p:cNvSpPr/>
          <p:nvPr/>
        </p:nvSpPr>
        <p:spPr>
          <a:xfrm>
            <a:off x="187784" y="2920151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/>
          <p:cNvSpPr txBox="1"/>
          <p:nvPr/>
        </p:nvSpPr>
        <p:spPr>
          <a:xfrm>
            <a:off x="336412" y="2994677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2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39" name="모서리가 둥근 직사각형 438"/>
          <p:cNvSpPr/>
          <p:nvPr/>
        </p:nvSpPr>
        <p:spPr>
          <a:xfrm>
            <a:off x="2529731" y="1159599"/>
            <a:ext cx="83701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기본설정변경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19" name="표 518"/>
          <p:cNvGraphicFramePr>
            <a:graphicFrameLocks noGrp="1"/>
          </p:cNvGraphicFramePr>
          <p:nvPr>
            <p:extLst/>
          </p:nvPr>
        </p:nvGraphicFramePr>
        <p:xfrm>
          <a:off x="9822663" y="475905"/>
          <a:ext cx="2195166" cy="6264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신규등록으로 진입한 경우에는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단계만 표시한다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99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명을 표시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기본설정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버튼을 클릭하면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결재선 기본설정</a:t>
                      </a:r>
                      <a:r>
                        <a:rPr lang="en-US" altLang="ko-KR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변경</a:t>
                      </a:r>
                      <a:r>
                        <a:rPr lang="en-US" altLang="ko-KR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)’ </a:t>
                      </a:r>
                      <a:r>
                        <a:rPr lang="ko-KR" altLang="en-US" sz="7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페이지로 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사용 여부를 체크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마지막단계를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표시함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마지막단계를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승인으로 변경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불러오기 버튼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신규 등록에서만 노출되는 버튼으로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결재선불러오기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13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단계가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단계에 추가됨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단계명은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“2”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생성되도록 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단계까지 가능하며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단계가 되면 버튼은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등록된 구성원 전체를 삭제 </a:t>
                      </a:r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 삭제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가안단계와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마지막단계를 제외한 결재단계에만 버튼 제공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dirty="0" err="1" smtClean="0">
                          <a:latin typeface="+mn-ea"/>
                          <a:ea typeface="+mn-ea"/>
                        </a:rPr>
                        <a:t>결재권한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기안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결재와 확인을 버튼형으로 하여 변경할 수 있도록 처리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   ex)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버튼형 또는 스위치형으로 디자인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="0" baseline="0" dirty="0" err="1" smtClean="0"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latin typeface="+mn-ea"/>
                          <a:ea typeface="+mn-ea"/>
                        </a:rPr>
                        <a:t>승인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별도의 </a:t>
                      </a:r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없이 구성원 삭제 처리</a:t>
                      </a:r>
                    </a:p>
                    <a:p>
                      <a:pPr latinLnBrk="1"/>
                      <a:r>
                        <a:rPr lang="en-US" altLang="ko-KR" sz="700" b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dirty="0" smtClean="0">
                          <a:latin typeface="+mn-ea"/>
                          <a:ea typeface="+mn-ea"/>
                        </a:rPr>
                        <a:t>토스트메시지로 처리</a:t>
                      </a:r>
                      <a:endParaRPr lang="en-US" altLang="ko-KR" sz="700" b="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사용자가 사용하는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43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위한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사용자검색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구성원이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명인 경우 버튼을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히든처리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3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 화면으로 이동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결재선등록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취소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5771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Validation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체크한 후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결재선입력확인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화면으로 이동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63116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520" name="그룹 519"/>
          <p:cNvGrpSpPr/>
          <p:nvPr/>
        </p:nvGrpSpPr>
        <p:grpSpPr>
          <a:xfrm>
            <a:off x="97452" y="962384"/>
            <a:ext cx="251992" cy="230832"/>
            <a:chOff x="4867678" y="3090156"/>
            <a:chExt cx="251992" cy="230832"/>
          </a:xfrm>
        </p:grpSpPr>
        <p:sp>
          <p:nvSpPr>
            <p:cNvPr id="5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2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523" name="그룹 522"/>
          <p:cNvGrpSpPr/>
          <p:nvPr/>
        </p:nvGrpSpPr>
        <p:grpSpPr>
          <a:xfrm>
            <a:off x="2384429" y="1018999"/>
            <a:ext cx="367408" cy="230832"/>
            <a:chOff x="4809970" y="3090156"/>
            <a:chExt cx="367408" cy="230832"/>
          </a:xfrm>
        </p:grpSpPr>
        <p:sp>
          <p:nvSpPr>
            <p:cNvPr id="52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52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530" name="모서리가 둥근 직사각형 529"/>
          <p:cNvSpPr/>
          <p:nvPr/>
        </p:nvSpPr>
        <p:spPr>
          <a:xfrm>
            <a:off x="2472686" y="1564260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8761" y="1563475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634893" y="1591222"/>
            <a:ext cx="396000" cy="171048"/>
            <a:chOff x="5960994" y="6443081"/>
            <a:chExt cx="396000" cy="180000"/>
          </a:xfrm>
        </p:grpSpPr>
        <p:sp>
          <p:nvSpPr>
            <p:cNvPr id="544" name="모서리가 둥근 직사각형 543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545" name="타원 544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546" name="직사각형 545"/>
          <p:cNvSpPr/>
          <p:nvPr/>
        </p:nvSpPr>
        <p:spPr>
          <a:xfrm>
            <a:off x="3539015" y="2743556"/>
            <a:ext cx="478899" cy="142981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맑은 고딕" pitchFamily="50" charset="-127"/>
              </a:rPr>
              <a:t>스크롤영역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2397153" y="3022650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012849" y="1557939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" name="직사각형 2"/>
          <p:cNvSpPr/>
          <p:nvPr/>
        </p:nvSpPr>
        <p:spPr>
          <a:xfrm>
            <a:off x="267587" y="2036833"/>
            <a:ext cx="3082144" cy="571364"/>
          </a:xfrm>
          <a:prstGeom prst="rect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/>
          <p:cNvSpPr txBox="1"/>
          <p:nvPr/>
        </p:nvSpPr>
        <p:spPr>
          <a:xfrm>
            <a:off x="1416319" y="2324107"/>
            <a:ext cx="86177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결제단계추가</a:t>
            </a:r>
            <a:endParaRPr lang="en-US" altLang="ko-KR" sz="1000" dirty="0" smtClean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83778" y="1869966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+</a:t>
            </a:r>
            <a:endParaRPr lang="ko-KR" altLang="en-US" sz="3200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grpSp>
        <p:nvGrpSpPr>
          <p:cNvPr id="185" name="그룹 184"/>
          <p:cNvGrpSpPr/>
          <p:nvPr/>
        </p:nvGrpSpPr>
        <p:grpSpPr>
          <a:xfrm rot="10800000">
            <a:off x="1658208" y="2684960"/>
            <a:ext cx="154946" cy="123678"/>
            <a:chOff x="6691038" y="2985393"/>
            <a:chExt cx="122504" cy="97782"/>
          </a:xfrm>
        </p:grpSpPr>
        <p:cxnSp>
          <p:nvCxnSpPr>
            <p:cNvPr id="186" name="직선 연결선 185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8" name="직선 연결선 187"/>
          <p:cNvCxnSpPr/>
          <p:nvPr/>
        </p:nvCxnSpPr>
        <p:spPr>
          <a:xfrm>
            <a:off x="628611" y="1825801"/>
            <a:ext cx="3591625" cy="14100"/>
          </a:xfrm>
          <a:prstGeom prst="line">
            <a:avLst/>
          </a:prstGeom>
          <a:ln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그룹 200"/>
          <p:cNvGrpSpPr/>
          <p:nvPr/>
        </p:nvGrpSpPr>
        <p:grpSpPr>
          <a:xfrm>
            <a:off x="280935" y="3260127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02" name="모서리가 둥근 직사각형 20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6" name="직선 연결선 20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타원 20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8" name="직사각형 207"/>
          <p:cNvSpPr/>
          <p:nvPr/>
        </p:nvSpPr>
        <p:spPr>
          <a:xfrm>
            <a:off x="576594" y="4018641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09" name="타원 208"/>
          <p:cNvSpPr/>
          <p:nvPr/>
        </p:nvSpPr>
        <p:spPr>
          <a:xfrm>
            <a:off x="1187465" y="3305107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268124" y="3545859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937228" y="3490352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2923211" y="3819788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187784" y="4795777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/>
          <p:cNvSpPr txBox="1"/>
          <p:nvPr/>
        </p:nvSpPr>
        <p:spPr>
          <a:xfrm>
            <a:off x="336412" y="4870303"/>
            <a:ext cx="323165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기안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17" name="그룹 216"/>
          <p:cNvGrpSpPr/>
          <p:nvPr/>
        </p:nvGrpSpPr>
        <p:grpSpPr>
          <a:xfrm>
            <a:off x="65604" y="4749975"/>
            <a:ext cx="251992" cy="230832"/>
            <a:chOff x="4867678" y="3090156"/>
            <a:chExt cx="251992" cy="230832"/>
          </a:xfrm>
        </p:grpSpPr>
        <p:sp>
          <p:nvSpPr>
            <p:cNvPr id="21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20" name="모서리가 둥근 직사각형 219"/>
          <p:cNvSpPr/>
          <p:nvPr/>
        </p:nvSpPr>
        <p:spPr>
          <a:xfrm>
            <a:off x="1961086" y="4911281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1" name="그룹 220"/>
          <p:cNvGrpSpPr/>
          <p:nvPr/>
        </p:nvGrpSpPr>
        <p:grpSpPr>
          <a:xfrm rot="10800000">
            <a:off x="1658208" y="4560586"/>
            <a:ext cx="154946" cy="123678"/>
            <a:chOff x="6691038" y="2985393"/>
            <a:chExt cx="122504" cy="97782"/>
          </a:xfrm>
        </p:grpSpPr>
        <p:cxnSp>
          <p:nvCxnSpPr>
            <p:cNvPr id="222" name="직선 연결선 221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/>
          <p:cNvGrpSpPr/>
          <p:nvPr/>
        </p:nvGrpSpPr>
        <p:grpSpPr>
          <a:xfrm>
            <a:off x="354572" y="5163673"/>
            <a:ext cx="1104400" cy="958355"/>
            <a:chOff x="4630176" y="3963919"/>
            <a:chExt cx="1104400" cy="958355"/>
          </a:xfrm>
        </p:grpSpPr>
        <p:sp>
          <p:nvSpPr>
            <p:cNvPr id="225" name="모서리가 둥근 직사각형 22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29" name="직선 연결선 22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타원 22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34" name="그룹 233"/>
          <p:cNvGrpSpPr/>
          <p:nvPr/>
        </p:nvGrpSpPr>
        <p:grpSpPr>
          <a:xfrm>
            <a:off x="1591077" y="5169805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35" name="모서리가 둥근 직사각형 23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rgbClr val="FBE5D6"/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solidFill>
              <a:srgbClr val="FBE5D6"/>
            </a:solidFill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solidFill>
              <a:srgbClr val="FBE5D6"/>
            </a:solidFill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타원 23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2" name="타원 241"/>
          <p:cNvSpPr/>
          <p:nvPr/>
        </p:nvSpPr>
        <p:spPr>
          <a:xfrm>
            <a:off x="2497607" y="5214785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345017" y="543930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1578266" y="545553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5" name="타원 244"/>
          <p:cNvSpPr/>
          <p:nvPr/>
        </p:nvSpPr>
        <p:spPr>
          <a:xfrm>
            <a:off x="2937228" y="5365978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2923211" y="5695414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4" name="직사각형 423"/>
          <p:cNvSpPr/>
          <p:nvPr/>
        </p:nvSpPr>
        <p:spPr>
          <a:xfrm>
            <a:off x="1208697" y="6013094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425" name="직사각형 424"/>
          <p:cNvSpPr/>
          <p:nvPr/>
        </p:nvSpPr>
        <p:spPr>
          <a:xfrm>
            <a:off x="176362" y="6013094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cxnSp>
        <p:nvCxnSpPr>
          <p:cNvPr id="428" name="직선 연결선 427"/>
          <p:cNvCxnSpPr/>
          <p:nvPr/>
        </p:nvCxnSpPr>
        <p:spPr>
          <a:xfrm>
            <a:off x="314161" y="5997591"/>
            <a:ext cx="3591625" cy="14100"/>
          </a:xfrm>
          <a:prstGeom prst="line">
            <a:avLst/>
          </a:prstGeom>
          <a:ln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/>
          <p:cNvSpPr/>
          <p:nvPr/>
        </p:nvSpPr>
        <p:spPr>
          <a:xfrm>
            <a:off x="1886736" y="5928319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74599" y="1480109"/>
            <a:ext cx="251992" cy="230832"/>
            <a:chOff x="4867678" y="3090156"/>
            <a:chExt cx="251992" cy="230832"/>
          </a:xfrm>
        </p:grpSpPr>
        <p:sp>
          <p:nvSpPr>
            <p:cNvPr id="15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4" name="직사각형 153"/>
          <p:cNvSpPr/>
          <p:nvPr/>
        </p:nvSpPr>
        <p:spPr>
          <a:xfrm>
            <a:off x="4814762" y="540954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7103069" y="58831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4869144" y="58752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157" name="그룹 156"/>
          <p:cNvGrpSpPr/>
          <p:nvPr/>
        </p:nvGrpSpPr>
        <p:grpSpPr>
          <a:xfrm>
            <a:off x="5265276" y="615275"/>
            <a:ext cx="396000" cy="171048"/>
            <a:chOff x="5960994" y="6443081"/>
            <a:chExt cx="396000" cy="180000"/>
          </a:xfrm>
        </p:grpSpPr>
        <p:sp>
          <p:nvSpPr>
            <p:cNvPr id="158" name="모서리가 둥근 직사각형 157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159" name="타원 158"/>
            <p:cNvSpPr/>
            <p:nvPr/>
          </p:nvSpPr>
          <p:spPr>
            <a:xfrm>
              <a:off x="5967237" y="6454957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160" name="직사각형 159"/>
          <p:cNvSpPr/>
          <p:nvPr/>
        </p:nvSpPr>
        <p:spPr>
          <a:xfrm>
            <a:off x="5643232" y="581992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164" name="직사각형 163"/>
          <p:cNvSpPr/>
          <p:nvPr/>
        </p:nvSpPr>
        <p:spPr>
          <a:xfrm>
            <a:off x="4811862" y="905278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4960490" y="979804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7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8551785" y="99134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1" name="그룹 170"/>
          <p:cNvGrpSpPr/>
          <p:nvPr/>
        </p:nvGrpSpPr>
        <p:grpSpPr>
          <a:xfrm>
            <a:off x="4978650" y="1273174"/>
            <a:ext cx="1104400" cy="958355"/>
            <a:chOff x="4630176" y="3963919"/>
            <a:chExt cx="1104400" cy="958355"/>
          </a:xfrm>
        </p:grpSpPr>
        <p:sp>
          <p:nvSpPr>
            <p:cNvPr id="172" name="모서리가 둥근 직사각형 17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4696540" y="4017825"/>
              <a:ext cx="376422" cy="1203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5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결재자</a:t>
              </a:r>
            </a:p>
          </p:txBody>
        </p:sp>
        <p:cxnSp>
          <p:nvCxnSpPr>
            <p:cNvPr id="176" name="직선 연결선 17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타원 17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73" name="직사각형 272"/>
          <p:cNvSpPr/>
          <p:nvPr/>
        </p:nvSpPr>
        <p:spPr>
          <a:xfrm>
            <a:off x="4969095" y="1548803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6313125" y="1464449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299108" y="1793885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4814762" y="2619214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7103069" y="266657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4869144" y="266578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300" name="그룹 299"/>
          <p:cNvGrpSpPr/>
          <p:nvPr/>
        </p:nvGrpSpPr>
        <p:grpSpPr>
          <a:xfrm>
            <a:off x="5265276" y="2693535"/>
            <a:ext cx="396000" cy="171048"/>
            <a:chOff x="5960994" y="6443081"/>
            <a:chExt cx="396000" cy="180000"/>
          </a:xfrm>
        </p:grpSpPr>
        <p:sp>
          <p:nvSpPr>
            <p:cNvPr id="301" name="모서리가 둥근 직사각형 300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302" name="타원 301"/>
            <p:cNvSpPr/>
            <p:nvPr/>
          </p:nvSpPr>
          <p:spPr>
            <a:xfrm>
              <a:off x="6162077" y="6444442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303" name="직사각형 302"/>
          <p:cNvSpPr/>
          <p:nvPr/>
        </p:nvSpPr>
        <p:spPr>
          <a:xfrm>
            <a:off x="5643232" y="2660252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04" name="직사각형 303"/>
          <p:cNvSpPr/>
          <p:nvPr/>
        </p:nvSpPr>
        <p:spPr>
          <a:xfrm>
            <a:off x="4811862" y="2978876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/>
          <p:cNvSpPr txBox="1"/>
          <p:nvPr/>
        </p:nvSpPr>
        <p:spPr>
          <a:xfrm>
            <a:off x="4960490" y="3053402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7084143" y="309516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8" name="그룹 307"/>
          <p:cNvGrpSpPr/>
          <p:nvPr/>
        </p:nvGrpSpPr>
        <p:grpSpPr>
          <a:xfrm>
            <a:off x="4978650" y="3346772"/>
            <a:ext cx="1104400" cy="958355"/>
            <a:chOff x="4630176" y="3963919"/>
            <a:chExt cx="1104400" cy="958355"/>
          </a:xfrm>
        </p:grpSpPr>
        <p:sp>
          <p:nvSpPr>
            <p:cNvPr id="309" name="모서리가 둥근 직사각형 308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13" name="직선 연결선 31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타원 31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6" name="직사각형 315"/>
          <p:cNvSpPr/>
          <p:nvPr/>
        </p:nvSpPr>
        <p:spPr>
          <a:xfrm>
            <a:off x="4969095" y="362240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17" name="타원 316"/>
          <p:cNvSpPr/>
          <p:nvPr/>
        </p:nvSpPr>
        <p:spPr>
          <a:xfrm>
            <a:off x="6313125" y="3538047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299108" y="3867483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319" name="그룹 318"/>
          <p:cNvGrpSpPr/>
          <p:nvPr/>
        </p:nvGrpSpPr>
        <p:grpSpPr>
          <a:xfrm>
            <a:off x="4659395" y="437447"/>
            <a:ext cx="367408" cy="230832"/>
            <a:chOff x="4809970" y="3090156"/>
            <a:chExt cx="367408" cy="230832"/>
          </a:xfrm>
        </p:grpSpPr>
        <p:sp>
          <p:nvSpPr>
            <p:cNvPr id="32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2" name="그룹 321"/>
          <p:cNvGrpSpPr/>
          <p:nvPr/>
        </p:nvGrpSpPr>
        <p:grpSpPr>
          <a:xfrm>
            <a:off x="4653878" y="2472029"/>
            <a:ext cx="367408" cy="230832"/>
            <a:chOff x="4809970" y="3090156"/>
            <a:chExt cx="367408" cy="230832"/>
          </a:xfrm>
        </p:grpSpPr>
        <p:sp>
          <p:nvSpPr>
            <p:cNvPr id="3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5" name="그룹 324"/>
          <p:cNvGrpSpPr/>
          <p:nvPr/>
        </p:nvGrpSpPr>
        <p:grpSpPr>
          <a:xfrm>
            <a:off x="2304996" y="1491819"/>
            <a:ext cx="251992" cy="230832"/>
            <a:chOff x="4867678" y="3090156"/>
            <a:chExt cx="251992" cy="230832"/>
          </a:xfrm>
        </p:grpSpPr>
        <p:sp>
          <p:nvSpPr>
            <p:cNvPr id="32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dirty="0"/>
            </a:p>
          </p:txBody>
        </p:sp>
        <p:sp>
          <p:nvSpPr>
            <p:cNvPr id="32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28" name="그룹 327"/>
          <p:cNvGrpSpPr/>
          <p:nvPr/>
        </p:nvGrpSpPr>
        <p:grpSpPr>
          <a:xfrm>
            <a:off x="1409008" y="1966867"/>
            <a:ext cx="251992" cy="230832"/>
            <a:chOff x="4867678" y="3090156"/>
            <a:chExt cx="251992" cy="230832"/>
          </a:xfrm>
        </p:grpSpPr>
        <p:sp>
          <p:nvSpPr>
            <p:cNvPr id="32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3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31" name="그룹 330"/>
          <p:cNvGrpSpPr/>
          <p:nvPr/>
        </p:nvGrpSpPr>
        <p:grpSpPr>
          <a:xfrm>
            <a:off x="2250147" y="2845758"/>
            <a:ext cx="251992" cy="230832"/>
            <a:chOff x="4867678" y="3090156"/>
            <a:chExt cx="251992" cy="230832"/>
          </a:xfrm>
        </p:grpSpPr>
        <p:sp>
          <p:nvSpPr>
            <p:cNvPr id="33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3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4" name="Freeform 11"/>
          <p:cNvSpPr>
            <a:spLocks noChangeArrowheads="1"/>
          </p:cNvSpPr>
          <p:nvPr/>
        </p:nvSpPr>
        <p:spPr bwMode="auto">
          <a:xfrm>
            <a:off x="3176316" y="30401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" name="Freeform 11"/>
          <p:cNvSpPr>
            <a:spLocks noChangeArrowheads="1"/>
          </p:cNvSpPr>
          <p:nvPr/>
        </p:nvSpPr>
        <p:spPr bwMode="auto">
          <a:xfrm>
            <a:off x="7780015" y="1021839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" name="Freeform 11"/>
          <p:cNvSpPr>
            <a:spLocks noChangeArrowheads="1"/>
          </p:cNvSpPr>
          <p:nvPr/>
        </p:nvSpPr>
        <p:spPr bwMode="auto">
          <a:xfrm>
            <a:off x="7780015" y="309681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" name="그룹 337"/>
          <p:cNvGrpSpPr/>
          <p:nvPr/>
        </p:nvGrpSpPr>
        <p:grpSpPr>
          <a:xfrm>
            <a:off x="2969878" y="2900015"/>
            <a:ext cx="251992" cy="230832"/>
            <a:chOff x="4867678" y="3090156"/>
            <a:chExt cx="251992" cy="230832"/>
          </a:xfrm>
        </p:grpSpPr>
        <p:sp>
          <p:nvSpPr>
            <p:cNvPr id="33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4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41" name="그룹 340"/>
          <p:cNvGrpSpPr/>
          <p:nvPr/>
        </p:nvGrpSpPr>
        <p:grpSpPr>
          <a:xfrm>
            <a:off x="85160" y="4310713"/>
            <a:ext cx="3455988" cy="255343"/>
            <a:chOff x="2638132" y="2022105"/>
            <a:chExt cx="3455988" cy="255343"/>
          </a:xfrm>
        </p:grpSpPr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344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343" name="TextBox 342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 smtClean="0">
                <a:solidFill>
                  <a:srgbClr val="C00000"/>
                </a:solidFill>
              </a:endParaRPr>
            </a:p>
          </p:txBody>
        </p:sp>
      </p:grpSp>
      <p:grpSp>
        <p:nvGrpSpPr>
          <p:cNvPr id="348" name="그룹 347"/>
          <p:cNvGrpSpPr/>
          <p:nvPr/>
        </p:nvGrpSpPr>
        <p:grpSpPr>
          <a:xfrm>
            <a:off x="143334" y="4485598"/>
            <a:ext cx="3455988" cy="255343"/>
            <a:chOff x="2638132" y="2022105"/>
            <a:chExt cx="3455988" cy="255343"/>
          </a:xfrm>
        </p:grpSpPr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351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350" name="TextBox 349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 smtClean="0">
                <a:solidFill>
                  <a:srgbClr val="C00000"/>
                </a:solidFill>
              </a:endParaRPr>
            </a:p>
          </p:txBody>
        </p:sp>
      </p:grpSp>
      <p:sp>
        <p:nvSpPr>
          <p:cNvPr id="363" name="직사각형 362"/>
          <p:cNvSpPr/>
          <p:nvPr/>
        </p:nvSpPr>
        <p:spPr>
          <a:xfrm>
            <a:off x="552373" y="3301094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342596" y="330109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65" name="직사각형 364"/>
          <p:cNvSpPr/>
          <p:nvPr/>
        </p:nvSpPr>
        <p:spPr>
          <a:xfrm>
            <a:off x="441853" y="5209943"/>
            <a:ext cx="209748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기안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1690384" y="5209943"/>
            <a:ext cx="209748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기안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5060715" y="3382659"/>
            <a:ext cx="209748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승인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3205804" y="3390301"/>
            <a:ext cx="230832" cy="319318"/>
            <a:chOff x="4878258" y="3045913"/>
            <a:chExt cx="230832" cy="319318"/>
          </a:xfrm>
        </p:grpSpPr>
        <p:sp>
          <p:nvSpPr>
            <p:cNvPr id="37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7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80" name="모서리가 둥근 직사각형 379"/>
          <p:cNvSpPr/>
          <p:nvPr/>
        </p:nvSpPr>
        <p:spPr>
          <a:xfrm>
            <a:off x="330081" y="388522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2" name="모서리가 둥근 직사각형 381"/>
          <p:cNvSpPr/>
          <p:nvPr/>
        </p:nvSpPr>
        <p:spPr>
          <a:xfrm>
            <a:off x="409120" y="580693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3" name="모서리가 둥근 직사각형 382"/>
          <p:cNvSpPr/>
          <p:nvPr/>
        </p:nvSpPr>
        <p:spPr>
          <a:xfrm>
            <a:off x="1651230" y="581730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모서리가 둥근 직사각형 383"/>
          <p:cNvSpPr/>
          <p:nvPr/>
        </p:nvSpPr>
        <p:spPr>
          <a:xfrm>
            <a:off x="5045014" y="3978009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모서리가 둥근 직사각형 384"/>
          <p:cNvSpPr/>
          <p:nvPr/>
        </p:nvSpPr>
        <p:spPr>
          <a:xfrm>
            <a:off x="5045014" y="190739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1E306F9E-713D-471B-104D-5FE44A42CE96}"/>
              </a:ext>
            </a:extLst>
          </p:cNvPr>
          <p:cNvSpPr/>
          <p:nvPr/>
        </p:nvSpPr>
        <p:spPr>
          <a:xfrm>
            <a:off x="4803280" y="5153560"/>
            <a:ext cx="2154587" cy="3114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결재단계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 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구성원을 삭제하였습니다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63963" y="5032325"/>
            <a:ext cx="367408" cy="230832"/>
            <a:chOff x="4809970" y="3090156"/>
            <a:chExt cx="367408" cy="230832"/>
          </a:xfrm>
        </p:grpSpPr>
        <p:sp>
          <p:nvSpPr>
            <p:cNvPr id="39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9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1E306F9E-713D-471B-104D-5FE44A42CE96}"/>
              </a:ext>
            </a:extLst>
          </p:cNvPr>
          <p:cNvSpPr/>
          <p:nvPr/>
        </p:nvSpPr>
        <p:spPr>
          <a:xfrm>
            <a:off x="4808162" y="4666152"/>
            <a:ext cx="2154587" cy="3114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결재단계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를</a:t>
            </a:r>
            <a:r>
              <a:rPr lang="ko-KR" altLang="en-US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삭제하였습니다</a:t>
            </a:r>
            <a:r>
              <a:rPr lang="en-US" altLang="ko-KR" sz="8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68845" y="4544917"/>
            <a:ext cx="367408" cy="230832"/>
            <a:chOff x="4809970" y="3090156"/>
            <a:chExt cx="367408" cy="230832"/>
          </a:xfrm>
        </p:grpSpPr>
        <p:sp>
          <p:nvSpPr>
            <p:cNvPr id="39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9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00" name="사각형 설명선 399"/>
          <p:cNvSpPr/>
          <p:nvPr/>
        </p:nvSpPr>
        <p:spPr>
          <a:xfrm>
            <a:off x="4816478" y="5692088"/>
            <a:ext cx="1080230" cy="656449"/>
          </a:xfrm>
          <a:prstGeom prst="wedgeRectCallout">
            <a:avLst>
              <a:gd name="adj1" fmla="val -49827"/>
              <a:gd name="adj2" fmla="val 29168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1" name="직사각형 400"/>
          <p:cNvSpPr/>
          <p:nvPr/>
        </p:nvSpPr>
        <p:spPr>
          <a:xfrm>
            <a:off x="4805301" y="5728732"/>
            <a:ext cx="10274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보안카드</a:t>
            </a:r>
            <a:endParaRPr lang="en-US" altLang="ko-KR" sz="800" dirty="0" smtClean="0"/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디지털</a:t>
            </a:r>
            <a:r>
              <a:rPr lang="en-US" altLang="ko-KR" sz="800" dirty="0" smtClean="0"/>
              <a:t>OTP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 smtClean="0"/>
              <a:t>미사용</a:t>
            </a:r>
            <a:endParaRPr lang="en-US" altLang="ko-KR" sz="800" dirty="0"/>
          </a:p>
        </p:txBody>
      </p: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4653878" y="5523940"/>
            <a:ext cx="367408" cy="230832"/>
            <a:chOff x="4809970" y="3090156"/>
            <a:chExt cx="367408" cy="230832"/>
          </a:xfrm>
        </p:grpSpPr>
        <p:sp>
          <p:nvSpPr>
            <p:cNvPr id="403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9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05" name="직사각형 404"/>
          <p:cNvSpPr/>
          <p:nvPr/>
        </p:nvSpPr>
        <p:spPr>
          <a:xfrm>
            <a:off x="7281674" y="482784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6" name="직사각형 405"/>
          <p:cNvSpPr/>
          <p:nvPr/>
        </p:nvSpPr>
        <p:spPr>
          <a:xfrm>
            <a:off x="7613063" y="4827841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7947840" y="4827841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8" name="직사각형 407"/>
          <p:cNvSpPr/>
          <p:nvPr/>
        </p:nvSpPr>
        <p:spPr>
          <a:xfrm>
            <a:off x="8279229" y="4822842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267640" y="4653069"/>
            <a:ext cx="1298804" cy="1222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r>
              <a:rPr kumimoji="1" lang="ko-Kore-KR" altLang="en-US" sz="700" dirty="0" smtClean="0">
                <a:solidFill>
                  <a:schemeClr val="bg1"/>
                </a:solidFill>
                <a:ea typeface="맑은 고딕"/>
              </a:rPr>
              <a:t>*</a:t>
            </a:r>
            <a:r>
              <a:rPr kumimoji="1" lang="ko-KR" altLang="en-US" sz="700" smtClean="0">
                <a:solidFill>
                  <a:schemeClr val="bg1"/>
                </a:solidFill>
                <a:ea typeface="맑은 고딕"/>
              </a:rPr>
              <a:t>  상태에 따른 표시</a:t>
            </a:r>
            <a:endParaRPr kumimoji="1" lang="ko-Kore-KR" altLang="en-US" sz="7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013956" y="4490142"/>
            <a:ext cx="367408" cy="230832"/>
            <a:chOff x="4809970" y="3090156"/>
            <a:chExt cx="367408" cy="230832"/>
          </a:xfrm>
        </p:grpSpPr>
        <p:sp>
          <p:nvSpPr>
            <p:cNvPr id="4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185714" y="552207"/>
            <a:ext cx="3240000" cy="398482"/>
            <a:chOff x="185714" y="552207"/>
            <a:chExt cx="3240000" cy="398482"/>
          </a:xfrm>
        </p:grpSpPr>
        <p:grpSp>
          <p:nvGrpSpPr>
            <p:cNvPr id="414" name="그룹 413"/>
            <p:cNvGrpSpPr/>
            <p:nvPr/>
          </p:nvGrpSpPr>
          <p:grpSpPr>
            <a:xfrm>
              <a:off x="185714" y="552207"/>
              <a:ext cx="3240000" cy="398482"/>
              <a:chOff x="7321393" y="1839307"/>
              <a:chExt cx="3240000" cy="398482"/>
            </a:xfrm>
          </p:grpSpPr>
          <p:sp>
            <p:nvSpPr>
              <p:cNvPr id="417" name="직사각형 416"/>
              <p:cNvSpPr/>
              <p:nvPr/>
            </p:nvSpPr>
            <p:spPr>
              <a:xfrm>
                <a:off x="7321393" y="1839307"/>
                <a:ext cx="3240000" cy="39848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418" name="Freeform 11"/>
              <p:cNvSpPr>
                <a:spLocks noChangeArrowheads="1"/>
              </p:cNvSpPr>
              <p:nvPr/>
            </p:nvSpPr>
            <p:spPr bwMode="auto">
              <a:xfrm>
                <a:off x="7403266" y="1971915"/>
                <a:ext cx="144000" cy="144000"/>
              </a:xfrm>
              <a:custGeom>
                <a:avLst/>
                <a:gdLst>
                  <a:gd name="T0" fmla="*/ 611 w 612"/>
                  <a:gd name="T1" fmla="*/ 272 h 619"/>
                  <a:gd name="T2" fmla="*/ 140 w 612"/>
                  <a:gd name="T3" fmla="*/ 272 h 619"/>
                  <a:gd name="T4" fmla="*/ 361 w 612"/>
                  <a:gd name="T5" fmla="*/ 52 h 619"/>
                  <a:gd name="T6" fmla="*/ 302 w 612"/>
                  <a:gd name="T7" fmla="*/ 0 h 619"/>
                  <a:gd name="T8" fmla="*/ 0 w 612"/>
                  <a:gd name="T9" fmla="*/ 309 h 619"/>
                  <a:gd name="T10" fmla="*/ 302 w 612"/>
                  <a:gd name="T11" fmla="*/ 618 h 619"/>
                  <a:gd name="T12" fmla="*/ 361 w 612"/>
                  <a:gd name="T13" fmla="*/ 559 h 619"/>
                  <a:gd name="T14" fmla="*/ 140 w 612"/>
                  <a:gd name="T15" fmla="*/ 346 h 619"/>
                  <a:gd name="T16" fmla="*/ 611 w 612"/>
                  <a:gd name="T17" fmla="*/ 346 h 619"/>
                  <a:gd name="T18" fmla="*/ 611 w 612"/>
                  <a:gd name="T19" fmla="*/ 27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2" h="619">
                    <a:moveTo>
                      <a:pt x="611" y="272"/>
                    </a:moveTo>
                    <a:lnTo>
                      <a:pt x="140" y="272"/>
                    </a:lnTo>
                    <a:lnTo>
                      <a:pt x="361" y="52"/>
                    </a:lnTo>
                    <a:lnTo>
                      <a:pt x="302" y="0"/>
                    </a:lnTo>
                    <a:lnTo>
                      <a:pt x="0" y="309"/>
                    </a:lnTo>
                    <a:lnTo>
                      <a:pt x="302" y="618"/>
                    </a:lnTo>
                    <a:lnTo>
                      <a:pt x="361" y="559"/>
                    </a:lnTo>
                    <a:lnTo>
                      <a:pt x="140" y="346"/>
                    </a:lnTo>
                    <a:lnTo>
                      <a:pt x="611" y="346"/>
                    </a:lnTo>
                    <a:lnTo>
                      <a:pt x="611" y="272"/>
                    </a:ln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9" name="TextBox 418"/>
              <p:cNvSpPr txBox="1"/>
              <p:nvPr/>
            </p:nvSpPr>
            <p:spPr>
              <a:xfrm>
                <a:off x="7612445" y="1912726"/>
                <a:ext cx="701474" cy="261610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r>
                  <a:rPr lang="ko-KR" altLang="en-US" sz="1100" b="1" spc="-150" dirty="0" err="1" smtClean="0">
                    <a:solidFill>
                      <a:prstClr val="black"/>
                    </a:solidFill>
                    <a:ea typeface="맑은 고딕"/>
                  </a:rPr>
                  <a:t>결재선관리</a:t>
                </a:r>
                <a:endParaRPr lang="ko-KR" altLang="en-US" sz="1100" b="1" spc="-150" dirty="0">
                  <a:solidFill>
                    <a:prstClr val="black"/>
                  </a:solidFill>
                  <a:ea typeface="맑은 고딕"/>
                </a:endParaRPr>
              </a:p>
            </p:txBody>
          </p:sp>
        </p:grpSp>
        <p:sp>
          <p:nvSpPr>
            <p:cNvPr id="415" name="Freeform 24"/>
            <p:cNvSpPr>
              <a:spLocks noChangeArrowheads="1"/>
            </p:cNvSpPr>
            <p:nvPr/>
          </p:nvSpPr>
          <p:spPr bwMode="auto">
            <a:xfrm>
              <a:off x="3134929" y="644007"/>
              <a:ext cx="216000" cy="216000"/>
            </a:xfrm>
            <a:custGeom>
              <a:avLst/>
              <a:gdLst>
                <a:gd name="T0" fmla="*/ 0 w 461"/>
                <a:gd name="T1" fmla="*/ 303 h 304"/>
                <a:gd name="T2" fmla="*/ 460 w 461"/>
                <a:gd name="T3" fmla="*/ 303 h 304"/>
                <a:gd name="T4" fmla="*/ 460 w 461"/>
                <a:gd name="T5" fmla="*/ 254 h 304"/>
                <a:gd name="T6" fmla="*/ 0 w 461"/>
                <a:gd name="T7" fmla="*/ 254 h 304"/>
                <a:gd name="T8" fmla="*/ 0 w 461"/>
                <a:gd name="T9" fmla="*/ 303 h 304"/>
                <a:gd name="T10" fmla="*/ 0 w 461"/>
                <a:gd name="T11" fmla="*/ 176 h 304"/>
                <a:gd name="T12" fmla="*/ 460 w 461"/>
                <a:gd name="T13" fmla="*/ 176 h 304"/>
                <a:gd name="T14" fmla="*/ 460 w 461"/>
                <a:gd name="T15" fmla="*/ 127 h 304"/>
                <a:gd name="T16" fmla="*/ 0 w 461"/>
                <a:gd name="T17" fmla="*/ 127 h 304"/>
                <a:gd name="T18" fmla="*/ 0 w 461"/>
                <a:gd name="T19" fmla="*/ 176 h 304"/>
                <a:gd name="T20" fmla="*/ 0 w 461"/>
                <a:gd name="T21" fmla="*/ 0 h 304"/>
                <a:gd name="T22" fmla="*/ 0 w 461"/>
                <a:gd name="T23" fmla="*/ 49 h 304"/>
                <a:gd name="T24" fmla="*/ 460 w 461"/>
                <a:gd name="T25" fmla="*/ 49 h 304"/>
                <a:gd name="T26" fmla="*/ 460 w 461"/>
                <a:gd name="T27" fmla="*/ 0 h 304"/>
                <a:gd name="T28" fmla="*/ 0 w 461"/>
                <a:gd name="T2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1" h="304">
                  <a:moveTo>
                    <a:pt x="0" y="303"/>
                  </a:moveTo>
                  <a:lnTo>
                    <a:pt x="460" y="303"/>
                  </a:lnTo>
                  <a:lnTo>
                    <a:pt x="460" y="254"/>
                  </a:lnTo>
                  <a:lnTo>
                    <a:pt x="0" y="254"/>
                  </a:lnTo>
                  <a:lnTo>
                    <a:pt x="0" y="303"/>
                  </a:lnTo>
                  <a:close/>
                  <a:moveTo>
                    <a:pt x="0" y="176"/>
                  </a:moveTo>
                  <a:lnTo>
                    <a:pt x="460" y="176"/>
                  </a:lnTo>
                  <a:lnTo>
                    <a:pt x="460" y="127"/>
                  </a:lnTo>
                  <a:lnTo>
                    <a:pt x="0" y="127"/>
                  </a:lnTo>
                  <a:lnTo>
                    <a:pt x="0" y="176"/>
                  </a:lnTo>
                  <a:close/>
                  <a:moveTo>
                    <a:pt x="0" y="0"/>
                  </a:moveTo>
                  <a:lnTo>
                    <a:pt x="0" y="49"/>
                  </a:lnTo>
                  <a:lnTo>
                    <a:pt x="460" y="49"/>
                  </a:lnTo>
                  <a:lnTo>
                    <a:pt x="4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16" name="그림 4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822" y="644007"/>
              <a:ext cx="216000" cy="216000"/>
            </a:xfrm>
            <a:prstGeom prst="rect">
              <a:avLst/>
            </a:prstGeom>
          </p:spPr>
        </p:pic>
      </p:grpSp>
      <p:grpSp>
        <p:nvGrpSpPr>
          <p:cNvPr id="420" name="그룹 419"/>
          <p:cNvGrpSpPr/>
          <p:nvPr/>
        </p:nvGrpSpPr>
        <p:grpSpPr>
          <a:xfrm>
            <a:off x="50757" y="522517"/>
            <a:ext cx="319318" cy="230832"/>
            <a:chOff x="4834015" y="3090156"/>
            <a:chExt cx="319318" cy="230832"/>
          </a:xfrm>
        </p:grpSpPr>
        <p:sp>
          <p:nvSpPr>
            <p:cNvPr id="4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2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3" name="그룹 422"/>
          <p:cNvGrpSpPr/>
          <p:nvPr/>
        </p:nvGrpSpPr>
        <p:grpSpPr>
          <a:xfrm>
            <a:off x="60928" y="6033412"/>
            <a:ext cx="319318" cy="230832"/>
            <a:chOff x="4834015" y="3090156"/>
            <a:chExt cx="319318" cy="230832"/>
          </a:xfrm>
        </p:grpSpPr>
        <p:sp>
          <p:nvSpPr>
            <p:cNvPr id="42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7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30" name="그룹 429"/>
          <p:cNvGrpSpPr/>
          <p:nvPr/>
        </p:nvGrpSpPr>
        <p:grpSpPr>
          <a:xfrm>
            <a:off x="1220890" y="6050508"/>
            <a:ext cx="319318" cy="230832"/>
            <a:chOff x="4834015" y="3090156"/>
            <a:chExt cx="319318" cy="230832"/>
          </a:xfrm>
        </p:grpSpPr>
        <p:sp>
          <p:nvSpPr>
            <p:cNvPr id="4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32" name="Rectangle 4"/>
            <p:cNvSpPr/>
            <p:nvPr/>
          </p:nvSpPr>
          <p:spPr>
            <a:xfrm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228" name="표 227"/>
          <p:cNvGraphicFramePr>
            <a:graphicFrameLocks noGrp="1"/>
          </p:cNvGraphicFramePr>
          <p:nvPr>
            <p:extLst/>
          </p:nvPr>
        </p:nvGraphicFramePr>
        <p:xfrm>
          <a:off x="7363841" y="6348537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251" name="그룹 250"/>
          <p:cNvGrpSpPr/>
          <p:nvPr/>
        </p:nvGrpSpPr>
        <p:grpSpPr>
          <a:xfrm>
            <a:off x="1445751" y="3261162"/>
            <a:ext cx="1104400" cy="958355"/>
            <a:chOff x="4630176" y="3963919"/>
            <a:chExt cx="1104400" cy="958355"/>
          </a:xfrm>
        </p:grpSpPr>
        <p:sp>
          <p:nvSpPr>
            <p:cNvPr id="252" name="모서리가 둥근 직사각형 25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55" name="직선 연결선 254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타원 255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58" name="직사각형 257"/>
          <p:cNvSpPr/>
          <p:nvPr/>
        </p:nvSpPr>
        <p:spPr>
          <a:xfrm>
            <a:off x="1436196" y="353679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1505125" y="330694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1717379" y="330694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61" name="그룹 260"/>
          <p:cNvGrpSpPr/>
          <p:nvPr/>
        </p:nvGrpSpPr>
        <p:grpSpPr>
          <a:xfrm>
            <a:off x="1310073" y="3119709"/>
            <a:ext cx="251992" cy="230832"/>
            <a:chOff x="4867678" y="3090156"/>
            <a:chExt cx="251992" cy="230832"/>
          </a:xfrm>
        </p:grpSpPr>
        <p:sp>
          <p:nvSpPr>
            <p:cNvPr id="26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3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232799" y="3907787"/>
            <a:ext cx="230832" cy="319318"/>
            <a:chOff x="4878258" y="3045913"/>
            <a:chExt cx="230832" cy="319318"/>
          </a:xfrm>
        </p:grpSpPr>
        <p:sp>
          <p:nvSpPr>
            <p:cNvPr id="265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6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34015" y="3090156"/>
              <a:ext cx="31931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10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2521717" y="3176750"/>
            <a:ext cx="230832" cy="251992"/>
            <a:chOff x="4878258" y="3079576"/>
            <a:chExt cx="230832" cy="251992"/>
          </a:xfrm>
        </p:grpSpPr>
        <p:sp>
          <p:nvSpPr>
            <p:cNvPr id="268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9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0" name="모서리가 둥근 직사각형 269"/>
          <p:cNvSpPr/>
          <p:nvPr/>
        </p:nvSpPr>
        <p:spPr>
          <a:xfrm>
            <a:off x="1512504" y="3904291"/>
            <a:ext cx="380593" cy="10831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보안카드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1915484" y="3795858"/>
            <a:ext cx="230832" cy="251992"/>
            <a:chOff x="4878258" y="3079576"/>
            <a:chExt cx="230832" cy="251992"/>
          </a:xfrm>
        </p:grpSpPr>
        <p:sp>
          <p:nvSpPr>
            <p:cNvPr id="27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9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76" name="직사각형 275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기존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버튼 순서에서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확인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“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순서로 변경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657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직사각형 127"/>
          <p:cNvSpPr/>
          <p:nvPr/>
        </p:nvSpPr>
        <p:spPr>
          <a:xfrm>
            <a:off x="6074771" y="1264194"/>
            <a:ext cx="3225119" cy="2108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77993" y="18757"/>
            <a:ext cx="5348205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단계 구성원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CELL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070848" y="1278182"/>
            <a:ext cx="3225119" cy="365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6065478" y="186444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/>
          <p:cNvGrpSpPr/>
          <p:nvPr/>
        </p:nvGrpSpPr>
        <p:grpSpPr>
          <a:xfrm rot="10800000">
            <a:off x="7586270" y="1672665"/>
            <a:ext cx="154946" cy="123678"/>
            <a:chOff x="6691038" y="2985393"/>
            <a:chExt cx="122504" cy="97782"/>
          </a:xfrm>
        </p:grpSpPr>
        <p:cxnSp>
          <p:nvCxnSpPr>
            <p:cNvPr id="47" name="직선 연결선 46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6214106" y="1919305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기안단계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5888354" y="2237787"/>
            <a:ext cx="1104400" cy="958355"/>
            <a:chOff x="4630176" y="3963919"/>
            <a:chExt cx="1104400" cy="958355"/>
          </a:xfrm>
        </p:grpSpPr>
        <p:sp>
          <p:nvSpPr>
            <p:cNvPr id="52" name="모서리가 둥근 직사각형 5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56" name="직선 연결선 55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타원 56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60" name="모서리가 둥근 직사각형 59"/>
          <p:cNvSpPr/>
          <p:nvPr/>
        </p:nvSpPr>
        <p:spPr>
          <a:xfrm>
            <a:off x="7116240" y="223778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198305" y="242224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198305" y="261350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64" name="직선 연결선 63"/>
          <p:cNvCxnSpPr/>
          <p:nvPr/>
        </p:nvCxnSpPr>
        <p:spPr>
          <a:xfrm>
            <a:off x="7145903" y="299835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8034298" y="229470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7411899" y="299630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8358942" y="222983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441007" y="241429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441007" y="260555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71" name="직선 연결선 70"/>
          <p:cNvCxnSpPr/>
          <p:nvPr/>
        </p:nvCxnSpPr>
        <p:spPr>
          <a:xfrm>
            <a:off x="8388605" y="299040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타원 71"/>
          <p:cNvSpPr/>
          <p:nvPr/>
        </p:nvSpPr>
        <p:spPr>
          <a:xfrm>
            <a:off x="9277000" y="228675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654601" y="298835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9601644" y="223778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9683709" y="242224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683709" y="261350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9631307" y="299835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10519702" y="229470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9897303" y="299630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10844346" y="2229837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10926411" y="2414298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926411" y="2605559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09" name="직선 연결선 108"/>
          <p:cNvCxnSpPr/>
          <p:nvPr/>
        </p:nvCxnSpPr>
        <p:spPr>
          <a:xfrm>
            <a:off x="10874009" y="2990400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/>
          <p:cNvSpPr/>
          <p:nvPr/>
        </p:nvSpPr>
        <p:spPr>
          <a:xfrm>
            <a:off x="11762404" y="228675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1140005" y="2988351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664425" y="2236766"/>
            <a:ext cx="1104400" cy="958355"/>
          </a:xfrm>
          <a:prstGeom prst="roundRect">
            <a:avLst>
              <a:gd name="adj" fmla="val 733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4746490" y="2421227"/>
            <a:ext cx="901850" cy="184666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홍길동 </a:t>
            </a:r>
            <a:r>
              <a:rPr lang="en-US" altLang="ko-KR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(P0123456789)</a:t>
            </a:r>
            <a:endParaRPr lang="ko-KR" altLang="en-US" sz="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746490" y="2612488"/>
            <a:ext cx="86818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2,000,000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1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회 한도 </a:t>
            </a:r>
            <a:r>
              <a: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: 1,000,000</a:t>
            </a:r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원</a:t>
            </a:r>
          </a:p>
        </p:txBody>
      </p:sp>
      <p:cxnSp>
        <p:nvCxnSpPr>
          <p:cNvPr id="116" name="직선 연결선 115"/>
          <p:cNvCxnSpPr/>
          <p:nvPr/>
        </p:nvCxnSpPr>
        <p:spPr>
          <a:xfrm>
            <a:off x="4694088" y="2997329"/>
            <a:ext cx="100915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5582483" y="2293688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960084" y="2995280"/>
            <a:ext cx="492443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9086352" y="2183886"/>
            <a:ext cx="3043765" cy="113003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아래쪽 화살표 119"/>
          <p:cNvSpPr/>
          <p:nvPr/>
        </p:nvSpPr>
        <p:spPr>
          <a:xfrm rot="16200000">
            <a:off x="9394830" y="1877251"/>
            <a:ext cx="206172" cy="334147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2" name="그룹 121"/>
          <p:cNvGrpSpPr/>
          <p:nvPr/>
        </p:nvGrpSpPr>
        <p:grpSpPr>
          <a:xfrm>
            <a:off x="5990344" y="1149383"/>
            <a:ext cx="3455988" cy="255343"/>
            <a:chOff x="2638132" y="2022105"/>
            <a:chExt cx="3455988" cy="255343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39943EDF-121E-6F40-6AA6-53514F0CBF07}"/>
                </a:ext>
              </a:extLst>
            </p:cNvPr>
            <p:cNvGrpSpPr/>
            <p:nvPr/>
          </p:nvGrpSpPr>
          <p:grpSpPr>
            <a:xfrm>
              <a:off x="2648744" y="2024844"/>
              <a:ext cx="3377008" cy="252604"/>
              <a:chOff x="3163818" y="5732585"/>
              <a:chExt cx="2576973" cy="184052"/>
            </a:xfrm>
          </p:grpSpPr>
          <p:sp>
            <p:nvSpPr>
              <p:cNvPr id="125" name="자유형 322">
                <a:extLst>
                  <a:ext uri="{FF2B5EF4-FFF2-40B4-BE49-F238E27FC236}">
                    <a16:creationId xmlns:a16="http://schemas.microsoft.com/office/drawing/2014/main" id="{FDFEC963-839B-ABE0-06FE-C16DFB08F177}"/>
                  </a:ext>
                </a:extLst>
              </p:cNvPr>
              <p:cNvSpPr/>
              <p:nvPr/>
            </p:nvSpPr>
            <p:spPr>
              <a:xfrm>
                <a:off x="3199323" y="5756773"/>
                <a:ext cx="2492817" cy="131338"/>
              </a:xfrm>
              <a:custGeom>
                <a:avLst/>
                <a:gdLst>
                  <a:gd name="connsiteX0" fmla="*/ 802685 w 2492817"/>
                  <a:gd name="connsiteY0" fmla="*/ 17 h 131338"/>
                  <a:gd name="connsiteX1" fmla="*/ 966559 w 2492817"/>
                  <a:gd name="connsiteY1" fmla="*/ 29545 h 131338"/>
                  <a:gd name="connsiteX2" fmla="*/ 996696 w 2492817"/>
                  <a:gd name="connsiteY2" fmla="*/ 16418 h 131338"/>
                  <a:gd name="connsiteX3" fmla="*/ 996696 w 2492817"/>
                  <a:gd name="connsiteY3" fmla="*/ 15949 h 131338"/>
                  <a:gd name="connsiteX4" fmla="*/ 1246409 w 2492817"/>
                  <a:gd name="connsiteY4" fmla="*/ 15949 h 131338"/>
                  <a:gd name="connsiteX5" fmla="*/ 1464907 w 2492817"/>
                  <a:gd name="connsiteY5" fmla="*/ 29545 h 131338"/>
                  <a:gd name="connsiteX6" fmla="*/ 1495044 w 2492817"/>
                  <a:gd name="connsiteY6" fmla="*/ 16418 h 131338"/>
                  <a:gd name="connsiteX7" fmla="*/ 1495044 w 2492817"/>
                  <a:gd name="connsiteY7" fmla="*/ 15949 h 131338"/>
                  <a:gd name="connsiteX8" fmla="*/ 1744757 w 2492817"/>
                  <a:gd name="connsiteY8" fmla="*/ 15949 h 131338"/>
                  <a:gd name="connsiteX9" fmla="*/ 1963255 w 2492817"/>
                  <a:gd name="connsiteY9" fmla="*/ 29545 h 131338"/>
                  <a:gd name="connsiteX10" fmla="*/ 1993392 w 2492817"/>
                  <a:gd name="connsiteY10" fmla="*/ 16418 h 131338"/>
                  <a:gd name="connsiteX11" fmla="*/ 1993392 w 2492817"/>
                  <a:gd name="connsiteY11" fmla="*/ 15949 h 131338"/>
                  <a:gd name="connsiteX12" fmla="*/ 2055821 w 2492817"/>
                  <a:gd name="connsiteY12" fmla="*/ 411 h 131338"/>
                  <a:gd name="connsiteX13" fmla="*/ 2243105 w 2492817"/>
                  <a:gd name="connsiteY13" fmla="*/ 15949 h 131338"/>
                  <a:gd name="connsiteX14" fmla="*/ 2305533 w 2492817"/>
                  <a:gd name="connsiteY14" fmla="*/ 411 h 131338"/>
                  <a:gd name="connsiteX15" fmla="*/ 2492817 w 2492817"/>
                  <a:gd name="connsiteY15" fmla="*/ 15949 h 131338"/>
                  <a:gd name="connsiteX16" fmla="*/ 2492817 w 2492817"/>
                  <a:gd name="connsiteY16" fmla="*/ 115390 h 131338"/>
                  <a:gd name="connsiteX17" fmla="*/ 2243105 w 2492817"/>
                  <a:gd name="connsiteY17" fmla="*/ 115390 h 131338"/>
                  <a:gd name="connsiteX18" fmla="*/ 2024606 w 2492817"/>
                  <a:gd name="connsiteY18" fmla="*/ 101795 h 131338"/>
                  <a:gd name="connsiteX19" fmla="*/ 1994469 w 2492817"/>
                  <a:gd name="connsiteY19" fmla="*/ 114921 h 131338"/>
                  <a:gd name="connsiteX20" fmla="*/ 1994469 w 2492817"/>
                  <a:gd name="connsiteY20" fmla="*/ 115390 h 131338"/>
                  <a:gd name="connsiteX21" fmla="*/ 1744757 w 2492817"/>
                  <a:gd name="connsiteY21" fmla="*/ 115390 h 131338"/>
                  <a:gd name="connsiteX22" fmla="*/ 1526258 w 2492817"/>
                  <a:gd name="connsiteY22" fmla="*/ 101795 h 131338"/>
                  <a:gd name="connsiteX23" fmla="*/ 1496121 w 2492817"/>
                  <a:gd name="connsiteY23" fmla="*/ 114921 h 131338"/>
                  <a:gd name="connsiteX24" fmla="*/ 1496121 w 2492817"/>
                  <a:gd name="connsiteY24" fmla="*/ 115390 h 131338"/>
                  <a:gd name="connsiteX25" fmla="*/ 1246409 w 2492817"/>
                  <a:gd name="connsiteY25" fmla="*/ 115390 h 131338"/>
                  <a:gd name="connsiteX26" fmla="*/ 1027910 w 2492817"/>
                  <a:gd name="connsiteY26" fmla="*/ 101795 h 131338"/>
                  <a:gd name="connsiteX27" fmla="*/ 997773 w 2492817"/>
                  <a:gd name="connsiteY27" fmla="*/ 114921 h 131338"/>
                  <a:gd name="connsiteX28" fmla="*/ 997773 w 2492817"/>
                  <a:gd name="connsiteY28" fmla="*/ 115390 h 131338"/>
                  <a:gd name="connsiteX29" fmla="*/ 748061 w 2492817"/>
                  <a:gd name="connsiteY29" fmla="*/ 115390 h 131338"/>
                  <a:gd name="connsiteX30" fmla="*/ 529562 w 2492817"/>
                  <a:gd name="connsiteY30" fmla="*/ 101795 h 131338"/>
                  <a:gd name="connsiteX31" fmla="*/ 499425 w 2492817"/>
                  <a:gd name="connsiteY31" fmla="*/ 114921 h 131338"/>
                  <a:gd name="connsiteX32" fmla="*/ 499425 w 2492817"/>
                  <a:gd name="connsiteY32" fmla="*/ 115390 h 131338"/>
                  <a:gd name="connsiteX33" fmla="*/ 249713 w 2492817"/>
                  <a:gd name="connsiteY33" fmla="*/ 115390 h 131338"/>
                  <a:gd name="connsiteX34" fmla="*/ 0 w 2492817"/>
                  <a:gd name="connsiteY34" fmla="*/ 115390 h 131338"/>
                  <a:gd name="connsiteX35" fmla="*/ 0 w 2492817"/>
                  <a:gd name="connsiteY35" fmla="*/ 15949 h 131338"/>
                  <a:gd name="connsiteX36" fmla="*/ 62428 w 2492817"/>
                  <a:gd name="connsiteY36" fmla="*/ 411 h 131338"/>
                  <a:gd name="connsiteX37" fmla="*/ 249713 w 2492817"/>
                  <a:gd name="connsiteY37" fmla="*/ 15949 h 131338"/>
                  <a:gd name="connsiteX38" fmla="*/ 312141 w 2492817"/>
                  <a:gd name="connsiteY38" fmla="*/ 411 h 131338"/>
                  <a:gd name="connsiteX39" fmla="*/ 468211 w 2492817"/>
                  <a:gd name="connsiteY39" fmla="*/ 29545 h 131338"/>
                  <a:gd name="connsiteX40" fmla="*/ 498348 w 2492817"/>
                  <a:gd name="connsiteY40" fmla="*/ 16418 h 131338"/>
                  <a:gd name="connsiteX41" fmla="*/ 498348 w 2492817"/>
                  <a:gd name="connsiteY41" fmla="*/ 15949 h 131338"/>
                  <a:gd name="connsiteX42" fmla="*/ 560776 w 2492817"/>
                  <a:gd name="connsiteY42" fmla="*/ 411 h 131338"/>
                  <a:gd name="connsiteX43" fmla="*/ 748061 w 2492817"/>
                  <a:gd name="connsiteY43" fmla="*/ 15949 h 131338"/>
                  <a:gd name="connsiteX44" fmla="*/ 802685 w 2492817"/>
                  <a:gd name="connsiteY44" fmla="*/ 17 h 13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492817" h="131338">
                    <a:moveTo>
                      <a:pt x="802685" y="17"/>
                    </a:moveTo>
                    <a:cubicBezTo>
                      <a:pt x="857310" y="937"/>
                      <a:pt x="911934" y="42007"/>
                      <a:pt x="966559" y="29545"/>
                    </a:cubicBezTo>
                    <a:lnTo>
                      <a:pt x="996696" y="16418"/>
                    </a:lnTo>
                    <a:lnTo>
                      <a:pt x="996696" y="15949"/>
                    </a:lnTo>
                    <a:cubicBezTo>
                      <a:pt x="1079934" y="-39297"/>
                      <a:pt x="1163171" y="71194"/>
                      <a:pt x="1246409" y="15949"/>
                    </a:cubicBezTo>
                    <a:cubicBezTo>
                      <a:pt x="1319241" y="-32391"/>
                      <a:pt x="1392074" y="46161"/>
                      <a:pt x="1464907" y="29545"/>
                    </a:cubicBezTo>
                    <a:lnTo>
                      <a:pt x="1495044" y="16418"/>
                    </a:lnTo>
                    <a:lnTo>
                      <a:pt x="1495044" y="15949"/>
                    </a:lnTo>
                    <a:cubicBezTo>
                      <a:pt x="1578282" y="-39297"/>
                      <a:pt x="1661519" y="71194"/>
                      <a:pt x="1744757" y="15949"/>
                    </a:cubicBezTo>
                    <a:cubicBezTo>
                      <a:pt x="1817589" y="-32391"/>
                      <a:pt x="1890422" y="46161"/>
                      <a:pt x="1963255" y="29545"/>
                    </a:cubicBezTo>
                    <a:lnTo>
                      <a:pt x="1993392" y="16418"/>
                    </a:lnTo>
                    <a:lnTo>
                      <a:pt x="1993392" y="15949"/>
                    </a:lnTo>
                    <a:cubicBezTo>
                      <a:pt x="2014202" y="2138"/>
                      <a:pt x="2035011" y="-1316"/>
                      <a:pt x="2055821" y="411"/>
                    </a:cubicBezTo>
                    <a:cubicBezTo>
                      <a:pt x="2118249" y="5590"/>
                      <a:pt x="2180677" y="57383"/>
                      <a:pt x="2243105" y="15949"/>
                    </a:cubicBezTo>
                    <a:cubicBezTo>
                      <a:pt x="2263914" y="2138"/>
                      <a:pt x="2284724" y="-1316"/>
                      <a:pt x="2305533" y="411"/>
                    </a:cubicBezTo>
                    <a:cubicBezTo>
                      <a:pt x="2367961" y="5590"/>
                      <a:pt x="2430389" y="57383"/>
                      <a:pt x="2492817" y="15949"/>
                    </a:cubicBezTo>
                    <a:lnTo>
                      <a:pt x="2492817" y="115390"/>
                    </a:lnTo>
                    <a:cubicBezTo>
                      <a:pt x="2409580" y="170635"/>
                      <a:pt x="2326342" y="60145"/>
                      <a:pt x="2243105" y="115390"/>
                    </a:cubicBezTo>
                    <a:cubicBezTo>
                      <a:pt x="2170272" y="163730"/>
                      <a:pt x="2097440" y="85178"/>
                      <a:pt x="2024606" y="101795"/>
                    </a:cubicBezTo>
                    <a:lnTo>
                      <a:pt x="1994469" y="114921"/>
                    </a:lnTo>
                    <a:lnTo>
                      <a:pt x="1994469" y="115390"/>
                    </a:lnTo>
                    <a:cubicBezTo>
                      <a:pt x="1911232" y="170635"/>
                      <a:pt x="1827994" y="60145"/>
                      <a:pt x="1744757" y="115390"/>
                    </a:cubicBezTo>
                    <a:cubicBezTo>
                      <a:pt x="1671924" y="163730"/>
                      <a:pt x="1599091" y="85178"/>
                      <a:pt x="1526258" y="101795"/>
                    </a:cubicBezTo>
                    <a:lnTo>
                      <a:pt x="1496121" y="114921"/>
                    </a:lnTo>
                    <a:lnTo>
                      <a:pt x="1496121" y="115390"/>
                    </a:lnTo>
                    <a:cubicBezTo>
                      <a:pt x="1412884" y="170635"/>
                      <a:pt x="1329646" y="60145"/>
                      <a:pt x="1246409" y="115390"/>
                    </a:cubicBezTo>
                    <a:cubicBezTo>
                      <a:pt x="1173576" y="163730"/>
                      <a:pt x="1100743" y="85178"/>
                      <a:pt x="1027910" y="101795"/>
                    </a:cubicBezTo>
                    <a:lnTo>
                      <a:pt x="997773" y="114921"/>
                    </a:lnTo>
                    <a:lnTo>
                      <a:pt x="997773" y="115390"/>
                    </a:lnTo>
                    <a:cubicBezTo>
                      <a:pt x="914536" y="170635"/>
                      <a:pt x="831298" y="60145"/>
                      <a:pt x="748061" y="115390"/>
                    </a:cubicBezTo>
                    <a:cubicBezTo>
                      <a:pt x="675228" y="163730"/>
                      <a:pt x="602395" y="85178"/>
                      <a:pt x="529562" y="101795"/>
                    </a:cubicBezTo>
                    <a:lnTo>
                      <a:pt x="499425" y="114921"/>
                    </a:lnTo>
                    <a:lnTo>
                      <a:pt x="499425" y="115390"/>
                    </a:lnTo>
                    <a:cubicBezTo>
                      <a:pt x="416188" y="170635"/>
                      <a:pt x="332950" y="60145"/>
                      <a:pt x="249713" y="115390"/>
                    </a:cubicBezTo>
                    <a:cubicBezTo>
                      <a:pt x="166475" y="170635"/>
                      <a:pt x="83238" y="60145"/>
                      <a:pt x="0" y="115390"/>
                    </a:cubicBezTo>
                    <a:lnTo>
                      <a:pt x="0" y="15949"/>
                    </a:lnTo>
                    <a:cubicBezTo>
                      <a:pt x="20809" y="2138"/>
                      <a:pt x="41619" y="-1316"/>
                      <a:pt x="62428" y="411"/>
                    </a:cubicBezTo>
                    <a:cubicBezTo>
                      <a:pt x="124856" y="5590"/>
                      <a:pt x="187284" y="57383"/>
                      <a:pt x="249713" y="15949"/>
                    </a:cubicBezTo>
                    <a:cubicBezTo>
                      <a:pt x="270522" y="2138"/>
                      <a:pt x="291331" y="-1316"/>
                      <a:pt x="312141" y="411"/>
                    </a:cubicBezTo>
                    <a:cubicBezTo>
                      <a:pt x="364164" y="4727"/>
                      <a:pt x="416188" y="41414"/>
                      <a:pt x="468211" y="29545"/>
                    </a:cubicBezTo>
                    <a:lnTo>
                      <a:pt x="498348" y="16418"/>
                    </a:lnTo>
                    <a:lnTo>
                      <a:pt x="498348" y="15949"/>
                    </a:lnTo>
                    <a:cubicBezTo>
                      <a:pt x="519157" y="2138"/>
                      <a:pt x="539967" y="-1316"/>
                      <a:pt x="560776" y="411"/>
                    </a:cubicBezTo>
                    <a:cubicBezTo>
                      <a:pt x="623204" y="5590"/>
                      <a:pt x="685632" y="57383"/>
                      <a:pt x="748061" y="15949"/>
                    </a:cubicBezTo>
                    <a:cubicBezTo>
                      <a:pt x="766269" y="3864"/>
                      <a:pt x="784477" y="-290"/>
                      <a:pt x="80268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03032E7C-30C0-76DD-05E4-7E48F756B88F}"/>
                  </a:ext>
                </a:extLst>
              </p:cNvPr>
              <p:cNvSpPr/>
              <p:nvPr/>
            </p:nvSpPr>
            <p:spPr>
              <a:xfrm>
                <a:off x="3163818" y="5732585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62A0C068-3D1F-FBF2-B620-AA0AFBBCB6CC}"/>
                  </a:ext>
                </a:extLst>
              </p:cNvPr>
              <p:cNvSpPr/>
              <p:nvPr/>
            </p:nvSpPr>
            <p:spPr>
              <a:xfrm>
                <a:off x="5683465" y="5758376"/>
                <a:ext cx="57326" cy="1582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x-none" altLang="en-US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>
              <a:off x="2638132" y="2022105"/>
              <a:ext cx="34559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0" b="1" spc="-50" dirty="0">
                <a:solidFill>
                  <a:srgbClr val="C00000"/>
                </a:solidFill>
              </a:endParaRPr>
            </a:p>
          </p:txBody>
        </p:sp>
      </p:grpSp>
      <p:graphicFrame>
        <p:nvGraphicFramePr>
          <p:cNvPr id="3" name="개체 2"/>
          <p:cNvGraphicFramePr>
            <a:graphicFrameLocks noChangeAspect="1"/>
          </p:cNvGraphicFramePr>
          <p:nvPr>
            <p:extLst/>
          </p:nvPr>
        </p:nvGraphicFramePr>
        <p:xfrm>
          <a:off x="11201319" y="3384035"/>
          <a:ext cx="518546" cy="59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4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01319" y="3384035"/>
                        <a:ext cx="518546" cy="59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개체 128"/>
          <p:cNvGraphicFramePr>
            <a:graphicFrameLocks noChangeAspect="1"/>
          </p:cNvGraphicFramePr>
          <p:nvPr>
            <p:extLst/>
          </p:nvPr>
        </p:nvGraphicFramePr>
        <p:xfrm>
          <a:off x="4729455" y="3448476"/>
          <a:ext cx="518546" cy="59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5" name="Image" r:id="rId5" imgW="2158560" imgH="2488680" progId="Photoshop.Image.13">
                  <p:embed/>
                </p:oleObj>
              </mc:Choice>
              <mc:Fallback>
                <p:oleObj name="Image" r:id="rId5" imgW="2158560" imgH="2488680" progId="Photoshop.Image.13">
                  <p:embed/>
                  <p:pic>
                    <p:nvPicPr>
                      <p:cNvPr id="129" name="개체 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9455" y="3448476"/>
                        <a:ext cx="518546" cy="59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아래쪽 화살표 120"/>
          <p:cNvSpPr/>
          <p:nvPr/>
        </p:nvSpPr>
        <p:spPr>
          <a:xfrm rot="5400000">
            <a:off x="6122593" y="2347734"/>
            <a:ext cx="238063" cy="243239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536342" y="626190"/>
            <a:ext cx="3004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구성원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이 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단계영역을</a:t>
            </a:r>
            <a:r>
              <a:rPr lang="ko-KR" altLang="en-US" sz="1200" b="1" dirty="0">
                <a:latin typeface="맑은 고딕" panose="020B0503020000020004" pitchFamily="50" charset="-127"/>
              </a:rPr>
              <a:t> 넘치는 경우 </a:t>
            </a:r>
            <a:endParaRPr lang="ko-KR" altLang="en-US" sz="1200" dirty="0"/>
          </a:p>
        </p:txBody>
      </p:sp>
      <p:sp>
        <p:nvSpPr>
          <p:cNvPr id="130" name="직사각형 129"/>
          <p:cNvSpPr/>
          <p:nvPr/>
        </p:nvSpPr>
        <p:spPr>
          <a:xfrm>
            <a:off x="7341892" y="3719354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드래그</a:t>
            </a:r>
            <a:endParaRPr lang="ko-KR" altLang="en-US" sz="1200" dirty="0"/>
          </a:p>
        </p:txBody>
      </p:sp>
      <p:grpSp>
        <p:nvGrpSpPr>
          <p:cNvPr id="147" name="그룹 146"/>
          <p:cNvGrpSpPr/>
          <p:nvPr/>
        </p:nvGrpSpPr>
        <p:grpSpPr>
          <a:xfrm>
            <a:off x="1328502" y="1017232"/>
            <a:ext cx="1832844" cy="1593730"/>
            <a:chOff x="4630176" y="3963919"/>
            <a:chExt cx="1104400" cy="999713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4630176" y="3963919"/>
              <a:ext cx="1104400" cy="999713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4719808" y="4149604"/>
              <a:ext cx="786828" cy="14479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4717307" y="4375913"/>
              <a:ext cx="761715" cy="231674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152" name="직선 연결선 151"/>
            <p:cNvCxnSpPr/>
            <p:nvPr/>
          </p:nvCxnSpPr>
          <p:spPr>
            <a:xfrm>
              <a:off x="4659839" y="4808427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타원 152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X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4974412" y="4818836"/>
              <a:ext cx="389454" cy="144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155" name="직사각형 154"/>
          <p:cNvSpPr/>
          <p:nvPr/>
        </p:nvSpPr>
        <p:spPr>
          <a:xfrm>
            <a:off x="1385350" y="1486176"/>
            <a:ext cx="9768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cxnSp>
        <p:nvCxnSpPr>
          <p:cNvPr id="156" name="직선 연결선 155"/>
          <p:cNvCxnSpPr/>
          <p:nvPr/>
        </p:nvCxnSpPr>
        <p:spPr>
          <a:xfrm>
            <a:off x="4480677" y="552372"/>
            <a:ext cx="0" cy="61688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/>
          <p:nvPr/>
        </p:nvSpPr>
        <p:spPr>
          <a:xfrm>
            <a:off x="137119" y="552372"/>
            <a:ext cx="14013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</a:rPr>
              <a:t>구성원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정의</a:t>
            </a:r>
            <a:endParaRPr lang="ko-KR" altLang="en-US" sz="1200" dirty="0"/>
          </a:p>
        </p:txBody>
      </p:sp>
      <p:graphicFrame>
        <p:nvGraphicFramePr>
          <p:cNvPr id="158" name="표 157"/>
          <p:cNvGraphicFramePr>
            <a:graphicFrameLocks noGrp="1"/>
          </p:cNvGraphicFramePr>
          <p:nvPr>
            <p:extLst/>
          </p:nvPr>
        </p:nvGraphicFramePr>
        <p:xfrm>
          <a:off x="306485" y="2869919"/>
          <a:ext cx="4010479" cy="2754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0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구성원의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결재권한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</a:p>
                    <a:p>
                      <a:pPr latinLnBrk="1"/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결재단계는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결재와 확인을 버튼형으로 하여 변경할 수 있도록 처리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버튼형 또는 스위치형으로 디자인</a:t>
                      </a:r>
                      <a:b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en-US" altLang="ko-KR" sz="7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아이콘 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latinLnBrk="1"/>
                      <a:endParaRPr lang="ko-KR" altLang="en-US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별도의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없이 구성원 삭제 처리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토스트메시지로 처리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사용자명이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있는 경우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(ex: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(P12345567) )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없는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ID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노출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ex : P123456789 )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부서명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직책 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노출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부서명 혹은 직책이 없는 경우  </a:t>
                      </a:r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노출안함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한도 및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한도 표시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원화만 보여줌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보안매체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smtClean="0"/>
                        <a:t>OTP , </a:t>
                      </a:r>
                      <a:r>
                        <a:rPr lang="ko-KR" altLang="en-US" sz="700" dirty="0" smtClean="0"/>
                        <a:t>보안카드</a:t>
                      </a:r>
                      <a:r>
                        <a:rPr lang="en-US" altLang="ko-KR" sz="700" dirty="0" smtClean="0"/>
                        <a:t>,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dirty="0" smtClean="0"/>
                        <a:t>디지털</a:t>
                      </a:r>
                      <a:r>
                        <a:rPr lang="en-US" altLang="ko-KR" sz="700" dirty="0" smtClean="0"/>
                        <a:t>OTP, </a:t>
                      </a:r>
                      <a:r>
                        <a:rPr lang="ko-KR" altLang="en-US" sz="700" dirty="0" smtClean="0"/>
                        <a:t>미사용</a:t>
                      </a:r>
                      <a:r>
                        <a:rPr lang="en-US" altLang="ko-KR" sz="700" dirty="0" smtClean="0"/>
                        <a:t>)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138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사용자정보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호출</a:t>
                      </a:r>
                      <a:endParaRPr lang="ko-KR" altLang="en-US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9" name="모서리가 둥근 직사각형 158"/>
          <p:cNvSpPr/>
          <p:nvPr/>
        </p:nvSpPr>
        <p:spPr>
          <a:xfrm>
            <a:off x="1473103" y="2085552"/>
            <a:ext cx="282745" cy="19193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2657065" y="877159"/>
            <a:ext cx="251992" cy="230832"/>
            <a:chOff x="4867678" y="3090156"/>
            <a:chExt cx="251992" cy="230832"/>
          </a:xfrm>
        </p:grpSpPr>
        <p:sp>
          <p:nvSpPr>
            <p:cNvPr id="1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166" name="직선 화살표 연결선 165"/>
          <p:cNvCxnSpPr/>
          <p:nvPr/>
        </p:nvCxnSpPr>
        <p:spPr>
          <a:xfrm>
            <a:off x="1172145" y="1428667"/>
            <a:ext cx="26649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/>
          <p:nvPr/>
        </p:nvCxnSpPr>
        <p:spPr>
          <a:xfrm>
            <a:off x="1218526" y="1628718"/>
            <a:ext cx="22011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>
            <a:endCxn id="150" idx="3"/>
          </p:cNvCxnSpPr>
          <p:nvPr/>
        </p:nvCxnSpPr>
        <p:spPr>
          <a:xfrm flipH="1">
            <a:off x="2737233" y="1858696"/>
            <a:ext cx="64561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/>
          <p:cNvCxnSpPr/>
          <p:nvPr/>
        </p:nvCxnSpPr>
        <p:spPr>
          <a:xfrm flipV="1">
            <a:off x="1051702" y="2175343"/>
            <a:ext cx="333648" cy="6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그룹 169"/>
          <p:cNvGrpSpPr/>
          <p:nvPr/>
        </p:nvGrpSpPr>
        <p:grpSpPr>
          <a:xfrm>
            <a:off x="857726" y="1199137"/>
            <a:ext cx="251992" cy="230832"/>
            <a:chOff x="4867678" y="3090156"/>
            <a:chExt cx="251992" cy="230832"/>
          </a:xfrm>
        </p:grpSpPr>
        <p:sp>
          <p:nvSpPr>
            <p:cNvPr id="17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3" name="그룹 172"/>
          <p:cNvGrpSpPr/>
          <p:nvPr/>
        </p:nvGrpSpPr>
        <p:grpSpPr>
          <a:xfrm>
            <a:off x="862206" y="1459625"/>
            <a:ext cx="251992" cy="230832"/>
            <a:chOff x="4867678" y="3090156"/>
            <a:chExt cx="251992" cy="230832"/>
          </a:xfrm>
        </p:grpSpPr>
        <p:sp>
          <p:nvSpPr>
            <p:cNvPr id="17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764117" y="1992799"/>
            <a:ext cx="251992" cy="230832"/>
            <a:chOff x="4867678" y="3090156"/>
            <a:chExt cx="251992" cy="230832"/>
          </a:xfrm>
        </p:grpSpPr>
        <p:sp>
          <p:nvSpPr>
            <p:cNvPr id="17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9" name="그룹 178"/>
          <p:cNvGrpSpPr/>
          <p:nvPr/>
        </p:nvGrpSpPr>
        <p:grpSpPr>
          <a:xfrm>
            <a:off x="3450167" y="1701620"/>
            <a:ext cx="251992" cy="230832"/>
            <a:chOff x="4867678" y="3090156"/>
            <a:chExt cx="251992" cy="230832"/>
          </a:xfrm>
        </p:grpSpPr>
        <p:sp>
          <p:nvSpPr>
            <p:cNvPr id="18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2" name="그룹 181"/>
          <p:cNvGrpSpPr/>
          <p:nvPr/>
        </p:nvGrpSpPr>
        <p:grpSpPr>
          <a:xfrm>
            <a:off x="1658542" y="2272875"/>
            <a:ext cx="251992" cy="230832"/>
            <a:chOff x="4867678" y="3090156"/>
            <a:chExt cx="251992" cy="230832"/>
          </a:xfrm>
        </p:grpSpPr>
        <p:sp>
          <p:nvSpPr>
            <p:cNvPr id="1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185" name="직선 연결선 184"/>
          <p:cNvCxnSpPr/>
          <p:nvPr/>
        </p:nvCxnSpPr>
        <p:spPr>
          <a:xfrm flipH="1">
            <a:off x="4480677" y="4310743"/>
            <a:ext cx="73139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직사각형 185"/>
          <p:cNvSpPr/>
          <p:nvPr/>
        </p:nvSpPr>
        <p:spPr>
          <a:xfrm>
            <a:off x="4631727" y="4444786"/>
            <a:ext cx="33522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</a:rPr>
              <a:t>결재단계의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latin typeface="맑은 고딕" panose="020B0503020000020004" pitchFamily="50" charset="-127"/>
              </a:rPr>
              <a:t>결재자 </a:t>
            </a:r>
            <a:r>
              <a:rPr lang="en-US" altLang="ko-KR" sz="1200" b="1" dirty="0" smtClean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과 </a:t>
            </a:r>
            <a:r>
              <a:rPr lang="ko-KR" altLang="en-US" sz="1200" b="1" dirty="0" err="1">
                <a:latin typeface="맑은 고딕" panose="020B0503020000020004" pitchFamily="50" charset="-127"/>
              </a:rPr>
              <a:t>확인자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</a:rPr>
              <a:t>Cell </a:t>
            </a:r>
            <a:r>
              <a:rPr lang="ko-KR" altLang="en-US" sz="1200" b="1" dirty="0">
                <a:latin typeface="맑은 고딕" panose="020B0503020000020004" pitchFamily="50" charset="-127"/>
              </a:rPr>
              <a:t>차별화</a:t>
            </a:r>
            <a:endParaRPr lang="ko-KR" altLang="en-US" sz="1200" dirty="0"/>
          </a:p>
        </p:txBody>
      </p:sp>
      <p:grpSp>
        <p:nvGrpSpPr>
          <p:cNvPr id="195" name="그룹 194"/>
          <p:cNvGrpSpPr/>
          <p:nvPr/>
        </p:nvGrpSpPr>
        <p:grpSpPr>
          <a:xfrm>
            <a:off x="4746490" y="4947188"/>
            <a:ext cx="1104400" cy="958355"/>
            <a:chOff x="4630176" y="3963919"/>
            <a:chExt cx="1104400" cy="95835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0" name="직선 연결선 199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타원 200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02" name="직사각형 201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03" name="그룹 202"/>
          <p:cNvGrpSpPr/>
          <p:nvPr/>
        </p:nvGrpSpPr>
        <p:grpSpPr>
          <a:xfrm>
            <a:off x="6313921" y="4953320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04" name="모서리가 둥근 직사각형 20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타원 20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0" name="직사각형 209"/>
          <p:cNvSpPr/>
          <p:nvPr/>
        </p:nvSpPr>
        <p:spPr>
          <a:xfrm>
            <a:off x="6609580" y="5711834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11" name="타원 210"/>
          <p:cNvSpPr/>
          <p:nvPr/>
        </p:nvSpPr>
        <p:spPr>
          <a:xfrm>
            <a:off x="7220451" y="4998300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4736935" y="522281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301110" y="523905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288370" y="3999334"/>
            <a:ext cx="54719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>
                <a:latin typeface="+mn-ea"/>
              </a:rPr>
              <a:t>구성원을 </a:t>
            </a:r>
            <a:r>
              <a:rPr lang="ko-KR" altLang="en-US" sz="800" dirty="0" err="1">
                <a:latin typeface="+mn-ea"/>
              </a:rPr>
              <a:t>추가할때</a:t>
            </a:r>
            <a:r>
              <a:rPr lang="ko-KR" altLang="en-US" sz="800" dirty="0">
                <a:latin typeface="+mn-ea"/>
              </a:rPr>
              <a:t> 오른쪽에서 생성이 되나 화면에 넘치는</a:t>
            </a:r>
            <a:r>
              <a:rPr lang="en-US" altLang="ko-KR" sz="800" dirty="0">
                <a:latin typeface="+mn-ea"/>
              </a:rPr>
              <a:t> </a:t>
            </a:r>
            <a:r>
              <a:rPr lang="ko-KR" altLang="en-US" sz="800" dirty="0">
                <a:latin typeface="+mn-ea"/>
              </a:rPr>
              <a:t>경우 </a:t>
            </a:r>
            <a:r>
              <a:rPr lang="en-US" altLang="ko-KR" sz="800" dirty="0">
                <a:latin typeface="+mn-ea"/>
              </a:rPr>
              <a:t>Cell </a:t>
            </a:r>
            <a:r>
              <a:rPr lang="ko-KR" altLang="en-US" sz="800" dirty="0">
                <a:latin typeface="+mn-ea"/>
              </a:rPr>
              <a:t>전체를 드래그로 이동시킬 수 있도록 처리</a:t>
            </a:r>
            <a:endParaRPr lang="en-US" altLang="ko-KR" sz="800" dirty="0">
              <a:latin typeface="+mn-ea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4644391" y="6275209"/>
            <a:ext cx="391766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>
                <a:latin typeface="+mn-ea"/>
              </a:rPr>
              <a:t>결재자 </a:t>
            </a:r>
            <a:r>
              <a:rPr lang="en-US" altLang="ko-KR" sz="800" dirty="0">
                <a:latin typeface="+mn-ea"/>
              </a:rPr>
              <a:t>Cell</a:t>
            </a:r>
            <a:r>
              <a:rPr lang="ko-KR" altLang="en-US" sz="800" dirty="0">
                <a:latin typeface="+mn-ea"/>
              </a:rPr>
              <a:t>과 </a:t>
            </a:r>
            <a:r>
              <a:rPr lang="ko-KR" altLang="en-US" sz="800" dirty="0" err="1">
                <a:latin typeface="+mn-ea"/>
              </a:rPr>
              <a:t>확인자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Cell</a:t>
            </a:r>
            <a:r>
              <a:rPr lang="ko-KR" altLang="en-US" sz="800" dirty="0">
                <a:latin typeface="+mn-ea"/>
              </a:rPr>
              <a:t>의 구성은 동일하나 </a:t>
            </a:r>
            <a:r>
              <a:rPr lang="ko-KR" altLang="en-US" sz="800" dirty="0" smtClean="0">
                <a:latin typeface="+mn-ea"/>
              </a:rPr>
              <a:t>색상 배색을 </a:t>
            </a:r>
            <a:r>
              <a:rPr lang="ko-KR" altLang="en-US" sz="800" dirty="0">
                <a:latin typeface="+mn-ea"/>
              </a:rPr>
              <a:t>달리하여 차별화 함</a:t>
            </a:r>
            <a:r>
              <a:rPr lang="en-US" altLang="ko-KR" sz="800" dirty="0">
                <a:latin typeface="+mn-ea"/>
              </a:rPr>
              <a:t>.</a:t>
            </a: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4828556" y="5574897"/>
            <a:ext cx="290440" cy="1116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4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보안카드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6390949" y="5599193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422111" y="110023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634365" y="110023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139" name="그룹 138"/>
          <p:cNvGrpSpPr/>
          <p:nvPr/>
        </p:nvGrpSpPr>
        <p:grpSpPr>
          <a:xfrm>
            <a:off x="1259354" y="895595"/>
            <a:ext cx="251992" cy="230832"/>
            <a:chOff x="4867678" y="3090156"/>
            <a:chExt cx="251992" cy="230832"/>
          </a:xfrm>
        </p:grpSpPr>
        <p:sp>
          <p:nvSpPr>
            <p:cNvPr id="14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4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4510544" y="2157648"/>
            <a:ext cx="1391220" cy="106497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9067925" y="195367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8367879" y="193245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1592740" y="384630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1924129" y="3846302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2258906" y="384630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2590295" y="3841303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4751724" y="2280431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5976680" y="2274032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7207597" y="2286759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3" name="직사각형 192"/>
          <p:cNvSpPr/>
          <p:nvPr/>
        </p:nvSpPr>
        <p:spPr>
          <a:xfrm>
            <a:off x="8443239" y="2270166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9683709" y="2273677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10930447" y="2267160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818180" y="499052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6395844" y="4990527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49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177993" y="18757"/>
            <a:ext cx="707598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단계 구성원 </a:t>
            </a:r>
            <a:r>
              <a:rPr lang="ko-KR" altLang="en-US" sz="20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인터렉션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정의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드래그앤드롭이동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455785" y="260138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/>
          <p:cNvSpPr txBox="1"/>
          <p:nvPr/>
        </p:nvSpPr>
        <p:spPr>
          <a:xfrm>
            <a:off x="604413" y="267590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622573" y="2969279"/>
            <a:ext cx="1104400" cy="958355"/>
            <a:chOff x="4630176" y="3963919"/>
            <a:chExt cx="1104400" cy="958355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18" name="직선 연결선 21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타원 21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21" name="직사각형 220"/>
          <p:cNvSpPr/>
          <p:nvPr/>
        </p:nvSpPr>
        <p:spPr>
          <a:xfrm>
            <a:off x="613018" y="3244908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2" name="타원 221"/>
          <p:cNvSpPr/>
          <p:nvPr/>
        </p:nvSpPr>
        <p:spPr>
          <a:xfrm>
            <a:off x="1957048" y="316055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1943031" y="348999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455785" y="93003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TextBox 231"/>
          <p:cNvSpPr txBox="1"/>
          <p:nvPr/>
        </p:nvSpPr>
        <p:spPr>
          <a:xfrm>
            <a:off x="604413" y="100455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2728066" y="104631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622573" y="1297926"/>
            <a:ext cx="1104400" cy="958355"/>
            <a:chOff x="4630176" y="3963919"/>
            <a:chExt cx="1104400" cy="958355"/>
          </a:xfrm>
        </p:grpSpPr>
        <p:sp>
          <p:nvSpPr>
            <p:cNvPr id="235" name="모서리가 둥근 직사각형 23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38" name="직선 연결선 23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타원 23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40" name="직사각형 23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41" name="직사각형 240"/>
          <p:cNvSpPr/>
          <p:nvPr/>
        </p:nvSpPr>
        <p:spPr>
          <a:xfrm>
            <a:off x="613018" y="1573555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42" name="타원 241"/>
          <p:cNvSpPr/>
          <p:nvPr/>
        </p:nvSpPr>
        <p:spPr>
          <a:xfrm>
            <a:off x="1957048" y="1489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943031" y="1818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47" name="Freeform 11"/>
          <p:cNvSpPr>
            <a:spLocks noChangeArrowheads="1"/>
          </p:cNvSpPr>
          <p:nvPr/>
        </p:nvSpPr>
        <p:spPr bwMode="auto">
          <a:xfrm>
            <a:off x="3423938" y="27179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8" name="Freeform 11"/>
          <p:cNvSpPr>
            <a:spLocks noChangeArrowheads="1"/>
          </p:cNvSpPr>
          <p:nvPr/>
        </p:nvSpPr>
        <p:spPr bwMode="auto">
          <a:xfrm>
            <a:off x="3423938" y="104797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9" name="직사각형 248"/>
          <p:cNvSpPr/>
          <p:nvPr/>
        </p:nvSpPr>
        <p:spPr>
          <a:xfrm>
            <a:off x="704638" y="1333813"/>
            <a:ext cx="209748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승인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688937" y="192916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688937" y="360350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728066" y="274540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455785" y="418406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TextBox 253"/>
          <p:cNvSpPr txBox="1"/>
          <p:nvPr/>
        </p:nvSpPr>
        <p:spPr>
          <a:xfrm>
            <a:off x="604413" y="425858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264" name="타원 263"/>
          <p:cNvSpPr/>
          <p:nvPr/>
        </p:nvSpPr>
        <p:spPr>
          <a:xfrm>
            <a:off x="3105048" y="478924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3091031" y="511868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266" name="Freeform 11"/>
          <p:cNvSpPr>
            <a:spLocks noChangeArrowheads="1"/>
          </p:cNvSpPr>
          <p:nvPr/>
        </p:nvSpPr>
        <p:spPr bwMode="auto">
          <a:xfrm>
            <a:off x="3423938" y="43006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2728066" y="432808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69" name="그룹 268"/>
          <p:cNvGrpSpPr/>
          <p:nvPr/>
        </p:nvGrpSpPr>
        <p:grpSpPr>
          <a:xfrm>
            <a:off x="555471" y="4586938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70" name="모서리가 둥근 직사각형 269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73" name="직선 연결선 27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타원 27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5" name="직사각형 274"/>
          <p:cNvSpPr/>
          <p:nvPr/>
        </p:nvSpPr>
        <p:spPr>
          <a:xfrm>
            <a:off x="851130" y="5345452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76" name="타원 275"/>
          <p:cNvSpPr/>
          <p:nvPr/>
        </p:nvSpPr>
        <p:spPr>
          <a:xfrm>
            <a:off x="1462001" y="4631918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542660" y="487267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632499" y="5232811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688468" y="3019552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900722" y="3019552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847170" y="4619783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637393" y="461978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aphicFrame>
        <p:nvGraphicFramePr>
          <p:cNvPr id="287" name="개체 286"/>
          <p:cNvGraphicFramePr>
            <a:graphicFrameLocks noChangeAspect="1"/>
          </p:cNvGraphicFramePr>
          <p:nvPr>
            <p:extLst/>
          </p:nvPr>
        </p:nvGraphicFramePr>
        <p:xfrm>
          <a:off x="858105" y="1959605"/>
          <a:ext cx="288471" cy="33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287" name="개체 2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8105" y="1959605"/>
                        <a:ext cx="288471" cy="33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" name="굽은 화살표 288"/>
          <p:cNvSpPr/>
          <p:nvPr/>
        </p:nvSpPr>
        <p:spPr>
          <a:xfrm rot="9141819" flipH="1">
            <a:off x="1403746" y="2131793"/>
            <a:ext cx="324870" cy="1421151"/>
          </a:xfrm>
          <a:prstGeom prst="bentArrow">
            <a:avLst>
              <a:gd name="adj1" fmla="val 25000"/>
              <a:gd name="adj2" fmla="val 20731"/>
              <a:gd name="adj3" fmla="val 25000"/>
              <a:gd name="adj4" fmla="val 238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0" name="직사각형 289"/>
          <p:cNvSpPr/>
          <p:nvPr/>
        </p:nvSpPr>
        <p:spPr>
          <a:xfrm>
            <a:off x="1123943" y="2549557"/>
            <a:ext cx="478899" cy="288139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 smtClean="0">
                <a:solidFill>
                  <a:schemeClr val="bg1"/>
                </a:solidFill>
                <a:latin typeface="맑은 고딕" pitchFamily="50" charset="-127"/>
              </a:rPr>
              <a:t>롱탭</a:t>
            </a:r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</a:rPr>
              <a:t> 후</a:t>
            </a:r>
            <a:endParaRPr lang="en-US" altLang="ko-KR" sz="600" b="1" dirty="0" smtClean="0">
              <a:solidFill>
                <a:schemeClr val="bg1"/>
              </a:solidFill>
              <a:latin typeface="맑은 고딕" pitchFamily="50" charset="-127"/>
            </a:endParaRPr>
          </a:p>
          <a:p>
            <a:pPr algn="ctr"/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드래그앤드롭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1" name="직사각형 290"/>
          <p:cNvSpPr/>
          <p:nvPr/>
        </p:nvSpPr>
        <p:spPr>
          <a:xfrm>
            <a:off x="4355382" y="260766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TextBox 291"/>
          <p:cNvSpPr txBox="1"/>
          <p:nvPr/>
        </p:nvSpPr>
        <p:spPr>
          <a:xfrm>
            <a:off x="4504010" y="268218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4522170" y="2975559"/>
            <a:ext cx="1104400" cy="958355"/>
            <a:chOff x="4630176" y="3963919"/>
            <a:chExt cx="1104400" cy="958355"/>
          </a:xfrm>
        </p:grpSpPr>
        <p:sp>
          <p:nvSpPr>
            <p:cNvPr id="294" name="모서리가 둥근 직사각형 29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97" name="직선 연결선 296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타원 297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9" name="직사각형 298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00" name="직사각형 299"/>
          <p:cNvSpPr/>
          <p:nvPr/>
        </p:nvSpPr>
        <p:spPr>
          <a:xfrm>
            <a:off x="4512615" y="3251188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7046663" y="3102209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7032646" y="3431645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4355382" y="93631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TextBox 303"/>
          <p:cNvSpPr txBox="1"/>
          <p:nvPr/>
        </p:nvSpPr>
        <p:spPr>
          <a:xfrm>
            <a:off x="4504010" y="101083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05" name="모서리가 둥근 직사각형 304"/>
          <p:cNvSpPr/>
          <p:nvPr/>
        </p:nvSpPr>
        <p:spPr>
          <a:xfrm>
            <a:off x="6627663" y="105259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6" name="그룹 305"/>
          <p:cNvGrpSpPr/>
          <p:nvPr/>
        </p:nvGrpSpPr>
        <p:grpSpPr>
          <a:xfrm>
            <a:off x="5692465" y="2987547"/>
            <a:ext cx="1104400" cy="958355"/>
            <a:chOff x="4630176" y="3963919"/>
            <a:chExt cx="1104400" cy="958355"/>
          </a:xfrm>
        </p:grpSpPr>
        <p:sp>
          <p:nvSpPr>
            <p:cNvPr id="307" name="모서리가 둥근 직사각형 306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10" name="직선 연결선 309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타원 310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3" name="직사각형 312"/>
          <p:cNvSpPr/>
          <p:nvPr/>
        </p:nvSpPr>
        <p:spPr>
          <a:xfrm>
            <a:off x="5682910" y="3263176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5856645" y="149548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842628" y="182491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16" name="Freeform 11"/>
          <p:cNvSpPr>
            <a:spLocks noChangeArrowheads="1"/>
          </p:cNvSpPr>
          <p:nvPr/>
        </p:nvSpPr>
        <p:spPr bwMode="auto">
          <a:xfrm>
            <a:off x="7323535" y="272422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" name="Freeform 11"/>
          <p:cNvSpPr>
            <a:spLocks noChangeArrowheads="1"/>
          </p:cNvSpPr>
          <p:nvPr/>
        </p:nvSpPr>
        <p:spPr bwMode="auto">
          <a:xfrm>
            <a:off x="7323535" y="10542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5758829" y="3618784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4588534" y="360978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1" name="모서리가 둥근 직사각형 320"/>
          <p:cNvSpPr/>
          <p:nvPr/>
        </p:nvSpPr>
        <p:spPr>
          <a:xfrm>
            <a:off x="6627663" y="275168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4355382" y="419034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TextBox 322"/>
          <p:cNvSpPr txBox="1"/>
          <p:nvPr/>
        </p:nvSpPr>
        <p:spPr>
          <a:xfrm>
            <a:off x="4504010" y="426486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32" name="타원 331"/>
          <p:cNvSpPr/>
          <p:nvPr/>
        </p:nvSpPr>
        <p:spPr>
          <a:xfrm>
            <a:off x="7004645" y="4795524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6990628" y="5124960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4" name="Freeform 11"/>
          <p:cNvSpPr>
            <a:spLocks noChangeArrowheads="1"/>
          </p:cNvSpPr>
          <p:nvPr/>
        </p:nvSpPr>
        <p:spPr bwMode="auto">
          <a:xfrm>
            <a:off x="7323535" y="430690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" name="모서리가 둥근 직사각형 335"/>
          <p:cNvSpPr/>
          <p:nvPr/>
        </p:nvSpPr>
        <p:spPr>
          <a:xfrm>
            <a:off x="6627663" y="433436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7" name="그룹 336"/>
          <p:cNvGrpSpPr/>
          <p:nvPr/>
        </p:nvGrpSpPr>
        <p:grpSpPr>
          <a:xfrm>
            <a:off x="4444594" y="4562769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338" name="모서리가 둥근 직사각형 337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41" name="직선 연결선 340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타원 341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43" name="직사각형 342"/>
          <p:cNvSpPr/>
          <p:nvPr/>
        </p:nvSpPr>
        <p:spPr>
          <a:xfrm>
            <a:off x="4740253" y="5321283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44" name="타원 343"/>
          <p:cNvSpPr/>
          <p:nvPr/>
        </p:nvSpPr>
        <p:spPr>
          <a:xfrm>
            <a:off x="5351124" y="4607749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4431783" y="4848501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46" name="모서리가 둥근 직사각형 345"/>
          <p:cNvSpPr/>
          <p:nvPr/>
        </p:nvSpPr>
        <p:spPr>
          <a:xfrm>
            <a:off x="4521622" y="5208642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7" name="직사각형 346"/>
          <p:cNvSpPr/>
          <p:nvPr/>
        </p:nvSpPr>
        <p:spPr>
          <a:xfrm>
            <a:off x="4588065" y="3025832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48" name="직사각형 347"/>
          <p:cNvSpPr/>
          <p:nvPr/>
        </p:nvSpPr>
        <p:spPr>
          <a:xfrm>
            <a:off x="4800319" y="3025832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49" name="직사각형 348"/>
          <p:cNvSpPr/>
          <p:nvPr/>
        </p:nvSpPr>
        <p:spPr>
          <a:xfrm>
            <a:off x="4736293" y="4595614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0" name="직사각형 349"/>
          <p:cNvSpPr/>
          <p:nvPr/>
        </p:nvSpPr>
        <p:spPr>
          <a:xfrm>
            <a:off x="4526516" y="459561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5789203" y="3019705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6001457" y="3019705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3748095" y="3249418"/>
            <a:ext cx="481299" cy="280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직사각형 357"/>
          <p:cNvSpPr/>
          <p:nvPr/>
        </p:nvSpPr>
        <p:spPr>
          <a:xfrm>
            <a:off x="8486354" y="2601383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TextBox 358"/>
          <p:cNvSpPr txBox="1"/>
          <p:nvPr/>
        </p:nvSpPr>
        <p:spPr>
          <a:xfrm>
            <a:off x="8634982" y="2675909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60" name="그룹 359"/>
          <p:cNvGrpSpPr/>
          <p:nvPr/>
        </p:nvGrpSpPr>
        <p:grpSpPr>
          <a:xfrm>
            <a:off x="9790625" y="3032481"/>
            <a:ext cx="1104400" cy="958355"/>
            <a:chOff x="4630176" y="3963919"/>
            <a:chExt cx="1104400" cy="958355"/>
          </a:xfrm>
        </p:grpSpPr>
        <p:sp>
          <p:nvSpPr>
            <p:cNvPr id="361" name="모서리가 둥근 직사각형 36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64" name="직선 연결선 36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타원 36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66" name="직사각형 36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67" name="직사각형 366"/>
          <p:cNvSpPr/>
          <p:nvPr/>
        </p:nvSpPr>
        <p:spPr>
          <a:xfrm>
            <a:off x="9781070" y="330811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8486354" y="930030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TextBox 370"/>
          <p:cNvSpPr txBox="1"/>
          <p:nvPr/>
        </p:nvSpPr>
        <p:spPr>
          <a:xfrm>
            <a:off x="8570500" y="1004556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 smtClean="0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10758635" y="1046316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3" name="그룹 372"/>
          <p:cNvGrpSpPr/>
          <p:nvPr/>
        </p:nvGrpSpPr>
        <p:grpSpPr>
          <a:xfrm>
            <a:off x="10943011" y="3026201"/>
            <a:ext cx="1104400" cy="958355"/>
            <a:chOff x="4630176" y="3963919"/>
            <a:chExt cx="1104400" cy="958355"/>
          </a:xfrm>
        </p:grpSpPr>
        <p:sp>
          <p:nvSpPr>
            <p:cNvPr id="374" name="모서리가 둥근 직사각형 37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박지성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</a:t>
              </a:r>
              <a:r>
                <a:rPr lang="en-US" altLang="ko-KR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P0123456333)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77" name="직선 연결선 376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타원 377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직사각형 378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80" name="직사각형 379"/>
          <p:cNvSpPr/>
          <p:nvPr/>
        </p:nvSpPr>
        <p:spPr>
          <a:xfrm>
            <a:off x="10933456" y="330183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81" name="타원 380"/>
          <p:cNvSpPr/>
          <p:nvPr/>
        </p:nvSpPr>
        <p:spPr>
          <a:xfrm>
            <a:off x="9987617" y="1489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9973600" y="1818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383" name="Freeform 11"/>
          <p:cNvSpPr>
            <a:spLocks noChangeArrowheads="1"/>
          </p:cNvSpPr>
          <p:nvPr/>
        </p:nvSpPr>
        <p:spPr bwMode="auto">
          <a:xfrm>
            <a:off x="11454507" y="271794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4" name="Freeform 11"/>
          <p:cNvSpPr>
            <a:spLocks noChangeArrowheads="1"/>
          </p:cNvSpPr>
          <p:nvPr/>
        </p:nvSpPr>
        <p:spPr bwMode="auto">
          <a:xfrm>
            <a:off x="11454507" y="104797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5" name="모서리가 둥근 직사각형 384"/>
          <p:cNvSpPr/>
          <p:nvPr/>
        </p:nvSpPr>
        <p:spPr>
          <a:xfrm>
            <a:off x="11009375" y="365743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6" name="모서리가 둥근 직사각형 385"/>
          <p:cNvSpPr/>
          <p:nvPr/>
        </p:nvSpPr>
        <p:spPr>
          <a:xfrm>
            <a:off x="9856989" y="366670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7" name="모서리가 둥근 직사각형 386"/>
          <p:cNvSpPr/>
          <p:nvPr/>
        </p:nvSpPr>
        <p:spPr>
          <a:xfrm>
            <a:off x="10758635" y="2745403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8" name="직사각형 387"/>
          <p:cNvSpPr/>
          <p:nvPr/>
        </p:nvSpPr>
        <p:spPr>
          <a:xfrm>
            <a:off x="8486354" y="4184062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9" name="TextBox 388"/>
          <p:cNvSpPr txBox="1"/>
          <p:nvPr/>
        </p:nvSpPr>
        <p:spPr>
          <a:xfrm>
            <a:off x="8634982" y="4258588"/>
            <a:ext cx="62132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smtClean="0">
                <a:latin typeface="+mn-ea"/>
              </a:rPr>
              <a:t>결재</a:t>
            </a:r>
            <a:r>
              <a:rPr lang="en-US" altLang="ko-KR" sz="900" b="1" dirty="0" smtClean="0">
                <a:latin typeface="+mn-ea"/>
              </a:rPr>
              <a:t>5</a:t>
            </a:r>
            <a:r>
              <a:rPr lang="ko-KR" altLang="en-US" sz="900" b="1" dirty="0" smtClean="0">
                <a:latin typeface="+mn-ea"/>
              </a:rPr>
              <a:t>단계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90" name="그룹 389"/>
          <p:cNvGrpSpPr/>
          <p:nvPr/>
        </p:nvGrpSpPr>
        <p:grpSpPr>
          <a:xfrm>
            <a:off x="8653142" y="4551958"/>
            <a:ext cx="1104400" cy="958355"/>
            <a:chOff x="4630176" y="3963919"/>
            <a:chExt cx="1104400" cy="958355"/>
          </a:xfrm>
        </p:grpSpPr>
        <p:sp>
          <p:nvSpPr>
            <p:cNvPr id="391" name="모서리가 둥근 직사각형 39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94" name="직선 연결선 39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타원 39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6" name="직사각형 39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97" name="직사각형 396"/>
          <p:cNvSpPr/>
          <p:nvPr/>
        </p:nvSpPr>
        <p:spPr>
          <a:xfrm>
            <a:off x="8643587" y="4827587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398" name="타원 397"/>
          <p:cNvSpPr/>
          <p:nvPr/>
        </p:nvSpPr>
        <p:spPr>
          <a:xfrm>
            <a:off x="10064124" y="475171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10050107" y="508114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400" name="Freeform 11"/>
          <p:cNvSpPr>
            <a:spLocks noChangeArrowheads="1"/>
          </p:cNvSpPr>
          <p:nvPr/>
        </p:nvSpPr>
        <p:spPr bwMode="auto">
          <a:xfrm>
            <a:off x="11454507" y="43006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1" name="모서리가 둥근 직사각형 400"/>
          <p:cNvSpPr/>
          <p:nvPr/>
        </p:nvSpPr>
        <p:spPr>
          <a:xfrm>
            <a:off x="8655024" y="5186182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2" name="모서리가 둥근 직사각형 401"/>
          <p:cNvSpPr/>
          <p:nvPr/>
        </p:nvSpPr>
        <p:spPr>
          <a:xfrm>
            <a:off x="10758635" y="432808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3" name="직사각형 412"/>
          <p:cNvSpPr/>
          <p:nvPr/>
        </p:nvSpPr>
        <p:spPr>
          <a:xfrm>
            <a:off x="9856520" y="3082754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14" name="직사각형 413"/>
          <p:cNvSpPr/>
          <p:nvPr/>
        </p:nvSpPr>
        <p:spPr>
          <a:xfrm>
            <a:off x="10068774" y="308275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17" name="직사각형 416"/>
          <p:cNvSpPr/>
          <p:nvPr/>
        </p:nvSpPr>
        <p:spPr>
          <a:xfrm>
            <a:off x="11039749" y="3058359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18" name="직사각형 417"/>
          <p:cNvSpPr/>
          <p:nvPr/>
        </p:nvSpPr>
        <p:spPr>
          <a:xfrm>
            <a:off x="11252003" y="3058359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20" name="오른쪽 화살표 419"/>
          <p:cNvSpPr/>
          <p:nvPr/>
        </p:nvSpPr>
        <p:spPr>
          <a:xfrm>
            <a:off x="7771116" y="4139942"/>
            <a:ext cx="574431" cy="280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3" name="굽은 화살표 432"/>
          <p:cNvSpPr/>
          <p:nvPr/>
        </p:nvSpPr>
        <p:spPr>
          <a:xfrm rot="3734340">
            <a:off x="6732901" y="2015119"/>
            <a:ext cx="378307" cy="3794678"/>
          </a:xfrm>
          <a:prstGeom prst="bentArrow">
            <a:avLst>
              <a:gd name="adj1" fmla="val 25000"/>
              <a:gd name="adj2" fmla="val 20731"/>
              <a:gd name="adj3" fmla="val 50000"/>
              <a:gd name="adj4" fmla="val 268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434" name="개체 433"/>
          <p:cNvGraphicFramePr>
            <a:graphicFrameLocks noChangeAspect="1"/>
          </p:cNvGraphicFramePr>
          <p:nvPr>
            <p:extLst/>
          </p:nvPr>
        </p:nvGraphicFramePr>
        <p:xfrm>
          <a:off x="4955502" y="4525078"/>
          <a:ext cx="288471" cy="33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9" name="Image" r:id="rId3" imgW="2158560" imgH="2488680" progId="Photoshop.Image.13">
                  <p:embed/>
                </p:oleObj>
              </mc:Choice>
              <mc:Fallback>
                <p:oleObj name="Image" r:id="rId3" imgW="2158560" imgH="2488680" progId="Photoshop.Image.13">
                  <p:embed/>
                  <p:pic>
                    <p:nvPicPr>
                      <p:cNvPr id="434" name="개체 4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5502" y="4525078"/>
                        <a:ext cx="288471" cy="33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" name="직사각형 434"/>
          <p:cNvSpPr/>
          <p:nvPr/>
        </p:nvSpPr>
        <p:spPr>
          <a:xfrm>
            <a:off x="7331691" y="3940205"/>
            <a:ext cx="478899" cy="288139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err="1" smtClean="0">
                <a:solidFill>
                  <a:schemeClr val="bg1"/>
                </a:solidFill>
                <a:latin typeface="맑은 고딕" pitchFamily="50" charset="-127"/>
              </a:rPr>
              <a:t>롱탭</a:t>
            </a:r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</a:rPr>
              <a:t> 후</a:t>
            </a:r>
            <a:endParaRPr lang="en-US" altLang="ko-KR" sz="600" b="1" dirty="0" smtClean="0">
              <a:solidFill>
                <a:schemeClr val="bg1"/>
              </a:solidFill>
              <a:latin typeface="맑은 고딕" pitchFamily="50" charset="-127"/>
            </a:endParaRPr>
          </a:p>
          <a:p>
            <a:pPr algn="ctr"/>
            <a:r>
              <a:rPr lang="ko-KR" altLang="en-US" sz="6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드래그앤드롭</a:t>
            </a:r>
            <a:endParaRPr lang="ko-KR" altLang="en-US" sz="6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6" name="직사각형 435"/>
          <p:cNvSpPr/>
          <p:nvPr/>
        </p:nvSpPr>
        <p:spPr>
          <a:xfrm>
            <a:off x="455785" y="5768783"/>
            <a:ext cx="3233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 err="1" smtClean="0">
                <a:latin typeface="+mn-ea"/>
              </a:rPr>
              <a:t>결재자는</a:t>
            </a:r>
            <a:r>
              <a:rPr lang="ko-KR" altLang="en-US" sz="800" dirty="0" smtClean="0">
                <a:latin typeface="+mn-ea"/>
              </a:rPr>
              <a:t> 이동 후 단계에 따라 결재</a:t>
            </a:r>
            <a:r>
              <a:rPr lang="en-US" altLang="ko-KR" sz="800" dirty="0" smtClean="0">
                <a:latin typeface="+mn-ea"/>
              </a:rPr>
              <a:t>/</a:t>
            </a:r>
            <a:r>
              <a:rPr lang="ko-KR" altLang="en-US" sz="800" dirty="0" smtClean="0">
                <a:latin typeface="+mn-ea"/>
              </a:rPr>
              <a:t>승인으로 표시</a:t>
            </a:r>
            <a:r>
              <a:rPr lang="en-US" altLang="ko-KR" sz="800" dirty="0" smtClean="0">
                <a:latin typeface="+mn-ea"/>
              </a:rPr>
              <a:t/>
            </a:r>
            <a:br>
              <a:rPr lang="en-US" altLang="ko-KR" sz="800" dirty="0" smtClean="0">
                <a:latin typeface="+mn-ea"/>
              </a:rPr>
            </a:br>
            <a:r>
              <a:rPr lang="en-US" altLang="ko-KR" sz="800" dirty="0" smtClean="0">
                <a:latin typeface="+mn-ea"/>
              </a:rPr>
              <a:t>ex1)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구성원은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 smtClean="0">
                <a:latin typeface="+mn-ea"/>
              </a:rPr>
              <a:t>ex2) </a:t>
            </a:r>
            <a:r>
              <a:rPr lang="ko-KR" altLang="en-US" sz="800" dirty="0" err="1">
                <a:latin typeface="+mn-ea"/>
              </a:rPr>
              <a:t>승</a:t>
            </a:r>
            <a:r>
              <a:rPr lang="ko-KR" altLang="en-US" sz="800" dirty="0" err="1" smtClean="0">
                <a:latin typeface="+mn-ea"/>
              </a:rPr>
              <a:t>인단계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구성원은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>
                <a:latin typeface="+mn-ea"/>
              </a:rPr>
              <a:t>Ex3) </a:t>
            </a:r>
            <a:r>
              <a:rPr lang="ko-KR" altLang="en-US" sz="800" dirty="0" err="1">
                <a:latin typeface="+mn-ea"/>
              </a:rPr>
              <a:t>결재단계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>
                <a:latin typeface="+mn-ea"/>
                <a:sym typeface="Wingdings" panose="05000000000000000000" pitchFamily="2" charset="2"/>
              </a:rPr>
              <a:t>기안단계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>
                <a:latin typeface="+mn-ea"/>
                <a:sym typeface="Wingdings" panose="05000000000000000000" pitchFamily="2" charset="2"/>
              </a:rPr>
              <a:t>기안자로</a:t>
            </a:r>
            <a:r>
              <a:rPr lang="ko-KR" altLang="en-US" sz="800" dirty="0">
                <a:latin typeface="+mn-ea"/>
                <a:sym typeface="Wingdings" panose="05000000000000000000" pitchFamily="2" charset="2"/>
              </a:rPr>
              <a:t> 변경</a:t>
            </a:r>
            <a:endParaRPr lang="en-US" altLang="ko-KR" sz="800" dirty="0">
              <a:latin typeface="+mn-ea"/>
            </a:endParaRPr>
          </a:p>
        </p:txBody>
      </p:sp>
      <p:sp>
        <p:nvSpPr>
          <p:cNvPr id="437" name="직사각형 436"/>
          <p:cNvSpPr/>
          <p:nvPr/>
        </p:nvSpPr>
        <p:spPr>
          <a:xfrm>
            <a:off x="4403034" y="5818392"/>
            <a:ext cx="3233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 dirty="0" err="1" smtClean="0">
                <a:latin typeface="+mn-ea"/>
              </a:rPr>
              <a:t>확인자는</a:t>
            </a:r>
            <a:r>
              <a:rPr lang="ko-KR" altLang="en-US" sz="800" dirty="0" smtClean="0">
                <a:latin typeface="+mn-ea"/>
              </a:rPr>
              <a:t> 이동 후 단계에 따라 처리</a:t>
            </a:r>
            <a:r>
              <a:rPr lang="en-US" altLang="ko-KR" sz="800" dirty="0" smtClean="0">
                <a:latin typeface="+mn-ea"/>
              </a:rPr>
              <a:t/>
            </a:r>
            <a:br>
              <a:rPr lang="en-US" altLang="ko-KR" sz="800" dirty="0" smtClean="0">
                <a:latin typeface="+mn-ea"/>
              </a:rPr>
            </a:br>
            <a:r>
              <a:rPr lang="en-US" altLang="ko-KR" sz="800" dirty="0" smtClean="0">
                <a:latin typeface="+mn-ea"/>
              </a:rPr>
              <a:t>ex1)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결재단계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확인자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유지</a:t>
            </a:r>
            <a:endParaRPr lang="en-US" altLang="ko-KR" sz="800" dirty="0" smtClean="0">
              <a:latin typeface="+mn-ea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altLang="ko-KR" sz="800" dirty="0" smtClean="0">
                <a:latin typeface="+mn-ea"/>
              </a:rPr>
              <a:t>Ex2) </a:t>
            </a:r>
            <a:r>
              <a:rPr lang="ko-KR" altLang="en-US" sz="800" dirty="0" err="1" smtClean="0">
                <a:latin typeface="+mn-ea"/>
              </a:rPr>
              <a:t>결재단계</a:t>
            </a:r>
            <a:r>
              <a:rPr lang="ko-KR" altLang="en-US" sz="800" dirty="0" smtClean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승인자로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r>
              <a:rPr lang="en-US" altLang="ko-KR" sz="800" dirty="0" smtClean="0">
                <a:latin typeface="+mn-ea"/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latin typeface="+mn-ea"/>
                <a:sym typeface="Wingdings" panose="05000000000000000000" pitchFamily="2" charset="2"/>
              </a:rPr>
            </a:br>
            <a:r>
              <a:rPr lang="en-US" altLang="ko-KR" sz="800" dirty="0" smtClean="0">
                <a:latin typeface="+mn-ea"/>
              </a:rPr>
              <a:t>Ex3) </a:t>
            </a:r>
            <a:r>
              <a:rPr lang="ko-KR" altLang="en-US" sz="800" dirty="0" err="1">
                <a:latin typeface="+mn-ea"/>
              </a:rPr>
              <a:t>결재단계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기안단계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latin typeface="+mn-ea"/>
                <a:sym typeface="Wingdings" panose="05000000000000000000" pitchFamily="2" charset="2"/>
              </a:rPr>
              <a:t>기안자로</a:t>
            </a:r>
            <a:r>
              <a:rPr lang="ko-KR" altLang="en-US" sz="800" dirty="0" smtClean="0">
                <a:latin typeface="+mn-ea"/>
                <a:sym typeface="Wingdings" panose="05000000000000000000" pitchFamily="2" charset="2"/>
              </a:rPr>
              <a:t> 변경</a:t>
            </a:r>
            <a:endParaRPr lang="en-US" altLang="ko-KR" sz="800" dirty="0">
              <a:latin typeface="+mn-ea"/>
            </a:endParaRPr>
          </a:p>
        </p:txBody>
      </p:sp>
      <p:grpSp>
        <p:nvGrpSpPr>
          <p:cNvPr id="200" name="그룹 199"/>
          <p:cNvGrpSpPr/>
          <p:nvPr/>
        </p:nvGrpSpPr>
        <p:grpSpPr>
          <a:xfrm>
            <a:off x="1757117" y="4569313"/>
            <a:ext cx="1104400" cy="958355"/>
            <a:chOff x="4630176" y="3963919"/>
            <a:chExt cx="1104400" cy="958355"/>
          </a:xfrm>
        </p:grpSpPr>
        <p:sp>
          <p:nvSpPr>
            <p:cNvPr id="201" name="모서리가 둥근 직사각형 200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04" name="직선 연결선 203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타원 204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07" name="직사각형 206"/>
          <p:cNvSpPr/>
          <p:nvPr/>
        </p:nvSpPr>
        <p:spPr>
          <a:xfrm>
            <a:off x="1747562" y="4844942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1823481" y="5203537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9" name="직사각형 208"/>
          <p:cNvSpPr/>
          <p:nvPr/>
        </p:nvSpPr>
        <p:spPr>
          <a:xfrm>
            <a:off x="1836354" y="4606748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2048608" y="4606748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11" name="그룹 210"/>
          <p:cNvGrpSpPr/>
          <p:nvPr/>
        </p:nvGrpSpPr>
        <p:grpSpPr>
          <a:xfrm>
            <a:off x="8597252" y="3033533"/>
            <a:ext cx="1104400" cy="958355"/>
            <a:chOff x="4630176" y="3963919"/>
            <a:chExt cx="1104400" cy="958355"/>
          </a:xfrm>
          <a:solidFill>
            <a:schemeClr val="bg1"/>
          </a:solidFill>
        </p:grpSpPr>
        <p:sp>
          <p:nvSpPr>
            <p:cNvPr id="212" name="모서리가 둥근 직사각형 211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grpFill/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김길수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grp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15" name="직선 연결선 214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타원 215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7" name="직사각형 216"/>
          <p:cNvSpPr/>
          <p:nvPr/>
        </p:nvSpPr>
        <p:spPr>
          <a:xfrm>
            <a:off x="8892911" y="3792047"/>
            <a:ext cx="492443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상세보기</a:t>
            </a:r>
            <a:endParaRPr lang="en-US" altLang="ko-KR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4" name="타원 223"/>
          <p:cNvSpPr/>
          <p:nvPr/>
        </p:nvSpPr>
        <p:spPr>
          <a:xfrm>
            <a:off x="9602393" y="3084674"/>
            <a:ext cx="136184" cy="13618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X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8584441" y="3319265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8674280" y="3679406"/>
            <a:ext cx="218631" cy="11468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8888951" y="3066378"/>
            <a:ext cx="206949" cy="1480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8679174" y="3066378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결재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8763443" y="461096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8975697" y="461096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244" name="그룹 243"/>
          <p:cNvGrpSpPr/>
          <p:nvPr/>
        </p:nvGrpSpPr>
        <p:grpSpPr>
          <a:xfrm>
            <a:off x="5641480" y="4546951"/>
            <a:ext cx="1104400" cy="958355"/>
            <a:chOff x="4630176" y="3963919"/>
            <a:chExt cx="1104400" cy="958355"/>
          </a:xfrm>
        </p:grpSpPr>
        <p:sp>
          <p:nvSpPr>
            <p:cNvPr id="245" name="모서리가 둥근 직사각형 244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고길동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79" name="직선 연결선 278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타원 279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1" name="직사각형 280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86" name="직사각형 285"/>
          <p:cNvSpPr/>
          <p:nvPr/>
        </p:nvSpPr>
        <p:spPr>
          <a:xfrm>
            <a:off x="5631925" y="482258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88" name="모서리가 둥근 직사각형 287"/>
          <p:cNvSpPr/>
          <p:nvPr/>
        </p:nvSpPr>
        <p:spPr>
          <a:xfrm>
            <a:off x="5643362" y="5181175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8" name="직사각형 317"/>
          <p:cNvSpPr/>
          <p:nvPr/>
        </p:nvSpPr>
        <p:spPr>
          <a:xfrm>
            <a:off x="5751781" y="460595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1" name="직사각형 350"/>
          <p:cNvSpPr/>
          <p:nvPr/>
        </p:nvSpPr>
        <p:spPr>
          <a:xfrm>
            <a:off x="5964035" y="460595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95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관리</a:t>
            </a:r>
            <a:endParaRPr lang="en-US" altLang="ko-KR" sz="800" kern="0" dirty="0"/>
          </a:p>
        </p:txBody>
      </p:sp>
      <p:grpSp>
        <p:nvGrpSpPr>
          <p:cNvPr id="42" name="그룹 41"/>
          <p:cNvGrpSpPr/>
          <p:nvPr/>
        </p:nvGrpSpPr>
        <p:grpSpPr>
          <a:xfrm>
            <a:off x="194472" y="545210"/>
            <a:ext cx="3230372" cy="398482"/>
            <a:chOff x="7330918" y="3572857"/>
            <a:chExt cx="3168000" cy="398482"/>
          </a:xfrm>
        </p:grpSpPr>
        <p:sp>
          <p:nvSpPr>
            <p:cNvPr id="43" name="직사각형 42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30131" y="3638178"/>
              <a:ext cx="687930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구성원추가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5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85218" y="1548352"/>
            <a:ext cx="3039047" cy="330118"/>
            <a:chOff x="5804087" y="4215557"/>
            <a:chExt cx="3024000" cy="288696"/>
          </a:xfrm>
        </p:grpSpPr>
        <p:sp>
          <p:nvSpPr>
            <p:cNvPr id="53" name="직사각형 52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276794" y="1597995"/>
            <a:ext cx="104387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이름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’ ‘ID’ ‘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부서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+mn-ea"/>
                <a:cs typeface="Calibri" pitchFamily="34" charset="0"/>
              </a:rPr>
              <a:t>‘ 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6" name="개체 55"/>
          <p:cNvGraphicFramePr>
            <a:graphicFrameLocks noChangeAspect="1"/>
          </p:cNvGraphicFramePr>
          <p:nvPr>
            <p:extLst/>
          </p:nvPr>
        </p:nvGraphicFramePr>
        <p:xfrm>
          <a:off x="3039575" y="1606228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9575" y="1606228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직사각형 56"/>
          <p:cNvSpPr/>
          <p:nvPr/>
        </p:nvSpPr>
        <p:spPr>
          <a:xfrm>
            <a:off x="295637" y="226070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67409" y="232518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%</a:t>
            </a:r>
            <a:r>
              <a:rPr lang="ko-KR" altLang="en-US" sz="1100" b="1" dirty="0" smtClean="0">
                <a:latin typeface="+mn-ea"/>
              </a:rPr>
              <a:t>성명</a:t>
            </a:r>
            <a:r>
              <a:rPr lang="en-US" altLang="ko-KR" sz="1100" b="1" dirty="0" smtClean="0">
                <a:latin typeface="+mn-ea"/>
              </a:rPr>
              <a:t>% (%</a:t>
            </a:r>
            <a:r>
              <a:rPr lang="ko-KR" altLang="en-US" sz="1100" b="1" dirty="0" smtClean="0">
                <a:latin typeface="+mn-ea"/>
              </a:rPr>
              <a:t>아이디</a:t>
            </a:r>
            <a:r>
              <a:rPr lang="en-US" altLang="ko-KR" sz="1100" b="1" dirty="0" smtClean="0">
                <a:latin typeface="+mn-ea"/>
              </a:rPr>
              <a:t>%)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753441" y="2560332"/>
            <a:ext cx="13756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부서명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직위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435100" y="2618695"/>
            <a:ext cx="162390" cy="177311"/>
            <a:chOff x="4774349" y="5330127"/>
            <a:chExt cx="162390" cy="177311"/>
          </a:xfrm>
        </p:grpSpPr>
        <p:sp>
          <p:nvSpPr>
            <p:cNvPr id="61" name="직사각형 60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01087" y="3101580"/>
            <a:ext cx="2530006" cy="405790"/>
            <a:chOff x="754673" y="2028264"/>
            <a:chExt cx="2530006" cy="405790"/>
          </a:xfrm>
        </p:grpSpPr>
        <p:sp>
          <p:nvSpPr>
            <p:cNvPr id="63" name="직사각형 62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95" name="직사각형 94"/>
          <p:cNvSpPr/>
          <p:nvPr/>
        </p:nvSpPr>
        <p:spPr>
          <a:xfrm>
            <a:off x="3853831" y="6075249"/>
            <a:ext cx="3158168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sp>
        <p:nvSpPr>
          <p:cNvPr id="96" name="직사각형 95"/>
          <p:cNvSpPr/>
          <p:nvPr/>
        </p:nvSpPr>
        <p:spPr>
          <a:xfrm>
            <a:off x="3858748" y="5421405"/>
            <a:ext cx="1588514" cy="34382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확인자지정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423485" y="5421405"/>
            <a:ext cx="158851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결재자지정</a:t>
            </a:r>
            <a:endParaRPr lang="ko-KR" altLang="en-US" sz="10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3858748" y="583927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기안단계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858748" y="5146018"/>
            <a:ext cx="553998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결재단계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840537" y="4426231"/>
            <a:ext cx="157671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마지막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단계 </a:t>
            </a:r>
            <a:r>
              <a:rPr lang="en-US" altLang="ko-KR" sz="900" b="1" dirty="0">
                <a:latin typeface="+mn-ea"/>
              </a:rPr>
              <a:t>/ </a:t>
            </a:r>
            <a:r>
              <a:rPr lang="ko-KR" altLang="en-US" sz="900" b="1" dirty="0" err="1">
                <a:latin typeface="+mn-ea"/>
              </a:rPr>
              <a:t>승인단계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3840537" y="4686404"/>
            <a:ext cx="3166545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결재자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승인자</a:t>
            </a:r>
            <a:r>
              <a:rPr lang="en-US" altLang="ko-KR" sz="1000" b="1" dirty="0"/>
              <a:t>) </a:t>
            </a:r>
            <a:r>
              <a:rPr lang="ko-KR" altLang="en-US" sz="1000" b="1" dirty="0" smtClean="0"/>
              <a:t>지정</a:t>
            </a:r>
            <a:endParaRPr lang="ko-KR" altLang="en-US" sz="1000" b="1" dirty="0"/>
          </a:p>
        </p:txBody>
      </p:sp>
      <p:cxnSp>
        <p:nvCxnSpPr>
          <p:cNvPr id="94" name="직선 연결선 93"/>
          <p:cNvCxnSpPr/>
          <p:nvPr/>
        </p:nvCxnSpPr>
        <p:spPr>
          <a:xfrm>
            <a:off x="756173" y="3033608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753441" y="2759509"/>
            <a:ext cx="2401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결재자지정구분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사용보안매체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%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295637" y="3629502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667409" y="3693979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n-ea"/>
              </a:rPr>
              <a:t>김길수</a:t>
            </a:r>
            <a:r>
              <a:rPr lang="en-US" altLang="ko-KR" sz="1100" b="1" dirty="0">
                <a:latin typeface="+mn-ea"/>
              </a:rPr>
              <a:t> (P01023045)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67409" y="3929125"/>
            <a:ext cx="9460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철강팀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435100" y="3987488"/>
            <a:ext cx="162390" cy="177311"/>
            <a:chOff x="4774349" y="5330127"/>
            <a:chExt cx="162390" cy="177311"/>
          </a:xfrm>
        </p:grpSpPr>
        <p:sp>
          <p:nvSpPr>
            <p:cNvPr id="108" name="직사각형 107"/>
            <p:cNvSpPr/>
            <p:nvPr/>
          </p:nvSpPr>
          <p:spPr>
            <a:xfrm>
              <a:off x="4774349" y="5382734"/>
              <a:ext cx="124704" cy="12470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9" name="Freeform 1"/>
            <p:cNvSpPr>
              <a:spLocks noChangeArrowheads="1"/>
            </p:cNvSpPr>
            <p:nvPr/>
          </p:nvSpPr>
          <p:spPr bwMode="auto">
            <a:xfrm>
              <a:off x="4792739" y="5330127"/>
              <a:ext cx="144000" cy="144885"/>
            </a:xfrm>
            <a:custGeom>
              <a:avLst/>
              <a:gdLst>
                <a:gd name="T0" fmla="*/ 145 w 446"/>
                <a:gd name="T1" fmla="*/ 266 h 340"/>
                <a:gd name="T2" fmla="*/ 39 w 446"/>
                <a:gd name="T3" fmla="*/ 160 h 340"/>
                <a:gd name="T4" fmla="*/ 0 w 446"/>
                <a:gd name="T5" fmla="*/ 194 h 340"/>
                <a:gd name="T6" fmla="*/ 145 w 446"/>
                <a:gd name="T7" fmla="*/ 339 h 340"/>
                <a:gd name="T8" fmla="*/ 445 w 446"/>
                <a:gd name="T9" fmla="*/ 34 h 340"/>
                <a:gd name="T10" fmla="*/ 411 w 446"/>
                <a:gd name="T11" fmla="*/ 0 h 340"/>
                <a:gd name="T12" fmla="*/ 145 w 446"/>
                <a:gd name="T13" fmla="*/ 26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340">
                  <a:moveTo>
                    <a:pt x="145" y="266"/>
                  </a:moveTo>
                  <a:lnTo>
                    <a:pt x="39" y="160"/>
                  </a:lnTo>
                  <a:lnTo>
                    <a:pt x="0" y="194"/>
                  </a:lnTo>
                  <a:lnTo>
                    <a:pt x="145" y="339"/>
                  </a:lnTo>
                  <a:lnTo>
                    <a:pt x="445" y="34"/>
                  </a:lnTo>
                  <a:lnTo>
                    <a:pt x="411" y="0"/>
                  </a:lnTo>
                  <a:lnTo>
                    <a:pt x="145" y="266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701087" y="4435201"/>
            <a:ext cx="2530006" cy="405790"/>
            <a:chOff x="754673" y="2028264"/>
            <a:chExt cx="2530006" cy="405790"/>
          </a:xfrm>
        </p:grpSpPr>
        <p:sp>
          <p:nvSpPr>
            <p:cNvPr id="111" name="직사각형 110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2377761" y="2202545"/>
              <a:ext cx="90441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54673" y="2203222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cxnSp>
        <p:nvCxnSpPr>
          <p:cNvPr id="115" name="직선 연결선 114"/>
          <p:cNvCxnSpPr/>
          <p:nvPr/>
        </p:nvCxnSpPr>
        <p:spPr>
          <a:xfrm>
            <a:off x="756173" y="4384815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667409" y="4128302"/>
            <a:ext cx="1444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기안불가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295637" y="4980979"/>
            <a:ext cx="3021993" cy="1305682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67409" y="5045456"/>
            <a:ext cx="261842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이지은</a:t>
            </a:r>
            <a:r>
              <a:rPr lang="en-US" altLang="ko-KR" sz="1100" b="1" dirty="0" smtClean="0">
                <a:latin typeface="+mn-ea"/>
              </a:rPr>
              <a:t>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en-US" altLang="ko-KR" sz="1100" b="1" dirty="0" smtClean="0">
                <a:latin typeface="+mn-ea"/>
              </a:rPr>
              <a:t>P01023047)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667407" y="5280602"/>
            <a:ext cx="9460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영어팀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과장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35100" y="5391572"/>
            <a:ext cx="124704" cy="12470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681050" y="5786678"/>
            <a:ext cx="2550043" cy="405790"/>
            <a:chOff x="734636" y="2028264"/>
            <a:chExt cx="2550043" cy="405790"/>
          </a:xfrm>
        </p:grpSpPr>
        <p:sp>
          <p:nvSpPr>
            <p:cNvPr id="124" name="직사각형 123"/>
            <p:cNvSpPr/>
            <p:nvPr/>
          </p:nvSpPr>
          <p:spPr>
            <a:xfrm>
              <a:off x="2508504" y="2028264"/>
              <a:ext cx="7761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1,00,000 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2397799" y="2202545"/>
              <a:ext cx="864339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10,000,000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원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759590" y="2040990"/>
              <a:ext cx="635110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회한도 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34636" y="2203222"/>
              <a:ext cx="67518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일 한도 </a:t>
              </a:r>
            </a:p>
          </p:txBody>
        </p:sp>
      </p:grpSp>
      <p:cxnSp>
        <p:nvCxnSpPr>
          <p:cNvPr id="128" name="직선 연결선 127"/>
          <p:cNvCxnSpPr/>
          <p:nvPr/>
        </p:nvCxnSpPr>
        <p:spPr>
          <a:xfrm>
            <a:off x="756173" y="5736292"/>
            <a:ext cx="2333523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/>
          <p:cNvSpPr/>
          <p:nvPr/>
        </p:nvSpPr>
        <p:spPr>
          <a:xfrm>
            <a:off x="667410" y="5479779"/>
            <a:ext cx="14446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제한없음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</a:t>
            </a:r>
            <a:r>
              <a:rPr lang="ko-KR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디지털</a:t>
            </a:r>
            <a:r>
              <a:rPr lang="en-US" altLang="ko-KR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OTP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54335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1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구성원을 추가하는 팝업으로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이미 추가된 구성원은 별도 표시한다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시 다른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경우에는 등록되지 않은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사용자목록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결재단계별로 정렬하여 목록에 표시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타이틀에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결재단계를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%n%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구성원 수를 표시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3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 입력 후 검색 처리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구성원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목록 정렬 기능 제공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정렬기준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이름순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  2)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부서순</a:t>
                      </a:r>
                      <a:r>
                        <a:rPr lang="ko-KR" altLang="en-US" sz="7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700" baseline="0" dirty="0" err="1" smtClean="0">
                          <a:latin typeface="+mn-ea"/>
                          <a:ea typeface="+mn-ea"/>
                        </a:rPr>
                        <a:t>직위순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등록된 경우 표시 함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04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참여중인 기안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참여중인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결재단계가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없으면 표시 안함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따라 버튼 제공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터치 시 현재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구성원으로 추가 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54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마직막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단계이거나 승인 단계일 경우 </a:t>
                      </a:r>
                      <a:endParaRPr lang="en-US" altLang="ko-KR" sz="7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 또는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2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0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6-4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 단계일 경우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기안자로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4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또는 아이디 클릭 시사용자정보팝업 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86344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33" name="직사각형 132"/>
          <p:cNvSpPr/>
          <p:nvPr/>
        </p:nvSpPr>
        <p:spPr>
          <a:xfrm>
            <a:off x="2806656" y="5032724"/>
            <a:ext cx="432412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r>
              <a:rPr lang="en-US" altLang="ko-KR" sz="600" dirty="0" smtClean="0">
                <a:solidFill>
                  <a:schemeClr val="bg1"/>
                </a:solidFill>
              </a:rPr>
              <a:t>1</a:t>
            </a:r>
            <a:r>
              <a:rPr lang="ko-KR" altLang="en-US" sz="600" dirty="0" smtClean="0">
                <a:solidFill>
                  <a:schemeClr val="bg1"/>
                </a:solidFill>
              </a:rPr>
              <a:t>단계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2825935" y="1466925"/>
            <a:ext cx="251992" cy="230832"/>
            <a:chOff x="4867678" y="3090156"/>
            <a:chExt cx="251992" cy="230832"/>
          </a:xfrm>
        </p:grpSpPr>
        <p:sp>
          <p:nvSpPr>
            <p:cNvPr id="16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1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5" name="그룹 164"/>
          <p:cNvGrpSpPr/>
          <p:nvPr/>
        </p:nvGrpSpPr>
        <p:grpSpPr>
          <a:xfrm>
            <a:off x="201120" y="2532894"/>
            <a:ext cx="251992" cy="230832"/>
            <a:chOff x="4867678" y="3090156"/>
            <a:chExt cx="251992" cy="230832"/>
          </a:xfrm>
        </p:grpSpPr>
        <p:sp>
          <p:nvSpPr>
            <p:cNvPr id="16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6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2633896" y="4907063"/>
            <a:ext cx="251992" cy="230832"/>
            <a:chOff x="4867678" y="3090156"/>
            <a:chExt cx="251992" cy="230832"/>
          </a:xfrm>
        </p:grpSpPr>
        <p:sp>
          <p:nvSpPr>
            <p:cNvPr id="16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1" name="직사각형 170"/>
          <p:cNvSpPr/>
          <p:nvPr/>
        </p:nvSpPr>
        <p:spPr>
          <a:xfrm>
            <a:off x="201840" y="6040487"/>
            <a:ext cx="3223004" cy="343822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기안자지정</a:t>
            </a:r>
            <a:endParaRPr lang="ko-KR" altLang="en-US" sz="1000" b="1" dirty="0"/>
          </a:p>
        </p:txBody>
      </p:sp>
      <p:grpSp>
        <p:nvGrpSpPr>
          <p:cNvPr id="172" name="그룹 171"/>
          <p:cNvGrpSpPr/>
          <p:nvPr/>
        </p:nvGrpSpPr>
        <p:grpSpPr>
          <a:xfrm>
            <a:off x="3638327" y="4715341"/>
            <a:ext cx="367408" cy="230832"/>
            <a:chOff x="4809970" y="3090156"/>
            <a:chExt cx="367408" cy="230832"/>
          </a:xfrm>
        </p:grpSpPr>
        <p:sp>
          <p:nvSpPr>
            <p:cNvPr id="1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3638327" y="5474788"/>
            <a:ext cx="367408" cy="230832"/>
            <a:chOff x="4809970" y="3090156"/>
            <a:chExt cx="367408" cy="230832"/>
          </a:xfrm>
        </p:grpSpPr>
        <p:sp>
          <p:nvSpPr>
            <p:cNvPr id="1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241325" y="6096982"/>
            <a:ext cx="251992" cy="230832"/>
            <a:chOff x="4867678" y="3090156"/>
            <a:chExt cx="251992" cy="230832"/>
          </a:xfrm>
        </p:grpSpPr>
        <p:sp>
          <p:nvSpPr>
            <p:cNvPr id="1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276794" y="1014852"/>
            <a:ext cx="191975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altLang="ko-KR" sz="1200" b="1" dirty="0" smtClean="0">
                <a:latin typeface="+mn-ea"/>
              </a:rPr>
              <a:t>%</a:t>
            </a:r>
            <a:r>
              <a:rPr lang="ko-KR" altLang="en-US" sz="1200" b="1" dirty="0" err="1" smtClean="0">
                <a:latin typeface="+mn-ea"/>
              </a:rPr>
              <a:t>결재단계</a:t>
            </a:r>
            <a:r>
              <a:rPr lang="en-US" altLang="ko-KR" sz="1200" b="1" dirty="0" smtClean="0">
                <a:latin typeface="+mn-ea"/>
              </a:rPr>
              <a:t>%     </a:t>
            </a:r>
            <a:r>
              <a:rPr lang="ko-KR" altLang="en-US" sz="1200" b="1" dirty="0" smtClean="0">
                <a:latin typeface="+mn-ea"/>
              </a:rPr>
              <a:t>에 추가할</a:t>
            </a:r>
            <a:endParaRPr lang="en-US" altLang="ko-KR" sz="1200" b="1" dirty="0" smtClean="0">
              <a:latin typeface="+mn-ea"/>
            </a:endParaRPr>
          </a:p>
          <a:p>
            <a:r>
              <a:rPr lang="ko-KR" altLang="en-US" sz="1200" b="1" dirty="0" smtClean="0">
                <a:latin typeface="+mn-ea"/>
              </a:rPr>
              <a:t>구성원을 선택해주세요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82" name="그룹 181"/>
          <p:cNvGrpSpPr/>
          <p:nvPr/>
        </p:nvGrpSpPr>
        <p:grpSpPr>
          <a:xfrm>
            <a:off x="87603" y="937905"/>
            <a:ext cx="251992" cy="230832"/>
            <a:chOff x="4867678" y="3090156"/>
            <a:chExt cx="251992" cy="230832"/>
          </a:xfrm>
        </p:grpSpPr>
        <p:sp>
          <p:nvSpPr>
            <p:cNvPr id="18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5" name="그룹 184"/>
          <p:cNvGrpSpPr/>
          <p:nvPr/>
        </p:nvGrpSpPr>
        <p:grpSpPr>
          <a:xfrm>
            <a:off x="3638327" y="6040990"/>
            <a:ext cx="367408" cy="230832"/>
            <a:chOff x="4809970" y="3090156"/>
            <a:chExt cx="367408" cy="230832"/>
          </a:xfrm>
        </p:grpSpPr>
        <p:sp>
          <p:nvSpPr>
            <p:cNvPr id="1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8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5386768" y="5453924"/>
            <a:ext cx="367408" cy="230832"/>
            <a:chOff x="4809970" y="3090156"/>
            <a:chExt cx="367408" cy="230832"/>
          </a:xfrm>
        </p:grpSpPr>
        <p:sp>
          <p:nvSpPr>
            <p:cNvPr id="18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1163342" y="1054159"/>
            <a:ext cx="222738" cy="17941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3</a:t>
            </a:r>
            <a:endParaRPr lang="ko-KR" altLang="en-US" sz="900" dirty="0"/>
          </a:p>
        </p:txBody>
      </p:sp>
      <p:grpSp>
        <p:nvGrpSpPr>
          <p:cNvPr id="191" name="그룹 190"/>
          <p:cNvGrpSpPr/>
          <p:nvPr/>
        </p:nvGrpSpPr>
        <p:grpSpPr>
          <a:xfrm>
            <a:off x="967569" y="859672"/>
            <a:ext cx="367408" cy="230832"/>
            <a:chOff x="4809970" y="3090156"/>
            <a:chExt cx="367408" cy="230832"/>
          </a:xfrm>
        </p:grpSpPr>
        <p:sp>
          <p:nvSpPr>
            <p:cNvPr id="19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9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5588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구성원추가</a:t>
            </a:r>
            <a:endParaRPr lang="en-US" altLang="ko-KR" sz="800" kern="0" dirty="0"/>
          </a:p>
        </p:txBody>
      </p:sp>
      <p:grpSp>
        <p:nvGrpSpPr>
          <p:cNvPr id="120" name="그룹 119"/>
          <p:cNvGrpSpPr/>
          <p:nvPr/>
        </p:nvGrpSpPr>
        <p:grpSpPr>
          <a:xfrm>
            <a:off x="521293" y="3627100"/>
            <a:ext cx="251992" cy="230832"/>
            <a:chOff x="4867678" y="3090156"/>
            <a:chExt cx="251992" cy="230832"/>
          </a:xfrm>
        </p:grpSpPr>
        <p:sp>
          <p:nvSpPr>
            <p:cNvPr id="12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34" name="표 133"/>
          <p:cNvGraphicFramePr>
            <a:graphicFrameLocks noGrp="1"/>
          </p:cNvGraphicFramePr>
          <p:nvPr>
            <p:extLst/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뱃지안내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 표시 영역 삭제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표시방법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정렬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설명 추가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</a:rPr>
              <a:t>구성원 목록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정렬순서</a:t>
            </a:r>
            <a:r>
              <a:rPr lang="ko-KR" altLang="en-US" sz="800" smtClean="0">
                <a:solidFill>
                  <a:schemeClr val="bg1"/>
                </a:solidFill>
                <a:latin typeface="+mn-ea"/>
              </a:rPr>
              <a:t> 변경 기능 제공</a:t>
            </a:r>
            <a:endParaRPr lang="en-US" altLang="ko-KR" sz="800" dirty="0" smtClean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2474956" y="1891683"/>
            <a:ext cx="251992" cy="230832"/>
            <a:chOff x="4867678" y="3090156"/>
            <a:chExt cx="251992" cy="230832"/>
          </a:xfrm>
        </p:grpSpPr>
        <p:sp>
          <p:nvSpPr>
            <p:cNvPr id="15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2562412" y="1918959"/>
            <a:ext cx="770297" cy="273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35" latinLnBrk="0">
              <a:lnSpc>
                <a:spcPct val="150000"/>
              </a:lnSpc>
              <a:defRPr/>
            </a:pPr>
            <a:r>
              <a:rPr lang="ko-KR" altLang="en-US" sz="900" kern="0" dirty="0" smtClean="0"/>
              <a:t>이름순↓</a:t>
            </a:r>
            <a:endParaRPr lang="en-US" altLang="ko-KR" sz="800" kern="0" dirty="0"/>
          </a:p>
        </p:txBody>
      </p:sp>
      <p:sp>
        <p:nvSpPr>
          <p:cNvPr id="158" name="양쪽 모서리가 둥근 사각형 157">
            <a:extLst>
              <a:ext uri="{FF2B5EF4-FFF2-40B4-BE49-F238E27FC236}">
                <a16:creationId xmlns:a16="http://schemas.microsoft.com/office/drawing/2014/main" id="{5EFC62E7-EDD4-860E-024C-E96B7C455B02}"/>
              </a:ext>
            </a:extLst>
          </p:cNvPr>
          <p:cNvSpPr/>
          <p:nvPr/>
        </p:nvSpPr>
        <p:spPr>
          <a:xfrm>
            <a:off x="3638327" y="1878470"/>
            <a:ext cx="3240000" cy="1816751"/>
          </a:xfrm>
          <a:prstGeom prst="round2SameRect">
            <a:avLst>
              <a:gd name="adj1" fmla="val 5450"/>
              <a:gd name="adj2" fmla="val 0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F7E6862-C61D-0227-D0B8-90010ED41B83}"/>
              </a:ext>
            </a:extLst>
          </p:cNvPr>
          <p:cNvSpPr/>
          <p:nvPr/>
        </p:nvSpPr>
        <p:spPr>
          <a:xfrm>
            <a:off x="4890273" y="1958254"/>
            <a:ext cx="706284" cy="26161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ko-KR" altLang="en-US" sz="1100" b="1" dirty="0" smtClean="0">
                <a:latin typeface="맑은 고딕" pitchFamily="50" charset="-127"/>
              </a:rPr>
              <a:t>정렬 순서</a:t>
            </a:r>
            <a:endParaRPr lang="ko-KR" altLang="en-US" sz="1100" b="1" dirty="0">
              <a:latin typeface="맑은 고딕" pitchFamily="50" charset="-127"/>
            </a:endParaRPr>
          </a:p>
        </p:txBody>
      </p:sp>
      <p:cxnSp>
        <p:nvCxnSpPr>
          <p:cNvPr id="196" name="직선 연결선 245">
            <a:extLst>
              <a:ext uri="{FF2B5EF4-FFF2-40B4-BE49-F238E27FC236}">
                <a16:creationId xmlns:a16="http://schemas.microsoft.com/office/drawing/2014/main" id="{80CBD149-1864-F74E-5E64-C3FC61301BEC}"/>
              </a:ext>
            </a:extLst>
          </p:cNvPr>
          <p:cNvCxnSpPr/>
          <p:nvPr/>
        </p:nvCxnSpPr>
        <p:spPr>
          <a:xfrm>
            <a:off x="3732216" y="2282802"/>
            <a:ext cx="3024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3F880367-8584-31CD-F25C-1E4377E4672E}"/>
              </a:ext>
            </a:extLst>
          </p:cNvPr>
          <p:cNvSpPr/>
          <p:nvPr/>
        </p:nvSpPr>
        <p:spPr>
          <a:xfrm>
            <a:off x="3818327" y="3322551"/>
            <a:ext cx="288000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조회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198" name="Freeform 11"/>
          <p:cNvSpPr>
            <a:spLocks noChangeArrowheads="1"/>
          </p:cNvSpPr>
          <p:nvPr/>
        </p:nvSpPr>
        <p:spPr bwMode="auto">
          <a:xfrm>
            <a:off x="6604755" y="202339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A8BDC54-56BE-714D-EDB3-A8A0BF5E9A92}"/>
              </a:ext>
            </a:extLst>
          </p:cNvPr>
          <p:cNvGrpSpPr/>
          <p:nvPr/>
        </p:nvGrpSpPr>
        <p:grpSpPr>
          <a:xfrm>
            <a:off x="3824255" y="2345741"/>
            <a:ext cx="2881664" cy="531184"/>
            <a:chOff x="4506018" y="5391782"/>
            <a:chExt cx="2881664" cy="531184"/>
          </a:xfrm>
        </p:grpSpPr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15C6B085-1A56-40BB-6F6A-EFAD7B667842}"/>
                </a:ext>
              </a:extLst>
            </p:cNvPr>
            <p:cNvGrpSpPr/>
            <p:nvPr/>
          </p:nvGrpSpPr>
          <p:grpSpPr>
            <a:xfrm>
              <a:off x="4506018" y="5630498"/>
              <a:ext cx="2881664" cy="292468"/>
              <a:chOff x="6943648" y="3301562"/>
              <a:chExt cx="2881664" cy="292468"/>
            </a:xfrm>
          </p:grpSpPr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7C23D274-0CE4-3257-51BD-4D4D1FCDD28E}"/>
                  </a:ext>
                </a:extLst>
              </p:cNvPr>
              <p:cNvSpPr/>
              <p:nvPr/>
            </p:nvSpPr>
            <p:spPr>
              <a:xfrm>
                <a:off x="6943648" y="3301562"/>
                <a:ext cx="2880000" cy="288696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이름순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204" name="직선 연결선 267">
                <a:extLst>
                  <a:ext uri="{FF2B5EF4-FFF2-40B4-BE49-F238E27FC236}">
                    <a16:creationId xmlns:a16="http://schemas.microsoft.com/office/drawing/2014/main" id="{79F50B30-C897-359C-4BFF-CBDEEAB6C16A}"/>
                  </a:ext>
                </a:extLst>
              </p:cNvPr>
              <p:cNvCxnSpPr/>
              <p:nvPr/>
            </p:nvCxnSpPr>
            <p:spPr>
              <a:xfrm>
                <a:off x="6945312" y="3594030"/>
                <a:ext cx="2880000" cy="0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1" name="Freeform 10">
              <a:extLst>
                <a:ext uri="{FF2B5EF4-FFF2-40B4-BE49-F238E27FC236}">
                  <a16:creationId xmlns:a16="http://schemas.microsoft.com/office/drawing/2014/main" id="{2E06611C-96EA-E91A-8B36-E12B00D533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08218" y="5695084"/>
              <a:ext cx="100246" cy="163364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5B266E35-E0B2-3098-9F32-591ADF5BCA25}"/>
                </a:ext>
              </a:extLst>
            </p:cNvPr>
            <p:cNvSpPr/>
            <p:nvPr/>
          </p:nvSpPr>
          <p:spPr>
            <a:xfrm>
              <a:off x="4542982" y="5391782"/>
              <a:ext cx="958078" cy="23083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r>
                <a:rPr lang="ko-KR" altLang="en-US" sz="900" b="1" dirty="0" err="1" smtClean="0">
                  <a:latin typeface="+mn-ea"/>
                </a:rPr>
                <a:t>정렬기준</a:t>
              </a:r>
              <a:endParaRPr lang="en-US" altLang="ko-KR" sz="900" b="1" dirty="0">
                <a:latin typeface="+mn-ea"/>
              </a:endParaRPr>
            </a:p>
          </p:txBody>
        </p:sp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1266C6E-7C97-A62E-B96A-99C59D37C1ED}"/>
              </a:ext>
            </a:extLst>
          </p:cNvPr>
          <p:cNvSpPr/>
          <p:nvPr/>
        </p:nvSpPr>
        <p:spPr>
          <a:xfrm>
            <a:off x="3832345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오름차순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1D82E488-BCD4-28E1-1A40-35290A823233}"/>
              </a:ext>
            </a:extLst>
          </p:cNvPr>
          <p:cNvSpPr/>
          <p:nvPr/>
        </p:nvSpPr>
        <p:spPr>
          <a:xfrm>
            <a:off x="5268409" y="2916335"/>
            <a:ext cx="1435846" cy="28869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tlCol="0" anchor="ctr"/>
          <a:lstStyle/>
          <a:p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</a:rPr>
              <a:t>내림차순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CB008CE5-E879-9963-17D3-5B7697416595}"/>
              </a:ext>
            </a:extLst>
          </p:cNvPr>
          <p:cNvSpPr/>
          <p:nvPr/>
        </p:nvSpPr>
        <p:spPr>
          <a:xfrm>
            <a:off x="3953219" y="2988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72CADD19-811A-27C2-C02F-7E1A2CF33EE0}"/>
              </a:ext>
            </a:extLst>
          </p:cNvPr>
          <p:cNvSpPr/>
          <p:nvPr/>
        </p:nvSpPr>
        <p:spPr>
          <a:xfrm>
            <a:off x="5385335" y="2979683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7BC6CEF1-D498-AC84-8F62-ACB165660DFC}"/>
              </a:ext>
            </a:extLst>
          </p:cNvPr>
          <p:cNvSpPr>
            <a:spLocks noChangeAspect="1"/>
          </p:cNvSpPr>
          <p:nvPr/>
        </p:nvSpPr>
        <p:spPr>
          <a:xfrm>
            <a:off x="3969585" y="3011620"/>
            <a:ext cx="108000" cy="108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34604" y="1805880"/>
            <a:ext cx="251992" cy="230832"/>
            <a:chOff x="4867678" y="3090156"/>
            <a:chExt cx="251992" cy="230832"/>
          </a:xfrm>
        </p:grpSpPr>
        <p:sp>
          <p:nvSpPr>
            <p:cNvPr id="211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2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3659885" y="2539984"/>
            <a:ext cx="367408" cy="230832"/>
            <a:chOff x="4809970" y="3090156"/>
            <a:chExt cx="367408" cy="230832"/>
          </a:xfrm>
        </p:grpSpPr>
        <p:sp>
          <p:nvSpPr>
            <p:cNvPr id="214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15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908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직사각형 145"/>
          <p:cNvSpPr/>
          <p:nvPr/>
        </p:nvSpPr>
        <p:spPr>
          <a:xfrm>
            <a:off x="200595" y="1767334"/>
            <a:ext cx="3225119" cy="4602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8" name="직사각형 14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612445" y="1912726"/>
              <a:ext cx="73193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>
                  <a:solidFill>
                    <a:prstClr val="black"/>
                  </a:solidFill>
                  <a:ea typeface="맑은 고딕"/>
                </a:rPr>
                <a:t>결재선 </a:t>
              </a:r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151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352753" y="1114525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87842" y="1516901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/>
          <p:cNvSpPr/>
          <p:nvPr/>
        </p:nvSpPr>
        <p:spPr>
          <a:xfrm>
            <a:off x="1208697" y="6013094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162" name="직사각형 161"/>
          <p:cNvSpPr/>
          <p:nvPr/>
        </p:nvSpPr>
        <p:spPr>
          <a:xfrm>
            <a:off x="176362" y="6013094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2712721" y="1159599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2482198" y="1583050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 불러오기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216662" y="1576314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169" name="그룹 168"/>
          <p:cNvGrpSpPr/>
          <p:nvPr/>
        </p:nvGrpSpPr>
        <p:grpSpPr>
          <a:xfrm>
            <a:off x="612794" y="1604061"/>
            <a:ext cx="396000" cy="171048"/>
            <a:chOff x="5960994" y="6443081"/>
            <a:chExt cx="396000" cy="180000"/>
          </a:xfrm>
        </p:grpSpPr>
        <p:sp>
          <p:nvSpPr>
            <p:cNvPr id="170" name="모서리가 둥근 직사각형 169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171" name="타원 170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172" name="직사각형 171"/>
          <p:cNvSpPr/>
          <p:nvPr/>
        </p:nvSpPr>
        <p:spPr>
          <a:xfrm>
            <a:off x="990750" y="157077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grpSp>
        <p:nvGrpSpPr>
          <p:cNvPr id="173" name="그룹 172"/>
          <p:cNvGrpSpPr/>
          <p:nvPr/>
        </p:nvGrpSpPr>
        <p:grpSpPr>
          <a:xfrm>
            <a:off x="2681395" y="1558814"/>
            <a:ext cx="401071" cy="286418"/>
            <a:chOff x="7122762" y="2119930"/>
            <a:chExt cx="401071" cy="286418"/>
          </a:xfrm>
        </p:grpSpPr>
        <p:sp>
          <p:nvSpPr>
            <p:cNvPr id="174" name="타원 17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3" name="직사각형 212"/>
          <p:cNvSpPr/>
          <p:nvPr/>
        </p:nvSpPr>
        <p:spPr>
          <a:xfrm>
            <a:off x="5370795" y="6000468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214" name="직사각형 213"/>
          <p:cNvSpPr/>
          <p:nvPr/>
        </p:nvSpPr>
        <p:spPr>
          <a:xfrm>
            <a:off x="4306366" y="549639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4311398" y="559165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4347398" y="975716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17" name="그룹 216"/>
          <p:cNvGrpSpPr/>
          <p:nvPr/>
        </p:nvGrpSpPr>
        <p:grpSpPr>
          <a:xfrm>
            <a:off x="4347398" y="587739"/>
            <a:ext cx="3168000" cy="398482"/>
            <a:chOff x="7330918" y="3572857"/>
            <a:chExt cx="3168000" cy="398482"/>
          </a:xfrm>
        </p:grpSpPr>
        <p:sp>
          <p:nvSpPr>
            <p:cNvPr id="218" name="직사각형 217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20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1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1938312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212737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4921522" y="203771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4412984" y="987423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 smtClean="0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 smtClean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5" name="타원 224"/>
          <p:cNvSpPr/>
          <p:nvPr/>
        </p:nvSpPr>
        <p:spPr>
          <a:xfrm>
            <a:off x="4539575" y="2163594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26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2673001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2947426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921522" y="2772404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229" name="그룹 228"/>
          <p:cNvGrpSpPr/>
          <p:nvPr/>
        </p:nvGrpSpPr>
        <p:grpSpPr>
          <a:xfrm>
            <a:off x="4539575" y="2898283"/>
            <a:ext cx="200894" cy="200894"/>
            <a:chOff x="3027532" y="1509066"/>
            <a:chExt cx="144000" cy="144000"/>
          </a:xfrm>
        </p:grpSpPr>
        <p:sp>
          <p:nvSpPr>
            <p:cNvPr id="230" name="타원 229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31" name="타원 230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232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406147" y="3407690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37148" y="3682115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921522" y="350709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235" name="타원 234"/>
          <p:cNvSpPr/>
          <p:nvPr/>
        </p:nvSpPr>
        <p:spPr>
          <a:xfrm>
            <a:off x="4539575" y="3632972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6" name="Freeform 10"/>
          <p:cNvSpPr>
            <a:spLocks noChangeArrowheads="1"/>
          </p:cNvSpPr>
          <p:nvPr/>
        </p:nvSpPr>
        <p:spPr bwMode="auto">
          <a:xfrm rot="5400000">
            <a:off x="7113044" y="220249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" name="Freeform 10"/>
          <p:cNvSpPr>
            <a:spLocks noChangeArrowheads="1"/>
          </p:cNvSpPr>
          <p:nvPr/>
        </p:nvSpPr>
        <p:spPr bwMode="auto">
          <a:xfrm rot="5400000">
            <a:off x="7113043" y="2962910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Freeform 10"/>
          <p:cNvSpPr>
            <a:spLocks noChangeArrowheads="1"/>
          </p:cNvSpPr>
          <p:nvPr/>
        </p:nvSpPr>
        <p:spPr bwMode="auto">
          <a:xfrm rot="5400000">
            <a:off x="7131547" y="3699307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" name="직사각형 238"/>
          <p:cNvSpPr/>
          <p:nvPr/>
        </p:nvSpPr>
        <p:spPr>
          <a:xfrm>
            <a:off x="4305006" y="6013665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240" name="그룹 239"/>
          <p:cNvGrpSpPr/>
          <p:nvPr/>
        </p:nvGrpSpPr>
        <p:grpSpPr>
          <a:xfrm>
            <a:off x="6805411" y="1885587"/>
            <a:ext cx="367408" cy="230832"/>
            <a:chOff x="4809970" y="3090156"/>
            <a:chExt cx="367408" cy="230832"/>
          </a:xfrm>
        </p:grpSpPr>
        <p:sp>
          <p:nvSpPr>
            <p:cNvPr id="24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4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43" name="그룹 242"/>
          <p:cNvGrpSpPr/>
          <p:nvPr/>
        </p:nvGrpSpPr>
        <p:grpSpPr>
          <a:xfrm>
            <a:off x="6966282" y="2113311"/>
            <a:ext cx="401071" cy="286418"/>
            <a:chOff x="7122762" y="2119930"/>
            <a:chExt cx="401071" cy="286418"/>
          </a:xfrm>
        </p:grpSpPr>
        <p:sp>
          <p:nvSpPr>
            <p:cNvPr id="244" name="타원 243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245" name="직사각형 244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" name="꺾인 연결선 4"/>
          <p:cNvCxnSpPr>
            <a:stCxn id="174" idx="6"/>
            <a:endCxn id="216" idx="1"/>
          </p:cNvCxnSpPr>
          <p:nvPr/>
        </p:nvCxnSpPr>
        <p:spPr>
          <a:xfrm>
            <a:off x="3019628" y="1702023"/>
            <a:ext cx="1327770" cy="17511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직사각형 247"/>
          <p:cNvSpPr/>
          <p:nvPr/>
        </p:nvSpPr>
        <p:spPr>
          <a:xfrm>
            <a:off x="8425484" y="5397673"/>
            <a:ext cx="3233596" cy="1005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9" name="그룹 248"/>
          <p:cNvGrpSpPr/>
          <p:nvPr/>
        </p:nvGrpSpPr>
        <p:grpSpPr>
          <a:xfrm>
            <a:off x="8419578" y="558913"/>
            <a:ext cx="3240000" cy="398482"/>
            <a:chOff x="7321393" y="1839307"/>
            <a:chExt cx="3240000" cy="398482"/>
          </a:xfrm>
        </p:grpSpPr>
        <p:sp>
          <p:nvSpPr>
            <p:cNvPr id="250" name="직사각형 249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1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253" name="Freeform 14"/>
            <p:cNvSpPr>
              <a:spLocks noChangeArrowheads="1"/>
            </p:cNvSpPr>
            <p:nvPr/>
          </p:nvSpPr>
          <p:spPr bwMode="auto">
            <a:xfrm>
              <a:off x="10286423" y="1890903"/>
              <a:ext cx="216000" cy="216000"/>
            </a:xfrm>
            <a:custGeom>
              <a:avLst/>
              <a:gdLst>
                <a:gd name="T0" fmla="*/ 231 w 458"/>
                <a:gd name="T1" fmla="*/ 540 h 541"/>
                <a:gd name="T2" fmla="*/ 282 w 458"/>
                <a:gd name="T3" fmla="*/ 488 h 541"/>
                <a:gd name="T4" fmla="*/ 174 w 458"/>
                <a:gd name="T5" fmla="*/ 488 h 541"/>
                <a:gd name="T6" fmla="*/ 231 w 458"/>
                <a:gd name="T7" fmla="*/ 540 h 541"/>
                <a:gd name="T8" fmla="*/ 406 w 458"/>
                <a:gd name="T9" fmla="*/ 380 h 541"/>
                <a:gd name="T10" fmla="*/ 406 w 458"/>
                <a:gd name="T11" fmla="*/ 231 h 541"/>
                <a:gd name="T12" fmla="*/ 272 w 458"/>
                <a:gd name="T13" fmla="*/ 62 h 541"/>
                <a:gd name="T14" fmla="*/ 272 w 458"/>
                <a:gd name="T15" fmla="*/ 41 h 541"/>
                <a:gd name="T16" fmla="*/ 231 w 458"/>
                <a:gd name="T17" fmla="*/ 0 h 541"/>
                <a:gd name="T18" fmla="*/ 190 w 458"/>
                <a:gd name="T19" fmla="*/ 41 h 541"/>
                <a:gd name="T20" fmla="*/ 190 w 458"/>
                <a:gd name="T21" fmla="*/ 62 h 541"/>
                <a:gd name="T22" fmla="*/ 56 w 458"/>
                <a:gd name="T23" fmla="*/ 231 h 541"/>
                <a:gd name="T24" fmla="*/ 56 w 458"/>
                <a:gd name="T25" fmla="*/ 380 h 541"/>
                <a:gd name="T26" fmla="*/ 0 w 458"/>
                <a:gd name="T27" fmla="*/ 432 h 541"/>
                <a:gd name="T28" fmla="*/ 0 w 458"/>
                <a:gd name="T29" fmla="*/ 457 h 541"/>
                <a:gd name="T30" fmla="*/ 457 w 458"/>
                <a:gd name="T31" fmla="*/ 457 h 541"/>
                <a:gd name="T32" fmla="*/ 457 w 458"/>
                <a:gd name="T33" fmla="*/ 432 h 541"/>
                <a:gd name="T34" fmla="*/ 406 w 458"/>
                <a:gd name="T35" fmla="*/ 380 h 541"/>
                <a:gd name="T36" fmla="*/ 349 w 458"/>
                <a:gd name="T37" fmla="*/ 406 h 541"/>
                <a:gd name="T38" fmla="*/ 108 w 458"/>
                <a:gd name="T39" fmla="*/ 406 h 541"/>
                <a:gd name="T40" fmla="*/ 108 w 458"/>
                <a:gd name="T41" fmla="*/ 231 h 541"/>
                <a:gd name="T42" fmla="*/ 231 w 458"/>
                <a:gd name="T43" fmla="*/ 108 h 541"/>
                <a:gd name="T44" fmla="*/ 349 w 458"/>
                <a:gd name="T45" fmla="*/ 231 h 541"/>
                <a:gd name="T46" fmla="*/ 349 w 458"/>
                <a:gd name="T47" fmla="*/ 406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8" h="541">
                  <a:moveTo>
                    <a:pt x="231" y="540"/>
                  </a:moveTo>
                  <a:cubicBezTo>
                    <a:pt x="262" y="540"/>
                    <a:pt x="282" y="514"/>
                    <a:pt x="282" y="488"/>
                  </a:cubicBezTo>
                  <a:lnTo>
                    <a:pt x="174" y="488"/>
                  </a:lnTo>
                  <a:cubicBezTo>
                    <a:pt x="174" y="514"/>
                    <a:pt x="200" y="540"/>
                    <a:pt x="231" y="540"/>
                  </a:cubicBezTo>
                  <a:close/>
                  <a:moveTo>
                    <a:pt x="406" y="380"/>
                  </a:moveTo>
                  <a:lnTo>
                    <a:pt x="406" y="231"/>
                  </a:lnTo>
                  <a:cubicBezTo>
                    <a:pt x="406" y="149"/>
                    <a:pt x="349" y="82"/>
                    <a:pt x="272" y="62"/>
                  </a:cubicBezTo>
                  <a:lnTo>
                    <a:pt x="272" y="41"/>
                  </a:lnTo>
                  <a:cubicBezTo>
                    <a:pt x="272" y="21"/>
                    <a:pt x="251" y="0"/>
                    <a:pt x="231" y="0"/>
                  </a:cubicBezTo>
                  <a:cubicBezTo>
                    <a:pt x="210" y="0"/>
                    <a:pt x="190" y="21"/>
                    <a:pt x="190" y="41"/>
                  </a:cubicBezTo>
                  <a:lnTo>
                    <a:pt x="190" y="62"/>
                  </a:lnTo>
                  <a:cubicBezTo>
                    <a:pt x="113" y="82"/>
                    <a:pt x="56" y="149"/>
                    <a:pt x="56" y="231"/>
                  </a:cubicBezTo>
                  <a:lnTo>
                    <a:pt x="56" y="380"/>
                  </a:lnTo>
                  <a:lnTo>
                    <a:pt x="0" y="432"/>
                  </a:lnTo>
                  <a:lnTo>
                    <a:pt x="0" y="457"/>
                  </a:lnTo>
                  <a:lnTo>
                    <a:pt x="457" y="457"/>
                  </a:lnTo>
                  <a:lnTo>
                    <a:pt x="457" y="432"/>
                  </a:lnTo>
                  <a:lnTo>
                    <a:pt x="406" y="380"/>
                  </a:lnTo>
                  <a:close/>
                  <a:moveTo>
                    <a:pt x="349" y="406"/>
                  </a:moveTo>
                  <a:lnTo>
                    <a:pt x="108" y="406"/>
                  </a:lnTo>
                  <a:lnTo>
                    <a:pt x="108" y="231"/>
                  </a:lnTo>
                  <a:cubicBezTo>
                    <a:pt x="108" y="164"/>
                    <a:pt x="164" y="108"/>
                    <a:pt x="231" y="108"/>
                  </a:cubicBezTo>
                  <a:cubicBezTo>
                    <a:pt x="298" y="108"/>
                    <a:pt x="349" y="164"/>
                    <a:pt x="349" y="231"/>
                  </a:cubicBezTo>
                  <a:lnTo>
                    <a:pt x="349" y="40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Freeform 10"/>
            <p:cNvSpPr>
              <a:spLocks noChangeArrowheads="1"/>
            </p:cNvSpPr>
            <p:nvPr/>
          </p:nvSpPr>
          <p:spPr bwMode="auto">
            <a:xfrm>
              <a:off x="9963932" y="1906219"/>
              <a:ext cx="238067" cy="216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994022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검색</a:t>
              </a:r>
              <a:endParaRPr kumimoji="1" lang="x-none" altLang="en-US" sz="7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49320CD-83E9-2A92-4470-0F3916B42E90}"/>
                </a:ext>
              </a:extLst>
            </p:cNvPr>
            <p:cNvSpPr txBox="1"/>
            <p:nvPr/>
          </p:nvSpPr>
          <p:spPr>
            <a:xfrm>
              <a:off x="10264079" y="2119544"/>
              <a:ext cx="252000" cy="1027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kumimoji="1" lang="ko-KR" altLang="en-US" sz="700" dirty="0"/>
                <a:t>알림</a:t>
              </a:r>
              <a:endParaRPr kumimoji="1" lang="x-none" altLang="en-US" sz="700" dirty="0"/>
            </a:p>
          </p:txBody>
        </p:sp>
      </p:grpSp>
      <p:sp>
        <p:nvSpPr>
          <p:cNvPr id="257" name="TextBox 256"/>
          <p:cNvSpPr txBox="1"/>
          <p:nvPr/>
        </p:nvSpPr>
        <p:spPr>
          <a:xfrm>
            <a:off x="8586617" y="1121231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긴급이체결재건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415169" y="1542332"/>
            <a:ext cx="3244409" cy="3226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직사각형 259"/>
          <p:cNvSpPr/>
          <p:nvPr/>
        </p:nvSpPr>
        <p:spPr>
          <a:xfrm>
            <a:off x="8427018" y="1939387"/>
            <a:ext cx="3225119" cy="1477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직사각형 260"/>
          <p:cNvSpPr/>
          <p:nvPr/>
        </p:nvSpPr>
        <p:spPr>
          <a:xfrm>
            <a:off x="8421648" y="3652957"/>
            <a:ext cx="3233596" cy="15081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2" name="그룹 261"/>
          <p:cNvGrpSpPr/>
          <p:nvPr/>
        </p:nvGrpSpPr>
        <p:grpSpPr>
          <a:xfrm rot="10800000">
            <a:off x="9905917" y="3451207"/>
            <a:ext cx="154946" cy="123678"/>
            <a:chOff x="6691038" y="2985393"/>
            <a:chExt cx="122504" cy="97782"/>
          </a:xfrm>
        </p:grpSpPr>
        <p:cxnSp>
          <p:nvCxnSpPr>
            <p:cNvPr id="263" name="직선 연결선 262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/>
          <p:cNvSpPr txBox="1"/>
          <p:nvPr/>
        </p:nvSpPr>
        <p:spPr>
          <a:xfrm>
            <a:off x="8560444" y="2009832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4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561065" y="547842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2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10946585" y="1166305"/>
            <a:ext cx="654023" cy="2378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기본설정</a:t>
            </a:r>
          </a:p>
        </p:txBody>
      </p:sp>
      <p:grpSp>
        <p:nvGrpSpPr>
          <p:cNvPr id="273" name="그룹 272"/>
          <p:cNvGrpSpPr/>
          <p:nvPr/>
        </p:nvGrpSpPr>
        <p:grpSpPr>
          <a:xfrm rot="10800000">
            <a:off x="9882427" y="5197835"/>
            <a:ext cx="154946" cy="123678"/>
            <a:chOff x="6691038" y="2985393"/>
            <a:chExt cx="122504" cy="97782"/>
          </a:xfrm>
        </p:grpSpPr>
        <p:cxnSp>
          <p:nvCxnSpPr>
            <p:cNvPr id="274" name="직선 연결선 273"/>
            <p:cNvCxnSpPr/>
            <p:nvPr/>
          </p:nvCxnSpPr>
          <p:spPr>
            <a:xfrm rot="18900000">
              <a:off x="6691038" y="2985393"/>
              <a:ext cx="0" cy="977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18900000">
              <a:off x="6710522" y="3032432"/>
              <a:ext cx="103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그룹 275"/>
          <p:cNvGrpSpPr/>
          <p:nvPr/>
        </p:nvGrpSpPr>
        <p:grpSpPr>
          <a:xfrm>
            <a:off x="8620521" y="4058185"/>
            <a:ext cx="1104400" cy="958355"/>
            <a:chOff x="4630176" y="3963919"/>
            <a:chExt cx="1104400" cy="958355"/>
          </a:xfrm>
        </p:grpSpPr>
        <p:sp>
          <p:nvSpPr>
            <p:cNvPr id="277" name="모서리가 둥근 직사각형 276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81" name="직선 연결선 280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타원 281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3" name="직사각형 282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84" name="직사각형 283"/>
          <p:cNvSpPr/>
          <p:nvPr/>
        </p:nvSpPr>
        <p:spPr>
          <a:xfrm>
            <a:off x="8610966" y="4314150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9442561" y="6019800"/>
            <a:ext cx="2229189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결재선저장</a:t>
            </a:r>
            <a:endParaRPr lang="ko-KR" altLang="en-US" sz="1000" b="1" dirty="0"/>
          </a:p>
        </p:txBody>
      </p:sp>
      <p:sp>
        <p:nvSpPr>
          <p:cNvPr id="286" name="직사각형 285"/>
          <p:cNvSpPr/>
          <p:nvPr/>
        </p:nvSpPr>
        <p:spPr>
          <a:xfrm>
            <a:off x="8410226" y="6019800"/>
            <a:ext cx="1042837" cy="38945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취 소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524963" y="3723781"/>
            <a:ext cx="701474" cy="2308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결재 </a:t>
            </a:r>
            <a:r>
              <a:rPr lang="en-US" altLang="ko-KR" sz="900" b="1" dirty="0">
                <a:latin typeface="+mn-ea"/>
              </a:rPr>
              <a:t>3 </a:t>
            </a:r>
            <a:r>
              <a:rPr lang="ko-KR" altLang="en-US" sz="900" b="1" dirty="0">
                <a:latin typeface="+mn-ea"/>
              </a:rPr>
              <a:t>단계</a:t>
            </a:r>
          </a:p>
        </p:txBody>
      </p:sp>
      <p:grpSp>
        <p:nvGrpSpPr>
          <p:cNvPr id="288" name="그룹 287"/>
          <p:cNvGrpSpPr/>
          <p:nvPr/>
        </p:nvGrpSpPr>
        <p:grpSpPr>
          <a:xfrm>
            <a:off x="9854565" y="4060095"/>
            <a:ext cx="1104400" cy="958355"/>
            <a:chOff x="4630176" y="3963919"/>
            <a:chExt cx="1104400" cy="958355"/>
          </a:xfrm>
        </p:grpSpPr>
        <p:sp>
          <p:nvSpPr>
            <p:cNvPr id="289" name="모서리가 둥근 직사각형 288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293" name="직선 연결선 292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타원 293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5" name="직사각형 294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297" name="직사각형 296"/>
          <p:cNvSpPr/>
          <p:nvPr/>
        </p:nvSpPr>
        <p:spPr>
          <a:xfrm>
            <a:off x="9845010" y="4335724"/>
            <a:ext cx="588623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인사팀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|  </a:t>
            </a:r>
            <a:r>
              <a:rPr lang="ko-KR" altLang="en-US" sz="5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과장</a:t>
            </a:r>
            <a:endParaRPr lang="en-US" altLang="ko-KR" sz="5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303" name="그룹 302"/>
          <p:cNvGrpSpPr/>
          <p:nvPr/>
        </p:nvGrpSpPr>
        <p:grpSpPr>
          <a:xfrm>
            <a:off x="8624267" y="2294283"/>
            <a:ext cx="1104400" cy="958355"/>
            <a:chOff x="4630176" y="3963919"/>
            <a:chExt cx="1104400" cy="958355"/>
          </a:xfrm>
        </p:grpSpPr>
        <p:sp>
          <p:nvSpPr>
            <p:cNvPr id="304" name="모서리가 둥근 직사각형 303"/>
            <p:cNvSpPr/>
            <p:nvPr/>
          </p:nvSpPr>
          <p:spPr>
            <a:xfrm>
              <a:off x="4630176" y="3963919"/>
              <a:ext cx="1104400" cy="958355"/>
            </a:xfrm>
            <a:prstGeom prst="roundRect">
              <a:avLst>
                <a:gd name="adj" fmla="val 73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4712241" y="4148380"/>
              <a:ext cx="901850" cy="184666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홍길동 </a:t>
              </a:r>
              <a:r>
                <a:rPr lang="en-US" altLang="ko-KR" sz="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(P0123456789)</a:t>
              </a:r>
              <a:endParaRPr lang="ko-KR" altLang="en-US" sz="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712241" y="4339641"/>
              <a:ext cx="868186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일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2,000,000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  <a:p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1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회 한도 </a:t>
              </a:r>
              <a:r>
                <a:rPr lang="en-US" altLang="ko-KR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: 1,000,000</a:t>
              </a:r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원</a:t>
              </a:r>
            </a:p>
          </p:txBody>
        </p:sp>
        <p:cxnSp>
          <p:nvCxnSpPr>
            <p:cNvPr id="308" name="직선 연결선 307"/>
            <p:cNvCxnSpPr/>
            <p:nvPr/>
          </p:nvCxnSpPr>
          <p:spPr>
            <a:xfrm>
              <a:off x="4659839" y="4724482"/>
              <a:ext cx="1009153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타원 308"/>
            <p:cNvSpPr/>
            <p:nvPr/>
          </p:nvSpPr>
          <p:spPr>
            <a:xfrm>
              <a:off x="5548234" y="4020841"/>
              <a:ext cx="136184" cy="136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X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직사각형 309"/>
            <p:cNvSpPr/>
            <p:nvPr/>
          </p:nvSpPr>
          <p:spPr>
            <a:xfrm>
              <a:off x="4925835" y="4722433"/>
              <a:ext cx="492443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상세보기</a:t>
              </a:r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sp>
        <p:nvSpPr>
          <p:cNvPr id="311" name="직사각형 310"/>
          <p:cNvSpPr/>
          <p:nvPr/>
        </p:nvSpPr>
        <p:spPr>
          <a:xfrm>
            <a:off x="8419578" y="555981"/>
            <a:ext cx="3247304" cy="58475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모서리가 둥근 직사각형 333"/>
          <p:cNvSpPr/>
          <p:nvPr/>
        </p:nvSpPr>
        <p:spPr>
          <a:xfrm>
            <a:off x="10672370" y="1585423"/>
            <a:ext cx="867533" cy="2279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결재선불러오기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8457792" y="1591606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결재</a:t>
            </a:r>
            <a:endParaRPr lang="ko-KR" altLang="en-US" sz="800" dirty="0"/>
          </a:p>
        </p:txBody>
      </p:sp>
      <p:grpSp>
        <p:nvGrpSpPr>
          <p:cNvPr id="336" name="그룹 335"/>
          <p:cNvGrpSpPr/>
          <p:nvPr/>
        </p:nvGrpSpPr>
        <p:grpSpPr>
          <a:xfrm>
            <a:off x="8853924" y="1619353"/>
            <a:ext cx="396000" cy="171048"/>
            <a:chOff x="5960994" y="6443081"/>
            <a:chExt cx="396000" cy="180000"/>
          </a:xfrm>
        </p:grpSpPr>
        <p:sp>
          <p:nvSpPr>
            <p:cNvPr id="337" name="모서리가 둥근 직사각형 336"/>
            <p:cNvSpPr/>
            <p:nvPr/>
          </p:nvSpPr>
          <p:spPr>
            <a:xfrm>
              <a:off x="5960994" y="6443081"/>
              <a:ext cx="396000" cy="18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endParaRPr lang="ko-KR" altLang="en-US" sz="900" dirty="0"/>
            </a:p>
          </p:txBody>
        </p:sp>
        <p:sp>
          <p:nvSpPr>
            <p:cNvPr id="338" name="타원 337"/>
            <p:cNvSpPr/>
            <p:nvPr/>
          </p:nvSpPr>
          <p:spPr>
            <a:xfrm>
              <a:off x="6182683" y="6447971"/>
              <a:ext cx="165600" cy="165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s</a:t>
              </a:r>
              <a:endParaRPr lang="ko-KR" altLang="en-US" sz="900" dirty="0"/>
            </a:p>
          </p:txBody>
        </p:sp>
      </p:grpSp>
      <p:sp>
        <p:nvSpPr>
          <p:cNvPr id="339" name="직사각형 338"/>
          <p:cNvSpPr/>
          <p:nvPr/>
        </p:nvSpPr>
        <p:spPr>
          <a:xfrm>
            <a:off x="9231880" y="1586070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승인</a:t>
            </a:r>
            <a:endParaRPr lang="ko-KR" altLang="en-US" sz="800" dirty="0"/>
          </a:p>
        </p:txBody>
      </p:sp>
      <p:sp>
        <p:nvSpPr>
          <p:cNvPr id="343" name="TextBox 342"/>
          <p:cNvSpPr txBox="1"/>
          <p:nvPr/>
        </p:nvSpPr>
        <p:spPr>
          <a:xfrm>
            <a:off x="8410226" y="6486280"/>
            <a:ext cx="2618666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불러온 </a:t>
            </a:r>
            <a:r>
              <a:rPr lang="ko-KR" altLang="en-US" sz="1200" dirty="0" err="1" smtClean="0">
                <a:latin typeface="+mn-ea"/>
              </a:rPr>
              <a:t>결재선의</a:t>
            </a:r>
            <a:r>
              <a:rPr lang="ko-KR" altLang="en-US" sz="1200" dirty="0" smtClean="0">
                <a:latin typeface="+mn-ea"/>
              </a:rPr>
              <a:t> 설정을 그대로 복사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7834808" y="3194707"/>
            <a:ext cx="394791" cy="517029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직사각형 343"/>
          <p:cNvSpPr/>
          <p:nvPr/>
        </p:nvSpPr>
        <p:spPr>
          <a:xfrm>
            <a:off x="155575" y="-21549"/>
            <a:ext cx="580955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결재선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985790" y="81687"/>
            <a:ext cx="17812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신규등록에만 있는 기능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/>
          </a:p>
        </p:txBody>
      </p:sp>
      <p:sp>
        <p:nvSpPr>
          <p:cNvPr id="129" name="타원 128"/>
          <p:cNvSpPr/>
          <p:nvPr/>
        </p:nvSpPr>
        <p:spPr>
          <a:xfrm>
            <a:off x="10053555" y="2414970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0039538" y="2744406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8682451" y="2946232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11192273" y="4250201"/>
            <a:ext cx="276872" cy="276872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1178256" y="4579637"/>
            <a:ext cx="400110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</a:rPr>
              <a:t>구성원</a:t>
            </a:r>
            <a:endParaRPr lang="en-US" altLang="ko-KR" sz="800" dirty="0" smtClean="0">
              <a:latin typeface="+mn-ea"/>
            </a:endParaRPr>
          </a:p>
          <a:p>
            <a:pPr algn="ctr"/>
            <a:r>
              <a:rPr lang="ko-KR" altLang="en-US" sz="800" dirty="0" smtClean="0">
                <a:latin typeface="+mn-ea"/>
              </a:rPr>
              <a:t>추가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10700031" y="2020885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Freeform 11"/>
          <p:cNvSpPr>
            <a:spLocks noChangeArrowheads="1"/>
          </p:cNvSpPr>
          <p:nvPr/>
        </p:nvSpPr>
        <p:spPr bwMode="auto">
          <a:xfrm>
            <a:off x="11395903" y="2022541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10748959" y="3755702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5" name="Freeform 11"/>
          <p:cNvSpPr>
            <a:spLocks noChangeArrowheads="1"/>
          </p:cNvSpPr>
          <p:nvPr/>
        </p:nvSpPr>
        <p:spPr bwMode="auto">
          <a:xfrm>
            <a:off x="11444831" y="3757358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10775349" y="5466730"/>
            <a:ext cx="626316" cy="16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구성원전체삭제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8" name="Freeform 11"/>
          <p:cNvSpPr>
            <a:spLocks noChangeArrowheads="1"/>
          </p:cNvSpPr>
          <p:nvPr/>
        </p:nvSpPr>
        <p:spPr bwMode="auto">
          <a:xfrm>
            <a:off x="11471221" y="546838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" name="직사각형 158"/>
          <p:cNvSpPr/>
          <p:nvPr/>
        </p:nvSpPr>
        <p:spPr>
          <a:xfrm>
            <a:off x="8716251" y="4095236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8928505" y="4095236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9961798" y="4109564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0174052" y="4109564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8693080" y="2342943"/>
            <a:ext cx="206949" cy="1480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bg1"/>
                </a:solidFill>
              </a:rPr>
              <a:t>결재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8905334" y="2342943"/>
            <a:ext cx="206949" cy="1480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 smtClean="0">
                <a:solidFill>
                  <a:schemeClr val="tx1"/>
                </a:solidFill>
              </a:rPr>
              <a:t>확인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8706332" y="4704433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9917934" y="4676128"/>
            <a:ext cx="255593" cy="1057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OTP</a:t>
            </a:r>
            <a:endParaRPr lang="ko-KR" altLang="en-US" sz="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4412984" y="1509075"/>
            <a:ext cx="3039047" cy="330118"/>
            <a:chOff x="5804087" y="4215557"/>
            <a:chExt cx="3024000" cy="288696"/>
          </a:xfrm>
        </p:grpSpPr>
        <p:sp>
          <p:nvSpPr>
            <p:cNvPr id="180" name="직사각형 179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1" name="직선 연결선 180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직사각형 181"/>
          <p:cNvSpPr/>
          <p:nvPr/>
        </p:nvSpPr>
        <p:spPr>
          <a:xfrm>
            <a:off x="4390751" y="1550009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83" name="개체 182"/>
          <p:cNvGraphicFramePr>
            <a:graphicFrameLocks noChangeAspect="1"/>
          </p:cNvGraphicFramePr>
          <p:nvPr>
            <p:extLst/>
          </p:nvPr>
        </p:nvGraphicFramePr>
        <p:xfrm>
          <a:off x="7167341" y="1566951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0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83" name="개체 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7341" y="1566951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794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불러오기</a:t>
            </a:r>
            <a:endParaRPr lang="en-US" altLang="ko-KR" sz="800" kern="0" dirty="0"/>
          </a:p>
        </p:txBody>
      </p:sp>
      <p:sp>
        <p:nvSpPr>
          <p:cNvPr id="119" name="직사각형 118"/>
          <p:cNvSpPr/>
          <p:nvPr/>
        </p:nvSpPr>
        <p:spPr>
          <a:xfrm>
            <a:off x="1247775" y="6005942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 불러오기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3346" y="555113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88378" y="564639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24378" y="981190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224378" y="593213"/>
            <a:ext cx="3168000" cy="398482"/>
            <a:chOff x="7330918" y="3572857"/>
            <a:chExt cx="3168000" cy="398482"/>
          </a:xfrm>
        </p:grpSpPr>
        <p:sp>
          <p:nvSpPr>
            <p:cNvPr id="39" name="직사각형 38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41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" name="표 51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5448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선택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0131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이체선을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선택할 수 있는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플래이트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명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개수는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개를 기본으로 화면에 표시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개가 넘는 경우 스크롤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형태로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개단위로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추가로 표시함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charset="0"/>
                        <a:buChar char="•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개수는 디지털사업부의 의견에 따라 조정될 수 있음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[1-1]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버튼타입을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버튼을 체크하고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하단의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불러오기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누르는 경우 체크된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결재선이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charset="0"/>
                        <a:buNone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[1-2]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펼침 버튼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토글타입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펼침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결재선의 결재단계를 모두표시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[2-1]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결재단계에 확인자가 있는 경우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 표시 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아이콘으로 처리</a:t>
                      </a: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[2-2]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펼친 </a:t>
                      </a:r>
                      <a:r>
                        <a:rPr lang="ko-KR" altLang="en-US" sz="700" b="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접음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latin typeface="+mn-ea"/>
                          <a:ea typeface="+mn-ea"/>
                        </a:rPr>
                        <a:t>팝업닫기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경우 팝업을 닫고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불러온 결재선의 설정이 적용된 결재선 구성페이지로 이동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2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1905686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18011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8502" y="2005089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56116" y="1038542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416555" y="2130968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2640375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2914800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798502" y="273977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60" name="그룹 59"/>
          <p:cNvGrpSpPr/>
          <p:nvPr/>
        </p:nvGrpSpPr>
        <p:grpSpPr>
          <a:xfrm>
            <a:off x="416555" y="2865657"/>
            <a:ext cx="200894" cy="200894"/>
            <a:chOff x="3027532" y="1509066"/>
            <a:chExt cx="144000" cy="144000"/>
          </a:xfrm>
        </p:grpSpPr>
        <p:sp>
          <p:nvSpPr>
            <p:cNvPr id="61" name="타원 60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62" name="타원 61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6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3127" y="3375064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14128" y="3649489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자재 구매 결재선</a:t>
            </a:r>
            <a:endParaRPr lang="en-US" altLang="ko-KR" sz="900" b="1" kern="0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798502" y="347446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67" name="타원 66"/>
          <p:cNvSpPr/>
          <p:nvPr/>
        </p:nvSpPr>
        <p:spPr>
          <a:xfrm>
            <a:off x="416555" y="3600346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70" name="Freeform 10"/>
          <p:cNvSpPr>
            <a:spLocks noChangeArrowheads="1"/>
          </p:cNvSpPr>
          <p:nvPr/>
        </p:nvSpPr>
        <p:spPr bwMode="auto">
          <a:xfrm rot="5400000">
            <a:off x="2990024" y="216987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Freeform 10"/>
          <p:cNvSpPr>
            <a:spLocks noChangeArrowheads="1"/>
          </p:cNvSpPr>
          <p:nvPr/>
        </p:nvSpPr>
        <p:spPr bwMode="auto">
          <a:xfrm rot="5400000">
            <a:off x="2990023" y="293028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Freeform 10"/>
          <p:cNvSpPr>
            <a:spLocks noChangeArrowheads="1"/>
          </p:cNvSpPr>
          <p:nvPr/>
        </p:nvSpPr>
        <p:spPr bwMode="auto">
          <a:xfrm rot="5400000">
            <a:off x="3008527" y="3666681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직사각형 72"/>
          <p:cNvSpPr/>
          <p:nvPr/>
        </p:nvSpPr>
        <p:spPr>
          <a:xfrm>
            <a:off x="4280276" y="563029"/>
            <a:ext cx="3240000" cy="58255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351315" y="6016561"/>
            <a:ext cx="2186304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불러오기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286886" y="565732"/>
            <a:ext cx="3240000" cy="54534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291918" y="575258"/>
            <a:ext cx="3240000" cy="5443882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327918" y="991809"/>
            <a:ext cx="3168000" cy="49550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327918" y="603832"/>
            <a:ext cx="3168000" cy="398482"/>
            <a:chOff x="7330918" y="3572857"/>
            <a:chExt cx="3168000" cy="398482"/>
          </a:xfrm>
        </p:grpSpPr>
        <p:sp>
          <p:nvSpPr>
            <p:cNvPr id="80" name="직사각형 79"/>
            <p:cNvSpPr/>
            <p:nvPr/>
          </p:nvSpPr>
          <p:spPr>
            <a:xfrm>
              <a:off x="7330918" y="3572857"/>
              <a:ext cx="3168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482080" y="3655757"/>
              <a:ext cx="975588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smtClean="0">
                  <a:solidFill>
                    <a:prstClr val="black"/>
                  </a:solidFill>
                  <a:ea typeface="맑은 고딕"/>
                </a:rPr>
                <a:t>결재선불러오기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0291334" y="3696860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1837228"/>
            <a:ext cx="3064717" cy="3306383"/>
          </a:xfrm>
          <a:prstGeom prst="roundRect">
            <a:avLst>
              <a:gd name="adj" fmla="val 2323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21116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외환및</a:t>
            </a:r>
            <a:r>
              <a:rPr lang="ko-KR" altLang="en-US" sz="1050" b="1" kern="0" dirty="0"/>
              <a:t> </a:t>
            </a:r>
            <a:r>
              <a:rPr lang="en-US" altLang="ko-KR" sz="1050" b="1" kern="0" dirty="0"/>
              <a:t>B2B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02042" y="193663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sp>
        <p:nvSpPr>
          <p:cNvPr id="88" name="타원 87"/>
          <p:cNvSpPr/>
          <p:nvPr/>
        </p:nvSpPr>
        <p:spPr>
          <a:xfrm>
            <a:off x="4520095" y="2062511"/>
            <a:ext cx="200894" cy="20089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4386667" y="5256063"/>
            <a:ext cx="3064717" cy="651459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817668" y="5530488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/>
              <a:t>빠른 이체가 </a:t>
            </a:r>
            <a:r>
              <a:rPr lang="ko-KR" altLang="en-US" sz="1050" b="1" kern="0" dirty="0" err="1"/>
              <a:t>필요할때</a:t>
            </a:r>
            <a:endParaRPr lang="en-US" altLang="ko-KR" sz="900" b="1" kern="0" dirty="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4902042" y="535546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</a:p>
        </p:txBody>
      </p:sp>
      <p:grpSp>
        <p:nvGrpSpPr>
          <p:cNvPr id="92" name="그룹 91"/>
          <p:cNvGrpSpPr/>
          <p:nvPr/>
        </p:nvGrpSpPr>
        <p:grpSpPr>
          <a:xfrm>
            <a:off x="4520095" y="5481345"/>
            <a:ext cx="200894" cy="200894"/>
            <a:chOff x="3027532" y="1509066"/>
            <a:chExt cx="144000" cy="144000"/>
          </a:xfrm>
        </p:grpSpPr>
        <p:sp>
          <p:nvSpPr>
            <p:cNvPr id="93" name="타원 92"/>
            <p:cNvSpPr/>
            <p:nvPr/>
          </p:nvSpPr>
          <p:spPr>
            <a:xfrm>
              <a:off x="3027532" y="1509066"/>
              <a:ext cx="144000" cy="144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94" name="타원 93"/>
            <p:cNvSpPr>
              <a:spLocks noChangeAspect="1"/>
            </p:cNvSpPr>
            <p:nvPr/>
          </p:nvSpPr>
          <p:spPr>
            <a:xfrm>
              <a:off x="3067867" y="1551306"/>
              <a:ext cx="61865" cy="6186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sp>
        <p:nvSpPr>
          <p:cNvPr id="99" name="Freeform 10"/>
          <p:cNvSpPr>
            <a:spLocks noChangeArrowheads="1"/>
          </p:cNvSpPr>
          <p:nvPr/>
        </p:nvSpPr>
        <p:spPr bwMode="auto">
          <a:xfrm rot="16200000">
            <a:off x="7093564" y="2101414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10"/>
          <p:cNvSpPr>
            <a:spLocks noChangeArrowheads="1"/>
          </p:cNvSpPr>
          <p:nvPr/>
        </p:nvSpPr>
        <p:spPr bwMode="auto">
          <a:xfrm rot="5400000">
            <a:off x="7093563" y="5545972"/>
            <a:ext cx="115232" cy="174367"/>
          </a:xfrm>
          <a:custGeom>
            <a:avLst/>
            <a:gdLst>
              <a:gd name="T0" fmla="*/ 44 w 238"/>
              <a:gd name="T1" fmla="*/ 0 h 387"/>
              <a:gd name="T2" fmla="*/ 0 w 238"/>
              <a:gd name="T3" fmla="*/ 44 h 387"/>
              <a:gd name="T4" fmla="*/ 150 w 238"/>
              <a:gd name="T5" fmla="*/ 193 h 387"/>
              <a:gd name="T6" fmla="*/ 0 w 238"/>
              <a:gd name="T7" fmla="*/ 343 h 387"/>
              <a:gd name="T8" fmla="*/ 44 w 238"/>
              <a:gd name="T9" fmla="*/ 386 h 387"/>
              <a:gd name="T10" fmla="*/ 237 w 238"/>
              <a:gd name="T11" fmla="*/ 193 h 387"/>
              <a:gd name="T12" fmla="*/ 44 w 238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87">
                <a:moveTo>
                  <a:pt x="44" y="0"/>
                </a:moveTo>
                <a:lnTo>
                  <a:pt x="0" y="44"/>
                </a:lnTo>
                <a:lnTo>
                  <a:pt x="150" y="193"/>
                </a:lnTo>
                <a:lnTo>
                  <a:pt x="0" y="343"/>
                </a:lnTo>
                <a:lnTo>
                  <a:pt x="44" y="386"/>
                </a:lnTo>
                <a:lnTo>
                  <a:pt x="237" y="193"/>
                </a:lnTo>
                <a:lnTo>
                  <a:pt x="44" y="0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04" name="직선 연결선 103"/>
          <p:cNvCxnSpPr/>
          <p:nvPr/>
        </p:nvCxnSpPr>
        <p:spPr>
          <a:xfrm>
            <a:off x="3338169" y="1000518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 flipV="1">
            <a:off x="3724018" y="1018990"/>
            <a:ext cx="0" cy="491057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184794" y="5929567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3459346" y="3296135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latin typeface="+mn-ea"/>
              </a:rPr>
              <a:t>스크롤 </a:t>
            </a:r>
            <a:r>
              <a:rPr lang="ko-KR" altLang="en-US" sz="700" dirty="0">
                <a:latin typeface="+mn-ea"/>
              </a:rPr>
              <a:t>영역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181986" y="6019139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4280276" y="6029961"/>
            <a:ext cx="1065789" cy="3586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112925" y="1795472"/>
            <a:ext cx="251992" cy="230832"/>
            <a:chOff x="4867678" y="3090156"/>
            <a:chExt cx="251992" cy="230832"/>
          </a:xfrm>
        </p:grpSpPr>
        <p:sp>
          <p:nvSpPr>
            <p:cNvPr id="1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2682391" y="1852961"/>
            <a:ext cx="367408" cy="230832"/>
            <a:chOff x="4809970" y="3090156"/>
            <a:chExt cx="367408" cy="230832"/>
          </a:xfrm>
        </p:grpSpPr>
        <p:sp>
          <p:nvSpPr>
            <p:cNvPr id="1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4208558" y="2290950"/>
            <a:ext cx="251992" cy="230832"/>
            <a:chOff x="4867678" y="3090156"/>
            <a:chExt cx="251992" cy="230832"/>
          </a:xfrm>
        </p:grpSpPr>
        <p:sp>
          <p:nvSpPr>
            <p:cNvPr id="1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4177564" y="5857625"/>
            <a:ext cx="251992" cy="230832"/>
            <a:chOff x="4867678" y="3090156"/>
            <a:chExt cx="251992" cy="230832"/>
          </a:xfrm>
        </p:grpSpPr>
        <p:sp>
          <p:nvSpPr>
            <p:cNvPr id="12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95" name="직선 화살표 연결선 94"/>
          <p:cNvCxnSpPr/>
          <p:nvPr/>
        </p:nvCxnSpPr>
        <p:spPr>
          <a:xfrm flipV="1">
            <a:off x="7668345" y="2478070"/>
            <a:ext cx="0" cy="235622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7288334" y="2478069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238363" y="4834294"/>
            <a:ext cx="684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668345" y="3658743"/>
            <a:ext cx="667914" cy="127785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latin typeface="+mn-ea"/>
              </a:rPr>
              <a:t>영역펼침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5349495" y="5842225"/>
            <a:ext cx="251992" cy="230832"/>
            <a:chOff x="4867678" y="3090156"/>
            <a:chExt cx="251992" cy="230832"/>
          </a:xfrm>
        </p:grpSpPr>
        <p:sp>
          <p:nvSpPr>
            <p:cNvPr id="12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2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4334554" y="1046719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불러올 </a:t>
            </a:r>
            <a:r>
              <a:rPr lang="ko-KR" altLang="en-US" sz="1200" b="1" spc="-150" dirty="0" err="1">
                <a:solidFill>
                  <a:prstClr val="black"/>
                </a:solidFill>
                <a:latin typeface="+mn-ea"/>
              </a:rPr>
              <a:t>결재선을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spc="-150" dirty="0">
                <a:solidFill>
                  <a:prstClr val="black"/>
                </a:solidFill>
                <a:latin typeface="+mn-ea"/>
              </a:rPr>
              <a:t>선택해주세요</a:t>
            </a:r>
            <a:endParaRPr lang="en-US" altLang="ko-KR" sz="1200" b="1" spc="-15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02" name="그룹 101"/>
          <p:cNvGrpSpPr/>
          <p:nvPr/>
        </p:nvGrpSpPr>
        <p:grpSpPr>
          <a:xfrm>
            <a:off x="2843262" y="2080685"/>
            <a:ext cx="401071" cy="286418"/>
            <a:chOff x="7122762" y="2119930"/>
            <a:chExt cx="401071" cy="286418"/>
          </a:xfrm>
        </p:grpSpPr>
        <p:sp>
          <p:nvSpPr>
            <p:cNvPr id="126" name="타원 125"/>
            <p:cNvSpPr/>
            <p:nvPr/>
          </p:nvSpPr>
          <p:spPr>
            <a:xfrm>
              <a:off x="7174577" y="2119930"/>
              <a:ext cx="286418" cy="286418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122762" y="2161903"/>
              <a:ext cx="40107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Click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124278" y="2059031"/>
            <a:ext cx="367408" cy="230832"/>
            <a:chOff x="4809970" y="3090156"/>
            <a:chExt cx="367408" cy="230832"/>
          </a:xfrm>
        </p:grpSpPr>
        <p:sp>
          <p:nvSpPr>
            <p:cNvPr id="1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7202336" y="2101035"/>
            <a:ext cx="367408" cy="230832"/>
            <a:chOff x="4809970" y="3090156"/>
            <a:chExt cx="367408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등록</a:t>
            </a:r>
            <a:endParaRPr lang="en-US" altLang="ko-KR" sz="800" kern="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4418028" y="1417521"/>
            <a:ext cx="3039047" cy="330118"/>
            <a:chOff x="5804087" y="4215557"/>
            <a:chExt cx="3024000" cy="288696"/>
          </a:xfrm>
        </p:grpSpPr>
        <p:sp>
          <p:nvSpPr>
            <p:cNvPr id="137" name="직사각형 13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8" name="직선 연결선 13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직사각형 138"/>
          <p:cNvSpPr/>
          <p:nvPr/>
        </p:nvSpPr>
        <p:spPr>
          <a:xfrm>
            <a:off x="4453504" y="1458455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cs typeface="Calibri" pitchFamily="34" charset="0"/>
              </a:rPr>
              <a:t>대출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40" name="개체 139"/>
          <p:cNvGraphicFramePr>
            <a:graphicFrameLocks noChangeAspect="1"/>
          </p:cNvGraphicFramePr>
          <p:nvPr>
            <p:extLst/>
          </p:nvPr>
        </p:nvGraphicFramePr>
        <p:xfrm>
          <a:off x="7172385" y="1475397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6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40" name="개체 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2385" y="1475397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" name="그룹 145"/>
          <p:cNvGrpSpPr/>
          <p:nvPr/>
        </p:nvGrpSpPr>
        <p:grpSpPr>
          <a:xfrm>
            <a:off x="298086" y="1474684"/>
            <a:ext cx="3039047" cy="330118"/>
            <a:chOff x="5804087" y="4215557"/>
            <a:chExt cx="3024000" cy="288696"/>
          </a:xfrm>
        </p:grpSpPr>
        <p:sp>
          <p:nvSpPr>
            <p:cNvPr id="147" name="직사각형 146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48" name="직선 연결선 147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직사각형 148"/>
          <p:cNvSpPr/>
          <p:nvPr/>
        </p:nvSpPr>
        <p:spPr>
          <a:xfrm>
            <a:off x="275853" y="1515618"/>
            <a:ext cx="15199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 smtClean="0">
                <a:latin typeface="+mn-ea"/>
                <a:cs typeface="Calibri" pitchFamily="34" charset="0"/>
              </a:rPr>
              <a:t>결재선명을</a:t>
            </a:r>
            <a:r>
              <a:rPr lang="ko-KR" altLang="en-US" sz="900" dirty="0" smtClean="0">
                <a:latin typeface="+mn-ea"/>
                <a:cs typeface="Calibri" pitchFamily="34" charset="0"/>
              </a:rPr>
              <a:t> 입력해주세요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150" name="개체 149"/>
          <p:cNvGraphicFramePr>
            <a:graphicFrameLocks noChangeAspect="1"/>
          </p:cNvGraphicFramePr>
          <p:nvPr>
            <p:extLst/>
          </p:nvPr>
        </p:nvGraphicFramePr>
        <p:xfrm>
          <a:off x="3052443" y="153256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7" name="Image" r:id="rId3" imgW="380880" imgH="380880" progId="Photoshop.Image.13">
                  <p:embed/>
                </p:oleObj>
              </mc:Choice>
              <mc:Fallback>
                <p:oleObj name="Image" r:id="rId3" imgW="380880" imgH="380880" progId="Photoshop.Image.13">
                  <p:embed/>
                  <p:pic>
                    <p:nvPicPr>
                      <p:cNvPr id="150" name="개체 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2443" y="153256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직사각형 128"/>
          <p:cNvSpPr/>
          <p:nvPr/>
        </p:nvSpPr>
        <p:spPr>
          <a:xfrm>
            <a:off x="7956433" y="5258375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결재선을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불러오시겠습니까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830893" y="4967201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결재선 불러오기 시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등록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일때만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가능함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44" name="Freeform 11"/>
          <p:cNvSpPr>
            <a:spLocks noChangeArrowheads="1"/>
          </p:cNvSpPr>
          <p:nvPr/>
        </p:nvSpPr>
        <p:spPr bwMode="auto">
          <a:xfrm>
            <a:off x="10702309" y="5318465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8106088" y="5322088"/>
            <a:ext cx="731932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>
                <a:solidFill>
                  <a:prstClr val="black"/>
                </a:solidFill>
                <a:ea typeface="맑은 고딕"/>
              </a:rPr>
              <a:t>알림 메시지</a:t>
            </a: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7807761" y="5190770"/>
            <a:ext cx="367408" cy="230832"/>
            <a:chOff x="4809970" y="3090156"/>
            <a:chExt cx="367408" cy="230832"/>
          </a:xfrm>
        </p:grpSpPr>
        <p:sp>
          <p:nvSpPr>
            <p:cNvPr id="152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53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962711" y="6457446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8288350" y="6264461"/>
            <a:ext cx="367408" cy="230832"/>
            <a:chOff x="4809970" y="3090156"/>
            <a:chExt cx="367408" cy="230832"/>
          </a:xfrm>
        </p:grpSpPr>
        <p:sp>
          <p:nvSpPr>
            <p:cNvPr id="169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0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9448570" y="6457446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>
            <a:off x="9466207" y="6267238"/>
            <a:ext cx="367408" cy="230832"/>
            <a:chOff x="4809970" y="3090156"/>
            <a:chExt cx="367408" cy="230832"/>
          </a:xfrm>
        </p:grpSpPr>
        <p:sp>
          <p:nvSpPr>
            <p:cNvPr id="176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77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aphicFrame>
        <p:nvGraphicFramePr>
          <p:cNvPr id="128" name="표 127"/>
          <p:cNvGraphicFramePr>
            <a:graphicFrameLocks noGrp="1"/>
          </p:cNvGraphicFramePr>
          <p:nvPr>
            <p:extLst/>
          </p:nvPr>
        </p:nvGraphicFramePr>
        <p:xfrm>
          <a:off x="5134765" y="6446429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aphicFrame>
        <p:nvGraphicFramePr>
          <p:cNvPr id="196" name="표 195"/>
          <p:cNvGraphicFramePr>
            <a:graphicFrameLocks noGrp="1"/>
          </p:cNvGraphicFramePr>
          <p:nvPr>
            <p:extLst/>
          </p:nvPr>
        </p:nvGraphicFramePr>
        <p:xfrm>
          <a:off x="4504460" y="2544223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197" name="직선 연결선 196"/>
          <p:cNvCxnSpPr/>
          <p:nvPr/>
        </p:nvCxnSpPr>
        <p:spPr>
          <a:xfrm flipV="1">
            <a:off x="5482559" y="3123871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/>
          <p:cNvSpPr/>
          <p:nvPr/>
        </p:nvSpPr>
        <p:spPr>
          <a:xfrm>
            <a:off x="5469788" y="4179528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5469788" y="392570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5469788" y="3680765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1" name="직사각형 200"/>
          <p:cNvSpPr/>
          <p:nvPr/>
        </p:nvSpPr>
        <p:spPr>
          <a:xfrm>
            <a:off x="5469788" y="342411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5460595" y="2822152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5462523" y="2971209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5469788" y="317917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5460594" y="2592075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F73A605-AA0F-198F-17FC-06CB5824E0C1}"/>
              </a:ext>
            </a:extLst>
          </p:cNvPr>
          <p:cNvGrpSpPr/>
          <p:nvPr/>
        </p:nvGrpSpPr>
        <p:grpSpPr>
          <a:xfrm rot="6850467">
            <a:off x="5698433" y="2645509"/>
            <a:ext cx="230832" cy="367408"/>
            <a:chOff x="4878258" y="3021868"/>
            <a:chExt cx="230832" cy="367408"/>
          </a:xfrm>
        </p:grpSpPr>
        <p:sp>
          <p:nvSpPr>
            <p:cNvPr id="207" name="Teardrop 1">
              <a:extLst>
                <a:ext uri="{FF2B5EF4-FFF2-40B4-BE49-F238E27FC236}">
                  <a16:creationId xmlns:a16="http://schemas.microsoft.com/office/drawing/2014/main" id="{2BBFBD59-919A-4E97-F8F0-C28E206629F4}"/>
                </a:ext>
              </a:extLst>
            </p:cNvPr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08" name="Rectangle 4">
              <a:extLst>
                <a:ext uri="{FF2B5EF4-FFF2-40B4-BE49-F238E27FC236}">
                  <a16:creationId xmlns:a16="http://schemas.microsoft.com/office/drawing/2014/main" id="{2F14C0AB-AEF4-BA47-1E9E-6F1DBD6BFFFD}"/>
                </a:ext>
              </a:extLst>
            </p:cNvPr>
            <p:cNvSpPr/>
            <p:nvPr/>
          </p:nvSpPr>
          <p:spPr>
            <a:xfrm rot="14749533"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DB72A45-948F-6C06-958D-C2A79750A01D}"/>
              </a:ext>
            </a:extLst>
          </p:cNvPr>
          <p:cNvSpPr/>
          <p:nvPr/>
        </p:nvSpPr>
        <p:spPr>
          <a:xfrm>
            <a:off x="9851517" y="447410"/>
            <a:ext cx="655949" cy="200055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none">
            <a:spAutoFit/>
          </a:bodyPr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2023-01-02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12052101" y="324563"/>
            <a:ext cx="2592288" cy="15719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* 2023-01-02</a:t>
            </a:r>
          </a:p>
          <a:p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결재 구성원 표시 순서 변경 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  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기안단계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↑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승인단계</a:t>
            </a: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700" dirty="0" smtClean="0">
                <a:solidFill>
                  <a:schemeClr val="bg1"/>
                </a:solidFill>
                <a:latin typeface="+mn-ea"/>
              </a:rPr>
            </a:b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확인자</a:t>
            </a:r>
            <a:r>
              <a:rPr lang="ko-KR" altLang="en-US" sz="700" dirty="0" smtClean="0">
                <a:solidFill>
                  <a:schemeClr val="bg1"/>
                </a:solidFill>
                <a:latin typeface="+mn-ea"/>
              </a:rPr>
              <a:t> 표시 후 </a:t>
            </a:r>
            <a:r>
              <a:rPr lang="ko-KR" altLang="en-US" sz="700" dirty="0" err="1" smtClean="0">
                <a:solidFill>
                  <a:schemeClr val="bg1"/>
                </a:solidFill>
                <a:latin typeface="+mn-ea"/>
              </a:rPr>
              <a:t>결재자표시</a:t>
            </a:r>
            <a:endParaRPr lang="en-US" altLang="ko-KR" sz="7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916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사용자 추가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/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이동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80358" y="1454457"/>
            <a:ext cx="2950119" cy="1490703"/>
            <a:chOff x="201576" y="3100646"/>
            <a:chExt cx="2950119" cy="1490703"/>
          </a:xfrm>
        </p:grpSpPr>
        <p:grpSp>
          <p:nvGrpSpPr>
            <p:cNvPr id="38" name="그룹 37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41" name="직사각형 40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기안불가자는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추가할 수 없습니다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8761" y="5395010"/>
                <a:ext cx="2943902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39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기안불가자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추가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3975347" y="1450476"/>
            <a:ext cx="2950119" cy="1490703"/>
            <a:chOff x="201576" y="3100646"/>
            <a:chExt cx="2950119" cy="1490703"/>
          </a:xfrm>
        </p:grpSpPr>
        <p:grpSp>
          <p:nvGrpSpPr>
            <p:cNvPr id="47" name="그룹 46"/>
            <p:cNvGrpSpPr/>
            <p:nvPr/>
          </p:nvGrpSpPr>
          <p:grpSpPr>
            <a:xfrm>
              <a:off x="201576" y="3100646"/>
              <a:ext cx="2950119" cy="1490703"/>
              <a:chOff x="6872544" y="4197176"/>
              <a:chExt cx="2950119" cy="1490703"/>
            </a:xfrm>
          </p:grpSpPr>
          <p:sp>
            <p:nvSpPr>
              <p:cNvPr id="49" name="직사각형 48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기안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결재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%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단계에는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최대 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9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명까지 추가 가능합니다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8761" y="5398991"/>
                <a:ext cx="2937786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48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893839" y="115532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각 단계에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9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 이상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380358" y="3296856"/>
            <a:ext cx="2950119" cy="1490703"/>
            <a:chOff x="201576" y="3100646"/>
            <a:chExt cx="2950119" cy="1490703"/>
          </a:xfrm>
        </p:grpSpPr>
        <p:sp>
          <p:nvSpPr>
            <p:cNvPr id="57" name="직사각형 56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단독결재불가자는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추가할 수 없습니다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58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298850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단독결재불가자 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추가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695876" y="1450476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확인자는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각 단계별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8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명까지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추가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70336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확인자가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8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초과한 경우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4" name="Freeform 11"/>
          <p:cNvSpPr>
            <a:spLocks noChangeArrowheads="1"/>
          </p:cNvSpPr>
          <p:nvPr/>
        </p:nvSpPr>
        <p:spPr bwMode="auto">
          <a:xfrm>
            <a:off x="10441752" y="1510566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5" name="그룹 64"/>
          <p:cNvGrpSpPr/>
          <p:nvPr/>
        </p:nvGrpSpPr>
        <p:grpSpPr>
          <a:xfrm>
            <a:off x="3975347" y="3296856"/>
            <a:ext cx="2950119" cy="1490703"/>
            <a:chOff x="201576" y="3100646"/>
            <a:chExt cx="2950119" cy="1490703"/>
          </a:xfrm>
        </p:grpSpPr>
        <p:sp>
          <p:nvSpPr>
            <p:cNvPr id="66" name="직사각형 65"/>
            <p:cNvSpPr/>
            <p:nvPr/>
          </p:nvSpPr>
          <p:spPr>
            <a:xfrm>
              <a:off x="201576" y="310064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마지막 결재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승인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) 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단계에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최대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명만 </a:t>
              </a:r>
              <a:r>
                <a:rPr lang="ko-KR" altLang="en-US" sz="1000" spc="-150" dirty="0">
                  <a:solidFill>
                    <a:schemeClr val="tx1"/>
                  </a:solidFill>
                  <a:ea typeface="맑은 고딕"/>
                </a:rPr>
                <a:t>추가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가능합니다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.</a:t>
              </a:r>
            </a:p>
          </p:txBody>
        </p:sp>
        <p:sp>
          <p:nvSpPr>
            <p:cNvPr id="67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893839" y="3001701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마지막 결재 단계에 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명을 초과하여 추가 시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7695876" y="3257970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결재단계는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최대 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7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단계까지 가능합니다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70336" y="29667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단계를 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단계 초과 추가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4" name="Freeform 11"/>
          <p:cNvSpPr>
            <a:spLocks noChangeArrowheads="1"/>
          </p:cNvSpPr>
          <p:nvPr/>
        </p:nvSpPr>
        <p:spPr bwMode="auto">
          <a:xfrm>
            <a:off x="10441752" y="3318060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86575" y="4499559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3978455" y="4493364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702093" y="4460673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7702093" y="2648751"/>
            <a:ext cx="2943902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확인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4146076" y="1278431"/>
            <a:ext cx="2773274" cy="1380468"/>
            <a:chOff x="4535050" y="819597"/>
            <a:chExt cx="1560950" cy="1634383"/>
          </a:xfrm>
        </p:grpSpPr>
        <p:sp>
          <p:nvSpPr>
            <p:cNvPr id="87" name="직사각형 8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90" name="직사각형 8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직사각형 9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2" name="그룹 91"/>
          <p:cNvGrpSpPr/>
          <p:nvPr/>
        </p:nvGrpSpPr>
        <p:grpSpPr>
          <a:xfrm>
            <a:off x="7872721" y="1278431"/>
            <a:ext cx="2773274" cy="1380468"/>
            <a:chOff x="4535050" y="819597"/>
            <a:chExt cx="1560950" cy="1634383"/>
          </a:xfrm>
        </p:grpSpPr>
        <p:sp>
          <p:nvSpPr>
            <p:cNvPr id="97" name="직사각형 9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5" name="그룹 104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06" name="직사각형 105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8" name="그룹 107"/>
          <p:cNvGrpSpPr/>
          <p:nvPr/>
        </p:nvGrpSpPr>
        <p:grpSpPr>
          <a:xfrm>
            <a:off x="7872721" y="3112896"/>
            <a:ext cx="2773274" cy="1380468"/>
            <a:chOff x="4535050" y="819597"/>
            <a:chExt cx="1560950" cy="1634383"/>
          </a:xfrm>
        </p:grpSpPr>
        <p:sp>
          <p:nvSpPr>
            <p:cNvPr id="109" name="직사각형 10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12" name="직사각형 11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51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7644658" y="506299"/>
            <a:ext cx="3001338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err="1" smtClean="0">
                <a:solidFill>
                  <a:schemeClr val="bg1"/>
                </a:solidFill>
                <a:ea typeface="맑은 고딕"/>
              </a:rPr>
              <a:t>결재단계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 삭제 에 따른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 </a:t>
            </a: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처리</a:t>
            </a: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376363" y="1412104"/>
            <a:ext cx="2950119" cy="1490703"/>
            <a:chOff x="6872544" y="4197176"/>
            <a:chExt cx="2950119" cy="1490703"/>
          </a:xfrm>
        </p:grpSpPr>
        <p:sp>
          <p:nvSpPr>
            <p:cNvPr id="21" name="직사각형 20"/>
            <p:cNvSpPr/>
            <p:nvPr/>
          </p:nvSpPr>
          <p:spPr>
            <a:xfrm>
              <a:off x="6872544" y="4197176"/>
              <a:ext cx="2950119" cy="1490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spc="-150" dirty="0" err="1" smtClean="0">
                  <a:solidFill>
                    <a:schemeClr val="tx1"/>
                  </a:solidFill>
                  <a:ea typeface="맑은 고딕"/>
                </a:rPr>
                <a:t>결재단계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3</a:t>
              </a:r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단계를</a:t>
              </a:r>
              <a:endParaRPr lang="en-US" altLang="ko-KR" sz="1000" spc="-150" dirty="0" smtClean="0">
                <a:solidFill>
                  <a:schemeClr val="tx1"/>
                </a:solidFill>
                <a:ea typeface="맑은 고딕"/>
              </a:endParaRPr>
            </a:p>
            <a:p>
              <a:pPr algn="ctr"/>
              <a:r>
                <a:rPr lang="ko-KR" altLang="en-US" sz="1000" spc="-150" dirty="0" smtClean="0">
                  <a:solidFill>
                    <a:schemeClr val="tx1"/>
                  </a:solidFill>
                  <a:ea typeface="맑은 고딕"/>
                </a:rPr>
                <a:t>삭제하시겠습니까</a:t>
              </a:r>
              <a:r>
                <a:rPr lang="en-US" altLang="ko-KR" sz="1000" spc="-150" dirty="0" smtClean="0">
                  <a:solidFill>
                    <a:schemeClr val="tx1"/>
                  </a:solidFill>
                  <a:ea typeface="맑은 고딕"/>
                </a:rPr>
                <a:t>?</a:t>
              </a:r>
              <a:endParaRPr lang="en-US" altLang="ko-KR" sz="1000" spc="-15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8358403" y="5399879"/>
              <a:ext cx="146426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예</a:t>
              </a:r>
              <a:endParaRPr lang="ko-KR" altLang="en-US" sz="900" b="1" dirty="0"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3CDDBB6-F1BC-FFE5-F319-CD5941FCDF54}"/>
                </a:ext>
              </a:extLst>
            </p:cNvPr>
            <p:cNvSpPr/>
            <p:nvPr/>
          </p:nvSpPr>
          <p:spPr>
            <a:xfrm>
              <a:off x="6872544" y="5399879"/>
              <a:ext cx="1485858" cy="288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latin typeface="+mn-ea"/>
                </a:rPr>
                <a:t>아니요</a:t>
              </a:r>
              <a:endParaRPr lang="ko-KR" altLang="en-US" sz="900" b="1" dirty="0">
                <a:latin typeface="+mn-ea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50823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없음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5" name="Freeform 11"/>
          <p:cNvSpPr>
            <a:spLocks noChangeArrowheads="1"/>
          </p:cNvSpPr>
          <p:nvPr/>
        </p:nvSpPr>
        <p:spPr bwMode="auto">
          <a:xfrm>
            <a:off x="3122239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직사각형 25"/>
          <p:cNvSpPr/>
          <p:nvPr/>
        </p:nvSpPr>
        <p:spPr>
          <a:xfrm>
            <a:off x="4096892" y="1412104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구성원이 있습니다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단계에 포함된 구성원도 삭제됩니다</a:t>
            </a:r>
            <a:endParaRPr lang="en-US" altLang="ko-KR" sz="1000" spc="-150" dirty="0" smtClean="0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 sz="1000" spc="-150" dirty="0" err="1" smtClean="0">
                <a:solidFill>
                  <a:schemeClr val="tx1"/>
                </a:solidFill>
                <a:ea typeface="맑은 고딕"/>
              </a:rPr>
              <a:t>결재단계를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 삭제하시겠습니까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1352" y="1120930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결재단계를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삭제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– 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구성원 존재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0" name="Freeform 11"/>
          <p:cNvSpPr>
            <a:spLocks noChangeArrowheads="1"/>
          </p:cNvSpPr>
          <p:nvPr/>
        </p:nvSpPr>
        <p:spPr bwMode="auto">
          <a:xfrm>
            <a:off x="6842768" y="1472194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82751" y="2614807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096892" y="2614807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620065" y="1472194"/>
            <a:ext cx="2773274" cy="1380468"/>
            <a:chOff x="4535050" y="819597"/>
            <a:chExt cx="1560950" cy="1634383"/>
          </a:xfrm>
        </p:grpSpPr>
        <p:sp>
          <p:nvSpPr>
            <p:cNvPr id="34" name="직사각형 33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37" name="직사각형 36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4424810" y="2428635"/>
            <a:ext cx="2773274" cy="673694"/>
            <a:chOff x="4535050" y="819597"/>
            <a:chExt cx="1560950" cy="797609"/>
          </a:xfrm>
        </p:grpSpPr>
        <p:sp>
          <p:nvSpPr>
            <p:cNvPr id="40" name="직사각형 39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544262" y="1021159"/>
              <a:ext cx="1405069" cy="413049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2" name="그룹 41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2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</a:t>
            </a:r>
            <a:endParaRPr lang="en-US" altLang="ko-KR" sz="800" kern="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</a:t>
            </a:r>
            <a:endParaRPr lang="en-US" altLang="ko-KR" sz="800" kern="0" dirty="0"/>
          </a:p>
        </p:txBody>
      </p:sp>
      <p:sp>
        <p:nvSpPr>
          <p:cNvPr id="240" name="TextBox 239"/>
          <p:cNvSpPr txBox="1"/>
          <p:nvPr/>
        </p:nvSpPr>
        <p:spPr>
          <a:xfrm>
            <a:off x="304059" y="454768"/>
            <a:ext cx="937116" cy="30777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400" b="1" spc="-150" dirty="0">
                <a:solidFill>
                  <a:prstClr val="black"/>
                </a:solidFill>
                <a:ea typeface="맑은 고딕"/>
              </a:rPr>
              <a:t>결재선 관리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98850" y="776553"/>
            <a:ext cx="1006045" cy="26161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spc="-150" dirty="0" smtClean="0">
                <a:solidFill>
                  <a:prstClr val="black"/>
                </a:solidFill>
                <a:ea typeface="맑은 고딕"/>
              </a:rPr>
              <a:t>결재선 기본 설정</a:t>
            </a:r>
            <a:endParaRPr lang="ko-KR" altLang="en-US" sz="1100" b="1" spc="-150" dirty="0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2235482" y="504378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결재선정보확인 이동 전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380357" y="1454457"/>
            <a:ext cx="2950120" cy="1490703"/>
            <a:chOff x="201575" y="3100646"/>
            <a:chExt cx="2950120" cy="1490703"/>
          </a:xfrm>
        </p:grpSpPr>
        <p:grpSp>
          <p:nvGrpSpPr>
            <p:cNvPr id="38" name="그룹 37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44" name="직사각형 43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기안자는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89840"/>
                <a:ext cx="2950119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43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98850" y="1159302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기안단계에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3975346" y="1450476"/>
            <a:ext cx="2950120" cy="1490703"/>
            <a:chOff x="201575" y="3100646"/>
            <a:chExt cx="2950120" cy="1490703"/>
          </a:xfrm>
        </p:grpSpPr>
        <p:grpSp>
          <p:nvGrpSpPr>
            <p:cNvPr id="49" name="그룹 48"/>
            <p:cNvGrpSpPr/>
            <p:nvPr/>
          </p:nvGrpSpPr>
          <p:grpSpPr>
            <a:xfrm>
              <a:off x="201575" y="3100646"/>
              <a:ext cx="2950120" cy="1490703"/>
              <a:chOff x="6872543" y="4197176"/>
              <a:chExt cx="2950120" cy="1490703"/>
            </a:xfrm>
          </p:grpSpPr>
          <p:sp>
            <p:nvSpPr>
              <p:cNvPr id="58" name="직사각형 57"/>
              <p:cNvSpPr/>
              <p:nvPr/>
            </p:nvSpPr>
            <p:spPr>
              <a:xfrm>
                <a:off x="6872544" y="4197176"/>
                <a:ext cx="2950119" cy="14907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결재단계에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en-US" sz="1000" spc="-150" dirty="0" err="1" smtClean="0">
                    <a:solidFill>
                      <a:schemeClr val="tx1"/>
                    </a:solidFill>
                    <a:ea typeface="맑은 고딕"/>
                  </a:rPr>
                  <a:t>결재권자는</a:t>
                </a:r>
                <a:endParaRPr lang="en-US" altLang="ko-KR" sz="1000" spc="-150" dirty="0" smtClean="0">
                  <a:solidFill>
                    <a:schemeClr val="tx1"/>
                  </a:solidFill>
                  <a:ea typeface="맑은 고딕"/>
                </a:endParaRPr>
              </a:p>
              <a:p>
                <a:pPr algn="ctr"/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1000" spc="-150" dirty="0" smtClean="0">
                    <a:solidFill>
                      <a:schemeClr val="tx1"/>
                    </a:solidFill>
                    <a:ea typeface="맑은 고딕"/>
                  </a:rPr>
                  <a:t>명 이상 </a:t>
                </a:r>
                <a:r>
                  <a:rPr lang="ko-KR" altLang="en-US" sz="1000" spc="-150" dirty="0">
                    <a:solidFill>
                      <a:schemeClr val="tx1"/>
                    </a:solidFill>
                    <a:ea typeface="맑은 고딕"/>
                  </a:rPr>
                  <a:t>필요합니다</a:t>
                </a:r>
                <a:r>
                  <a:rPr lang="en-US" altLang="ko-KR" sz="1000" spc="-150" dirty="0" smtClean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en-US" altLang="ko-KR" sz="1000" spc="-15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B3CDDBB6-F1BC-FFE5-F319-CD5941FCDF54}"/>
                  </a:ext>
                </a:extLst>
              </p:cNvPr>
              <p:cNvSpPr/>
              <p:nvPr/>
            </p:nvSpPr>
            <p:spPr>
              <a:xfrm>
                <a:off x="6872543" y="5391335"/>
                <a:ext cx="2944004" cy="288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12700">
                <a:solidFill>
                  <a:srgbClr val="333F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latin typeface="+mn-ea"/>
                  </a:rPr>
                  <a:t>확인</a:t>
                </a:r>
                <a:endParaRPr lang="ko-KR" altLang="en-US" sz="900" b="1" dirty="0">
                  <a:latin typeface="+mn-ea"/>
                </a:endParaRPr>
              </a:p>
            </p:txBody>
          </p:sp>
        </p:grpSp>
        <p:sp>
          <p:nvSpPr>
            <p:cNvPr id="50" name="Freeform 11"/>
            <p:cNvSpPr>
              <a:spLocks noChangeArrowheads="1"/>
            </p:cNvSpPr>
            <p:nvPr/>
          </p:nvSpPr>
          <p:spPr bwMode="auto">
            <a:xfrm>
              <a:off x="2933937" y="3156863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3893839" y="1001432"/>
            <a:ext cx="2957869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결재단계에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>
                <a:latin typeface="맑은 고딕" panose="020B0503020000020004" pitchFamily="50" charset="-127"/>
                <a:cs typeface="Segoe UI" panose="020B0502040204020203" pitchFamily="34" charset="0"/>
              </a:rPr>
              <a:t>결재권자</a:t>
            </a:r>
            <a:r>
              <a:rPr lang="ko-KR" altLang="en-US" sz="1000" b="1" spc="-150" dirty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없는경우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결재권자없이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확인자만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b="1" spc="-150" dirty="0" err="1" smtClean="0">
                <a:latin typeface="맑은 고딕" panose="020B0503020000020004" pitchFamily="50" charset="-127"/>
                <a:cs typeface="Segoe UI" panose="020B0502040204020203" pitchFamily="34" charset="0"/>
              </a:rPr>
              <a:t>있는경우도</a:t>
            </a:r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 포함</a:t>
            </a:r>
            <a:r>
              <a:rPr lang="en-US" altLang="ko-KR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en-US" altLang="ko-KR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019379" y="4887862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결재선 등록 취소하시겠습니까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893839" y="4596688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취소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9" name="Freeform 11"/>
          <p:cNvSpPr>
            <a:spLocks noChangeArrowheads="1"/>
          </p:cNvSpPr>
          <p:nvPr/>
        </p:nvSpPr>
        <p:spPr bwMode="auto">
          <a:xfrm>
            <a:off x="6765255" y="4947952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029562" y="4036289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취소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24390" y="4892833"/>
            <a:ext cx="2950119" cy="1490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입력한 정보가 사라집니다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.</a:t>
            </a:r>
          </a:p>
          <a:p>
            <a:pPr algn="ctr"/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결재선 기본 설정 </a:t>
            </a:r>
            <a:r>
              <a:rPr lang="ko-KR" altLang="en-US" sz="1000" spc="-150" dirty="0">
                <a:solidFill>
                  <a:schemeClr val="tx1"/>
                </a:solidFill>
                <a:ea typeface="맑은 고딕"/>
              </a:rPr>
              <a:t>화면으로 </a:t>
            </a:r>
            <a:r>
              <a:rPr lang="ko-KR" altLang="en-US" sz="1000" spc="-150" dirty="0" smtClean="0">
                <a:solidFill>
                  <a:schemeClr val="tx1"/>
                </a:solidFill>
                <a:ea typeface="맑은 고딕"/>
              </a:rPr>
              <a:t>이동하시겠습니까</a:t>
            </a:r>
            <a:r>
              <a:rPr lang="en-US" altLang="ko-KR" sz="1000" spc="-150" dirty="0" smtClean="0">
                <a:solidFill>
                  <a:schemeClr val="tx1"/>
                </a:solidFill>
                <a:ea typeface="맑은 고딕"/>
              </a:rPr>
              <a:t>?</a:t>
            </a:r>
          </a:p>
          <a:p>
            <a:pPr algn="ctr"/>
            <a:endParaRPr lang="en-US" altLang="ko-KR" sz="1000" spc="-15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98850" y="4601659"/>
            <a:ext cx="3162141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이전 버튼 시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3" name="Freeform 11"/>
          <p:cNvSpPr>
            <a:spLocks noChangeArrowheads="1"/>
          </p:cNvSpPr>
          <p:nvPr/>
        </p:nvSpPr>
        <p:spPr bwMode="auto">
          <a:xfrm>
            <a:off x="3170266" y="4952923"/>
            <a:ext cx="144000" cy="144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222A45-1626-487F-4758-20339D1A8474}"/>
              </a:ext>
            </a:extLst>
          </p:cNvPr>
          <p:cNvSpPr txBox="1"/>
          <p:nvPr/>
        </p:nvSpPr>
        <p:spPr>
          <a:xfrm>
            <a:off x="434573" y="4041260"/>
            <a:ext cx="2615687" cy="4762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tIns="7200" bIns="72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000" dirty="0" smtClean="0">
              <a:solidFill>
                <a:schemeClr val="bg1"/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000" dirty="0" smtClean="0">
                <a:solidFill>
                  <a:schemeClr val="bg1"/>
                </a:solidFill>
                <a:ea typeface="맑은 고딕"/>
              </a:rPr>
              <a:t>이전 시 체크 </a:t>
            </a:r>
            <a:r>
              <a:rPr kumimoji="1" lang="en-US" altLang="ko-KR" sz="1000" dirty="0" smtClean="0">
                <a:solidFill>
                  <a:schemeClr val="bg1"/>
                </a:solidFill>
                <a:ea typeface="맑은 고딕"/>
              </a:rPr>
              <a:t>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ko-Kore-KR" altLang="en-US" sz="10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24390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</a:rPr>
              <a:t>결재선기본설정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975347" y="6447249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1910249" y="6122003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24390" y="6122003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5508733" y="6112685"/>
            <a:ext cx="1464260" cy="28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예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3CDDBB6-F1BC-FFE5-F319-CD5941FCDF54}"/>
              </a:ext>
            </a:extLst>
          </p:cNvPr>
          <p:cNvSpPr/>
          <p:nvPr/>
        </p:nvSpPr>
        <p:spPr>
          <a:xfrm>
            <a:off x="4022874" y="6112685"/>
            <a:ext cx="1485858" cy="288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latin typeface="+mn-ea"/>
              </a:rPr>
              <a:t>아니요</a:t>
            </a:r>
            <a:endParaRPr lang="ko-KR" altLang="en-US" sz="900" b="1" dirty="0">
              <a:latin typeface="+mn-ea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687717" y="5040314"/>
            <a:ext cx="2773274" cy="1380468"/>
            <a:chOff x="4535050" y="819597"/>
            <a:chExt cx="1560950" cy="1634383"/>
          </a:xfrm>
        </p:grpSpPr>
        <p:sp>
          <p:nvSpPr>
            <p:cNvPr id="88" name="직사각형 87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94" name="직사각형 9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직사각형 9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6" name="그룹 95"/>
          <p:cNvGrpSpPr/>
          <p:nvPr/>
        </p:nvGrpSpPr>
        <p:grpSpPr>
          <a:xfrm>
            <a:off x="4196225" y="5040314"/>
            <a:ext cx="2773274" cy="1380468"/>
            <a:chOff x="4535050" y="819597"/>
            <a:chExt cx="1560950" cy="1634383"/>
          </a:xfrm>
        </p:grpSpPr>
        <p:sp>
          <p:nvSpPr>
            <p:cNvPr id="97" name="직사각형 9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05" name="그룹 104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06" name="직사각형 105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8" name="그룹 107"/>
          <p:cNvGrpSpPr/>
          <p:nvPr/>
        </p:nvGrpSpPr>
        <p:grpSpPr>
          <a:xfrm>
            <a:off x="687717" y="1282796"/>
            <a:ext cx="2773274" cy="1380468"/>
            <a:chOff x="4535050" y="819597"/>
            <a:chExt cx="1560950" cy="1634383"/>
          </a:xfrm>
        </p:grpSpPr>
        <p:sp>
          <p:nvSpPr>
            <p:cNvPr id="109" name="직사각형 10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12" name="직사각형 11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14" name="그룹 113"/>
          <p:cNvGrpSpPr/>
          <p:nvPr/>
        </p:nvGrpSpPr>
        <p:grpSpPr>
          <a:xfrm>
            <a:off x="4196225" y="1282796"/>
            <a:ext cx="2773274" cy="1380468"/>
            <a:chOff x="4535050" y="819597"/>
            <a:chExt cx="1560950" cy="1634383"/>
          </a:xfrm>
        </p:grpSpPr>
        <p:sp>
          <p:nvSpPr>
            <p:cNvPr id="115" name="직사각형 11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4544262" y="1021158"/>
              <a:ext cx="1405069" cy="143282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18" name="직사각형 11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직사각형 11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333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+mn-ea"/>
              </a:rPr>
              <a:t>결재선 입력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2954" y="1044417"/>
            <a:ext cx="1510991" cy="430887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결재선 정보를 확인 후</a:t>
            </a:r>
            <a:endParaRPr lang="en-US" altLang="ko-KR" sz="1100" b="1" dirty="0" smtClean="0">
              <a:latin typeface="+mn-ea"/>
            </a:endParaRPr>
          </a:p>
          <a:p>
            <a:r>
              <a:rPr lang="ko-KR" altLang="en-US" sz="1100" b="1" dirty="0" smtClean="0">
                <a:latin typeface="+mn-ea"/>
              </a:rPr>
              <a:t>등록해주세요</a:t>
            </a:r>
            <a:endParaRPr lang="ko-KR" altLang="en-US" sz="1100" b="1" dirty="0"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366960" y="1755147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366960" y="2092967"/>
            <a:ext cx="29045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863638" y="1790619"/>
            <a:ext cx="140026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235" latinLnBrk="0">
              <a:lnSpc>
                <a:spcPct val="150000"/>
              </a:lnSpc>
              <a:defRPr/>
            </a:pPr>
            <a:r>
              <a:rPr lang="ko-KR" altLang="en-US" sz="900" kern="0" dirty="0"/>
              <a:t>이체</a:t>
            </a:r>
            <a:r>
              <a:rPr lang="en-US" altLang="ko-KR" sz="900" kern="0" dirty="0"/>
              <a:t>/</a:t>
            </a:r>
            <a:r>
              <a:rPr lang="ko-KR" altLang="en-US" sz="900" kern="0" dirty="0"/>
              <a:t>송금 결재선</a:t>
            </a:r>
            <a:endParaRPr lang="en-US" altLang="ko-KR" sz="900" kern="0" dirty="0"/>
          </a:p>
        </p:txBody>
      </p:sp>
      <p:sp>
        <p:nvSpPr>
          <p:cNvPr id="48" name="직사각형 47"/>
          <p:cNvSpPr/>
          <p:nvPr/>
        </p:nvSpPr>
        <p:spPr>
          <a:xfrm>
            <a:off x="184553" y="1500125"/>
            <a:ext cx="1082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1000" b="1" kern="0" dirty="0" smtClean="0"/>
              <a:t>결재선기본설정</a:t>
            </a:r>
            <a:endParaRPr lang="ko-KR" altLang="en-US" sz="1000" b="1" kern="0" dirty="0"/>
          </a:p>
        </p:txBody>
      </p:sp>
      <p:sp>
        <p:nvSpPr>
          <p:cNvPr id="49" name="직사각형 48"/>
          <p:cNvSpPr/>
          <p:nvPr/>
        </p:nvSpPr>
        <p:spPr>
          <a:xfrm>
            <a:off x="339587" y="1856883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결재선명</a:t>
            </a:r>
            <a:endParaRPr lang="en-US" altLang="ko-KR" sz="8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42885" y="2161547"/>
            <a:ext cx="2909073" cy="302348"/>
            <a:chOff x="342885" y="2184407"/>
            <a:chExt cx="2909073" cy="302348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347398" y="248675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1844076" y="2184407"/>
              <a:ext cx="1400262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 err="1"/>
                <a:t>수직결재</a:t>
              </a:r>
              <a:endParaRPr lang="en-US" altLang="ko-KR" sz="900" kern="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2885" y="2243051"/>
              <a:ext cx="7344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 유형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342885" y="2490312"/>
            <a:ext cx="2909073" cy="300082"/>
            <a:chOff x="342885" y="2214887"/>
            <a:chExt cx="2909073" cy="300082"/>
          </a:xfrm>
        </p:grpSpPr>
        <p:cxnSp>
          <p:nvCxnSpPr>
            <p:cNvPr id="56" name="직선 연결선 55"/>
            <p:cNvCxnSpPr/>
            <p:nvPr/>
          </p:nvCxnSpPr>
          <p:spPr>
            <a:xfrm>
              <a:off x="347398" y="250961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직사각형 56"/>
            <p:cNvSpPr/>
            <p:nvPr/>
          </p:nvSpPr>
          <p:spPr>
            <a:xfrm>
              <a:off x="1844076" y="2214887"/>
              <a:ext cx="1400262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결재 </a:t>
              </a:r>
              <a:r>
                <a:rPr lang="en-US" altLang="ko-KR" sz="900" kern="0" dirty="0"/>
                <a:t>7</a:t>
              </a:r>
              <a:r>
                <a:rPr lang="ko-KR" altLang="en-US" sz="900" kern="0" dirty="0"/>
                <a:t>단계</a:t>
              </a:r>
              <a:endParaRPr lang="en-US" altLang="ko-KR" sz="900" kern="0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2885" y="2265911"/>
              <a:ext cx="69762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결재선단계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335265" y="2773260"/>
            <a:ext cx="2909073" cy="340448"/>
            <a:chOff x="342885" y="2214887"/>
            <a:chExt cx="2909073" cy="340448"/>
          </a:xfrm>
        </p:grpSpPr>
        <p:cxnSp>
          <p:nvCxnSpPr>
            <p:cNvPr id="60" name="직선 연결선 59"/>
            <p:cNvCxnSpPr/>
            <p:nvPr/>
          </p:nvCxnSpPr>
          <p:spPr>
            <a:xfrm>
              <a:off x="347398" y="2555335"/>
              <a:ext cx="290456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/>
            <p:cNvSpPr/>
            <p:nvPr/>
          </p:nvSpPr>
          <p:spPr>
            <a:xfrm>
              <a:off x="1844076" y="2214887"/>
              <a:ext cx="1400262" cy="273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35" latinLnBrk="0">
                <a:lnSpc>
                  <a:spcPct val="150000"/>
                </a:lnSpc>
                <a:defRPr/>
              </a:pPr>
              <a:r>
                <a:rPr lang="ko-KR" altLang="en-US" sz="900" kern="0" dirty="0"/>
                <a:t>있음</a:t>
              </a:r>
              <a:endParaRPr lang="en-US" altLang="ko-KR" sz="900" kern="0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42885" y="2265911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235" latinLnBrk="0">
                <a:defRPr/>
              </a:pPr>
              <a:r>
                <a:rPr lang="ko-KR" altLang="en-US" sz="800" kern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승인자</a:t>
              </a:r>
              <a:endParaRPr lang="en-US" altLang="ko-KR" sz="800" kern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6" name="직사각형 65"/>
          <p:cNvSpPr/>
          <p:nvPr/>
        </p:nvSpPr>
        <p:spPr>
          <a:xfrm>
            <a:off x="1208698" y="5995782"/>
            <a:ext cx="2217016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다음</a:t>
            </a:r>
            <a:endParaRPr lang="ko-KR" altLang="en-US" sz="1000" b="1" dirty="0"/>
          </a:p>
        </p:txBody>
      </p:sp>
      <p:sp>
        <p:nvSpPr>
          <p:cNvPr id="68" name="직사각형 67"/>
          <p:cNvSpPr/>
          <p:nvPr/>
        </p:nvSpPr>
        <p:spPr>
          <a:xfrm>
            <a:off x="191511" y="6012180"/>
            <a:ext cx="1020069" cy="375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취소</a:t>
            </a:r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02234"/>
              </p:ext>
            </p:extLst>
          </p:nvPr>
        </p:nvGraphicFramePr>
        <p:xfrm>
          <a:off x="9822663" y="557186"/>
          <a:ext cx="2195166" cy="3425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6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구성을 저장한 후 결재선 구성을 확인하는 페이지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기본정보 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수직결재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수평결재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확인자결재</a:t>
                      </a: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확인자가</a:t>
                      </a:r>
                      <a:r>
                        <a:rPr lang="ko-KR" altLang="en-US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한명이라도 있으면 </a:t>
                      </a:r>
                      <a:r>
                        <a:rPr lang="ko-KR" altLang="en-US" sz="700" strike="sngStrike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r>
                        <a:rPr lang="ko-KR" altLang="en-US" sz="700" strike="sngStrike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결재로 표시</a:t>
                      </a:r>
                      <a:endParaRPr lang="en-US" altLang="ko-KR" sz="700" strike="sngStrik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결재 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%n% 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단계</a:t>
                      </a:r>
                      <a:endParaRPr lang="en-US" altLang="ko-KR" sz="7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있음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없음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0503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단계표시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승인자가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있는 경우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마지막단계명은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승인단계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40079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단계에 소속된 사용자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(ID)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사용자명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없을경우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표시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Ex1) </a:t>
                      </a:r>
                      <a:r>
                        <a:rPr lang="ko-KR" altLang="en-US" sz="7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김부산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(ID123456)</a:t>
                      </a:r>
                      <a:b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Ex2) ID123457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85576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취소를 선택하는 경우 </a:t>
                      </a:r>
                      <a:r>
                        <a:rPr lang="en-US" altLang="ko-KR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3138"/>
                  </a:ext>
                </a:extLst>
              </a:tr>
              <a:tr h="1750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다음을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선택하면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인증을 한 후 결재선 등록 완료 페이지로 이동함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653684"/>
                  </a:ext>
                </a:extLst>
              </a:tr>
            </a:tbl>
          </a:graphicData>
        </a:graphic>
      </p:graphicFrame>
      <p:grpSp>
        <p:nvGrpSpPr>
          <p:cNvPr id="74" name="그룹 73"/>
          <p:cNvGrpSpPr/>
          <p:nvPr/>
        </p:nvGrpSpPr>
        <p:grpSpPr>
          <a:xfrm>
            <a:off x="91503" y="1700847"/>
            <a:ext cx="367408" cy="230832"/>
            <a:chOff x="4809970" y="3090156"/>
            <a:chExt cx="367408" cy="230832"/>
          </a:xfrm>
        </p:grpSpPr>
        <p:sp>
          <p:nvSpPr>
            <p:cNvPr id="7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01887" y="2047206"/>
            <a:ext cx="367408" cy="230832"/>
            <a:chOff x="4809970" y="3090156"/>
            <a:chExt cx="367408" cy="230832"/>
          </a:xfrm>
        </p:grpSpPr>
        <p:sp>
          <p:nvSpPr>
            <p:cNvPr id="7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7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83883" y="2424662"/>
            <a:ext cx="367408" cy="230832"/>
            <a:chOff x="4809970" y="3090156"/>
            <a:chExt cx="367408" cy="230832"/>
          </a:xfrm>
        </p:grpSpPr>
        <p:sp>
          <p:nvSpPr>
            <p:cNvPr id="8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83883" y="2770172"/>
            <a:ext cx="367408" cy="230832"/>
            <a:chOff x="4809970" y="3090156"/>
            <a:chExt cx="367408" cy="230832"/>
          </a:xfrm>
        </p:grpSpPr>
        <p:sp>
          <p:nvSpPr>
            <p:cNvPr id="8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87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137679" y="1416612"/>
            <a:ext cx="251992" cy="230832"/>
            <a:chOff x="4867678" y="3090156"/>
            <a:chExt cx="251992" cy="230832"/>
          </a:xfrm>
        </p:grpSpPr>
        <p:sp>
          <p:nvSpPr>
            <p:cNvPr id="8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9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128395" y="5949883"/>
            <a:ext cx="251992" cy="230832"/>
            <a:chOff x="4867678" y="3090156"/>
            <a:chExt cx="251992" cy="230832"/>
          </a:xfrm>
        </p:grpSpPr>
        <p:sp>
          <p:nvSpPr>
            <p:cNvPr id="1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248065" y="5936957"/>
            <a:ext cx="251992" cy="230832"/>
            <a:chOff x="4867678" y="3090156"/>
            <a:chExt cx="251992" cy="230832"/>
          </a:xfrm>
        </p:grpSpPr>
        <p:sp>
          <p:nvSpPr>
            <p:cNvPr id="11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16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 수정</a:t>
            </a:r>
            <a:endParaRPr lang="en-US" altLang="ko-KR" sz="800" kern="0" dirty="0"/>
          </a:p>
        </p:txBody>
      </p:sp>
      <p:grpSp>
        <p:nvGrpSpPr>
          <p:cNvPr id="117" name="그룹 116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18" name="직사각형 117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9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2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22" name="그림 1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sp>
        <p:nvSpPr>
          <p:cNvPr id="123" name="직사각형 122"/>
          <p:cNvSpPr/>
          <p:nvPr/>
        </p:nvSpPr>
        <p:spPr>
          <a:xfrm>
            <a:off x="3966965" y="5476091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전자서명 진행</a:t>
            </a:r>
            <a:endParaRPr lang="ko-KR" altLang="en-US"/>
          </a:p>
        </p:txBody>
      </p:sp>
      <p:graphicFrame>
        <p:nvGraphicFramePr>
          <p:cNvPr id="90" name="표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91" name="직사각형 90"/>
          <p:cNvSpPr/>
          <p:nvPr/>
        </p:nvSpPr>
        <p:spPr>
          <a:xfrm>
            <a:off x="335265" y="2220759"/>
            <a:ext cx="2901453" cy="194667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cxnSp>
        <p:nvCxnSpPr>
          <p:cNvPr id="92" name="직선 연결선 91"/>
          <p:cNvCxnSpPr/>
          <p:nvPr/>
        </p:nvCxnSpPr>
        <p:spPr>
          <a:xfrm>
            <a:off x="366960" y="3113708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275207" y="3183529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35" latinLnBrk="0">
              <a:defRPr/>
            </a:pPr>
            <a:r>
              <a:rPr lang="ko-KR" altLang="en-US" sz="1000" b="1" kern="0" dirty="0" err="1" smtClean="0"/>
              <a:t>결재구성원</a:t>
            </a:r>
            <a:endParaRPr lang="en-US" altLang="ko-KR" sz="1000" b="1" kern="0" dirty="0"/>
          </a:p>
        </p:txBody>
      </p:sp>
      <p:cxnSp>
        <p:nvCxnSpPr>
          <p:cNvPr id="94" name="직선 연결선 93"/>
          <p:cNvCxnSpPr/>
          <p:nvPr/>
        </p:nvCxnSpPr>
        <p:spPr>
          <a:xfrm>
            <a:off x="339778" y="3113708"/>
            <a:ext cx="29045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172906"/>
              </p:ext>
            </p:extLst>
          </p:nvPr>
        </p:nvGraphicFramePr>
        <p:xfrm>
          <a:off x="348291" y="3509554"/>
          <a:ext cx="2909073" cy="183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40">
                  <a:extLst>
                    <a:ext uri="{9D8B030D-6E8A-4147-A177-3AD203B41FA5}">
                      <a16:colId xmlns:a16="http://schemas.microsoft.com/office/drawing/2014/main" val="6815290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승인단계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홍길동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P356710001)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5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유일재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유승민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endParaRPr lang="en-US" altLang="ko-KR" sz="800" b="0" kern="0" dirty="0" smtClean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  <a:p>
                      <a:pPr algn="l" defTabSz="914235"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한지민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(P234364545</a:t>
                      </a:r>
                      <a:r>
                        <a:rPr lang="en-US" altLang="ko-KR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)</a:t>
                      </a:r>
                      <a:endParaRPr lang="en-US" altLang="ko-KR" sz="800" b="0" kern="0" dirty="0">
                        <a:solidFill>
                          <a:schemeClr val="tx1"/>
                        </a:solidFill>
                        <a:latin typeface="맑은 고딕 (본문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4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</a:t>
                      </a:r>
                      <a:r>
                        <a:rPr lang="ko-KR" altLang="en-US" sz="800" b="0" kern="0" dirty="0" err="1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한상욱</a:t>
                      </a: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9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3 </a:t>
                      </a: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김민재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080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결재 </a:t>
                      </a:r>
                      <a:r>
                        <a:rPr lang="en-US" altLang="ko-KR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2</a:t>
                      </a:r>
                      <a:r>
                        <a:rPr lang="ko-KR" altLang="en-US" sz="800" b="0" kern="0" spc="-90" baseline="0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최성국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3108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90" baseline="0" dirty="0" err="1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기안단계</a:t>
                      </a:r>
                      <a:endParaRPr lang="ko-KR" altLang="en-US" sz="800" b="0" kern="0" spc="-90" baseline="0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dirty="0" smtClean="0">
                          <a:solidFill>
                            <a:schemeClr val="tx1"/>
                          </a:solidFill>
                          <a:latin typeface="맑은 고딕 (본문)"/>
                        </a:rPr>
                        <a:t>         감우성 </a:t>
                      </a:r>
                      <a:r>
                        <a:rPr lang="en-US" altLang="ko-KR" sz="800" b="0" kern="0" dirty="0">
                          <a:solidFill>
                            <a:schemeClr val="tx1"/>
                          </a:solidFill>
                          <a:latin typeface="맑은 고딕 (본문)"/>
                        </a:rPr>
                        <a:t>(P356710004)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1227"/>
                  </a:ext>
                </a:extLst>
              </a:tr>
            </a:tbl>
          </a:graphicData>
        </a:graphic>
      </p:graphicFrame>
      <p:cxnSp>
        <p:nvCxnSpPr>
          <p:cNvPr id="96" name="직선 연결선 95"/>
          <p:cNvCxnSpPr/>
          <p:nvPr/>
        </p:nvCxnSpPr>
        <p:spPr>
          <a:xfrm flipV="1">
            <a:off x="1326390" y="4089202"/>
            <a:ext cx="190974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1313619" y="5144859"/>
            <a:ext cx="287215" cy="147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기안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313619" y="4891037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1313619" y="4646096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313619" y="4389449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304426" y="3787483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1306354" y="3936540"/>
            <a:ext cx="287215" cy="147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1313619" y="4144508"/>
            <a:ext cx="287215" cy="1475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결재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304425" y="3557406"/>
            <a:ext cx="287215" cy="147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승인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91511" y="3112088"/>
            <a:ext cx="251992" cy="230832"/>
            <a:chOff x="4867678" y="3090156"/>
            <a:chExt cx="251992" cy="230832"/>
          </a:xfrm>
        </p:grpSpPr>
        <p:sp>
          <p:nvSpPr>
            <p:cNvPr id="1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2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1380708" y="4002916"/>
            <a:ext cx="367408" cy="230832"/>
            <a:chOff x="4809970" y="3090156"/>
            <a:chExt cx="367408" cy="230832"/>
          </a:xfrm>
        </p:grpSpPr>
        <p:sp>
          <p:nvSpPr>
            <p:cNvPr id="1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128395" y="3464869"/>
            <a:ext cx="367408" cy="230832"/>
            <a:chOff x="4809970" y="3090156"/>
            <a:chExt cx="367408" cy="230832"/>
          </a:xfrm>
        </p:grpSpPr>
        <p:sp>
          <p:nvSpPr>
            <p:cNvPr id="13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13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3559632" y="1178642"/>
            <a:ext cx="2540461" cy="1461711"/>
            <a:chOff x="7999781" y="4616810"/>
            <a:chExt cx="3118251" cy="1794155"/>
          </a:xfrm>
        </p:grpSpPr>
        <p:sp>
          <p:nvSpPr>
            <p:cNvPr id="101" name="직사각형 100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아니오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447150" y="5090475"/>
              <a:ext cx="2472268" cy="623329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등록을 취소하시겠습니까</a:t>
              </a:r>
              <a:r>
                <a:rPr lang="en-US" altLang="ko-KR" sz="900" dirty="0"/>
                <a:t>?</a:t>
              </a:r>
            </a:p>
            <a:p>
              <a:pPr algn="ctr"/>
              <a:r>
                <a:rPr lang="ko-KR" altLang="en-US" sz="900" dirty="0" err="1" smtClean="0"/>
                <a:t>취소시</a:t>
              </a:r>
              <a:r>
                <a:rPr lang="ko-KR" altLang="en-US" sz="900" dirty="0"/>
                <a:t> </a:t>
              </a:r>
              <a:r>
                <a:rPr lang="ko-KR" altLang="en-US" sz="900" dirty="0" smtClean="0"/>
                <a:t>설정이 초기화되고</a:t>
              </a:r>
              <a:endParaRPr lang="en-US" altLang="ko-KR" sz="900" dirty="0" smtClean="0"/>
            </a:p>
            <a:p>
              <a:pPr algn="ctr"/>
              <a:r>
                <a:rPr lang="ko-KR" altLang="en-US" sz="900" dirty="0" smtClean="0"/>
                <a:t>결재선</a:t>
              </a:r>
              <a:r>
                <a:rPr lang="en-US" altLang="ko-KR" sz="900" dirty="0"/>
                <a:t> </a:t>
              </a:r>
              <a:r>
                <a:rPr lang="ko-KR" altLang="en-US" sz="900" dirty="0" smtClean="0"/>
                <a:t>목록으로 </a:t>
              </a:r>
              <a:r>
                <a:rPr lang="ko-KR" altLang="en-US" sz="900" dirty="0"/>
                <a:t>이동합니다</a:t>
              </a:r>
              <a:r>
                <a:rPr lang="en-US" altLang="ko-KR" sz="900" dirty="0"/>
                <a:t>.</a:t>
              </a:r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7999781" y="4616810"/>
              <a:ext cx="450969" cy="283331"/>
              <a:chOff x="4768191" y="3063907"/>
              <a:chExt cx="450969" cy="283331"/>
            </a:xfrm>
          </p:grpSpPr>
          <p:sp>
            <p:nvSpPr>
              <p:cNvPr id="107" name="Teardrop 1"/>
              <p:cNvSpPr/>
              <p:nvPr/>
            </p:nvSpPr>
            <p:spPr>
              <a:xfrm rot="16200000" flipH="1" flipV="1">
                <a:off x="4880157" y="3092062"/>
                <a:ext cx="216000" cy="216000"/>
              </a:xfrm>
              <a:prstGeom prst="teardrop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800" b="1" dirty="0"/>
              </a:p>
            </p:txBody>
          </p:sp>
          <p:sp>
            <p:nvSpPr>
              <p:cNvPr id="108" name="Rectangle 4"/>
              <p:cNvSpPr/>
              <p:nvPr/>
            </p:nvSpPr>
            <p:spPr>
              <a:xfrm>
                <a:off x="4768191" y="3063907"/>
                <a:ext cx="450969" cy="28333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/>
                <a:r>
                  <a:rPr lang="en-US" altLang="ko-KR" sz="900" b="1" dirty="0" smtClean="0">
                    <a:solidFill>
                      <a:prstClr val="white"/>
                    </a:solidFill>
                    <a:latin typeface="+mn-ea"/>
                  </a:rPr>
                  <a:t>3-1</a:t>
                </a:r>
                <a:endParaRPr lang="ko-KR" altLang="en-US" sz="900" b="1" dirty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</p:grpSp>
      <p:sp>
        <p:nvSpPr>
          <p:cNvPr id="139" name="TextBox 138"/>
          <p:cNvSpPr txBox="1"/>
          <p:nvPr/>
        </p:nvSpPr>
        <p:spPr>
          <a:xfrm>
            <a:off x="3704428" y="2770172"/>
            <a:ext cx="24449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solidFill>
                  <a:srgbClr val="FF0000"/>
                </a:solidFill>
              </a:rPr>
              <a:t>결재선목록</a:t>
            </a:r>
            <a:r>
              <a:rPr lang="ko-KR" altLang="en-US" sz="800" dirty="0" smtClean="0">
                <a:solidFill>
                  <a:srgbClr val="FF0000"/>
                </a:solidFill>
              </a:rPr>
              <a:t> 화면으로 이동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3704428" y="1105608"/>
            <a:ext cx="2773274" cy="1732466"/>
            <a:chOff x="4535050" y="819597"/>
            <a:chExt cx="1560950" cy="2051125"/>
          </a:xfrm>
        </p:grpSpPr>
        <p:sp>
          <p:nvSpPr>
            <p:cNvPr id="141" name="직사각형 140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4544262" y="1021158"/>
              <a:ext cx="1386896" cy="184956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44" name="직사각형 143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6" name="그룹 145"/>
          <p:cNvGrpSpPr/>
          <p:nvPr/>
        </p:nvGrpSpPr>
        <p:grpSpPr>
          <a:xfrm>
            <a:off x="289752" y="425250"/>
            <a:ext cx="2773274" cy="673694"/>
            <a:chOff x="4535050" y="819597"/>
            <a:chExt cx="1560950" cy="797609"/>
          </a:xfrm>
        </p:grpSpPr>
        <p:sp>
          <p:nvSpPr>
            <p:cNvPr id="147" name="직사각형 146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4544262" y="1021158"/>
              <a:ext cx="534054" cy="420381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9" name="그룹 148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150" name="직사각형 149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직사각형 150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890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등록수정</a:t>
            </a:r>
            <a:endParaRPr lang="ko-KR" altLang="en-US" sz="800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187618" y="552086"/>
            <a:ext cx="3235214" cy="398482"/>
            <a:chOff x="7321393" y="1839307"/>
            <a:chExt cx="3240000" cy="398482"/>
          </a:xfrm>
        </p:grpSpPr>
        <p:sp>
          <p:nvSpPr>
            <p:cNvPr id="85" name="직사각형 84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482713" y="1912726"/>
              <a:ext cx="70251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99" name="직사각형 98"/>
          <p:cNvSpPr/>
          <p:nvPr/>
        </p:nvSpPr>
        <p:spPr>
          <a:xfrm>
            <a:off x="197778" y="5995782"/>
            <a:ext cx="3241382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확인</a:t>
            </a:r>
            <a:endParaRPr lang="ko-KR" altLang="en-US" sz="1000" b="1" dirty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/>
          </p:nvPr>
        </p:nvGraphicFramePr>
        <p:xfrm>
          <a:off x="9822663" y="557185"/>
          <a:ext cx="2195166" cy="2063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완료 페이지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확인을 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터치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하면 결재선 목록으로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33" name="그룹 32"/>
          <p:cNvGrpSpPr/>
          <p:nvPr/>
        </p:nvGrpSpPr>
        <p:grpSpPr>
          <a:xfrm>
            <a:off x="90006" y="5884068"/>
            <a:ext cx="251992" cy="230832"/>
            <a:chOff x="4867678" y="3090156"/>
            <a:chExt cx="251992" cy="230832"/>
          </a:xfrm>
        </p:grpSpPr>
        <p:sp>
          <p:nvSpPr>
            <p:cNvPr id="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결재선삭제</a:t>
            </a:r>
            <a:endParaRPr lang="en-US" altLang="ko-KR" sz="800" kern="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1275762" y="1425594"/>
            <a:ext cx="868512" cy="807267"/>
            <a:chOff x="3433905" y="4984546"/>
            <a:chExt cx="396044" cy="396044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>
            <a:xfrm>
              <a:off x="3433905" y="4984546"/>
              <a:ext cx="396044" cy="3960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" rIns="0" bIns="32400" rtlCol="0" anchor="ctr"/>
            <a:lstStyle/>
            <a:p>
              <a:pPr algn="ctr" latinLnBrk="0"/>
              <a:r>
                <a:rPr lang="en-US" altLang="ko-KR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SVG</a:t>
              </a:r>
              <a:endParaRPr lang="ko-KR" altLang="en-US" sz="700" dirty="0">
                <a:solidFill>
                  <a:srgbClr val="2626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28" name="직선 연결선 27"/>
            <p:cNvCxnSpPr>
              <a:cxnSpLocks noChangeAspect="1"/>
              <a:stCxn id="27" idx="1"/>
              <a:endCxn id="27" idx="5"/>
            </p:cNvCxnSpPr>
            <p:nvPr/>
          </p:nvCxnSpPr>
          <p:spPr>
            <a:xfrm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cxnSpLocks noChangeAspect="1"/>
              <a:stCxn id="27" idx="7"/>
              <a:endCxn id="27" idx="3"/>
            </p:cNvCxnSpPr>
            <p:nvPr/>
          </p:nvCxnSpPr>
          <p:spPr>
            <a:xfrm flipH="1"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99963" y="2668456"/>
            <a:ext cx="3239197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</a:rPr>
              <a:t>결재선</a:t>
            </a:r>
            <a:endParaRPr lang="en-US" altLang="ko-KR" sz="1200" b="1" dirty="0" smtClean="0">
              <a:latin typeface="+mn-ea"/>
            </a:endParaRPr>
          </a:p>
          <a:p>
            <a:pPr algn="ctr"/>
            <a:r>
              <a:rPr lang="ko-KR" altLang="en-US" sz="1200" b="1" dirty="0" smtClean="0">
                <a:latin typeface="+mn-ea"/>
              </a:rPr>
              <a:t>수정</a:t>
            </a:r>
            <a:r>
              <a:rPr lang="en-US" altLang="ko-KR" sz="1200" b="1" dirty="0" smtClean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완료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3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20" name="그룹 19"/>
          <p:cNvGrpSpPr/>
          <p:nvPr/>
        </p:nvGrpSpPr>
        <p:grpSpPr>
          <a:xfrm>
            <a:off x="577655" y="2232859"/>
            <a:ext cx="2773274" cy="1732466"/>
            <a:chOff x="4535050" y="819597"/>
            <a:chExt cx="1560950" cy="2051125"/>
          </a:xfrm>
        </p:grpSpPr>
        <p:sp>
          <p:nvSpPr>
            <p:cNvPr id="22" name="직사각형 2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544262" y="1021158"/>
              <a:ext cx="1386896" cy="184956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289752" y="425250"/>
            <a:ext cx="2773274" cy="673694"/>
            <a:chOff x="4535050" y="819597"/>
            <a:chExt cx="1560950" cy="797609"/>
          </a:xfrm>
        </p:grpSpPr>
        <p:sp>
          <p:nvSpPr>
            <p:cNvPr id="39" name="직사각형 3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544262" y="1021158"/>
              <a:ext cx="534054" cy="420381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87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06078" y="2252098"/>
            <a:ext cx="3673341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2</a:t>
            </a:r>
            <a:r>
              <a:rPr lang="en-US" altLang="ko-KR" sz="2400" b="1" dirty="0">
                <a:latin typeface="+mn-ea"/>
                <a:cs typeface="Segoe UI" panose="020B0502040204020203" pitchFamily="34" charset="0"/>
              </a:rPr>
              <a:t>.3. </a:t>
            </a:r>
            <a:r>
              <a:rPr lang="en-US" altLang="ko-KR" sz="2400" b="1" dirty="0" smtClean="0">
                <a:latin typeface="+mn-ea"/>
                <a:cs typeface="Segoe UI" panose="020B0502040204020203" pitchFamily="34" charset="0"/>
              </a:rPr>
              <a:t>MB</a:t>
            </a:r>
            <a:r>
              <a:rPr lang="ko-KR" altLang="en-US" sz="2400" b="1" dirty="0" err="1" smtClean="0">
                <a:latin typeface="+mn-ea"/>
                <a:cs typeface="Segoe UI" panose="020B0502040204020203" pitchFamily="34" charset="0"/>
              </a:rPr>
              <a:t>결재선삭제</a:t>
            </a:r>
            <a:endParaRPr lang="en-US" altLang="ko-KR" sz="2400" b="1" dirty="0"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03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표 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259138"/>
              </p:ext>
            </p:extLst>
          </p:nvPr>
        </p:nvGraphicFramePr>
        <p:xfrm>
          <a:off x="9816801" y="552207"/>
          <a:ext cx="2195166" cy="3337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7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1-1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조건 입력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결과내 검색 조회</a:t>
                      </a:r>
                      <a:endParaRPr lang="en-US" altLang="ko-KR" sz="7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2-1</a:t>
                      </a:r>
                      <a:endParaRPr lang="ko-KR" altLang="en-US" sz="70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결재선형태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trike="sngStrike" spc="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trike="sngStrike" spc="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trike="sngStrike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2-2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결재단계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77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2-3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결재자지정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8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해당결재선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삭제를 위한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3-1) 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삭제가능시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</a:t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3-2) alert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닫기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3-3)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처리를 위해 전자서명 처리 후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결재선구성완료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3-4)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결재진행중인 결재선 삭제 선택 시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5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결재선명을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5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결재대상업무를 태그형식으로 표시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77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수정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kern="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0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b="0" spc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결재선상세</a:t>
                      </a: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호출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50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pc="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결재선기본설정</a:t>
                      </a:r>
                      <a:r>
                        <a:rPr lang="en-US" altLang="ko-KR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700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</a:t>
                      </a:r>
                      <a:r>
                        <a:rPr lang="en-US" altLang="ko-KR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700" b="0" kern="1200" spc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화면으로 이동</a:t>
                      </a:r>
                      <a:endParaRPr lang="en-US" altLang="ko-KR" sz="700" b="0" spc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39089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9995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sp>
        <p:nvSpPr>
          <p:cNvPr id="129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2091785"/>
            <a:ext cx="3064717" cy="855964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2398671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en-US" altLang="ko-KR" sz="1050" b="1" kern="0" dirty="0" smtClean="0"/>
              <a:t>%</a:t>
            </a:r>
            <a:r>
              <a:rPr lang="ko-KR" altLang="en-US" sz="1050" b="1" kern="0" dirty="0" err="1" smtClean="0"/>
              <a:t>결재선명</a:t>
            </a:r>
            <a:r>
              <a:rPr lang="en-US" altLang="ko-KR" sz="1050" b="1" kern="0" dirty="0" smtClean="0"/>
              <a:t>%</a:t>
            </a:r>
            <a:endParaRPr lang="en-US" altLang="ko-KR" sz="900" b="1" kern="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185714" y="552207"/>
            <a:ext cx="3240000" cy="398482"/>
            <a:chOff x="7321393" y="1839307"/>
            <a:chExt cx="3240000" cy="398482"/>
          </a:xfrm>
        </p:grpSpPr>
        <p:sp>
          <p:nvSpPr>
            <p:cNvPr id="149" name="직사각형 148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Freeform 11"/>
            <p:cNvSpPr>
              <a:spLocks noChangeArrowheads="1"/>
            </p:cNvSpPr>
            <p:nvPr/>
          </p:nvSpPr>
          <p:spPr bwMode="auto">
            <a:xfrm>
              <a:off x="7403266" y="1971915"/>
              <a:ext cx="144000" cy="144000"/>
            </a:xfrm>
            <a:custGeom>
              <a:avLst/>
              <a:gdLst>
                <a:gd name="T0" fmla="*/ 611 w 612"/>
                <a:gd name="T1" fmla="*/ 272 h 619"/>
                <a:gd name="T2" fmla="*/ 140 w 612"/>
                <a:gd name="T3" fmla="*/ 272 h 619"/>
                <a:gd name="T4" fmla="*/ 361 w 612"/>
                <a:gd name="T5" fmla="*/ 52 h 619"/>
                <a:gd name="T6" fmla="*/ 302 w 612"/>
                <a:gd name="T7" fmla="*/ 0 h 619"/>
                <a:gd name="T8" fmla="*/ 0 w 612"/>
                <a:gd name="T9" fmla="*/ 309 h 619"/>
                <a:gd name="T10" fmla="*/ 302 w 612"/>
                <a:gd name="T11" fmla="*/ 618 h 619"/>
                <a:gd name="T12" fmla="*/ 361 w 612"/>
                <a:gd name="T13" fmla="*/ 559 h 619"/>
                <a:gd name="T14" fmla="*/ 140 w 612"/>
                <a:gd name="T15" fmla="*/ 346 h 619"/>
                <a:gd name="T16" fmla="*/ 611 w 612"/>
                <a:gd name="T17" fmla="*/ 346 h 619"/>
                <a:gd name="T18" fmla="*/ 611 w 612"/>
                <a:gd name="T19" fmla="*/ 272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2" h="619">
                  <a:moveTo>
                    <a:pt x="611" y="272"/>
                  </a:moveTo>
                  <a:lnTo>
                    <a:pt x="140" y="272"/>
                  </a:lnTo>
                  <a:lnTo>
                    <a:pt x="361" y="52"/>
                  </a:lnTo>
                  <a:lnTo>
                    <a:pt x="302" y="0"/>
                  </a:lnTo>
                  <a:lnTo>
                    <a:pt x="0" y="309"/>
                  </a:lnTo>
                  <a:lnTo>
                    <a:pt x="302" y="618"/>
                  </a:lnTo>
                  <a:lnTo>
                    <a:pt x="361" y="559"/>
                  </a:lnTo>
                  <a:lnTo>
                    <a:pt x="140" y="346"/>
                  </a:lnTo>
                  <a:lnTo>
                    <a:pt x="611" y="346"/>
                  </a:lnTo>
                  <a:lnTo>
                    <a:pt x="611" y="272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612445" y="1912726"/>
              <a:ext cx="701474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161" name="직사각형 160"/>
          <p:cNvSpPr/>
          <p:nvPr/>
        </p:nvSpPr>
        <p:spPr>
          <a:xfrm>
            <a:off x="171912" y="6186664"/>
            <a:ext cx="3267601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결재선등록</a:t>
            </a:r>
            <a:endParaRPr lang="ko-KR" altLang="en-US" sz="1000" b="1" dirty="0"/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500097" y="2176340"/>
            <a:ext cx="51717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결재선형태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717" y="1016457"/>
            <a:ext cx="733534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ko-KR" altLang="en-US" sz="1000" b="1" dirty="0" err="1" smtClean="0">
                <a:latin typeface="+mn-ea"/>
              </a:rPr>
              <a:t>결재선목록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67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3037279"/>
            <a:ext cx="3064717" cy="901695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3378754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외환 및 </a:t>
            </a:r>
            <a:r>
              <a:rPr lang="en-US" altLang="ko-KR" sz="1050" b="1" kern="0" dirty="0" smtClean="0"/>
              <a:t>B2B, </a:t>
            </a:r>
            <a:r>
              <a:rPr lang="ko-KR" altLang="en-US" sz="1050" b="1" kern="0" dirty="0"/>
              <a:t>대출 결재선</a:t>
            </a:r>
            <a:endParaRPr lang="en-US" altLang="ko-KR" sz="900" b="1" kern="0" dirty="0"/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555615" y="2720798"/>
            <a:ext cx="682831" cy="13593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r>
              <a:rPr lang="ko-KR" altLang="en-US" sz="600" b="1" dirty="0" smtClean="0">
                <a:solidFill>
                  <a:schemeClr val="accent6">
                    <a:lumMod val="50000"/>
                  </a:schemeClr>
                </a:solidFill>
              </a:rPr>
              <a:t>결재대상업무</a:t>
            </a:r>
            <a:r>
              <a:rPr lang="en-US" altLang="ko-KR" sz="600" b="1" dirty="0" smtClean="0">
                <a:solidFill>
                  <a:schemeClr val="accent6">
                    <a:lumMod val="50000"/>
                  </a:schemeClr>
                </a:solidFill>
              </a:rPr>
              <a:t>%</a:t>
            </a:r>
            <a:endParaRPr lang="ko-KR" altLang="en-US" sz="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6" name="모서리가 둥근 직사각형 195"/>
          <p:cNvSpPr/>
          <p:nvPr/>
        </p:nvSpPr>
        <p:spPr>
          <a:xfrm>
            <a:off x="546561" y="3698338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외환</a:t>
            </a: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35120" y="3698338"/>
            <a:ext cx="643908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#B2B/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전자결재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1648352" y="3698338"/>
            <a:ext cx="314724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대출</a:t>
            </a:r>
          </a:p>
        </p:txBody>
      </p:sp>
      <p:sp>
        <p:nvSpPr>
          <p:cNvPr id="21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84097" y="4053856"/>
            <a:ext cx="3064717" cy="93433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67448" y="438682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err="1"/>
              <a:t>자산헷지</a:t>
            </a:r>
            <a:r>
              <a:rPr lang="ko-KR" altLang="en-US" sz="1050" b="1" kern="0" dirty="0"/>
              <a:t> 및 투자 결재선</a:t>
            </a:r>
            <a:endParaRPr lang="en-US" altLang="ko-KR" sz="900" b="1" kern="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546561" y="4694831"/>
            <a:ext cx="319235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펀드</a:t>
            </a: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935120" y="4694831"/>
            <a:ext cx="523641" cy="1344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600" b="1" dirty="0">
                <a:solidFill>
                  <a:schemeClr val="accent6">
                    <a:lumMod val="50000"/>
                  </a:schemeClr>
                </a:solidFill>
              </a:rPr>
              <a:t>#</a:t>
            </a:r>
            <a:r>
              <a:rPr lang="ko-KR" altLang="en-US" sz="600" b="1" dirty="0">
                <a:solidFill>
                  <a:schemeClr val="accent6">
                    <a:lumMod val="50000"/>
                  </a:schemeClr>
                </a:solidFill>
              </a:rPr>
              <a:t>자금관리</a:t>
            </a:r>
          </a:p>
        </p:txBody>
      </p:sp>
      <p:sp>
        <p:nvSpPr>
          <p:cNvPr id="227" name="직사각형 226"/>
          <p:cNvSpPr/>
          <p:nvPr/>
        </p:nvSpPr>
        <p:spPr>
          <a:xfrm>
            <a:off x="247274" y="1814494"/>
            <a:ext cx="15584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총 </a:t>
            </a:r>
            <a:r>
              <a:rPr lang="en-US" altLang="ko-KR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4</a:t>
            </a:r>
            <a:r>
              <a:rPr lang="ko-KR" altLang="en-US" sz="800" dirty="0" smtClean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개의 </a:t>
            </a:r>
            <a:r>
              <a:rPr lang="ko-KR" altLang="en-US" sz="800" dirty="0" err="1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결재선이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 있습니다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+mn-ea"/>
                <a:cs typeface="Calibri" pitchFamily="34" charset="0"/>
              </a:rPr>
              <a:t>.</a:t>
            </a:r>
          </a:p>
        </p:txBody>
      </p:sp>
      <p:sp>
        <p:nvSpPr>
          <p:cNvPr id="237" name="Freeform 11"/>
          <p:cNvSpPr>
            <a:spLocks noChangeAspect="1" noChangeArrowheads="1"/>
          </p:cNvSpPr>
          <p:nvPr/>
        </p:nvSpPr>
        <p:spPr bwMode="auto">
          <a:xfrm>
            <a:off x="3165743" y="2199940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054743" y="2180987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결재단계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551823" y="310767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</a:t>
            </a:r>
            <a:r>
              <a:rPr lang="ko-KR" altLang="en-US" sz="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평</a:t>
            </a:r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0" name="모서리가 둥근 직사각형 239"/>
          <p:cNvSpPr/>
          <p:nvPr/>
        </p:nvSpPr>
        <p:spPr>
          <a:xfrm>
            <a:off x="1054743" y="3112323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555616" y="413540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확인자결재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1058536" y="4140052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1555192" y="3117756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승인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모서리가 둥근 직사각형 76">
            <a:extLst>
              <a:ext uri="{FF2B5EF4-FFF2-40B4-BE49-F238E27FC236}">
                <a16:creationId xmlns:a16="http://schemas.microsoft.com/office/drawing/2014/main" id="{918100AC-F8CA-41C0-BD45-AF799BD068BF}"/>
              </a:ext>
            </a:extLst>
          </p:cNvPr>
          <p:cNvSpPr/>
          <p:nvPr/>
        </p:nvSpPr>
        <p:spPr bwMode="auto">
          <a:xfrm>
            <a:off x="273761" y="5055999"/>
            <a:ext cx="3064717" cy="1097650"/>
          </a:xfrm>
          <a:prstGeom prst="roundRect">
            <a:avLst>
              <a:gd name="adj" fmla="val 7034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 anchorCtr="0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457112" y="5353872"/>
            <a:ext cx="214965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1050" b="1" kern="0" dirty="0" smtClean="0"/>
              <a:t>기본 결재선</a:t>
            </a:r>
            <a:endParaRPr lang="en-US" altLang="ko-KR" sz="900" b="1" kern="0" dirty="0"/>
          </a:p>
        </p:txBody>
      </p:sp>
      <p:sp>
        <p:nvSpPr>
          <p:cNvPr id="246" name="모서리가 둥근 직사각형 245"/>
          <p:cNvSpPr/>
          <p:nvPr/>
        </p:nvSpPr>
        <p:spPr>
          <a:xfrm>
            <a:off x="512777" y="5690902"/>
            <a:ext cx="255085" cy="136702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이체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844162" y="5690902"/>
            <a:ext cx="443661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예금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신탁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545280" y="5137548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수직결재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1048200" y="5142195"/>
            <a:ext cx="465447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결재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단계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1364123" y="5690170"/>
            <a:ext cx="52161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#B2B/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전자결제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1" name="모서리가 둥근 직사각형 250"/>
          <p:cNvSpPr/>
          <p:nvPr/>
        </p:nvSpPr>
        <p:spPr>
          <a:xfrm>
            <a:off x="1962039" y="5685749"/>
            <a:ext cx="277700" cy="14185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대출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2316039" y="5691620"/>
            <a:ext cx="301970" cy="12890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외환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2694309" y="5685749"/>
            <a:ext cx="469866" cy="13301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공과금납부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모서리가 둥근 직사각형 253"/>
          <p:cNvSpPr/>
          <p:nvPr/>
        </p:nvSpPr>
        <p:spPr>
          <a:xfrm>
            <a:off x="512777" y="5935424"/>
            <a:ext cx="255085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카드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32820" y="5935424"/>
            <a:ext cx="263288" cy="13036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펀드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7" name="모서리가 둥근 직사각형 256"/>
          <p:cNvSpPr/>
          <p:nvPr/>
        </p:nvSpPr>
        <p:spPr>
          <a:xfrm>
            <a:off x="1155650" y="5935984"/>
            <a:ext cx="423378" cy="129245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자금관리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1638572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웹펌뱅킹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9" name="Freeform 11"/>
          <p:cNvSpPr>
            <a:spLocks noChangeAspect="1" noChangeArrowheads="1"/>
          </p:cNvSpPr>
          <p:nvPr/>
        </p:nvSpPr>
        <p:spPr bwMode="auto">
          <a:xfrm>
            <a:off x="3159606" y="3148502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0" name="Freeform 11"/>
          <p:cNvSpPr>
            <a:spLocks noChangeAspect="1" noChangeArrowheads="1"/>
          </p:cNvSpPr>
          <p:nvPr/>
        </p:nvSpPr>
        <p:spPr bwMode="auto">
          <a:xfrm>
            <a:off x="3147518" y="4191598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" name="Freeform 11"/>
          <p:cNvSpPr>
            <a:spLocks noChangeAspect="1" noChangeArrowheads="1"/>
          </p:cNvSpPr>
          <p:nvPr/>
        </p:nvSpPr>
        <p:spPr bwMode="auto">
          <a:xfrm>
            <a:off x="3147518" y="5156944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1555191" y="2180986"/>
            <a:ext cx="554963" cy="149493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r>
              <a:rPr lang="ko-KR" altLang="en-US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승인여부</a:t>
            </a:r>
            <a:r>
              <a:rPr lang="en-US" altLang="ko-KR" sz="5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%</a:t>
            </a:r>
            <a:endParaRPr lang="ko-KR" altLang="en-US" sz="5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63" name="그룹 262"/>
          <p:cNvGrpSpPr/>
          <p:nvPr/>
        </p:nvGrpSpPr>
        <p:grpSpPr>
          <a:xfrm>
            <a:off x="244920" y="1976903"/>
            <a:ext cx="367408" cy="230832"/>
            <a:chOff x="4809970" y="3090156"/>
            <a:chExt cx="367408" cy="230832"/>
          </a:xfrm>
        </p:grpSpPr>
        <p:sp>
          <p:nvSpPr>
            <p:cNvPr id="26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6" name="그룹 265"/>
          <p:cNvGrpSpPr/>
          <p:nvPr/>
        </p:nvGrpSpPr>
        <p:grpSpPr>
          <a:xfrm>
            <a:off x="871039" y="1981498"/>
            <a:ext cx="367408" cy="230832"/>
            <a:chOff x="4809970" y="3090156"/>
            <a:chExt cx="367408" cy="230832"/>
          </a:xfrm>
        </p:grpSpPr>
        <p:sp>
          <p:nvSpPr>
            <p:cNvPr id="26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6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69" name="그룹 268"/>
          <p:cNvGrpSpPr/>
          <p:nvPr/>
        </p:nvGrpSpPr>
        <p:grpSpPr>
          <a:xfrm>
            <a:off x="1462482" y="1983403"/>
            <a:ext cx="367408" cy="230832"/>
            <a:chOff x="4809970" y="3090156"/>
            <a:chExt cx="367408" cy="230832"/>
          </a:xfrm>
        </p:grpSpPr>
        <p:sp>
          <p:nvSpPr>
            <p:cNvPr id="270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1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2-3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2" name="그룹 271"/>
          <p:cNvGrpSpPr/>
          <p:nvPr/>
        </p:nvGrpSpPr>
        <p:grpSpPr>
          <a:xfrm>
            <a:off x="2889990" y="2031428"/>
            <a:ext cx="251992" cy="230832"/>
            <a:chOff x="4867678" y="3090156"/>
            <a:chExt cx="251992" cy="230832"/>
          </a:xfrm>
        </p:grpSpPr>
        <p:sp>
          <p:nvSpPr>
            <p:cNvPr id="27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5" name="그룹 274"/>
          <p:cNvGrpSpPr/>
          <p:nvPr/>
        </p:nvGrpSpPr>
        <p:grpSpPr>
          <a:xfrm>
            <a:off x="305279" y="2308130"/>
            <a:ext cx="251992" cy="230832"/>
            <a:chOff x="4867678" y="3090156"/>
            <a:chExt cx="251992" cy="230832"/>
          </a:xfrm>
        </p:grpSpPr>
        <p:sp>
          <p:nvSpPr>
            <p:cNvPr id="276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77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278" name="그룹 277"/>
          <p:cNvGrpSpPr/>
          <p:nvPr/>
        </p:nvGrpSpPr>
        <p:grpSpPr>
          <a:xfrm>
            <a:off x="310796" y="2610916"/>
            <a:ext cx="251992" cy="230832"/>
            <a:chOff x="4867678" y="3090156"/>
            <a:chExt cx="251992" cy="230832"/>
          </a:xfrm>
        </p:grpSpPr>
        <p:sp>
          <p:nvSpPr>
            <p:cNvPr id="27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0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5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81" name="모서리가 둥근 직사각형 280"/>
          <p:cNvSpPr/>
          <p:nvPr/>
        </p:nvSpPr>
        <p:spPr>
          <a:xfrm>
            <a:off x="2164875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신고</a:t>
            </a:r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해지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2" name="모서리가 둥근 직사각형 281"/>
          <p:cNvSpPr/>
          <p:nvPr/>
        </p:nvSpPr>
        <p:spPr>
          <a:xfrm>
            <a:off x="2692593" y="5936544"/>
            <a:ext cx="471582" cy="128124"/>
          </a:xfrm>
          <a:prstGeom prst="roundRect">
            <a:avLst>
              <a:gd name="adj" fmla="val 29611"/>
            </a:avLst>
          </a:prstGeom>
          <a:solidFill>
            <a:srgbClr val="92D050"/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55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#</a:t>
            </a:r>
            <a:r>
              <a:rPr lang="ko-KR" altLang="en-US" sz="550" b="1" dirty="0" err="1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기업서비스</a:t>
            </a:r>
            <a:endParaRPr lang="ko-KR" altLang="en-US" sz="55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2753553" y="3410196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2753553" y="2430113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5" name="직사각형 284"/>
          <p:cNvSpPr/>
          <p:nvPr/>
        </p:nvSpPr>
        <p:spPr>
          <a:xfrm>
            <a:off x="2753553" y="441826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2692593" y="5385314"/>
            <a:ext cx="492579" cy="191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endParaRPr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87" name="그룹 286"/>
          <p:cNvGrpSpPr/>
          <p:nvPr/>
        </p:nvGrpSpPr>
        <p:grpSpPr>
          <a:xfrm>
            <a:off x="2566597" y="2311963"/>
            <a:ext cx="251992" cy="230832"/>
            <a:chOff x="4867678" y="3090156"/>
            <a:chExt cx="251992" cy="230832"/>
          </a:xfrm>
        </p:grpSpPr>
        <p:sp>
          <p:nvSpPr>
            <p:cNvPr id="28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89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6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90" name="직사각형 289"/>
          <p:cNvSpPr/>
          <p:nvPr/>
        </p:nvSpPr>
        <p:spPr>
          <a:xfrm>
            <a:off x="245979" y="5062499"/>
            <a:ext cx="3119470" cy="1082901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/>
          <p:cNvSpPr/>
          <p:nvPr/>
        </p:nvSpPr>
        <p:spPr>
          <a:xfrm>
            <a:off x="1595421" y="5407269"/>
            <a:ext cx="420585" cy="420585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 smtClean="0"/>
              <a:t>Click</a:t>
            </a:r>
            <a:endParaRPr lang="ko-KR" altLang="en-US" sz="1000" b="1" dirty="0"/>
          </a:p>
        </p:txBody>
      </p:sp>
      <p:grpSp>
        <p:nvGrpSpPr>
          <p:cNvPr id="292" name="그룹 291"/>
          <p:cNvGrpSpPr/>
          <p:nvPr/>
        </p:nvGrpSpPr>
        <p:grpSpPr>
          <a:xfrm>
            <a:off x="1469425" y="5312462"/>
            <a:ext cx="251992" cy="230832"/>
            <a:chOff x="4867678" y="3090156"/>
            <a:chExt cx="251992" cy="230832"/>
          </a:xfrm>
        </p:grpSpPr>
        <p:sp>
          <p:nvSpPr>
            <p:cNvPr id="29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294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7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07" name="그룹 306"/>
          <p:cNvGrpSpPr/>
          <p:nvPr/>
        </p:nvGrpSpPr>
        <p:grpSpPr>
          <a:xfrm>
            <a:off x="315107" y="1412104"/>
            <a:ext cx="3039047" cy="330118"/>
            <a:chOff x="5804087" y="4215557"/>
            <a:chExt cx="3024000" cy="288696"/>
          </a:xfrm>
        </p:grpSpPr>
        <p:sp>
          <p:nvSpPr>
            <p:cNvPr id="308" name="직사각형 307"/>
            <p:cNvSpPr/>
            <p:nvPr/>
          </p:nvSpPr>
          <p:spPr>
            <a:xfrm>
              <a:off x="5804087" y="4215557"/>
              <a:ext cx="3024000" cy="28869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9" name="직선 연결선 308"/>
            <p:cNvCxnSpPr/>
            <p:nvPr/>
          </p:nvCxnSpPr>
          <p:spPr>
            <a:xfrm>
              <a:off x="5804087" y="4504253"/>
              <a:ext cx="3024000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0" name="직사각형 309"/>
          <p:cNvSpPr/>
          <p:nvPr/>
        </p:nvSpPr>
        <p:spPr>
          <a:xfrm>
            <a:off x="350583" y="1453038"/>
            <a:ext cx="4154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dirty="0">
                <a:latin typeface="+mn-ea"/>
                <a:cs typeface="Calibri" pitchFamily="34" charset="0"/>
              </a:rPr>
              <a:t>이체</a:t>
            </a:r>
            <a:endParaRPr lang="en-US" altLang="ko-KR" sz="900" dirty="0">
              <a:latin typeface="+mn-ea"/>
              <a:cs typeface="Calibri" pitchFamily="34" charset="0"/>
            </a:endParaRPr>
          </a:p>
        </p:txBody>
      </p:sp>
      <p:graphicFrame>
        <p:nvGraphicFramePr>
          <p:cNvPr id="311" name="개체 3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13725"/>
              </p:ext>
            </p:extLst>
          </p:nvPr>
        </p:nvGraphicFramePr>
        <p:xfrm>
          <a:off x="3069464" y="1469980"/>
          <a:ext cx="182685" cy="18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" name="Image" r:id="rId4" imgW="380880" imgH="380880" progId="Photoshop.Image.13">
                  <p:embed/>
                </p:oleObj>
              </mc:Choice>
              <mc:Fallback>
                <p:oleObj name="Image" r:id="rId4" imgW="380880" imgH="380880" progId="Photoshop.Image.13">
                  <p:embed/>
                  <p:pic>
                    <p:nvPicPr>
                      <p:cNvPr id="203" name="개체 20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9464" y="1469980"/>
                        <a:ext cx="182685" cy="18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4" name="그룹 323"/>
          <p:cNvGrpSpPr/>
          <p:nvPr/>
        </p:nvGrpSpPr>
        <p:grpSpPr>
          <a:xfrm>
            <a:off x="85482" y="1366607"/>
            <a:ext cx="367408" cy="230832"/>
            <a:chOff x="4809970" y="3090156"/>
            <a:chExt cx="367408" cy="230832"/>
          </a:xfrm>
        </p:grpSpPr>
        <p:sp>
          <p:nvSpPr>
            <p:cNvPr id="32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2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333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4" name="그림 3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pSp>
        <p:nvGrpSpPr>
          <p:cNvPr id="351" name="그룹 350"/>
          <p:cNvGrpSpPr/>
          <p:nvPr/>
        </p:nvGrpSpPr>
        <p:grpSpPr>
          <a:xfrm>
            <a:off x="3811564" y="783121"/>
            <a:ext cx="2619196" cy="1321415"/>
            <a:chOff x="8238032" y="4789014"/>
            <a:chExt cx="2880000" cy="1621951"/>
          </a:xfrm>
        </p:grpSpPr>
        <p:sp>
          <p:nvSpPr>
            <p:cNvPr id="352" name="직사각형 351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3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4" name="직사각형 353"/>
            <p:cNvSpPr/>
            <p:nvPr/>
          </p:nvSpPr>
          <p:spPr>
            <a:xfrm>
              <a:off x="9678032" y="6122965"/>
              <a:ext cx="1440000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예</a:t>
              </a:r>
              <a:endParaRPr lang="ko-KR" altLang="en-US" sz="900" dirty="0"/>
            </a:p>
          </p:txBody>
        </p:sp>
        <p:sp>
          <p:nvSpPr>
            <p:cNvPr id="355" name="직사각형 354"/>
            <p:cNvSpPr/>
            <p:nvPr/>
          </p:nvSpPr>
          <p:spPr>
            <a:xfrm>
              <a:off x="8238032" y="6122965"/>
              <a:ext cx="144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아니요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8357310" y="523286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선택한 </a:t>
              </a:r>
              <a:r>
                <a:rPr lang="ko-KR" altLang="en-US" sz="900" dirty="0" err="1"/>
                <a:t>결재선을</a:t>
              </a:r>
              <a:endParaRPr lang="ko-KR" altLang="en-US" sz="900" dirty="0"/>
            </a:p>
            <a:p>
              <a:pPr algn="ctr"/>
              <a:r>
                <a:rPr lang="ko-KR" altLang="en-US" sz="900" dirty="0"/>
                <a:t>삭제하시겠습니까</a:t>
              </a:r>
              <a:r>
                <a:rPr lang="en-US" altLang="ko-KR" sz="900" dirty="0" smtClean="0"/>
                <a:t>?</a:t>
              </a:r>
              <a:endParaRPr lang="en-US" altLang="ko-KR" sz="900" dirty="0"/>
            </a:p>
          </p:txBody>
        </p:sp>
      </p:grpSp>
      <p:grpSp>
        <p:nvGrpSpPr>
          <p:cNvPr id="357" name="그룹 356"/>
          <p:cNvGrpSpPr/>
          <p:nvPr/>
        </p:nvGrpSpPr>
        <p:grpSpPr>
          <a:xfrm>
            <a:off x="6734057" y="788454"/>
            <a:ext cx="2619196" cy="1321415"/>
            <a:chOff x="8238032" y="4789014"/>
            <a:chExt cx="2880000" cy="1621951"/>
          </a:xfrm>
        </p:grpSpPr>
        <p:sp>
          <p:nvSpPr>
            <p:cNvPr id="358" name="직사각형 357"/>
            <p:cNvSpPr/>
            <p:nvPr/>
          </p:nvSpPr>
          <p:spPr>
            <a:xfrm>
              <a:off x="8238032" y="4789014"/>
              <a:ext cx="2880000" cy="16219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9" name="Freeform 11"/>
            <p:cNvSpPr>
              <a:spLocks noChangeArrowheads="1"/>
            </p:cNvSpPr>
            <p:nvPr/>
          </p:nvSpPr>
          <p:spPr bwMode="auto">
            <a:xfrm>
              <a:off x="10884123" y="4873891"/>
              <a:ext cx="144000" cy="144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" name="직사각형 359"/>
            <p:cNvSpPr/>
            <p:nvPr/>
          </p:nvSpPr>
          <p:spPr>
            <a:xfrm>
              <a:off x="8271666" y="6122965"/>
              <a:ext cx="2846366" cy="28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12700"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smtClean="0"/>
                <a:t>확인</a:t>
              </a:r>
              <a:endParaRPr lang="ko-KR" altLang="en-US" sz="900" dirty="0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8384066" y="5224211"/>
              <a:ext cx="2472268" cy="453331"/>
            </a:xfrm>
            <a:prstGeom prst="rect">
              <a:avLst/>
            </a:prstGeom>
            <a:noFill/>
          </p:spPr>
          <p:txBody>
            <a:bodyPr wrap="square" lIns="72000" rIns="0" rtlCol="0">
              <a:spAutoFit/>
            </a:bodyPr>
            <a:lstStyle>
              <a:defPPr>
                <a:defRPr lang="ko-KR"/>
              </a:defPPr>
              <a:lvl1pPr>
                <a:defRPr sz="1000">
                  <a:latin typeface="+mn-ea"/>
                  <a:ea typeface="+mn-ea"/>
                </a:defRPr>
              </a:lvl1pPr>
            </a:lstStyle>
            <a:p>
              <a:pPr algn="ctr"/>
              <a:r>
                <a:rPr lang="ko-KR" altLang="en-US" sz="900" dirty="0"/>
                <a:t>결재가 진행중인 </a:t>
              </a:r>
              <a:r>
                <a:rPr lang="ko-KR" altLang="en-US" sz="900" dirty="0" err="1"/>
                <a:t>결재선입니다</a:t>
              </a:r>
              <a:r>
                <a:rPr lang="en-US" altLang="ko-KR" sz="900" dirty="0"/>
                <a:t>.</a:t>
              </a:r>
            </a:p>
            <a:p>
              <a:pPr algn="ctr"/>
              <a:r>
                <a:rPr lang="ko-KR" altLang="en-US" sz="900" dirty="0"/>
                <a:t>결재완료 후 </a:t>
              </a:r>
              <a:r>
                <a:rPr lang="ko-KR" altLang="en-US" sz="900" dirty="0" smtClean="0"/>
                <a:t>삭제 </a:t>
              </a:r>
              <a:r>
                <a:rPr lang="ko-KR" altLang="en-US" sz="900" dirty="0"/>
                <a:t>가능합니다</a:t>
              </a:r>
              <a:r>
                <a:rPr lang="en-US" altLang="ko-KR" sz="900" dirty="0"/>
                <a:t>.</a:t>
              </a:r>
            </a:p>
          </p:txBody>
        </p:sp>
      </p:grpSp>
      <p:sp>
        <p:nvSpPr>
          <p:cNvPr id="387" name="TextBox 386"/>
          <p:cNvSpPr txBox="1"/>
          <p:nvPr/>
        </p:nvSpPr>
        <p:spPr>
          <a:xfrm>
            <a:off x="3807092" y="532914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삭제 확인 팝업</a:t>
            </a:r>
            <a:endParaRPr lang="ko-KR" altLang="en-US" sz="1000" b="1" spc="-150" dirty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646760" y="520896"/>
            <a:ext cx="2957869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ko-KR" altLang="en-US" sz="1000" b="1" spc="-150" dirty="0" smtClean="0">
                <a:latin typeface="맑은 고딕" panose="020B0503020000020004" pitchFamily="50" charset="-127"/>
                <a:cs typeface="Segoe UI" panose="020B0502040204020203" pitchFamily="34" charset="0"/>
              </a:rPr>
              <a:t>결재 진행중인 결재선 삭제 클릭 시</a:t>
            </a:r>
            <a:endParaRPr lang="en-US" altLang="ko-KR" sz="1000" b="1" spc="-150" dirty="0" smtClean="0"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8" name="그룹 397"/>
          <p:cNvGrpSpPr/>
          <p:nvPr/>
        </p:nvGrpSpPr>
        <p:grpSpPr>
          <a:xfrm>
            <a:off x="2801687" y="1366607"/>
            <a:ext cx="367408" cy="230832"/>
            <a:chOff x="4809970" y="3090156"/>
            <a:chExt cx="367408" cy="230832"/>
          </a:xfrm>
        </p:grpSpPr>
        <p:sp>
          <p:nvSpPr>
            <p:cNvPr id="399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0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1-2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1" name="그룹 400"/>
          <p:cNvGrpSpPr/>
          <p:nvPr/>
        </p:nvGrpSpPr>
        <p:grpSpPr>
          <a:xfrm>
            <a:off x="3660024" y="699606"/>
            <a:ext cx="367408" cy="230832"/>
            <a:chOff x="4809970" y="3090156"/>
            <a:chExt cx="367408" cy="230832"/>
          </a:xfrm>
        </p:grpSpPr>
        <p:sp>
          <p:nvSpPr>
            <p:cNvPr id="402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3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4" name="그룹 403"/>
          <p:cNvGrpSpPr/>
          <p:nvPr/>
        </p:nvGrpSpPr>
        <p:grpSpPr>
          <a:xfrm>
            <a:off x="5914736" y="699606"/>
            <a:ext cx="367408" cy="230832"/>
            <a:chOff x="4809970" y="3090156"/>
            <a:chExt cx="367408" cy="230832"/>
          </a:xfrm>
        </p:grpSpPr>
        <p:sp>
          <p:nvSpPr>
            <p:cNvPr id="405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6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07" name="그룹 406"/>
          <p:cNvGrpSpPr/>
          <p:nvPr/>
        </p:nvGrpSpPr>
        <p:grpSpPr>
          <a:xfrm>
            <a:off x="3833732" y="1803190"/>
            <a:ext cx="367408" cy="230832"/>
            <a:chOff x="4809970" y="3090156"/>
            <a:chExt cx="367408" cy="230832"/>
          </a:xfrm>
        </p:grpSpPr>
        <p:sp>
          <p:nvSpPr>
            <p:cNvPr id="408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09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0" name="그룹 409"/>
          <p:cNvGrpSpPr/>
          <p:nvPr/>
        </p:nvGrpSpPr>
        <p:grpSpPr>
          <a:xfrm>
            <a:off x="5135268" y="1803190"/>
            <a:ext cx="367408" cy="230832"/>
            <a:chOff x="4809970" y="3090156"/>
            <a:chExt cx="367408" cy="230832"/>
          </a:xfrm>
        </p:grpSpPr>
        <p:sp>
          <p:nvSpPr>
            <p:cNvPr id="41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6713609" y="720890"/>
            <a:ext cx="367408" cy="230832"/>
            <a:chOff x="4809970" y="3090156"/>
            <a:chExt cx="367408" cy="230832"/>
          </a:xfrm>
        </p:grpSpPr>
        <p:sp>
          <p:nvSpPr>
            <p:cNvPr id="41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5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3-4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16" name="그룹 415"/>
          <p:cNvGrpSpPr/>
          <p:nvPr/>
        </p:nvGrpSpPr>
        <p:grpSpPr>
          <a:xfrm>
            <a:off x="8864782" y="717729"/>
            <a:ext cx="367408" cy="230832"/>
            <a:chOff x="4809970" y="3090156"/>
            <a:chExt cx="367408" cy="230832"/>
          </a:xfrm>
        </p:grpSpPr>
        <p:sp>
          <p:nvSpPr>
            <p:cNvPr id="41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18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422" name="그룹 421"/>
          <p:cNvGrpSpPr/>
          <p:nvPr/>
        </p:nvGrpSpPr>
        <p:grpSpPr>
          <a:xfrm>
            <a:off x="7106163" y="1791284"/>
            <a:ext cx="367408" cy="230832"/>
            <a:chOff x="4809970" y="3090156"/>
            <a:chExt cx="367408" cy="230832"/>
          </a:xfrm>
        </p:grpSpPr>
        <p:sp>
          <p:nvSpPr>
            <p:cNvPr id="423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4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3-2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결재선목록</a:t>
            </a:r>
            <a:endParaRPr lang="en-US" altLang="ko-KR" sz="800" kern="0" dirty="0"/>
          </a:p>
        </p:txBody>
      </p:sp>
      <p:grpSp>
        <p:nvGrpSpPr>
          <p:cNvPr id="426" name="그룹 425"/>
          <p:cNvGrpSpPr/>
          <p:nvPr/>
        </p:nvGrpSpPr>
        <p:grpSpPr>
          <a:xfrm>
            <a:off x="935120" y="6285346"/>
            <a:ext cx="251992" cy="230832"/>
            <a:chOff x="4867678" y="3090156"/>
            <a:chExt cx="251992" cy="230832"/>
          </a:xfrm>
        </p:grpSpPr>
        <p:sp>
          <p:nvSpPr>
            <p:cNvPr id="427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28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8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29" name="직사각형 428"/>
          <p:cNvSpPr/>
          <p:nvPr/>
        </p:nvSpPr>
        <p:spPr>
          <a:xfrm>
            <a:off x="3830743" y="2403309"/>
            <a:ext cx="1795281" cy="797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전자서명 진행</a:t>
            </a:r>
            <a:endParaRPr lang="ko-KR" altLang="en-US" dirty="0"/>
          </a:p>
        </p:txBody>
      </p:sp>
      <p:grpSp>
        <p:nvGrpSpPr>
          <p:cNvPr id="430" name="그룹 429"/>
          <p:cNvGrpSpPr/>
          <p:nvPr/>
        </p:nvGrpSpPr>
        <p:grpSpPr>
          <a:xfrm>
            <a:off x="3695968" y="2311963"/>
            <a:ext cx="367408" cy="230832"/>
            <a:chOff x="4809970" y="3090156"/>
            <a:chExt cx="367408" cy="230832"/>
          </a:xfrm>
        </p:grpSpPr>
        <p:sp>
          <p:nvSpPr>
            <p:cNvPr id="431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432" name="Rectangle 4"/>
            <p:cNvSpPr/>
            <p:nvPr/>
          </p:nvSpPr>
          <p:spPr>
            <a:xfrm>
              <a:off x="4809970" y="3090156"/>
              <a:ext cx="367408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 smtClean="0">
                  <a:solidFill>
                    <a:prstClr val="white"/>
                  </a:solidFill>
                  <a:latin typeface="+mn-ea"/>
                </a:rPr>
                <a:t>3-3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endParaRPr lang="en-US" altLang="ko-KR" sz="800" kern="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sp>
        <p:nvSpPr>
          <p:cNvPr id="142" name="직사각형 141"/>
          <p:cNvSpPr/>
          <p:nvPr/>
        </p:nvSpPr>
        <p:spPr>
          <a:xfrm>
            <a:off x="405185" y="2150703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3" name="직사각형 142"/>
          <p:cNvSpPr/>
          <p:nvPr/>
        </p:nvSpPr>
        <p:spPr>
          <a:xfrm>
            <a:off x="399874" y="3085740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  <p:sp>
        <p:nvSpPr>
          <p:cNvPr id="144" name="직사각형 143"/>
          <p:cNvSpPr/>
          <p:nvPr/>
        </p:nvSpPr>
        <p:spPr>
          <a:xfrm>
            <a:off x="374006" y="4101091"/>
            <a:ext cx="664343" cy="19221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/>
              <a:t>항목삭제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0243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7644657" y="182450"/>
            <a:ext cx="21496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결재선구성완료</a:t>
            </a:r>
            <a:r>
              <a:rPr lang="en-US" altLang="ko-KR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삭제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187618" y="552086"/>
            <a:ext cx="3235214" cy="398482"/>
            <a:chOff x="7321393" y="1839307"/>
            <a:chExt cx="3240000" cy="398482"/>
          </a:xfrm>
        </p:grpSpPr>
        <p:sp>
          <p:nvSpPr>
            <p:cNvPr id="85" name="직사각형 84"/>
            <p:cNvSpPr/>
            <p:nvPr/>
          </p:nvSpPr>
          <p:spPr>
            <a:xfrm>
              <a:off x="7321393" y="1839307"/>
              <a:ext cx="3240000" cy="3984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482713" y="1912726"/>
              <a:ext cx="702512" cy="2616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ko-KR" altLang="en-US" sz="1100" b="1" spc="-150" dirty="0" err="1" smtClean="0">
                  <a:solidFill>
                    <a:prstClr val="black"/>
                  </a:solidFill>
                  <a:ea typeface="맑은 고딕"/>
                </a:rPr>
                <a:t>결재선관리</a:t>
              </a:r>
              <a:endParaRPr lang="ko-KR" altLang="en-US" sz="1100" b="1" spc="-150" dirty="0">
                <a:solidFill>
                  <a:prstClr val="black"/>
                </a:solidFill>
                <a:ea typeface="맑은 고딕"/>
              </a:endParaRPr>
            </a:p>
          </p:txBody>
        </p:sp>
      </p:grpSp>
      <p:sp>
        <p:nvSpPr>
          <p:cNvPr id="99" name="직사각형 98"/>
          <p:cNvSpPr/>
          <p:nvPr/>
        </p:nvSpPr>
        <p:spPr>
          <a:xfrm>
            <a:off x="197778" y="5995782"/>
            <a:ext cx="3241382" cy="389455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확인</a:t>
            </a:r>
            <a:endParaRPr lang="ko-KR" altLang="en-US" sz="1000" b="1" dirty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87148"/>
              </p:ext>
            </p:extLst>
          </p:nvPr>
        </p:nvGraphicFramePr>
        <p:xfrm>
          <a:off x="9822663" y="557185"/>
          <a:ext cx="2195166" cy="2063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7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설명</a:t>
                      </a:r>
                      <a:endParaRPr lang="en-US" altLang="ko-KR" sz="8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72567" marR="72567" marT="36287" marB="3628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결재선 완료 페이지</a:t>
                      </a:r>
                      <a:endParaRPr lang="en-US" altLang="ko-KR" sz="800" b="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17441"/>
                  </a:ext>
                </a:extLst>
              </a:tr>
              <a:tr h="257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확인을 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터치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하면 결재선 목록으로 이동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검토 필요사항</a:t>
                      </a:r>
                    </a:p>
                  </a:txBody>
                  <a:tcPr marL="72567" marR="72567" marT="36287" marB="362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90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4398"/>
                  </a:ext>
                </a:extLst>
              </a:tr>
              <a:tr h="1025186"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spc="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567" marR="72567" marT="36287" marB="36287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275471"/>
                  </a:ext>
                </a:extLst>
              </a:tr>
            </a:tbl>
          </a:graphicData>
        </a:graphic>
      </p:graphicFrame>
      <p:grpSp>
        <p:nvGrpSpPr>
          <p:cNvPr id="33" name="그룹 32"/>
          <p:cNvGrpSpPr/>
          <p:nvPr/>
        </p:nvGrpSpPr>
        <p:grpSpPr>
          <a:xfrm>
            <a:off x="90006" y="5884068"/>
            <a:ext cx="251992" cy="230832"/>
            <a:chOff x="4867678" y="3090156"/>
            <a:chExt cx="251992" cy="230832"/>
          </a:xfrm>
        </p:grpSpPr>
        <p:sp>
          <p:nvSpPr>
            <p:cNvPr id="34" name="Teardrop 1"/>
            <p:cNvSpPr/>
            <p:nvPr/>
          </p:nvSpPr>
          <p:spPr>
            <a:xfrm rot="16200000" flipH="1" flipV="1">
              <a:off x="4880157" y="3092062"/>
              <a:ext cx="216000" cy="216000"/>
            </a:xfrm>
            <a:prstGeom prst="teardrop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800" b="1" dirty="0"/>
            </a:p>
          </p:txBody>
        </p:sp>
        <p:sp>
          <p:nvSpPr>
            <p:cNvPr id="35" name="Rectangle 4"/>
            <p:cNvSpPr/>
            <p:nvPr/>
          </p:nvSpPr>
          <p:spPr>
            <a:xfrm>
              <a:off x="4867678" y="3090156"/>
              <a:ext cx="251992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ko-KR" sz="900" b="1" dirty="0">
                  <a:solidFill>
                    <a:prstClr val="white"/>
                  </a:solidFill>
                  <a:latin typeface="+mn-ea"/>
                </a:rPr>
                <a:t>1</a:t>
              </a:r>
              <a:endParaRPr lang="ko-KR" altLang="en-US" sz="900" b="1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834146-0F05-4F81-BC7A-7F8FCCEF6DA8}"/>
              </a:ext>
            </a:extLst>
          </p:cNvPr>
          <p:cNvSpPr/>
          <p:nvPr/>
        </p:nvSpPr>
        <p:spPr>
          <a:xfrm>
            <a:off x="620065" y="182450"/>
            <a:ext cx="6299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35" latinLnBrk="0">
              <a:defRPr/>
            </a:pPr>
            <a:r>
              <a:rPr lang="ko-KR" altLang="en-US" sz="800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뱅킹관리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업무권한관리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결재선관리</a:t>
            </a:r>
            <a:r>
              <a:rPr lang="ko-KR" altLang="en-US" sz="800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800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800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결재선삭제</a:t>
            </a:r>
            <a:endParaRPr lang="en-US" altLang="ko-KR" sz="800" kern="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1275762" y="1425594"/>
            <a:ext cx="868512" cy="807267"/>
            <a:chOff x="3433905" y="4984546"/>
            <a:chExt cx="396044" cy="396044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>
            <a:xfrm>
              <a:off x="3433905" y="4984546"/>
              <a:ext cx="396044" cy="3960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" rIns="0" bIns="32400" rtlCol="0" anchor="ctr"/>
            <a:lstStyle/>
            <a:p>
              <a:pPr algn="ctr" latinLnBrk="0"/>
              <a:r>
                <a:rPr lang="en-US" altLang="ko-KR" sz="700" dirty="0" smtClean="0">
                  <a:solidFill>
                    <a:srgbClr val="26262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0"/>
                </a:rPr>
                <a:t>SVG</a:t>
              </a:r>
              <a:endParaRPr lang="ko-KR" altLang="en-US" sz="700" dirty="0">
                <a:solidFill>
                  <a:srgbClr val="2626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endParaRPr>
            </a:p>
          </p:txBody>
        </p:sp>
        <p:cxnSp>
          <p:nvCxnSpPr>
            <p:cNvPr id="28" name="직선 연결선 27"/>
            <p:cNvCxnSpPr>
              <a:cxnSpLocks noChangeAspect="1"/>
              <a:stCxn id="27" idx="1"/>
              <a:endCxn id="27" idx="5"/>
            </p:cNvCxnSpPr>
            <p:nvPr/>
          </p:nvCxnSpPr>
          <p:spPr>
            <a:xfrm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cxnSpLocks noChangeAspect="1"/>
              <a:stCxn id="27" idx="7"/>
              <a:endCxn id="27" idx="3"/>
            </p:cNvCxnSpPr>
            <p:nvPr/>
          </p:nvCxnSpPr>
          <p:spPr>
            <a:xfrm flipH="1">
              <a:off x="3491904" y="5042545"/>
              <a:ext cx="280045" cy="280045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99963" y="2668456"/>
            <a:ext cx="3239197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</a:rPr>
              <a:t>결재선</a:t>
            </a:r>
            <a:endParaRPr lang="en-US" altLang="ko-KR" sz="1200" b="1" dirty="0" smtClean="0">
              <a:latin typeface="+mn-ea"/>
            </a:endParaRPr>
          </a:p>
          <a:p>
            <a:pPr algn="ctr"/>
            <a:r>
              <a:rPr lang="ko-KR" altLang="en-US" sz="1200" b="1" dirty="0" smtClean="0">
                <a:latin typeface="+mn-ea"/>
              </a:rPr>
              <a:t>삭제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 smtClean="0">
                <a:latin typeface="+mn-ea"/>
              </a:rPr>
              <a:t>완료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31" name="Freeform 24"/>
          <p:cNvSpPr>
            <a:spLocks noChangeArrowheads="1"/>
          </p:cNvSpPr>
          <p:nvPr/>
        </p:nvSpPr>
        <p:spPr bwMode="auto">
          <a:xfrm>
            <a:off x="3134929" y="644007"/>
            <a:ext cx="216000" cy="216000"/>
          </a:xfrm>
          <a:custGeom>
            <a:avLst/>
            <a:gdLst>
              <a:gd name="T0" fmla="*/ 0 w 461"/>
              <a:gd name="T1" fmla="*/ 303 h 304"/>
              <a:gd name="T2" fmla="*/ 460 w 461"/>
              <a:gd name="T3" fmla="*/ 303 h 304"/>
              <a:gd name="T4" fmla="*/ 460 w 461"/>
              <a:gd name="T5" fmla="*/ 254 h 304"/>
              <a:gd name="T6" fmla="*/ 0 w 461"/>
              <a:gd name="T7" fmla="*/ 254 h 304"/>
              <a:gd name="T8" fmla="*/ 0 w 461"/>
              <a:gd name="T9" fmla="*/ 303 h 304"/>
              <a:gd name="T10" fmla="*/ 0 w 461"/>
              <a:gd name="T11" fmla="*/ 176 h 304"/>
              <a:gd name="T12" fmla="*/ 460 w 461"/>
              <a:gd name="T13" fmla="*/ 176 h 304"/>
              <a:gd name="T14" fmla="*/ 460 w 461"/>
              <a:gd name="T15" fmla="*/ 127 h 304"/>
              <a:gd name="T16" fmla="*/ 0 w 461"/>
              <a:gd name="T17" fmla="*/ 127 h 304"/>
              <a:gd name="T18" fmla="*/ 0 w 461"/>
              <a:gd name="T19" fmla="*/ 176 h 304"/>
              <a:gd name="T20" fmla="*/ 0 w 461"/>
              <a:gd name="T21" fmla="*/ 0 h 304"/>
              <a:gd name="T22" fmla="*/ 0 w 461"/>
              <a:gd name="T23" fmla="*/ 49 h 304"/>
              <a:gd name="T24" fmla="*/ 460 w 461"/>
              <a:gd name="T25" fmla="*/ 49 h 304"/>
              <a:gd name="T26" fmla="*/ 460 w 461"/>
              <a:gd name="T27" fmla="*/ 0 h 304"/>
              <a:gd name="T28" fmla="*/ 0 w 461"/>
              <a:gd name="T29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1" h="304">
                <a:moveTo>
                  <a:pt x="0" y="303"/>
                </a:moveTo>
                <a:lnTo>
                  <a:pt x="460" y="303"/>
                </a:lnTo>
                <a:lnTo>
                  <a:pt x="460" y="254"/>
                </a:lnTo>
                <a:lnTo>
                  <a:pt x="0" y="254"/>
                </a:lnTo>
                <a:lnTo>
                  <a:pt x="0" y="303"/>
                </a:lnTo>
                <a:close/>
                <a:moveTo>
                  <a:pt x="0" y="176"/>
                </a:moveTo>
                <a:lnTo>
                  <a:pt x="460" y="176"/>
                </a:lnTo>
                <a:lnTo>
                  <a:pt x="460" y="127"/>
                </a:lnTo>
                <a:lnTo>
                  <a:pt x="0" y="127"/>
                </a:lnTo>
                <a:lnTo>
                  <a:pt x="0" y="176"/>
                </a:lnTo>
                <a:close/>
                <a:moveTo>
                  <a:pt x="0" y="0"/>
                </a:moveTo>
                <a:lnTo>
                  <a:pt x="0" y="49"/>
                </a:lnTo>
                <a:lnTo>
                  <a:pt x="460" y="49"/>
                </a:lnTo>
                <a:lnTo>
                  <a:pt x="4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22" y="644007"/>
            <a:ext cx="216000" cy="216000"/>
          </a:xfrm>
          <a:prstGeom prst="rect">
            <a:avLst/>
          </a:prstGeom>
        </p:spPr>
      </p:pic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96184"/>
              </p:ext>
            </p:extLst>
          </p:nvPr>
        </p:nvGraphicFramePr>
        <p:xfrm>
          <a:off x="9794307" y="6389200"/>
          <a:ext cx="21951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33">
                  <a:extLst>
                    <a:ext uri="{9D8B030D-6E8A-4147-A177-3AD203B41FA5}">
                      <a16:colId xmlns:a16="http://schemas.microsoft.com/office/drawing/2014/main" val="2273368563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422017797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733555766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886963240"/>
                    </a:ext>
                  </a:extLst>
                </a:gridCol>
                <a:gridCol w="439033">
                  <a:extLst>
                    <a:ext uri="{9D8B030D-6E8A-4147-A177-3AD203B41FA5}">
                      <a16:colId xmlns:a16="http://schemas.microsoft.com/office/drawing/2014/main" val="1519549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OPEN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Grid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ENG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Web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Native</a:t>
                      </a:r>
                      <a:endParaRPr lang="ko-KR" altLang="en-US" sz="5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93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ko-KR" altLang="en-US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차</a:t>
                      </a:r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O</a:t>
                      </a:r>
                      <a:endParaRPr lang="ko-KR" altLang="en-US" sz="700" dirty="0" smtClean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672454"/>
                  </a:ext>
                </a:extLst>
              </a:tr>
            </a:tbl>
          </a:graphicData>
        </a:graphic>
      </p:graphicFrame>
      <p:grpSp>
        <p:nvGrpSpPr>
          <p:cNvPr id="20" name="그룹 19"/>
          <p:cNvGrpSpPr/>
          <p:nvPr/>
        </p:nvGrpSpPr>
        <p:grpSpPr>
          <a:xfrm>
            <a:off x="577655" y="2232859"/>
            <a:ext cx="2773274" cy="1732466"/>
            <a:chOff x="4535050" y="819597"/>
            <a:chExt cx="1560950" cy="2051125"/>
          </a:xfrm>
        </p:grpSpPr>
        <p:sp>
          <p:nvSpPr>
            <p:cNvPr id="22" name="직사각형 21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544262" y="1021158"/>
              <a:ext cx="1386896" cy="1849564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289752" y="425250"/>
            <a:ext cx="2773274" cy="673694"/>
            <a:chOff x="4535050" y="819597"/>
            <a:chExt cx="1560950" cy="797609"/>
          </a:xfrm>
        </p:grpSpPr>
        <p:sp>
          <p:nvSpPr>
            <p:cNvPr id="39" name="직사각형 38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544262" y="1021158"/>
              <a:ext cx="534054" cy="420381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4" name="그룹 43"/>
          <p:cNvGrpSpPr/>
          <p:nvPr/>
        </p:nvGrpSpPr>
        <p:grpSpPr>
          <a:xfrm>
            <a:off x="1325021" y="5853662"/>
            <a:ext cx="2773274" cy="673694"/>
            <a:chOff x="4535050" y="819597"/>
            <a:chExt cx="1560950" cy="797609"/>
          </a:xfrm>
        </p:grpSpPr>
        <p:sp>
          <p:nvSpPr>
            <p:cNvPr id="45" name="직사각형 44"/>
            <p:cNvSpPr/>
            <p:nvPr/>
          </p:nvSpPr>
          <p:spPr>
            <a:xfrm>
              <a:off x="4542510" y="819597"/>
              <a:ext cx="445627" cy="201562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solidFill>
                    <a:srgbClr val="FF0000"/>
                  </a:solidFill>
                </a:rPr>
                <a:t>워싱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544262" y="1021158"/>
              <a:ext cx="534054" cy="420381"/>
            </a:xfrm>
            <a:prstGeom prst="rect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7" name="그룹 46"/>
            <p:cNvGrpSpPr/>
            <p:nvPr/>
          </p:nvGrpSpPr>
          <p:grpSpPr>
            <a:xfrm>
              <a:off x="4535050" y="1021159"/>
              <a:ext cx="1560950" cy="596047"/>
              <a:chOff x="4535050" y="1021159"/>
              <a:chExt cx="1560950" cy="596047"/>
            </a:xfrm>
          </p:grpSpPr>
          <p:sp>
            <p:nvSpPr>
              <p:cNvPr id="48" name="직사각형 47"/>
              <p:cNvSpPr/>
              <p:nvPr/>
            </p:nvSpPr>
            <p:spPr>
              <a:xfrm>
                <a:off x="6041973" y="1021159"/>
                <a:ext cx="54027" cy="5385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4535050" y="1571487"/>
                <a:ext cx="1560950" cy="457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59387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19808</TotalTime>
  <Words>17159</Words>
  <Application>Microsoft Office PowerPoint</Application>
  <PresentationFormat>와이드스크린</PresentationFormat>
  <Paragraphs>6122</Paragraphs>
  <Slides>92</Slides>
  <Notes>48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92</vt:i4>
      </vt:variant>
    </vt:vector>
  </HeadingPairs>
  <TitlesOfParts>
    <vt:vector size="103" baseType="lpstr">
      <vt:lpstr>Spoqa Han Sans Neo</vt:lpstr>
      <vt:lpstr>나눔고딕</vt:lpstr>
      <vt:lpstr>나눔스퀘어</vt:lpstr>
      <vt:lpstr>맑은 고딕</vt:lpstr>
      <vt:lpstr>맑은 고딕 (본문)</vt:lpstr>
      <vt:lpstr>Arial</vt:lpstr>
      <vt:lpstr>Calibri</vt:lpstr>
      <vt:lpstr>Segoe UI</vt:lpstr>
      <vt:lpstr>Wingdings</vt:lpstr>
      <vt:lpstr>Office 테마</vt:lpstr>
      <vt:lpstr>Image</vt:lpstr>
      <vt:lpstr>스토리보드 (결재선 관리)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 (결재선 관리)</dc:title>
  <dc:creator>vermilian</dc:creator>
  <cp:lastModifiedBy>Busan</cp:lastModifiedBy>
  <cp:revision>566</cp:revision>
  <dcterms:created xsi:type="dcterms:W3CDTF">2022-07-29T07:09:24Z</dcterms:created>
  <dcterms:modified xsi:type="dcterms:W3CDTF">2023-07-11T06:22:44Z</dcterms:modified>
</cp:coreProperties>
</file>