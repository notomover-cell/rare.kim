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sldIdLst>
    <p:sldId id="257" r:id="rId2"/>
    <p:sldId id="301" r:id="rId3"/>
    <p:sldId id="258" r:id="rId4"/>
    <p:sldId id="261" r:id="rId5"/>
    <p:sldId id="265" r:id="rId6"/>
    <p:sldId id="272" r:id="rId7"/>
    <p:sldId id="274" r:id="rId8"/>
    <p:sldId id="283" r:id="rId9"/>
    <p:sldId id="285" r:id="rId10"/>
    <p:sldId id="286" r:id="rId11"/>
    <p:sldId id="287" r:id="rId12"/>
    <p:sldId id="288" r:id="rId13"/>
    <p:sldId id="289" r:id="rId14"/>
    <p:sldId id="266" r:id="rId15"/>
    <p:sldId id="273" r:id="rId16"/>
    <p:sldId id="275" r:id="rId17"/>
    <p:sldId id="270" r:id="rId18"/>
    <p:sldId id="276" r:id="rId19"/>
    <p:sldId id="277" r:id="rId20"/>
    <p:sldId id="278" r:id="rId21"/>
    <p:sldId id="299" r:id="rId22"/>
    <p:sldId id="300" r:id="rId23"/>
    <p:sldId id="294" r:id="rId24"/>
    <p:sldId id="296" r:id="rId25"/>
    <p:sldId id="297" r:id="rId26"/>
    <p:sldId id="298" r:id="rId27"/>
    <p:sldId id="268" r:id="rId28"/>
    <p:sldId id="279" r:id="rId29"/>
    <p:sldId id="267" r:id="rId30"/>
    <p:sldId id="280" r:id="rId31"/>
    <p:sldId id="281" r:id="rId32"/>
    <p:sldId id="282" r:id="rId33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CA485F7-924D-4BA7-9AD4-C5B77B706B22}">
          <p14:sldIdLst>
            <p14:sldId id="257"/>
            <p14:sldId id="301"/>
          </p14:sldIdLst>
        </p14:section>
        <p14:section name="01.로그인" id="{F3785692-0252-47B5-ACBA-46BA4AA6E314}">
          <p14:sldIdLst>
            <p14:sldId id="258"/>
            <p14:sldId id="261"/>
          </p14:sldIdLst>
        </p14:section>
        <p14:section name="02-1. 카드 (이용내역조회)" id="{C9EF7F99-E481-4611-B9AD-7E8DB625839C}">
          <p14:sldIdLst>
            <p14:sldId id="265"/>
          </p14:sldIdLst>
        </p14:section>
        <p14:section name="02-2. 카드 (제신고 안내)" id="{71E87E5F-DC49-4DB6-AC66-5BF4B89CED49}">
          <p14:sldIdLst>
            <p14:sldId id="272"/>
            <p14:sldId id="274"/>
          </p14:sldIdLst>
        </p14:section>
        <p14:section name="02-3. 카드 (분실재발급)" id="{A807A0C1-BB32-4E69-9317-DA864D4CD6ED}">
          <p14:sldIdLst>
            <p14:sldId id="283"/>
            <p14:sldId id="285"/>
            <p14:sldId id="286"/>
            <p14:sldId id="287"/>
            <p14:sldId id="288"/>
            <p14:sldId id="289"/>
          </p14:sldIdLst>
        </p14:section>
        <p14:section name="02-4. 카드 (비밀번호변경)" id="{F86AA3E2-847B-4C0E-80E6-BE48A5BCCD9B}">
          <p14:sldIdLst>
            <p14:sldId id="266"/>
            <p14:sldId id="273"/>
            <p14:sldId id="275"/>
            <p14:sldId id="270"/>
            <p14:sldId id="276"/>
            <p14:sldId id="277"/>
            <p14:sldId id="278"/>
          </p14:sldIdLst>
        </p14:section>
        <p14:section name="03. 모바일 헌금 플랫폼" id="{71B15890-46E8-400B-890B-E5A8517DB83E}">
          <p14:sldIdLst>
            <p14:sldId id="299"/>
          </p14:sldIdLst>
        </p14:section>
        <p14:section name="04. 헌금계좌 내부통제 서비스 (집금계좌 서비스)" id="{F5EAEC29-022E-4EE4-BA3F-1A22BE588DC9}">
          <p14:sldIdLst>
            <p14:sldId id="300"/>
          </p14:sldIdLst>
        </p14:section>
        <p14:section name="05. 기업자금관리서비스 (BIC Lite)" id="{BC0C96D2-AE10-4B2F-9344-CA742863257D}">
          <p14:sldIdLst>
            <p14:sldId id="294"/>
            <p14:sldId id="296"/>
            <p14:sldId id="297"/>
            <p14:sldId id="298"/>
          </p14:sldIdLst>
        </p14:section>
        <p14:section name="06. 뱅킹 ID 관리" id="{1E44857F-7299-4BE6-992A-FE6B6DA8DF22}">
          <p14:sldIdLst>
            <p14:sldId id="268"/>
          </p14:sldIdLst>
        </p14:section>
        <p14:section name="07. 결재선 관리" id="{E4B33A67-3924-4FE5-9704-D9EDD9487253}">
          <p14:sldIdLst>
            <p14:sldId id="279"/>
            <p14:sldId id="267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1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0730E-8079-47AB-9792-B2462657A387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078526-853B-4193-8158-EA72DB0D24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073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058E5-4CE1-407D-9CA6-F8EB6495815C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EBDC2-7872-4D4B-8C13-EBD19D032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100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94222-9942-4600-9C00-9C1871A005DC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EBDC2-7872-4D4B-8C13-EBD19D032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06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5A1AC-63F2-43FE-9369-70FB632F9090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EBDC2-7872-4D4B-8C13-EBD19D032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981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045CE-151A-4CC1-BAC6-745AEF031D3D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EBDC2-7872-4D4B-8C13-EBD19D032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825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1416A-1C1A-42FA-A8CF-38DD96E4B961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EBDC2-7872-4D4B-8C13-EBD19D032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171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ECF72-BC0D-4B0B-9C10-05D61298B04A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EBDC2-7872-4D4B-8C13-EBD19D032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851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DE0B9-A13A-45C0-9259-4FC4FF342879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EBDC2-7872-4D4B-8C13-EBD19D032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807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BB3A7-4001-40C5-BA92-44281BE80FE6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EBDC2-7872-4D4B-8C13-EBD19D032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183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11BA2-B4AD-435C-AE7B-07EBEEE1F402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EBDC2-7872-4D4B-8C13-EBD19D032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120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0733-2C63-4231-8550-E516DB52089A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EBDC2-7872-4D4B-8C13-EBD19D032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682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6487E-667D-4BAD-BF5B-0D2434680142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EBDC2-7872-4D4B-8C13-EBD19D032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2833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4A387-DBA7-43BE-AC31-726150C25A40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EBDC2-7872-4D4B-8C13-EBD19D032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20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tmp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7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tmp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tmp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tmp"/><Relationship Id="rId5" Type="http://schemas.openxmlformats.org/officeDocument/2006/relationships/image" Target="../media/image20.png"/><Relationship Id="rId4" Type="http://schemas.openxmlformats.org/officeDocument/2006/relationships/image" Target="../media/image19.tm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mp"/><Relationship Id="rId7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6.png"/><Relationship Id="rId4" Type="http://schemas.openxmlformats.org/officeDocument/2006/relationships/image" Target="../media/image23.tm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2242964"/>
            <a:ext cx="12192000" cy="461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직사각형 6"/>
          <p:cNvSpPr/>
          <p:nvPr/>
        </p:nvSpPr>
        <p:spPr>
          <a:xfrm>
            <a:off x="0" y="2213177"/>
            <a:ext cx="12192000" cy="45719"/>
          </a:xfrm>
          <a:prstGeom prst="rect">
            <a:avLst/>
          </a:prstGeom>
          <a:solidFill>
            <a:srgbClr val="D71919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4" name="제목 4"/>
          <p:cNvSpPr txBox="1">
            <a:spLocks/>
          </p:cNvSpPr>
          <p:nvPr/>
        </p:nvSpPr>
        <p:spPr bwMode="auto">
          <a:xfrm>
            <a:off x="65938" y="1184131"/>
            <a:ext cx="10025713" cy="98921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lvl="0">
              <a:lnSpc>
                <a:spcPct val="170000"/>
              </a:lnSpc>
              <a:spcBef>
                <a:spcPct val="0"/>
              </a:spcBef>
              <a:defRPr/>
            </a:pPr>
            <a:r>
              <a:rPr lang="ko-KR" altLang="en-US" sz="3200" cap="all" dirty="0" smtClean="0"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rPr>
              <a:t>「</a:t>
            </a:r>
            <a:r>
              <a:rPr lang="ko-KR" altLang="en-US" sz="3200" cap="all" dirty="0" err="1" smtClean="0"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rPr>
              <a:t>수영로교회</a:t>
            </a:r>
            <a:r>
              <a:rPr lang="ko-KR" altLang="en-US" sz="3200" cap="all" dirty="0" smtClean="0"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rPr>
              <a:t> </a:t>
            </a:r>
            <a:r>
              <a:rPr lang="ko-KR" altLang="en-US" sz="3200" cap="all" dirty="0" err="1" smtClean="0"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rPr>
              <a:t>전용</a:t>
            </a:r>
            <a:r>
              <a:rPr lang="ko-KR" altLang="en-US" sz="3200" cap="all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」기업</a:t>
            </a:r>
            <a:r>
              <a:rPr lang="ko-KR" altLang="en-US" sz="3200" cap="all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인터넷뱅킹</a:t>
            </a:r>
            <a:r>
              <a:rPr lang="ko-KR" altLang="en-US" sz="3200" cap="all" dirty="0" smtClean="0"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rPr>
              <a:t> </a:t>
            </a:r>
            <a:r>
              <a:rPr lang="ko-KR" altLang="en-US" sz="3200" cap="all" dirty="0" err="1" smtClean="0"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rPr>
              <a:t>조작방법서</a:t>
            </a:r>
            <a:endParaRPr lang="en-US" altLang="ko-KR" sz="3200" cap="all" dirty="0" smtClean="0">
              <a:latin typeface="HY견고딕" panose="02030600000101010101" pitchFamily="18" charset="-127"/>
              <a:ea typeface="HY견고딕" panose="02030600000101010101" pitchFamily="18" charset="-127"/>
              <a:cs typeface="+mj-cs"/>
            </a:endParaRPr>
          </a:p>
        </p:txBody>
      </p:sp>
      <p:pic>
        <p:nvPicPr>
          <p:cNvPr id="5" name="Picture 2" descr="C:\Users\2082151\Desktop\오픈뱅킹\BNK부산은행_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6122" y="6421277"/>
            <a:ext cx="1868896" cy="25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부제목 2">
            <a:extLst>
              <a:ext uri="{FF2B5EF4-FFF2-40B4-BE49-F238E27FC236}">
                <a16:creationId xmlns:a16="http://schemas.microsoft.com/office/drawing/2014/main" id="{4899B666-E1DE-B74A-9FCC-426A153F9101}"/>
              </a:ext>
            </a:extLst>
          </p:cNvPr>
          <p:cNvSpPr txBox="1">
            <a:spLocks/>
          </p:cNvSpPr>
          <p:nvPr/>
        </p:nvSpPr>
        <p:spPr>
          <a:xfrm>
            <a:off x="4249189" y="2456233"/>
            <a:ext cx="2999509" cy="1849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 sz="3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kumimoji="1" lang="en-US" altLang="ko-Kore-KR" sz="1600" b="1" dirty="0" smtClean="0">
                <a:latin typeface="+mj-lt"/>
                <a:ea typeface="+mj-ea"/>
              </a:rPr>
              <a:t>2025.08.19, </a:t>
            </a:r>
            <a:r>
              <a:rPr kumimoji="1" lang="ko-KR" altLang="en-US" sz="1600" b="1" dirty="0" smtClean="0">
                <a:latin typeface="+mj-lt"/>
                <a:ea typeface="+mj-ea"/>
              </a:rPr>
              <a:t>디지털사업부</a:t>
            </a:r>
            <a:endParaRPr kumimoji="1" lang="ko-Kore-KR" altLang="en-US" sz="1600" b="1" dirty="0">
              <a:latin typeface="+mj-lt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938" y="6363540"/>
            <a:ext cx="87716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對外秘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9039" y="6499805"/>
            <a:ext cx="81740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※ </a:t>
            </a:r>
            <a:r>
              <a:rPr lang="ko-KR" altLang="en-US" sz="1200" dirty="0" smtClean="0"/>
              <a:t>카드 </a:t>
            </a:r>
            <a:r>
              <a:rPr lang="ko-KR" altLang="en-US" sz="1200" dirty="0" err="1" smtClean="0"/>
              <a:t>제신고</a:t>
            </a:r>
            <a:r>
              <a:rPr lang="ko-KR" altLang="en-US" sz="1200" dirty="0" smtClean="0"/>
              <a:t> 업무는 오직 수영로교회만 가능한 업무로 조작방법서는 오직 </a:t>
            </a:r>
            <a:r>
              <a:rPr lang="ko-KR" altLang="en-US" sz="1200" dirty="0" err="1" smtClean="0"/>
              <a:t>수영로교회에게만</a:t>
            </a:r>
            <a:r>
              <a:rPr lang="ko-KR" altLang="en-US" sz="1200" dirty="0" smtClean="0"/>
              <a:t> 제공되는 자료입니다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96396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INDEX</a:t>
            </a:r>
            <a:endParaRPr lang="ko-KR" altLang="en-US" sz="32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28357"/>
            <a:ext cx="2743200" cy="365125"/>
          </a:xfrm>
        </p:spPr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364728" y="949730"/>
            <a:ext cx="9462543" cy="5455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01. </a:t>
            </a:r>
            <a:r>
              <a:rPr lang="ko-KR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로그인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 ∙ ∙ ∙ ∙ ∙ ∙ ∙ ∙ ∙ ∙ ∙ ∙ ∙ ∙ ∙ ∙ ∙ ∙ ∙ ∙ ∙ ∙ ∙ ∙ ∙ ∙ ∙ ∙ ∙ ∙ ∙ ∙ ∙ ∙ ∙ ∙ ∙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∙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 2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~ 3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  <a:p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02. </a:t>
            </a:r>
            <a:r>
              <a:rPr lang="ko-KR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카드 업무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카드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제신고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&amp;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재발급 업무는 </a:t>
            </a:r>
            <a:r>
              <a:rPr lang="ko-KR" altLang="en-US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수영로교회</a:t>
            </a:r>
            <a:r>
              <a:rPr lang="ko-KR" altLang="en-US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 한정 가능</a:t>
            </a:r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)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 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 ∙  4 ~ 19p</a:t>
            </a:r>
            <a:endParaRPr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  <a:p>
            <a:pPr>
              <a:spcBef>
                <a:spcPts val="500"/>
              </a:spcBef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</a:t>
            </a:r>
            <a:r>
              <a:rPr lang="en-US" altLang="ko-K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-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이용내역조회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/ </a:t>
            </a:r>
            <a:r>
              <a:rPr lang="ko-KR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분실재발급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/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비밀번호 변경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  <a:p>
            <a:endParaRPr lang="en-US" altLang="ko-KR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  <a:p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03. </a:t>
            </a:r>
            <a:r>
              <a:rPr lang="ko-KR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모바일 헌금 플랫폼</a:t>
            </a:r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 ∙ ∙ ∙ ∙ ∙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 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∙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 20 p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  <a:p>
            <a:pPr>
              <a:spcBef>
                <a:spcPts val="500"/>
              </a:spcBef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 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-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대시보드 및 교회 정보</a:t>
            </a:r>
            <a:endParaRPr lang="en-US" altLang="ko-KR" b="1" dirty="0" smtClean="0">
              <a:solidFill>
                <a:schemeClr val="tx1">
                  <a:lumMod val="75000"/>
                  <a:lumOff val="25000"/>
                </a:schemeClr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  <a:p>
            <a:endParaRPr lang="en-US" altLang="ko-KR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  <a:p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04. </a:t>
            </a:r>
            <a:r>
              <a:rPr lang="ko-KR" altLang="en-US" sz="2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헌금계좌</a:t>
            </a:r>
            <a:r>
              <a:rPr lang="ko-KR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 내부통제 서비스 </a:t>
            </a:r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2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집금계좌</a:t>
            </a:r>
            <a:r>
              <a:rPr lang="ko-KR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 서비스</a:t>
            </a:r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)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 ∙ ∙ ∙ ∙ ∙ ∙ ∙ ∙ ∙ ∙ ∙ ∙ ∙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 21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</a:t>
            </a:r>
          </a:p>
          <a:p>
            <a:endParaRPr lang="en-US" altLang="ko-KR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  <a:p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05. </a:t>
            </a:r>
            <a:r>
              <a:rPr lang="ko-KR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기업자금관리서비스 </a:t>
            </a:r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(BIC Lite)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 ∙ ∙ ∙ ∙ ∙ ∙ ∙ ∙ ∙ ∙ ∙ ∙ ∙ ∙ ∙ ∙ ∙ ∙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 ∙ ∙ ∙ ∙ ∙ ∙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22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~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25p</a:t>
            </a:r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                                </a:t>
            </a:r>
          </a:p>
          <a:p>
            <a:pPr>
              <a:spcBef>
                <a:spcPts val="500"/>
              </a:spcBef>
            </a:pPr>
            <a:r>
              <a:rPr lang="en-US" altLang="ko-K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  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- </a:t>
            </a:r>
            <a:r>
              <a:rPr lang="ko-KR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주요서비스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/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로그인 및 </a:t>
            </a:r>
            <a:r>
              <a:rPr lang="ko-KR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정보등록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/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은행계좌 등록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/ </a:t>
            </a:r>
            <a:r>
              <a:rPr lang="ko-KR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카드계좌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등록 </a:t>
            </a:r>
            <a:endParaRPr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  <a:p>
            <a:endParaRPr lang="en-US" altLang="ko-KR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  <a:p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06. </a:t>
            </a:r>
            <a:r>
              <a:rPr lang="ko-KR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뱅킹 </a:t>
            </a:r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ID </a:t>
            </a:r>
            <a:r>
              <a:rPr lang="ko-KR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관리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 ∙ ∙ ∙ ∙ ∙ ∙ ∙ ∙ ∙ ∙ ∙ ∙ ∙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 ∙ ∙ ∙ ∙ ∙ ∙ ∙ ∙ ∙ ∙ ∙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 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 ∙ ∙ ∙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∙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26p</a:t>
            </a:r>
            <a:endParaRPr lang="en-US" altLang="ko-KR" b="1" dirty="0" smtClean="0">
              <a:solidFill>
                <a:schemeClr val="tx1">
                  <a:lumMod val="75000"/>
                  <a:lumOff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  <a:p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07. </a:t>
            </a:r>
            <a:r>
              <a:rPr lang="ko-KR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결재선 관리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∙ ∙ ∙ ∙ ∙ ∙ ∙ ∙ ∙ ∙ ∙ ∙ ∙ ∙ ∙ ∙ ∙ ∙ ∙ ∙ ∙ ∙ ∙ ∙ ∙ ∙ ∙ ∙ ∙ ∙ ∙ ∙ ∙ ∙ ∙ ∙ ∙ ∙ ∙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27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~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31p</a:t>
            </a:r>
            <a:endParaRPr lang="ko-KR" altLang="en-US" b="1" dirty="0" smtClean="0">
              <a:solidFill>
                <a:schemeClr val="tx1">
                  <a:lumMod val="75000"/>
                  <a:lumOff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230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로그인</a:t>
            </a:r>
            <a:endParaRPr lang="ko-KR" altLang="en-US" sz="32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2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99" y="1039091"/>
            <a:ext cx="4889696" cy="42893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3240969" y="1194164"/>
            <a:ext cx="383380" cy="219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/>
          </p:cNvPr>
          <p:cNvGrpSpPr/>
          <p:nvPr/>
        </p:nvGrpSpPr>
        <p:grpSpPr>
          <a:xfrm>
            <a:off x="3432659" y="1385041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9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6872" y="1039091"/>
            <a:ext cx="5305403" cy="42893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5639866" y="3050771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" name="직사각형 13"/>
          <p:cNvSpPr/>
          <p:nvPr/>
        </p:nvSpPr>
        <p:spPr>
          <a:xfrm>
            <a:off x="9617628" y="1051247"/>
            <a:ext cx="383380" cy="219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/>
          </p:cNvPr>
          <p:cNvGrpSpPr/>
          <p:nvPr/>
        </p:nvGrpSpPr>
        <p:grpSpPr>
          <a:xfrm>
            <a:off x="9809318" y="1242124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6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17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9" name="직선 연결선 18"/>
          <p:cNvCxnSpPr/>
          <p:nvPr/>
        </p:nvCxnSpPr>
        <p:spPr>
          <a:xfrm flipV="1">
            <a:off x="303199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2460" y="5710019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err="1" smtClean="0"/>
              <a:t>기업뱅킹</a:t>
            </a:r>
            <a:r>
              <a:rPr lang="ko-KR" altLang="en-US" sz="1400" dirty="0" smtClean="0"/>
              <a:t> 클릭</a:t>
            </a:r>
            <a:endParaRPr lang="en-US" altLang="ko-KR" sz="1400" dirty="0"/>
          </a:p>
        </p:txBody>
      </p:sp>
      <p:cxnSp>
        <p:nvCxnSpPr>
          <p:cNvPr id="23" name="직선 연결선 22"/>
          <p:cNvCxnSpPr/>
          <p:nvPr/>
        </p:nvCxnSpPr>
        <p:spPr>
          <a:xfrm flipV="1">
            <a:off x="6660456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9717" y="5710019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로그인 클릭하여 인증서 로그인 진행</a:t>
            </a:r>
            <a:endParaRPr lang="en-US" altLang="ko-KR" sz="1400" dirty="0"/>
          </a:p>
        </p:txBody>
      </p:sp>
      <p:sp>
        <p:nvSpPr>
          <p:cNvPr id="26" name="모서리가 둥근 직사각형 25"/>
          <p:cNvSpPr/>
          <p:nvPr/>
        </p:nvSpPr>
        <p:spPr>
          <a:xfrm>
            <a:off x="2162255" y="5745331"/>
            <a:ext cx="705636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8959411" y="5734744"/>
            <a:ext cx="1091415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533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13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로그인</a:t>
            </a:r>
            <a:endParaRPr lang="ko-KR" altLang="en-US" sz="32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240969" y="1194164"/>
            <a:ext cx="383380" cy="2190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/>
          </p:cNvPr>
          <p:cNvGrpSpPr/>
          <p:nvPr/>
        </p:nvGrpSpPr>
        <p:grpSpPr>
          <a:xfrm>
            <a:off x="3432659" y="1385041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9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3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5639866" y="3050771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9" name="직선 연결선 18"/>
          <p:cNvCxnSpPr/>
          <p:nvPr/>
        </p:nvCxnSpPr>
        <p:spPr>
          <a:xfrm flipV="1">
            <a:off x="303199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2460" y="5710019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err="1" smtClean="0"/>
              <a:t>금융인증서</a:t>
            </a:r>
            <a:r>
              <a:rPr lang="ko-KR" altLang="en-US" sz="1400" dirty="0" smtClean="0"/>
              <a:t> 또는 </a:t>
            </a:r>
            <a:r>
              <a:rPr lang="ko-KR" altLang="en-US" sz="1400" dirty="0" err="1" smtClean="0"/>
              <a:t>기업뱅킹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공동인증서</a:t>
            </a:r>
            <a:r>
              <a:rPr lang="ko-KR" altLang="en-US" sz="1400" dirty="0" smtClean="0"/>
              <a:t> 클릭하여 로그인</a:t>
            </a:r>
            <a:endParaRPr lang="en-US" altLang="ko-KR" sz="1400" dirty="0"/>
          </a:p>
        </p:txBody>
      </p:sp>
      <p:cxnSp>
        <p:nvCxnSpPr>
          <p:cNvPr id="23" name="직선 연결선 22"/>
          <p:cNvCxnSpPr/>
          <p:nvPr/>
        </p:nvCxnSpPr>
        <p:spPr>
          <a:xfrm flipV="1">
            <a:off x="6660456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645" y="1051247"/>
            <a:ext cx="4888800" cy="42222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6589717" y="5710019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인증서 암호 입력 후 로그인</a:t>
            </a:r>
            <a:endParaRPr lang="en-US" altLang="ko-KR" sz="1400" dirty="0"/>
          </a:p>
        </p:txBody>
      </p:sp>
      <p:sp>
        <p:nvSpPr>
          <p:cNvPr id="21" name="직사각형 20"/>
          <p:cNvSpPr/>
          <p:nvPr/>
        </p:nvSpPr>
        <p:spPr>
          <a:xfrm>
            <a:off x="1857668" y="3741572"/>
            <a:ext cx="1691615" cy="3732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>
            <a:extLst/>
          </p:cNvPr>
          <p:cNvGrpSpPr/>
          <p:nvPr/>
        </p:nvGrpSpPr>
        <p:grpSpPr>
          <a:xfrm>
            <a:off x="3326984" y="4100189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6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27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3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8" name="모서리가 둥근 직사각형 27"/>
          <p:cNvSpPr/>
          <p:nvPr/>
        </p:nvSpPr>
        <p:spPr>
          <a:xfrm>
            <a:off x="660635" y="5726645"/>
            <a:ext cx="2854378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1352" y="1073173"/>
            <a:ext cx="4888800" cy="41483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직사각형 13"/>
          <p:cNvSpPr/>
          <p:nvPr/>
        </p:nvSpPr>
        <p:spPr>
          <a:xfrm>
            <a:off x="8721465" y="3632071"/>
            <a:ext cx="1329361" cy="4681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/>
          </p:cNvPr>
          <p:cNvGrpSpPr/>
          <p:nvPr/>
        </p:nvGrpSpPr>
        <p:grpSpPr>
          <a:xfrm>
            <a:off x="9293928" y="3983910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6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17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3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9" name="모서리가 둥근 직사각형 28"/>
          <p:cNvSpPr/>
          <p:nvPr/>
        </p:nvSpPr>
        <p:spPr>
          <a:xfrm>
            <a:off x="9530247" y="5726645"/>
            <a:ext cx="569167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07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02.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보유카드현황 조회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-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이용내역조회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4</a:t>
            </a:r>
            <a:endParaRPr lang="ko-KR" altLang="en-US" dirty="0"/>
          </a:p>
        </p:txBody>
      </p:sp>
      <p:grpSp>
        <p:nvGrpSpPr>
          <p:cNvPr id="7" name="그룹 6">
            <a:extLst/>
          </p:cNvPr>
          <p:cNvGrpSpPr/>
          <p:nvPr/>
        </p:nvGrpSpPr>
        <p:grpSpPr>
          <a:xfrm>
            <a:off x="3432659" y="1385041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9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3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5639866" y="3050771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9" name="직선 연결선 18"/>
          <p:cNvCxnSpPr/>
          <p:nvPr/>
        </p:nvCxnSpPr>
        <p:spPr>
          <a:xfrm flipV="1">
            <a:off x="303199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2460" y="5710019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보유카드현황 및 </a:t>
            </a:r>
            <a:r>
              <a:rPr lang="ko-KR" altLang="en-US" sz="1400" dirty="0" err="1" smtClean="0"/>
              <a:t>이용내역</a:t>
            </a:r>
            <a:r>
              <a:rPr lang="ko-KR" altLang="en-US" sz="1400" dirty="0" smtClean="0"/>
              <a:t> 조회  등 업무 가능</a:t>
            </a:r>
            <a:endParaRPr lang="en-US" altLang="ko-KR" sz="1400" dirty="0"/>
          </a:p>
        </p:txBody>
      </p:sp>
      <p:cxnSp>
        <p:nvCxnSpPr>
          <p:cNvPr id="23" name="직선 연결선 22"/>
          <p:cNvCxnSpPr/>
          <p:nvPr/>
        </p:nvCxnSpPr>
        <p:spPr>
          <a:xfrm flipV="1">
            <a:off x="6660456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9717" y="5710019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err="1" smtClean="0"/>
              <a:t>카드종류</a:t>
            </a:r>
            <a:r>
              <a:rPr lang="en-US" altLang="ko-KR" sz="1400" dirty="0" smtClean="0"/>
              <a:t>/</a:t>
            </a:r>
            <a:r>
              <a:rPr lang="ko-KR" altLang="en-US" sz="1400" dirty="0" err="1" smtClean="0"/>
              <a:t>조회기간</a:t>
            </a:r>
            <a:r>
              <a:rPr lang="en-US" altLang="ko-KR" sz="1400" dirty="0" smtClean="0"/>
              <a:t>/</a:t>
            </a:r>
            <a:r>
              <a:rPr lang="ko-KR" altLang="en-US" sz="1400" dirty="0" err="1" smtClean="0"/>
              <a:t>거래구분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국내외 조회 가능</a:t>
            </a:r>
            <a:endParaRPr lang="en-US" altLang="ko-KR" sz="1400" dirty="0"/>
          </a:p>
        </p:txBody>
      </p:sp>
      <p:sp>
        <p:nvSpPr>
          <p:cNvPr id="21" name="직사각형 20"/>
          <p:cNvSpPr/>
          <p:nvPr/>
        </p:nvSpPr>
        <p:spPr>
          <a:xfrm>
            <a:off x="297195" y="2501913"/>
            <a:ext cx="1691615" cy="37322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>
            <a:extLst/>
          </p:cNvPr>
          <p:cNvGrpSpPr/>
          <p:nvPr/>
        </p:nvGrpSpPr>
        <p:grpSpPr>
          <a:xfrm>
            <a:off x="1683381" y="2877156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6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27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3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9" name="그림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95" y="1245121"/>
            <a:ext cx="4895700" cy="420775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모서리가 둥근 직사각형 27"/>
          <p:cNvSpPr/>
          <p:nvPr/>
        </p:nvSpPr>
        <p:spPr>
          <a:xfrm>
            <a:off x="1072342" y="5738360"/>
            <a:ext cx="2310939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07598" y="2544542"/>
            <a:ext cx="418936" cy="219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/>
          </p:cNvPr>
          <p:cNvGrpSpPr/>
          <p:nvPr/>
        </p:nvGrpSpPr>
        <p:grpSpPr>
          <a:xfrm>
            <a:off x="635046" y="2724542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6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17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3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" name="직사각형 29"/>
          <p:cNvSpPr/>
          <p:nvPr/>
        </p:nvSpPr>
        <p:spPr>
          <a:xfrm>
            <a:off x="1313410" y="5233875"/>
            <a:ext cx="396393" cy="219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/>
          </p:cNvPr>
          <p:cNvGrpSpPr/>
          <p:nvPr/>
        </p:nvGrpSpPr>
        <p:grpSpPr>
          <a:xfrm>
            <a:off x="1532317" y="5354372"/>
            <a:ext cx="457026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2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33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3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081" y="1244475"/>
            <a:ext cx="5168381" cy="4208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4" name="모서리가 둥근 직사각형 33"/>
          <p:cNvSpPr/>
          <p:nvPr/>
        </p:nvSpPr>
        <p:spPr>
          <a:xfrm>
            <a:off x="7368682" y="5734744"/>
            <a:ext cx="2682146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9471271" y="4099188"/>
            <a:ext cx="396393" cy="219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6" name="그룹 35">
            <a:extLst/>
          </p:cNvPr>
          <p:cNvGrpSpPr/>
          <p:nvPr/>
        </p:nvGrpSpPr>
        <p:grpSpPr>
          <a:xfrm>
            <a:off x="9661154" y="4243254"/>
            <a:ext cx="457026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7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38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3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56017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02.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일반 기업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vs </a:t>
            </a:r>
            <a:r>
              <a:rPr lang="ko-KR" altLang="en-US" sz="2100" dirty="0" err="1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수영로교회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2100" dirty="0" err="1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카드제신고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업무 비교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5</a:t>
            </a:r>
            <a:endParaRPr lang="ko-KR" altLang="en-US" dirty="0"/>
          </a:p>
        </p:txBody>
      </p:sp>
      <p:cxnSp>
        <p:nvCxnSpPr>
          <p:cNvPr id="19" name="직선 연결선 18"/>
          <p:cNvCxnSpPr/>
          <p:nvPr/>
        </p:nvCxnSpPr>
        <p:spPr>
          <a:xfrm flipV="1">
            <a:off x="303199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2460" y="5710019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일반 법인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종교단체 등은 인터넷뱅킹에서 카드 </a:t>
            </a:r>
            <a:r>
              <a:rPr lang="ko-KR" altLang="en-US" sz="1400" dirty="0" err="1" smtClean="0"/>
              <a:t>제신고</a:t>
            </a:r>
            <a:r>
              <a:rPr lang="ko-KR" altLang="en-US" sz="1400" dirty="0" smtClean="0"/>
              <a:t> 업무 불가</a:t>
            </a:r>
            <a:endParaRPr lang="en-US" altLang="ko-KR" sz="1400" dirty="0"/>
          </a:p>
        </p:txBody>
      </p:sp>
      <p:cxnSp>
        <p:nvCxnSpPr>
          <p:cNvPr id="23" name="직선 연결선 22"/>
          <p:cNvCxnSpPr/>
          <p:nvPr/>
        </p:nvCxnSpPr>
        <p:spPr>
          <a:xfrm flipV="1">
            <a:off x="6660456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9717" y="5710019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err="1" smtClean="0"/>
              <a:t>수영로교회</a:t>
            </a:r>
            <a:r>
              <a:rPr lang="ko-KR" altLang="en-US" sz="1400" dirty="0" smtClean="0"/>
              <a:t> 인터넷뱅킹 로그인 시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카드 </a:t>
            </a:r>
            <a:r>
              <a:rPr lang="ko-KR" altLang="en-US" sz="1400" dirty="0" err="1" smtClean="0"/>
              <a:t>제신고</a:t>
            </a:r>
            <a:r>
              <a:rPr lang="ko-KR" altLang="en-US" sz="1400" dirty="0" smtClean="0"/>
              <a:t> 업무 가능</a:t>
            </a:r>
            <a:endParaRPr lang="en-US" altLang="ko-KR" sz="1400" dirty="0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2264024" y="5735903"/>
            <a:ext cx="2783837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99" y="1168598"/>
            <a:ext cx="4890046" cy="4222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그림 2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456" y="1226358"/>
            <a:ext cx="4895700" cy="420775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모서리가 둥근 직사각형 5"/>
          <p:cNvSpPr/>
          <p:nvPr/>
        </p:nvSpPr>
        <p:spPr>
          <a:xfrm>
            <a:off x="5567832" y="3187120"/>
            <a:ext cx="528168" cy="286229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VS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9039185" y="5219685"/>
            <a:ext cx="1258471" cy="1891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2232" y="4782263"/>
            <a:ext cx="347507" cy="334946"/>
          </a:xfrm>
          <a:prstGeom prst="rect">
            <a:avLst/>
          </a:prstGeom>
        </p:spPr>
      </p:pic>
      <p:sp>
        <p:nvSpPr>
          <p:cNvPr id="33" name="모서리가 둥근 직사각형 32"/>
          <p:cNvSpPr/>
          <p:nvPr/>
        </p:nvSpPr>
        <p:spPr>
          <a:xfrm>
            <a:off x="9484820" y="5743167"/>
            <a:ext cx="1665040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3527" y="4792696"/>
            <a:ext cx="347507" cy="334946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330" y="4792696"/>
            <a:ext cx="347507" cy="33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38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8068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02.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제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신고 신청 프로세스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00920"/>
            <a:ext cx="2743200" cy="365125"/>
          </a:xfrm>
        </p:spPr>
        <p:txBody>
          <a:bodyPr/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3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2466131" y="2170429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643693" y="1338255"/>
            <a:ext cx="17077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[</a:t>
            </a:r>
            <a:r>
              <a:rPr lang="ko-KR" altLang="en-US" sz="1400" b="1" dirty="0" err="1" smtClean="0"/>
              <a:t>수영로교회</a:t>
            </a:r>
            <a:r>
              <a:rPr lang="en-US" altLang="ko-KR" sz="1400" b="1" dirty="0" smtClean="0"/>
              <a:t>]</a:t>
            </a:r>
            <a:endParaRPr lang="ko-KR" altLang="en-US" sz="1400" b="1" dirty="0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683571"/>
              </p:ext>
            </p:extLst>
          </p:nvPr>
        </p:nvGraphicFramePr>
        <p:xfrm>
          <a:off x="711976" y="1690223"/>
          <a:ext cx="1549174" cy="1237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174">
                  <a:extLst>
                    <a:ext uri="{9D8B030D-6E8A-4147-A177-3AD203B41FA5}">
                      <a16:colId xmlns:a16="http://schemas.microsoft.com/office/drawing/2014/main" val="3690121144"/>
                    </a:ext>
                  </a:extLst>
                </a:gridCol>
              </a:tblGrid>
              <a:tr h="2992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사용자 </a:t>
                      </a:r>
                      <a:r>
                        <a:rPr lang="ko-KR" altLang="en-US" sz="1200" dirty="0" err="1" smtClean="0"/>
                        <a:t>제신고</a:t>
                      </a:r>
                      <a:r>
                        <a:rPr lang="ko-KR" altLang="en-US" sz="1200" dirty="0" smtClean="0"/>
                        <a:t> 신청</a:t>
                      </a:r>
                      <a:endParaRPr lang="ko-KR" altLang="en-US" sz="1200" dirty="0"/>
                    </a:p>
                  </a:txBody>
                  <a:tcPr marL="75636" marR="75636" marT="37818" marB="378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931030"/>
                  </a:ext>
                </a:extLst>
              </a:tr>
              <a:tr h="9386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baseline="0" dirty="0" smtClean="0"/>
                        <a:t> - </a:t>
                      </a:r>
                      <a:r>
                        <a:rPr lang="ko-KR" altLang="en-US" sz="1000" b="0" baseline="0" dirty="0" smtClean="0"/>
                        <a:t>카드 비밀번호변경</a:t>
                      </a:r>
                      <a:endParaRPr lang="en-US" altLang="ko-KR" sz="1000" b="0" baseline="0" dirty="0" smtClean="0"/>
                    </a:p>
                    <a:p>
                      <a:pPr latinLnBrk="1"/>
                      <a:r>
                        <a:rPr lang="en-US" altLang="ko-KR" sz="1000" b="0" baseline="0" dirty="0" smtClean="0"/>
                        <a:t>  </a:t>
                      </a:r>
                      <a:r>
                        <a:rPr lang="ko-KR" altLang="en-US" sz="1000" b="0" baseline="0" dirty="0" smtClean="0"/>
                        <a:t> </a:t>
                      </a:r>
                      <a:r>
                        <a:rPr lang="en-US" altLang="ko-KR" sz="1000" b="0" baseline="0" dirty="0" smtClean="0"/>
                        <a:t>(</a:t>
                      </a:r>
                      <a:r>
                        <a:rPr lang="ko-KR" altLang="en-US" sz="1000" b="0" baseline="0" dirty="0" smtClean="0"/>
                        <a:t>재등록</a:t>
                      </a:r>
                      <a:r>
                        <a:rPr lang="en-US" altLang="ko-KR" sz="1000" b="0" baseline="0" dirty="0" smtClean="0"/>
                        <a:t>/</a:t>
                      </a:r>
                      <a:r>
                        <a:rPr lang="ko-KR" altLang="en-US" sz="1000" b="0" baseline="0" dirty="0" err="1" smtClean="0"/>
                        <a:t>오류복구</a:t>
                      </a:r>
                      <a:r>
                        <a:rPr lang="en-US" altLang="ko-KR" sz="1000" b="0" baseline="0" dirty="0" smtClean="0"/>
                        <a:t>)</a:t>
                      </a:r>
                    </a:p>
                    <a:p>
                      <a:pPr latinLnBrk="1"/>
                      <a:r>
                        <a:rPr lang="en-US" altLang="ko-KR" sz="1000" b="0" baseline="0" dirty="0" smtClean="0"/>
                        <a:t> - </a:t>
                      </a:r>
                      <a:r>
                        <a:rPr lang="ko-KR" altLang="en-US" sz="1000" b="0" baseline="0" dirty="0" smtClean="0"/>
                        <a:t>카드 분실</a:t>
                      </a:r>
                      <a:r>
                        <a:rPr lang="en-US" altLang="ko-KR" sz="1000" b="0" baseline="0" dirty="0" smtClean="0"/>
                        <a:t>/</a:t>
                      </a:r>
                      <a:r>
                        <a:rPr lang="ko-KR" altLang="en-US" sz="1000" b="0" baseline="0" dirty="0" err="1" smtClean="0"/>
                        <a:t>분실해제</a:t>
                      </a:r>
                      <a:endParaRPr lang="en-US" altLang="ko-KR" sz="1000" b="0" baseline="0" dirty="0" smtClean="0"/>
                    </a:p>
                    <a:p>
                      <a:pPr latinLnBrk="1"/>
                      <a:r>
                        <a:rPr lang="en-US" altLang="ko-KR" sz="1000" b="0" baseline="0" dirty="0" smtClean="0"/>
                        <a:t> - </a:t>
                      </a:r>
                      <a:r>
                        <a:rPr lang="ko-KR" altLang="en-US" sz="1000" b="0" baseline="0" dirty="0" smtClean="0"/>
                        <a:t>카드 </a:t>
                      </a:r>
                      <a:r>
                        <a:rPr lang="ko-KR" altLang="en-US" sz="1000" b="0" baseline="0" dirty="0" err="1" smtClean="0"/>
                        <a:t>분실재발급</a:t>
                      </a:r>
                      <a:endParaRPr lang="en-US" altLang="ko-KR" sz="1000" b="0" baseline="0" dirty="0" smtClean="0"/>
                    </a:p>
                  </a:txBody>
                  <a:tcPr marL="75636" marR="75636" marT="37818" marB="378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153036"/>
                  </a:ext>
                </a:extLst>
              </a:tr>
            </a:tbl>
          </a:graphicData>
        </a:graphic>
      </p:graphicFrame>
      <p:sp>
        <p:nvSpPr>
          <p:cNvPr id="47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4772548" y="2142361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567263"/>
              </p:ext>
            </p:extLst>
          </p:nvPr>
        </p:nvGraphicFramePr>
        <p:xfrm>
          <a:off x="3018393" y="1662155"/>
          <a:ext cx="1549174" cy="150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174">
                  <a:extLst>
                    <a:ext uri="{9D8B030D-6E8A-4147-A177-3AD203B41FA5}">
                      <a16:colId xmlns:a16="http://schemas.microsoft.com/office/drawing/2014/main" val="3690121144"/>
                    </a:ext>
                  </a:extLst>
                </a:gridCol>
              </a:tblGrid>
              <a:tr h="2992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서류 첨부</a:t>
                      </a:r>
                      <a:endParaRPr lang="ko-KR" altLang="en-US" sz="1200" dirty="0"/>
                    </a:p>
                  </a:txBody>
                  <a:tcPr marL="75636" marR="75636" marT="37818" marB="378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931030"/>
                  </a:ext>
                </a:extLst>
              </a:tr>
              <a:tr h="9386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000" dirty="0" smtClean="0"/>
                        <a:t> - </a:t>
                      </a:r>
                      <a:r>
                        <a:rPr lang="ko-KR" altLang="en-US" sz="1000" dirty="0" err="1" smtClean="0"/>
                        <a:t>고유번호증</a:t>
                      </a:r>
                      <a:r>
                        <a:rPr lang="ko-KR" altLang="en-US" sz="1000" dirty="0" smtClean="0"/>
                        <a:t>     </a:t>
                      </a:r>
                      <a:endParaRPr lang="en-US" altLang="ko-KR" sz="1000" dirty="0" smtClean="0"/>
                    </a:p>
                    <a:p>
                      <a:pPr marL="0" indent="0">
                        <a:buNone/>
                      </a:pPr>
                      <a:r>
                        <a:rPr lang="en-US" altLang="ko-KR" sz="1000" dirty="0" smtClean="0"/>
                        <a:t> -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smtClean="0"/>
                        <a:t>담임목사 인감증명서</a:t>
                      </a:r>
                      <a:endParaRPr lang="en-US" altLang="ko-KR" sz="1000" baseline="0" dirty="0" smtClean="0"/>
                    </a:p>
                    <a:p>
                      <a:pPr marL="0" indent="0">
                        <a:buNone/>
                      </a:pPr>
                      <a:r>
                        <a:rPr lang="en-US" altLang="ko-KR" sz="1000" dirty="0" smtClean="0"/>
                        <a:t> - </a:t>
                      </a:r>
                      <a:r>
                        <a:rPr lang="ko-KR" altLang="en-US" sz="1000" dirty="0" smtClean="0"/>
                        <a:t>담임목사 </a:t>
                      </a:r>
                      <a:r>
                        <a:rPr lang="ko-KR" altLang="en-US" sz="1000" dirty="0" err="1" smtClean="0"/>
                        <a:t>신분증사본</a:t>
                      </a:r>
                      <a:r>
                        <a:rPr lang="ko-KR" altLang="en-US" sz="1000" dirty="0" smtClean="0"/>
                        <a:t> </a:t>
                      </a:r>
                      <a:endParaRPr lang="en-US" altLang="ko-KR" sz="1000" dirty="0" smtClean="0"/>
                    </a:p>
                    <a:p>
                      <a:r>
                        <a:rPr lang="en-US" altLang="ko-KR" sz="1000" dirty="0" smtClean="0"/>
                        <a:t> - </a:t>
                      </a:r>
                      <a:r>
                        <a:rPr lang="ko-KR" altLang="en-US" sz="1000" dirty="0" smtClean="0"/>
                        <a:t>대리인 위임장</a:t>
                      </a:r>
                      <a:r>
                        <a:rPr lang="en-US" altLang="ko-KR" sz="1000" dirty="0" smtClean="0"/>
                        <a:t> </a:t>
                      </a:r>
                    </a:p>
                    <a:p>
                      <a:r>
                        <a:rPr lang="en-US" altLang="ko-KR" sz="1000" dirty="0" smtClean="0"/>
                        <a:t> - </a:t>
                      </a:r>
                      <a:r>
                        <a:rPr lang="ko-KR" altLang="en-US" sz="1000" dirty="0" smtClean="0"/>
                        <a:t>대리인 신분증 사본</a:t>
                      </a:r>
                      <a:endParaRPr lang="en-US" altLang="ko-KR" sz="100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dirty="0" smtClean="0"/>
                        <a:t>☞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ko-KR" altLang="en-US" sz="1000" b="1" dirty="0" smtClean="0"/>
                        <a:t>파일은 </a:t>
                      </a:r>
                      <a:r>
                        <a:rPr lang="en-US" altLang="ko-KR" sz="1000" b="1" dirty="0" smtClean="0"/>
                        <a:t>PDF</a:t>
                      </a:r>
                      <a:r>
                        <a:rPr lang="ko-KR" altLang="en-US" sz="1000" b="1" dirty="0" smtClean="0"/>
                        <a:t>만 등록</a:t>
                      </a:r>
                      <a:endParaRPr lang="en-US" altLang="ko-KR" sz="1000" b="1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/>
                        <a:t>   </a:t>
                      </a:r>
                      <a:r>
                        <a:rPr lang="ko-KR" altLang="en-US" sz="1000" b="1" dirty="0" smtClean="0"/>
                        <a:t> 가능</a:t>
                      </a:r>
                      <a:r>
                        <a:rPr lang="en-US" altLang="ko-KR" sz="1000" b="1" dirty="0" smtClean="0"/>
                        <a:t>!</a:t>
                      </a:r>
                    </a:p>
                  </a:txBody>
                  <a:tcPr marL="75636" marR="75636" marT="37818" marB="378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153036"/>
                  </a:ext>
                </a:extLst>
              </a:tr>
            </a:tbl>
          </a:graphicData>
        </a:graphic>
      </p:graphicFrame>
      <p:sp>
        <p:nvSpPr>
          <p:cNvPr id="52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7078965" y="2142361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289270"/>
              </p:ext>
            </p:extLst>
          </p:nvPr>
        </p:nvGraphicFramePr>
        <p:xfrm>
          <a:off x="5324810" y="1662155"/>
          <a:ext cx="1549174" cy="1237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174">
                  <a:extLst>
                    <a:ext uri="{9D8B030D-6E8A-4147-A177-3AD203B41FA5}">
                      <a16:colId xmlns:a16="http://schemas.microsoft.com/office/drawing/2014/main" val="3690121144"/>
                    </a:ext>
                  </a:extLst>
                </a:gridCol>
              </a:tblGrid>
              <a:tr h="2992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관리자 결재</a:t>
                      </a:r>
                      <a:endParaRPr lang="ko-KR" altLang="en-US" sz="1200" dirty="0"/>
                    </a:p>
                  </a:txBody>
                  <a:tcPr marL="75636" marR="75636" marT="37818" marB="378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931030"/>
                  </a:ext>
                </a:extLst>
              </a:tr>
              <a:tr h="9386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baseline="0" dirty="0" smtClean="0"/>
                        <a:t> - </a:t>
                      </a:r>
                      <a:r>
                        <a:rPr lang="ko-KR" altLang="en-US" sz="1000" b="0" baseline="0" dirty="0" smtClean="0"/>
                        <a:t>설정한 </a:t>
                      </a:r>
                      <a:r>
                        <a:rPr lang="ko-KR" altLang="en-US" sz="1000" b="0" baseline="0" dirty="0" err="1" smtClean="0"/>
                        <a:t>결재선을</a:t>
                      </a:r>
                      <a:r>
                        <a:rPr lang="ko-KR" altLang="en-US" sz="1000" b="0" baseline="0" dirty="0" smtClean="0"/>
                        <a:t> 통한</a:t>
                      </a:r>
                      <a:endParaRPr lang="en-US" altLang="ko-KR" sz="1000" b="0" baseline="0" dirty="0" smtClean="0"/>
                    </a:p>
                    <a:p>
                      <a:pPr latinLnBrk="1"/>
                      <a:r>
                        <a:rPr lang="en-US" altLang="ko-KR" sz="1000" b="0" baseline="0" dirty="0" smtClean="0"/>
                        <a:t>   </a:t>
                      </a:r>
                      <a:r>
                        <a:rPr lang="ko-KR" altLang="en-US" sz="1000" b="0" baseline="0" dirty="0" smtClean="0"/>
                        <a:t>관리자 승인 및 결재</a:t>
                      </a:r>
                      <a:endParaRPr lang="en-US" altLang="ko-KR" sz="1000" b="0" baseline="0" dirty="0" smtClean="0"/>
                    </a:p>
                    <a:p>
                      <a:pPr latinLnBrk="1"/>
                      <a:r>
                        <a:rPr lang="en-US" altLang="ko-KR" sz="1000" b="0" baseline="0" dirty="0" smtClean="0"/>
                        <a:t>   (</a:t>
                      </a:r>
                      <a:r>
                        <a:rPr lang="ko-KR" altLang="en-US" sz="1000" b="0" baseline="0" dirty="0" err="1" smtClean="0"/>
                        <a:t>승인시</a:t>
                      </a:r>
                      <a:r>
                        <a:rPr lang="en-US" altLang="ko-KR" sz="1000" b="0" baseline="0" dirty="0" smtClean="0"/>
                        <a:t>, OTP </a:t>
                      </a:r>
                      <a:r>
                        <a:rPr lang="ko-KR" altLang="en-US" sz="1000" b="0" baseline="0" dirty="0" smtClean="0"/>
                        <a:t>등 보안</a:t>
                      </a:r>
                      <a:r>
                        <a:rPr lang="en-US" altLang="ko-KR" sz="1000" b="0" baseline="0" dirty="0" smtClean="0"/>
                        <a:t/>
                      </a:r>
                      <a:br>
                        <a:rPr lang="en-US" altLang="ko-KR" sz="1000" b="0" baseline="0" dirty="0" smtClean="0"/>
                      </a:br>
                      <a:r>
                        <a:rPr lang="en-US" altLang="ko-KR" sz="1000" b="0" baseline="0" dirty="0" smtClean="0"/>
                        <a:t>   </a:t>
                      </a:r>
                      <a:r>
                        <a:rPr lang="ko-KR" altLang="en-US" sz="1000" b="0" baseline="0" dirty="0" smtClean="0"/>
                        <a:t>매체 및 인증서 필요</a:t>
                      </a:r>
                      <a:r>
                        <a:rPr lang="en-US" altLang="ko-KR" sz="1000" b="0" baseline="0" dirty="0" smtClean="0"/>
                        <a:t>)</a:t>
                      </a:r>
                    </a:p>
                  </a:txBody>
                  <a:tcPr marL="75636" marR="75636" marT="37818" marB="378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153036"/>
                  </a:ext>
                </a:extLst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4897101" y="3987037"/>
            <a:ext cx="23977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[</a:t>
            </a:r>
            <a:r>
              <a:rPr lang="ko-KR" altLang="en-US" sz="1400" b="1" dirty="0" smtClean="0"/>
              <a:t>부산은행 마린제니스지점</a:t>
            </a:r>
            <a:r>
              <a:rPr lang="en-US" altLang="ko-KR" sz="1400" b="1" dirty="0" smtClean="0"/>
              <a:t>]</a:t>
            </a:r>
            <a:endParaRPr lang="ko-KR" altLang="en-US" sz="1400" b="1" dirty="0"/>
          </a:p>
        </p:txBody>
      </p:sp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016595"/>
              </p:ext>
            </p:extLst>
          </p:nvPr>
        </p:nvGraphicFramePr>
        <p:xfrm>
          <a:off x="5324809" y="4332708"/>
          <a:ext cx="1461833" cy="1237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1833">
                  <a:extLst>
                    <a:ext uri="{9D8B030D-6E8A-4147-A177-3AD203B41FA5}">
                      <a16:colId xmlns:a16="http://schemas.microsoft.com/office/drawing/2014/main" val="3690121144"/>
                    </a:ext>
                  </a:extLst>
                </a:gridCol>
              </a:tblGrid>
              <a:tr h="2992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영업점 승인</a:t>
                      </a:r>
                      <a:endParaRPr lang="ko-KR" altLang="en-US" sz="1200" dirty="0"/>
                    </a:p>
                  </a:txBody>
                  <a:tcPr marL="75636" marR="75636" marT="37818" marB="378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931030"/>
                  </a:ext>
                </a:extLst>
              </a:tr>
              <a:tr h="9386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baseline="0" dirty="0" smtClean="0"/>
                        <a:t> - </a:t>
                      </a:r>
                      <a:r>
                        <a:rPr lang="ko-KR" altLang="en-US" sz="1000" b="0" baseline="0" dirty="0" err="1" smtClean="0"/>
                        <a:t>가능업무</a:t>
                      </a:r>
                      <a:r>
                        <a:rPr lang="ko-KR" altLang="en-US" sz="1000" b="0" baseline="0" dirty="0" smtClean="0"/>
                        <a:t> 확인</a:t>
                      </a:r>
                      <a:endParaRPr lang="en-US" altLang="ko-KR" sz="1000" b="0" baseline="0" dirty="0" smtClean="0"/>
                    </a:p>
                    <a:p>
                      <a:pPr latinLnBrk="1"/>
                      <a:r>
                        <a:rPr lang="en-US" altLang="ko-KR" sz="1000" b="0" baseline="0" dirty="0" smtClean="0"/>
                        <a:t> - </a:t>
                      </a:r>
                      <a:r>
                        <a:rPr lang="ko-KR" altLang="en-US" sz="1000" b="0" baseline="0" dirty="0" smtClean="0"/>
                        <a:t>첨부파일 점검</a:t>
                      </a:r>
                      <a:endParaRPr lang="en-US" altLang="ko-KR" sz="1000" b="0" baseline="0" dirty="0" smtClean="0"/>
                    </a:p>
                    <a:p>
                      <a:pPr latinLnBrk="1"/>
                      <a:r>
                        <a:rPr lang="en-US" altLang="ko-KR" sz="1000" b="0" baseline="0" dirty="0" smtClean="0"/>
                        <a:t> - </a:t>
                      </a:r>
                      <a:r>
                        <a:rPr lang="ko-KR" altLang="en-US" sz="1000" b="0" baseline="0" dirty="0" smtClean="0"/>
                        <a:t>담당자 결재 및 승인</a:t>
                      </a:r>
                      <a:endParaRPr lang="en-US" altLang="ko-KR" sz="1000" b="0" baseline="0" dirty="0" smtClean="0"/>
                    </a:p>
                    <a:p>
                      <a:pPr latinLnBrk="1"/>
                      <a:endParaRPr lang="en-US" altLang="ko-KR" sz="400" b="0" baseline="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dirty="0" smtClean="0"/>
                        <a:t>☞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ko-KR" altLang="en-US" sz="1000" b="1" dirty="0" err="1" smtClean="0"/>
                        <a:t>파일오류</a:t>
                      </a:r>
                      <a:r>
                        <a:rPr lang="ko-KR" altLang="en-US" sz="1000" b="1" dirty="0" smtClean="0"/>
                        <a:t> 등 </a:t>
                      </a:r>
                      <a:r>
                        <a:rPr lang="ko-KR" altLang="en-US" sz="1000" b="1" dirty="0" err="1" smtClean="0"/>
                        <a:t>반송시</a:t>
                      </a:r>
                      <a:r>
                        <a:rPr lang="en-US" altLang="ko-KR" sz="1000" b="1" dirty="0" smtClean="0"/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/>
                        <a:t>    </a:t>
                      </a:r>
                      <a:r>
                        <a:rPr lang="ko-KR" altLang="en-US" sz="1000" b="1" dirty="0" smtClean="0"/>
                        <a:t>처음부터 신청</a:t>
                      </a:r>
                      <a:r>
                        <a:rPr lang="en-US" altLang="ko-KR" sz="1000" b="1" dirty="0" smtClean="0"/>
                        <a:t>!</a:t>
                      </a:r>
                    </a:p>
                  </a:txBody>
                  <a:tcPr marL="75636" marR="75636" marT="37818" marB="378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153036"/>
                  </a:ext>
                </a:extLst>
              </a:tr>
            </a:tbl>
          </a:graphicData>
        </a:graphic>
      </p:graphicFrame>
      <p:cxnSp>
        <p:nvCxnSpPr>
          <p:cNvPr id="25" name="직선 화살표 연결선 24"/>
          <p:cNvCxnSpPr/>
          <p:nvPr/>
        </p:nvCxnSpPr>
        <p:spPr>
          <a:xfrm>
            <a:off x="6012056" y="3497245"/>
            <a:ext cx="0" cy="462771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/>
          <p:nvPr/>
        </p:nvCxnSpPr>
        <p:spPr>
          <a:xfrm flipV="1">
            <a:off x="6012056" y="2972052"/>
            <a:ext cx="0" cy="525193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9385382" y="2126238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aphicFrame>
        <p:nvGraphicFramePr>
          <p:cNvPr id="60" name="표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765237"/>
              </p:ext>
            </p:extLst>
          </p:nvPr>
        </p:nvGraphicFramePr>
        <p:xfrm>
          <a:off x="7631227" y="1646032"/>
          <a:ext cx="1549174" cy="1237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174">
                  <a:extLst>
                    <a:ext uri="{9D8B030D-6E8A-4147-A177-3AD203B41FA5}">
                      <a16:colId xmlns:a16="http://schemas.microsoft.com/office/drawing/2014/main" val="3690121144"/>
                    </a:ext>
                  </a:extLst>
                </a:gridCol>
              </a:tblGrid>
              <a:tr h="2992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사용자 확인</a:t>
                      </a:r>
                      <a:endParaRPr lang="ko-KR" altLang="en-US" sz="1200" dirty="0"/>
                    </a:p>
                  </a:txBody>
                  <a:tcPr marL="75636" marR="75636" marT="37818" marB="378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931030"/>
                  </a:ext>
                </a:extLst>
              </a:tr>
              <a:tr h="9386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baseline="0" dirty="0" smtClean="0"/>
                        <a:t> - </a:t>
                      </a:r>
                      <a:r>
                        <a:rPr lang="ko-KR" altLang="en-US" sz="1000" b="0" baseline="0" dirty="0" smtClean="0"/>
                        <a:t>사용자 최종 </a:t>
                      </a:r>
                      <a:r>
                        <a:rPr lang="ko-KR" altLang="en-US" sz="1000" b="0" baseline="0" dirty="0" err="1" smtClean="0"/>
                        <a:t>신청확인</a:t>
                      </a:r>
                      <a:endParaRPr lang="en-US" altLang="ko-KR" sz="1000" b="0" baseline="0" dirty="0" smtClean="0"/>
                    </a:p>
                    <a:p>
                      <a:pPr latinLnBrk="1"/>
                      <a:r>
                        <a:rPr lang="en-US" altLang="ko-KR" sz="1000" b="0" baseline="0" dirty="0" smtClean="0"/>
                        <a:t> - OTP </a:t>
                      </a:r>
                      <a:r>
                        <a:rPr lang="ko-KR" altLang="en-US" sz="1000" b="0" baseline="0" dirty="0" smtClean="0"/>
                        <a:t>등 </a:t>
                      </a:r>
                      <a:r>
                        <a:rPr lang="ko-KR" altLang="en-US" sz="1000" b="0" baseline="0" dirty="0" err="1" smtClean="0"/>
                        <a:t>보안매체</a:t>
                      </a:r>
                      <a:r>
                        <a:rPr lang="ko-KR" altLang="en-US" sz="1000" b="0" baseline="0" dirty="0" smtClean="0"/>
                        <a:t> 및</a:t>
                      </a:r>
                      <a:endParaRPr lang="en-US" altLang="ko-KR" sz="1000" b="0" baseline="0" dirty="0" smtClean="0"/>
                    </a:p>
                    <a:p>
                      <a:pPr latinLnBrk="1"/>
                      <a:r>
                        <a:rPr lang="en-US" altLang="ko-KR" sz="1000" b="0" baseline="0" dirty="0" smtClean="0"/>
                        <a:t>   </a:t>
                      </a:r>
                      <a:r>
                        <a:rPr lang="ko-KR" altLang="en-US" sz="1000" b="0" baseline="0" dirty="0" smtClean="0"/>
                        <a:t>인증서 입력</a:t>
                      </a:r>
                      <a:endParaRPr lang="en-US" altLang="ko-KR" sz="1000" b="0" baseline="0" dirty="0" smtClean="0"/>
                    </a:p>
                  </a:txBody>
                  <a:tcPr marL="75636" marR="75636" marT="37818" marB="378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153036"/>
                  </a:ext>
                </a:extLst>
              </a:tr>
            </a:tbl>
          </a:graphicData>
        </a:graphic>
      </p:graphicFrame>
      <p:graphicFrame>
        <p:nvGraphicFramePr>
          <p:cNvPr id="62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115462"/>
              </p:ext>
            </p:extLst>
          </p:nvPr>
        </p:nvGraphicFramePr>
        <p:xfrm>
          <a:off x="9937644" y="1641453"/>
          <a:ext cx="1549174" cy="1237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174">
                  <a:extLst>
                    <a:ext uri="{9D8B030D-6E8A-4147-A177-3AD203B41FA5}">
                      <a16:colId xmlns:a16="http://schemas.microsoft.com/office/drawing/2014/main" val="3690121144"/>
                    </a:ext>
                  </a:extLst>
                </a:gridCol>
              </a:tblGrid>
              <a:tr h="2992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업무완료</a:t>
                      </a:r>
                      <a:endParaRPr lang="ko-KR" altLang="en-US" sz="1200" dirty="0"/>
                    </a:p>
                  </a:txBody>
                  <a:tcPr marL="75636" marR="75636" marT="37818" marB="378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931030"/>
                  </a:ext>
                </a:extLst>
              </a:tr>
              <a:tr h="9386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baseline="0" dirty="0" smtClean="0"/>
                        <a:t> - </a:t>
                      </a:r>
                      <a:r>
                        <a:rPr lang="ko-KR" altLang="en-US" sz="1000" b="0" baseline="0" dirty="0" err="1" smtClean="0"/>
                        <a:t>업무완료</a:t>
                      </a:r>
                      <a:endParaRPr lang="en-US" altLang="ko-KR" sz="1000" b="0" baseline="0" dirty="0" smtClean="0"/>
                    </a:p>
                  </a:txBody>
                  <a:tcPr marL="75636" marR="75636" marT="37818" marB="378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153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8390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13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02.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제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신고 신청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분실신고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3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5639866" y="3050771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9" name="직선 연결선 18"/>
          <p:cNvCxnSpPr/>
          <p:nvPr/>
        </p:nvCxnSpPr>
        <p:spPr>
          <a:xfrm flipV="1">
            <a:off x="303199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2460" y="5784836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분실대상카드 조회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사업장</a:t>
            </a:r>
            <a:r>
              <a:rPr lang="en-US" altLang="ko-KR" sz="1400" dirty="0"/>
              <a:t>/</a:t>
            </a:r>
            <a:r>
              <a:rPr lang="ko-KR" altLang="en-US" sz="1400" dirty="0" smtClean="0"/>
              <a:t>카드번호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 후 분실신고 등록 </a:t>
            </a:r>
            <a:endParaRPr lang="en-US" altLang="ko-KR" sz="1400" dirty="0"/>
          </a:p>
        </p:txBody>
      </p:sp>
      <p:cxnSp>
        <p:nvCxnSpPr>
          <p:cNvPr id="23" name="직선 연결선 22"/>
          <p:cNvCxnSpPr/>
          <p:nvPr/>
        </p:nvCxnSpPr>
        <p:spPr>
          <a:xfrm flipV="1">
            <a:off x="6660456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9717" y="5710019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분실신고 완료</a:t>
            </a:r>
            <a:endParaRPr lang="en-US" altLang="ko-KR" sz="1400" dirty="0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3610169" y="5811847"/>
            <a:ext cx="1140807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모서리가 둥근 직사각형 42"/>
          <p:cNvSpPr/>
          <p:nvPr/>
        </p:nvSpPr>
        <p:spPr>
          <a:xfrm>
            <a:off x="8454584" y="5734744"/>
            <a:ext cx="1211147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99" y="1395184"/>
            <a:ext cx="4896000" cy="4208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직사각형 13"/>
          <p:cNvSpPr/>
          <p:nvPr/>
        </p:nvSpPr>
        <p:spPr>
          <a:xfrm>
            <a:off x="2435629" y="5328458"/>
            <a:ext cx="603901" cy="2725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/>
          </p:cNvPr>
          <p:cNvGrpSpPr/>
          <p:nvPr/>
        </p:nvGrpSpPr>
        <p:grpSpPr>
          <a:xfrm>
            <a:off x="2823533" y="5401532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6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17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5" name="그림 24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456" y="1660767"/>
            <a:ext cx="4879918" cy="30575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56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그림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02.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제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신고 신청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err="1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분실재발급</a:t>
            </a:r>
            <a:endParaRPr lang="ko-KR" altLang="en-US" sz="16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13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5639866" y="3050771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9" name="직선 연결선 18"/>
          <p:cNvCxnSpPr/>
          <p:nvPr/>
        </p:nvCxnSpPr>
        <p:spPr>
          <a:xfrm flipV="1">
            <a:off x="303199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V="1">
            <a:off x="6660456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32460" y="5784836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카드 선택 후 제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신고 신청 버튼을 클릭</a:t>
            </a:r>
            <a:endParaRPr lang="en-US" altLang="ko-KR" sz="1400" dirty="0"/>
          </a:p>
        </p:txBody>
      </p:sp>
      <p:sp>
        <p:nvSpPr>
          <p:cNvPr id="38" name="모서리가 둥근 직사각형 37"/>
          <p:cNvSpPr/>
          <p:nvPr/>
        </p:nvSpPr>
        <p:spPr>
          <a:xfrm>
            <a:off x="2245382" y="5810720"/>
            <a:ext cx="999326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그림 3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95" y="1245121"/>
            <a:ext cx="4895700" cy="420775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" name="그룹 39"/>
          <p:cNvGrpSpPr/>
          <p:nvPr/>
        </p:nvGrpSpPr>
        <p:grpSpPr>
          <a:xfrm>
            <a:off x="1354973" y="3155036"/>
            <a:ext cx="191193" cy="193962"/>
            <a:chOff x="10016836" y="5004262"/>
            <a:chExt cx="191193" cy="193962"/>
          </a:xfrm>
        </p:grpSpPr>
        <p:cxnSp>
          <p:nvCxnSpPr>
            <p:cNvPr id="41" name="직선 연결선 40"/>
            <p:cNvCxnSpPr/>
            <p:nvPr/>
          </p:nvCxnSpPr>
          <p:spPr>
            <a:xfrm>
              <a:off x="10016836" y="5062451"/>
              <a:ext cx="91440" cy="12469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/>
            <p:cNvCxnSpPr/>
            <p:nvPr/>
          </p:nvCxnSpPr>
          <p:spPr>
            <a:xfrm flipH="1">
              <a:off x="10111043" y="5004262"/>
              <a:ext cx="96986" cy="19396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직사각형 43"/>
          <p:cNvSpPr/>
          <p:nvPr/>
        </p:nvSpPr>
        <p:spPr>
          <a:xfrm>
            <a:off x="2688848" y="5256285"/>
            <a:ext cx="418936" cy="1791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6" name="그룹 45">
            <a:extLst/>
          </p:cNvPr>
          <p:cNvGrpSpPr/>
          <p:nvPr/>
        </p:nvGrpSpPr>
        <p:grpSpPr>
          <a:xfrm>
            <a:off x="2930275" y="5396920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7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48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0" name="TextBox 49"/>
          <p:cNvSpPr txBox="1"/>
          <p:nvPr/>
        </p:nvSpPr>
        <p:spPr>
          <a:xfrm>
            <a:off x="6589717" y="5710019"/>
            <a:ext cx="4960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① </a:t>
            </a:r>
            <a:r>
              <a:rPr lang="en-US" altLang="ko-KR" sz="1400" dirty="0" smtClean="0"/>
              <a:t>~ ④ </a:t>
            </a:r>
            <a:r>
              <a:rPr lang="ko-KR" altLang="en-US" sz="1400" dirty="0" smtClean="0"/>
              <a:t>순서대로 입력 후 </a:t>
            </a:r>
            <a:r>
              <a:rPr lang="ko-KR" altLang="en-US" sz="1400" dirty="0" err="1" smtClean="0"/>
              <a:t>파일등록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증빙서류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 선택</a:t>
            </a:r>
            <a:endParaRPr lang="en-US" altLang="ko-KR" sz="1400" dirty="0" smtClean="0"/>
          </a:p>
          <a:p>
            <a:pPr algn="ctr"/>
            <a:r>
              <a:rPr lang="ko-KR" altLang="en-US" sz="1400" dirty="0" smtClean="0"/>
              <a:t>☞ 단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결재선 등록 선행 후 결재선 선택하여야 함</a:t>
            </a:r>
            <a:endParaRPr lang="en-US" altLang="ko-KR" sz="1400" dirty="0"/>
          </a:p>
        </p:txBody>
      </p:sp>
      <p:sp>
        <p:nvSpPr>
          <p:cNvPr id="51" name="모서리가 둥근 직사각형 50"/>
          <p:cNvSpPr/>
          <p:nvPr/>
        </p:nvSpPr>
        <p:spPr>
          <a:xfrm>
            <a:off x="9068472" y="5734744"/>
            <a:ext cx="1447128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림 44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613" y="1243289"/>
            <a:ext cx="4886539" cy="41908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9963162" y="1356247"/>
            <a:ext cx="210353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b="1" dirty="0" smtClean="0"/>
              <a:t>※ </a:t>
            </a:r>
            <a:r>
              <a:rPr lang="ko-KR" altLang="en-US" sz="900" b="1" dirty="0" smtClean="0"/>
              <a:t>결재선 등록 후 </a:t>
            </a:r>
            <a:r>
              <a:rPr lang="ko-KR" altLang="en-US" sz="900" b="1" dirty="0" err="1" smtClean="0"/>
              <a:t>업무가능</a:t>
            </a:r>
            <a:endParaRPr lang="en-US" altLang="ko-KR" sz="900" b="1" dirty="0" smtClean="0"/>
          </a:p>
          <a:p>
            <a:r>
              <a:rPr lang="ko-KR" altLang="ko-KR" sz="900" dirty="0" smtClean="0"/>
              <a:t>☞</a:t>
            </a:r>
            <a:r>
              <a:rPr lang="en-US" altLang="ko-KR" sz="900" dirty="0" smtClean="0"/>
              <a:t> </a:t>
            </a:r>
            <a:r>
              <a:rPr lang="ko-KR" altLang="en-US" sz="900" dirty="0" smtClean="0"/>
              <a:t>등록방법은 </a:t>
            </a:r>
            <a:r>
              <a:rPr lang="ko-KR" altLang="en-US" sz="900" dirty="0" err="1" smtClean="0"/>
              <a:t>조작방법서</a:t>
            </a:r>
            <a:r>
              <a:rPr lang="ko-KR" altLang="en-US" sz="900" dirty="0" smtClean="0"/>
              <a:t> </a:t>
            </a:r>
            <a:r>
              <a:rPr lang="ko-KR" altLang="en-US" sz="900" dirty="0" err="1" smtClean="0"/>
              <a:t>뒷편</a:t>
            </a:r>
            <a:r>
              <a:rPr lang="ko-KR" altLang="en-US" sz="900" dirty="0" smtClean="0"/>
              <a:t> 참조</a:t>
            </a:r>
            <a:endParaRPr lang="ko-KR" altLang="en-US" sz="900" dirty="0"/>
          </a:p>
        </p:txBody>
      </p:sp>
      <p:cxnSp>
        <p:nvCxnSpPr>
          <p:cNvPr id="35" name="꺾인 연결선 34"/>
          <p:cNvCxnSpPr/>
          <p:nvPr/>
        </p:nvCxnSpPr>
        <p:spPr>
          <a:xfrm flipV="1">
            <a:off x="9676015" y="1445725"/>
            <a:ext cx="268527" cy="19768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02047" y="1919383"/>
            <a:ext cx="320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rgbClr val="FF0000"/>
                </a:solidFill>
              </a:rPr>
              <a:t>①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02047" y="2124675"/>
            <a:ext cx="320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2572" y="2524797"/>
            <a:ext cx="320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02572" y="2329967"/>
            <a:ext cx="320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rgbClr val="FF0000"/>
                </a:solidFill>
              </a:rPr>
              <a:t>③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192895" y="3721601"/>
            <a:ext cx="1588151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b="1" dirty="0" smtClean="0"/>
              <a:t>※ </a:t>
            </a:r>
            <a:r>
              <a:rPr lang="ko-KR" altLang="en-US" sz="900" b="1" dirty="0" smtClean="0"/>
              <a:t>파일은 </a:t>
            </a:r>
            <a:r>
              <a:rPr lang="en-US" altLang="ko-KR" sz="900" b="1" dirty="0" smtClean="0"/>
              <a:t>PDF</a:t>
            </a:r>
            <a:r>
              <a:rPr lang="ko-KR" altLang="en-US" sz="900" b="1" dirty="0" smtClean="0"/>
              <a:t>만 등록 가능</a:t>
            </a:r>
            <a:r>
              <a:rPr lang="en-US" altLang="ko-KR" sz="900" b="1" dirty="0" smtClean="0"/>
              <a:t>!</a:t>
            </a:r>
          </a:p>
          <a:p>
            <a:r>
              <a:rPr lang="en-US" altLang="ko-KR" sz="900" dirty="0" smtClean="0"/>
              <a:t> 1. </a:t>
            </a:r>
            <a:r>
              <a:rPr lang="ko-KR" altLang="en-US" sz="900" dirty="0" err="1" smtClean="0"/>
              <a:t>고유번호증</a:t>
            </a:r>
            <a:endParaRPr lang="en-US" altLang="ko-KR" sz="900" dirty="0" smtClean="0"/>
          </a:p>
          <a:p>
            <a:r>
              <a:rPr lang="ko-KR" altLang="en-US" sz="900" dirty="0" smtClean="0"/>
              <a:t> </a:t>
            </a:r>
            <a:r>
              <a:rPr lang="en-US" altLang="ko-KR" sz="900" dirty="0" smtClean="0"/>
              <a:t>2. </a:t>
            </a:r>
            <a:r>
              <a:rPr lang="ko-KR" altLang="en-US" sz="900" dirty="0" smtClean="0"/>
              <a:t>담임목사 인감증명서</a:t>
            </a:r>
            <a:endParaRPr lang="en-US" altLang="ko-KR" sz="900" dirty="0" smtClean="0"/>
          </a:p>
          <a:p>
            <a:r>
              <a:rPr lang="en-US" altLang="ko-KR" sz="900" dirty="0" smtClean="0"/>
              <a:t> 3. </a:t>
            </a:r>
            <a:r>
              <a:rPr lang="ko-KR" altLang="en-US" sz="900" dirty="0" smtClean="0"/>
              <a:t>담임목사 신분증 사본</a:t>
            </a:r>
            <a:endParaRPr lang="en-US" altLang="ko-KR" sz="900" dirty="0" smtClean="0"/>
          </a:p>
          <a:p>
            <a:r>
              <a:rPr lang="en-US" altLang="ko-KR" sz="900" dirty="0"/>
              <a:t> </a:t>
            </a:r>
            <a:r>
              <a:rPr lang="en-US" altLang="ko-KR" sz="900" dirty="0" smtClean="0"/>
              <a:t>4. </a:t>
            </a:r>
            <a:r>
              <a:rPr lang="ko-KR" altLang="en-US" sz="900" dirty="0" smtClean="0"/>
              <a:t>대리인 위임장</a:t>
            </a:r>
            <a:endParaRPr lang="en-US" altLang="ko-KR" sz="900" dirty="0" smtClean="0"/>
          </a:p>
          <a:p>
            <a:r>
              <a:rPr lang="en-US" altLang="ko-KR" sz="900" smtClean="0"/>
              <a:t> 5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대리인 신분증 사본 등</a:t>
            </a:r>
            <a:endParaRPr lang="en-US" altLang="ko-KR" sz="900" dirty="0" smtClean="0"/>
          </a:p>
        </p:txBody>
      </p:sp>
      <p:sp>
        <p:nvSpPr>
          <p:cNvPr id="8" name="직사각형 7"/>
          <p:cNvSpPr/>
          <p:nvPr/>
        </p:nvSpPr>
        <p:spPr>
          <a:xfrm>
            <a:off x="7523018" y="3973971"/>
            <a:ext cx="623455" cy="493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7473484" y="3007188"/>
            <a:ext cx="1886647" cy="1229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4125" y="4079935"/>
            <a:ext cx="3262570" cy="13875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4289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02.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제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신고 신청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결재함 </a:t>
            </a:r>
            <a:r>
              <a:rPr lang="en-US" altLang="ko-KR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결재진행내역 </a:t>
            </a:r>
            <a:r>
              <a:rPr lang="en-US" altLang="ko-KR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err="1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상세조회</a:t>
            </a:r>
            <a:r>
              <a:rPr lang="en-US" altLang="ko-KR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</a:t>
            </a:r>
          </a:p>
          <a:p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9</a:t>
            </a:r>
            <a:endParaRPr lang="ko-KR" altLang="en-US" dirty="0"/>
          </a:p>
        </p:txBody>
      </p:sp>
      <p:cxnSp>
        <p:nvCxnSpPr>
          <p:cNvPr id="19" name="직선 연결선 18"/>
          <p:cNvCxnSpPr/>
          <p:nvPr/>
        </p:nvCxnSpPr>
        <p:spPr>
          <a:xfrm flipV="1">
            <a:off x="303199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V="1">
            <a:off x="6660456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그림 42"/>
          <p:cNvPicPr/>
          <p:nvPr/>
        </p:nvPicPr>
        <p:blipFill>
          <a:blip r:embed="rId3"/>
          <a:stretch>
            <a:fillRect/>
          </a:stretch>
        </p:blipFill>
        <p:spPr>
          <a:xfrm>
            <a:off x="303199" y="998783"/>
            <a:ext cx="4889696" cy="46113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직사각형 1"/>
          <p:cNvSpPr/>
          <p:nvPr/>
        </p:nvSpPr>
        <p:spPr>
          <a:xfrm>
            <a:off x="303199" y="998783"/>
            <a:ext cx="4889696" cy="6221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/>
          <p:cNvSpPr/>
          <p:nvPr/>
        </p:nvSpPr>
        <p:spPr>
          <a:xfrm>
            <a:off x="2995070" y="3904403"/>
            <a:ext cx="402208" cy="2484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4" name="그룹 53">
            <a:extLst/>
          </p:cNvPr>
          <p:cNvGrpSpPr/>
          <p:nvPr/>
        </p:nvGrpSpPr>
        <p:grpSpPr>
          <a:xfrm>
            <a:off x="3244708" y="4024018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5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56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7" name="TextBox 56"/>
          <p:cNvSpPr txBox="1"/>
          <p:nvPr/>
        </p:nvSpPr>
        <p:spPr>
          <a:xfrm>
            <a:off x="168942" y="5746323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결재함에서 진행내역조회 가능</a:t>
            </a:r>
            <a:endParaRPr lang="en-US" altLang="ko-KR" sz="1400" dirty="0"/>
          </a:p>
        </p:txBody>
      </p:sp>
      <p:sp>
        <p:nvSpPr>
          <p:cNvPr id="58" name="모서리가 둥근 직사각형 57"/>
          <p:cNvSpPr/>
          <p:nvPr/>
        </p:nvSpPr>
        <p:spPr>
          <a:xfrm>
            <a:off x="2391722" y="5785461"/>
            <a:ext cx="1012954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9" name="그림 58"/>
          <p:cNvPicPr/>
          <p:nvPr/>
        </p:nvPicPr>
        <p:blipFill>
          <a:blip r:embed="rId5"/>
          <a:stretch>
            <a:fillRect/>
          </a:stretch>
        </p:blipFill>
        <p:spPr>
          <a:xfrm>
            <a:off x="6654152" y="1175798"/>
            <a:ext cx="4896000" cy="420840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61" name="그룹 60">
            <a:extLst/>
          </p:cNvPr>
          <p:cNvGrpSpPr/>
          <p:nvPr/>
        </p:nvGrpSpPr>
        <p:grpSpPr>
          <a:xfrm>
            <a:off x="9065856" y="5307499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2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63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4" name="TextBox 63"/>
          <p:cNvSpPr txBox="1"/>
          <p:nvPr/>
        </p:nvSpPr>
        <p:spPr>
          <a:xfrm>
            <a:off x="6879850" y="5746323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err="1" smtClean="0"/>
              <a:t>상세조회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결재 버튼 클릭</a:t>
            </a:r>
            <a:endParaRPr lang="en-US" altLang="ko-KR" sz="1400" dirty="0"/>
          </a:p>
        </p:txBody>
      </p:sp>
      <p:sp>
        <p:nvSpPr>
          <p:cNvPr id="65" name="모서리가 둥근 직사각형 64"/>
          <p:cNvSpPr/>
          <p:nvPr/>
        </p:nvSpPr>
        <p:spPr>
          <a:xfrm>
            <a:off x="8338464" y="5780286"/>
            <a:ext cx="1539798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5639866" y="3050771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65707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02.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제</a:t>
            </a:r>
            <a:r>
              <a:rPr lang="en-US" altLang="ko-KR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신고 신청</a:t>
            </a:r>
            <a:r>
              <a:rPr lang="en-US" altLang="ko-KR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결재함 </a:t>
            </a:r>
            <a:r>
              <a:rPr lang="en-US" altLang="ko-KR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결재진행내역 </a:t>
            </a:r>
            <a:r>
              <a:rPr lang="en-US" altLang="ko-KR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err="1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상세조회</a:t>
            </a:r>
            <a:r>
              <a:rPr lang="en-US" altLang="ko-KR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10</a:t>
            </a:r>
            <a:endParaRPr lang="ko-KR" altLang="en-US" dirty="0"/>
          </a:p>
        </p:txBody>
      </p:sp>
      <p:cxnSp>
        <p:nvCxnSpPr>
          <p:cNvPr id="19" name="직선 연결선 18"/>
          <p:cNvCxnSpPr/>
          <p:nvPr/>
        </p:nvCxnSpPr>
        <p:spPr>
          <a:xfrm flipV="1">
            <a:off x="303199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V="1">
            <a:off x="6660456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/>
        </p:nvSpPr>
        <p:spPr>
          <a:xfrm>
            <a:off x="303199" y="1269182"/>
            <a:ext cx="4889696" cy="35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96556" y="4128380"/>
            <a:ext cx="5290255" cy="14032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/>
          <p:cNvSpPr/>
          <p:nvPr/>
        </p:nvSpPr>
        <p:spPr>
          <a:xfrm>
            <a:off x="305043" y="890485"/>
            <a:ext cx="5290255" cy="730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88495" y="5748775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첨부한 파일과 관리자</a:t>
            </a:r>
            <a:r>
              <a:rPr lang="en-US" altLang="ko-KR" sz="1400" dirty="0" smtClean="0"/>
              <a:t>(=</a:t>
            </a:r>
            <a:r>
              <a:rPr lang="ko-KR" altLang="en-US" sz="1400" dirty="0" smtClean="0"/>
              <a:t>대표자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 결재 진행상황 확인 가능</a:t>
            </a:r>
            <a:endParaRPr lang="en-US" altLang="ko-KR" sz="1400" dirty="0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581890" y="5764101"/>
            <a:ext cx="3416303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6589715" y="5738170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en-US" altLang="ko-KR" sz="1400" dirty="0" smtClean="0"/>
              <a:t>[</a:t>
            </a:r>
            <a:r>
              <a:rPr lang="ko-KR" altLang="en-US" sz="1400" dirty="0" smtClean="0"/>
              <a:t>관리자</a:t>
            </a:r>
            <a:r>
              <a:rPr lang="en-US" altLang="ko-KR" sz="1400" dirty="0" smtClean="0"/>
              <a:t>=</a:t>
            </a:r>
            <a:r>
              <a:rPr lang="ko-KR" altLang="en-US" sz="1400" dirty="0" smtClean="0"/>
              <a:t>대표자</a:t>
            </a:r>
            <a:r>
              <a:rPr lang="en-US" altLang="ko-KR" sz="1400" dirty="0" smtClean="0"/>
              <a:t>]</a:t>
            </a:r>
            <a:r>
              <a:rPr lang="ko-KR" altLang="en-US" sz="1400" dirty="0" smtClean="0"/>
              <a:t>가 로그인하여 신청 내역 승인 후 영업점 </a:t>
            </a:r>
            <a:r>
              <a:rPr lang="ko-KR" altLang="en-US" sz="1400" dirty="0" err="1" smtClean="0"/>
              <a:t>심사시작</a:t>
            </a:r>
            <a:endParaRPr lang="en-US" altLang="ko-KR" sz="1400" dirty="0" smtClean="0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6660456" y="5758221"/>
            <a:ext cx="3390371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그림 3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716" y="1099078"/>
            <a:ext cx="4960435" cy="30723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3" name="직사각형 32"/>
          <p:cNvSpPr/>
          <p:nvPr/>
        </p:nvSpPr>
        <p:spPr>
          <a:xfrm>
            <a:off x="10242794" y="3595636"/>
            <a:ext cx="205275" cy="1351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5" name="그룹 34">
            <a:extLst/>
          </p:cNvPr>
          <p:cNvGrpSpPr/>
          <p:nvPr/>
        </p:nvGrpSpPr>
        <p:grpSpPr>
          <a:xfrm>
            <a:off x="10345431" y="3704012"/>
            <a:ext cx="236674" cy="251112"/>
            <a:chOff x="4325725" y="4830549"/>
            <a:chExt cx="465138" cy="49727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6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37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58947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8" name="그림 37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379" y="4091067"/>
            <a:ext cx="4868771" cy="12880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9" name="그림 38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199" y="1099078"/>
            <a:ext cx="4845731" cy="4279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8" name="직사각형 27"/>
          <p:cNvSpPr/>
          <p:nvPr/>
        </p:nvSpPr>
        <p:spPr>
          <a:xfrm>
            <a:off x="1313415" y="3659456"/>
            <a:ext cx="714892" cy="1354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333713" y="4253426"/>
            <a:ext cx="4737051" cy="4848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모서리가 둥근 직사각형 39"/>
          <p:cNvSpPr/>
          <p:nvPr/>
        </p:nvSpPr>
        <p:spPr>
          <a:xfrm>
            <a:off x="2000846" y="335873"/>
            <a:ext cx="8126612" cy="1790615"/>
          </a:xfrm>
          <a:prstGeom prst="roundRect">
            <a:avLst/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사용자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                                                           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관리자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33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그림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53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02.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제</a:t>
            </a:r>
            <a:r>
              <a:rPr lang="en-US" altLang="ko-KR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신고 신청</a:t>
            </a:r>
            <a:r>
              <a:rPr lang="en-US" altLang="ko-KR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결재함 </a:t>
            </a:r>
            <a:r>
              <a:rPr lang="en-US" altLang="ko-KR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결재진행내역 </a:t>
            </a:r>
            <a:r>
              <a:rPr lang="en-US" altLang="ko-KR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영업점 승인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00920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11</a:t>
            </a:r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96556" y="4128380"/>
            <a:ext cx="5290255" cy="14032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/>
          <p:cNvSpPr/>
          <p:nvPr/>
        </p:nvSpPr>
        <p:spPr>
          <a:xfrm>
            <a:off x="305043" y="890485"/>
            <a:ext cx="5290255" cy="730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253072" y="954339"/>
            <a:ext cx="4807816" cy="4654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5639866" y="3050771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40" name="직선 연결선 39"/>
          <p:cNvCxnSpPr/>
          <p:nvPr/>
        </p:nvCxnSpPr>
        <p:spPr>
          <a:xfrm flipV="1">
            <a:off x="303199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32460" y="5784836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카드 제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신고 진행상황 확인 가능</a:t>
            </a:r>
            <a:endParaRPr lang="en-US" altLang="ko-KR" sz="1400" dirty="0"/>
          </a:p>
        </p:txBody>
      </p:sp>
      <p:cxnSp>
        <p:nvCxnSpPr>
          <p:cNvPr id="42" name="직선 연결선 41"/>
          <p:cNvCxnSpPr/>
          <p:nvPr/>
        </p:nvCxnSpPr>
        <p:spPr>
          <a:xfrm flipV="1">
            <a:off x="6660456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89717" y="5710019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영업점 승인이 </a:t>
            </a:r>
            <a:r>
              <a:rPr lang="ko-KR" altLang="en-US" sz="1400" dirty="0"/>
              <a:t>완</a:t>
            </a:r>
            <a:r>
              <a:rPr lang="ko-KR" altLang="en-US" sz="1400" dirty="0" smtClean="0"/>
              <a:t>료되어 체크카드 </a:t>
            </a:r>
            <a:r>
              <a:rPr lang="ko-KR" altLang="en-US" sz="1400" dirty="0" err="1" smtClean="0"/>
              <a:t>재발급진행</a:t>
            </a:r>
            <a:r>
              <a:rPr lang="ko-KR" altLang="en-US" sz="1400" dirty="0" smtClean="0"/>
              <a:t> 가능</a:t>
            </a:r>
            <a:endParaRPr lang="en-US" altLang="ko-KR" sz="1400" dirty="0"/>
          </a:p>
        </p:txBody>
      </p:sp>
      <p:sp>
        <p:nvSpPr>
          <p:cNvPr id="44" name="모서리가 둥근 직사각형 43"/>
          <p:cNvSpPr/>
          <p:nvPr/>
        </p:nvSpPr>
        <p:spPr>
          <a:xfrm>
            <a:off x="2507127" y="5810720"/>
            <a:ext cx="999326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모서리가 둥근 직사각형 45"/>
          <p:cNvSpPr/>
          <p:nvPr/>
        </p:nvSpPr>
        <p:spPr>
          <a:xfrm>
            <a:off x="7233719" y="5725255"/>
            <a:ext cx="1412722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8" name="그림 4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455" y="1175798"/>
            <a:ext cx="4879261" cy="4208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0" name="직사각형 49"/>
          <p:cNvSpPr/>
          <p:nvPr/>
        </p:nvSpPr>
        <p:spPr>
          <a:xfrm>
            <a:off x="9545677" y="3328289"/>
            <a:ext cx="496097" cy="1301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9325067" y="5153047"/>
            <a:ext cx="495817" cy="2583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3" name="그룹 52">
            <a:extLst/>
          </p:cNvPr>
          <p:cNvGrpSpPr/>
          <p:nvPr/>
        </p:nvGrpSpPr>
        <p:grpSpPr>
          <a:xfrm>
            <a:off x="9604022" y="5249814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4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55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6" name="그림 5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5099" y="3667804"/>
            <a:ext cx="2057143" cy="147619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404327" y="3924496"/>
            <a:ext cx="200888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900" b="1" dirty="0" smtClean="0"/>
              <a:t>※ </a:t>
            </a:r>
            <a:r>
              <a:rPr lang="ko-KR" altLang="en-US" sz="900" b="1" dirty="0" smtClean="0"/>
              <a:t>영업점 승인 </a:t>
            </a:r>
            <a:r>
              <a:rPr lang="ko-KR" altLang="en-US" sz="900" b="1" dirty="0" err="1" smtClean="0"/>
              <a:t>완료시</a:t>
            </a:r>
            <a:r>
              <a:rPr lang="en-US" altLang="ko-KR" sz="900" b="1" dirty="0" smtClean="0"/>
              <a:t>, </a:t>
            </a:r>
            <a:r>
              <a:rPr lang="ko-KR" altLang="en-US" sz="900" b="1" dirty="0" smtClean="0"/>
              <a:t>담당자에게 </a:t>
            </a:r>
            <a:endParaRPr lang="en-US" altLang="ko-KR" sz="900" b="1" dirty="0" smtClean="0"/>
          </a:p>
          <a:p>
            <a:r>
              <a:rPr lang="en-US" altLang="ko-KR" sz="900" b="1" dirty="0" smtClean="0">
                <a:solidFill>
                  <a:schemeClr val="bg1"/>
                </a:solidFill>
              </a:rPr>
              <a:t>※</a:t>
            </a:r>
            <a:r>
              <a:rPr lang="ko-KR" altLang="en-US" sz="900" b="1" dirty="0" smtClean="0"/>
              <a:t> 문자가 발송됩니다</a:t>
            </a:r>
            <a:r>
              <a:rPr lang="en-US" altLang="ko-KR" sz="900" b="1" dirty="0"/>
              <a:t>!</a:t>
            </a:r>
            <a:endParaRPr lang="ko-KR" altLang="en-US" sz="900" dirty="0"/>
          </a:p>
        </p:txBody>
      </p:sp>
      <p:cxnSp>
        <p:nvCxnSpPr>
          <p:cNvPr id="58" name="꺾인 연결선 57"/>
          <p:cNvCxnSpPr/>
          <p:nvPr/>
        </p:nvCxnSpPr>
        <p:spPr>
          <a:xfrm flipV="1">
            <a:off x="9079352" y="4013974"/>
            <a:ext cx="306355" cy="279854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7529" y="3327646"/>
            <a:ext cx="731864" cy="138241"/>
          </a:xfrm>
          <a:prstGeom prst="rect">
            <a:avLst/>
          </a:prstGeom>
        </p:spPr>
      </p:pic>
      <p:pic>
        <p:nvPicPr>
          <p:cNvPr id="27" name="그림 26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58" y="1203957"/>
            <a:ext cx="4894137" cy="4180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6501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그림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106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02.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제</a:t>
            </a:r>
            <a:r>
              <a:rPr lang="en-US" altLang="ko-KR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신고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신청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err="1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분실재발급</a:t>
            </a:r>
            <a:r>
              <a:rPr lang="en-US" altLang="ko-KR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등록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00920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12</a:t>
            </a:r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96556" y="4128380"/>
            <a:ext cx="5290255" cy="14032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/>
          <p:cNvSpPr/>
          <p:nvPr/>
        </p:nvSpPr>
        <p:spPr>
          <a:xfrm>
            <a:off x="305043" y="890485"/>
            <a:ext cx="5290255" cy="730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253072" y="954339"/>
            <a:ext cx="4807816" cy="4654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5639866" y="3050771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40" name="직선 연결선 39"/>
          <p:cNvCxnSpPr/>
          <p:nvPr/>
        </p:nvCxnSpPr>
        <p:spPr>
          <a:xfrm flipV="1">
            <a:off x="303199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V="1">
            <a:off x="6660456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89717" y="5710019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분실 재발급 신청 완료</a:t>
            </a:r>
            <a:endParaRPr lang="en-US" altLang="ko-KR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232460" y="5784836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분실 재발급 진행</a:t>
            </a:r>
            <a:endParaRPr lang="en-US" altLang="ko-KR" sz="1400" dirty="0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2059076" y="5806751"/>
            <a:ext cx="1291196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6521036" y="838707"/>
            <a:ext cx="5290255" cy="300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8213923" y="5735903"/>
            <a:ext cx="1726066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199" y="1138802"/>
            <a:ext cx="4889696" cy="42084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" name="직사각형 1"/>
          <p:cNvSpPr/>
          <p:nvPr/>
        </p:nvSpPr>
        <p:spPr>
          <a:xfrm>
            <a:off x="4445251" y="4563687"/>
            <a:ext cx="747644" cy="7835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2009653" y="5105785"/>
            <a:ext cx="538434" cy="2414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/>
          </p:cNvPr>
          <p:cNvGrpSpPr/>
          <p:nvPr/>
        </p:nvGrpSpPr>
        <p:grpSpPr>
          <a:xfrm>
            <a:off x="2349331" y="5221872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2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33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" name="TextBox 25"/>
          <p:cNvSpPr txBox="1"/>
          <p:nvPr/>
        </p:nvSpPr>
        <p:spPr>
          <a:xfrm>
            <a:off x="1820143" y="3897435"/>
            <a:ext cx="1541392" cy="615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※ </a:t>
            </a:r>
            <a:r>
              <a:rPr lang="ko-KR" altLang="en-US" sz="800" dirty="0" smtClean="0"/>
              <a:t>후불교통카드 기능이 있는 </a:t>
            </a:r>
            <a:endParaRPr lang="en-US" altLang="ko-KR" sz="800" dirty="0" smtClean="0"/>
          </a:p>
          <a:p>
            <a:r>
              <a:rPr lang="en-US" altLang="ko-KR" sz="800" dirty="0"/>
              <a:t> </a:t>
            </a:r>
            <a:r>
              <a:rPr lang="en-US" altLang="ko-KR" sz="800" dirty="0" smtClean="0"/>
              <a:t>  </a:t>
            </a:r>
            <a:r>
              <a:rPr lang="ko-KR" altLang="en-US" sz="800" dirty="0" smtClean="0"/>
              <a:t>카드 </a:t>
            </a:r>
            <a:r>
              <a:rPr lang="ko-KR" altLang="en-US" sz="800" dirty="0" err="1" smtClean="0"/>
              <a:t>재발급시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: </a:t>
            </a:r>
            <a:r>
              <a:rPr lang="ko-KR" altLang="en-US" sz="900" b="1" dirty="0" smtClean="0"/>
              <a:t>신청</a:t>
            </a:r>
            <a:endParaRPr lang="en-US" altLang="ko-KR" sz="900" b="1" dirty="0" smtClean="0"/>
          </a:p>
          <a:p>
            <a:r>
              <a:rPr lang="en-US" altLang="ko-KR" sz="800" dirty="0"/>
              <a:t>※ </a:t>
            </a:r>
            <a:r>
              <a:rPr lang="ko-KR" altLang="en-US" sz="800" dirty="0"/>
              <a:t>후불교통카드 기능이 </a:t>
            </a:r>
            <a:r>
              <a:rPr lang="ko-KR" altLang="en-US" sz="800" dirty="0" smtClean="0"/>
              <a:t>없는</a:t>
            </a:r>
            <a:endParaRPr lang="en-US" altLang="ko-KR" sz="800" dirty="0" smtClean="0"/>
          </a:p>
          <a:p>
            <a:r>
              <a:rPr lang="en-US" altLang="ko-KR" sz="800" dirty="0"/>
              <a:t> </a:t>
            </a:r>
            <a:r>
              <a:rPr lang="en-US" altLang="ko-KR" sz="800" dirty="0" smtClean="0"/>
              <a:t> </a:t>
            </a:r>
            <a:r>
              <a:rPr lang="ko-KR" altLang="en-US" sz="800" dirty="0" smtClean="0"/>
              <a:t> 카드 </a:t>
            </a:r>
            <a:r>
              <a:rPr lang="ko-KR" altLang="en-US" sz="800" dirty="0" err="1"/>
              <a:t>재발급시</a:t>
            </a:r>
            <a:r>
              <a:rPr lang="ko-KR" altLang="en-US" sz="800" dirty="0"/>
              <a:t> </a:t>
            </a:r>
            <a:r>
              <a:rPr lang="en-US" altLang="ko-KR" sz="800" dirty="0"/>
              <a:t>: </a:t>
            </a:r>
            <a:r>
              <a:rPr lang="ko-KR" altLang="en-US" sz="900" b="1" dirty="0" err="1" smtClean="0"/>
              <a:t>미신청</a:t>
            </a:r>
            <a:endParaRPr lang="en-US" altLang="ko-KR" sz="900" b="1" dirty="0"/>
          </a:p>
        </p:txBody>
      </p:sp>
      <p:sp>
        <p:nvSpPr>
          <p:cNvPr id="38" name="직사각형 37"/>
          <p:cNvSpPr/>
          <p:nvPr/>
        </p:nvSpPr>
        <p:spPr>
          <a:xfrm>
            <a:off x="294886" y="3919146"/>
            <a:ext cx="1445314" cy="1214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그림 40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787" y="1148320"/>
            <a:ext cx="4895365" cy="41988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9179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02.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제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신고 신청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비밀번호 변경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13</a:t>
            </a:r>
            <a:endParaRPr lang="ko-KR" altLang="en-US" dirty="0"/>
          </a:p>
        </p:txBody>
      </p:sp>
      <p:sp>
        <p:nvSpPr>
          <p:cNvPr id="13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5639866" y="3050771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9" name="직선 연결선 18"/>
          <p:cNvCxnSpPr/>
          <p:nvPr/>
        </p:nvCxnSpPr>
        <p:spPr>
          <a:xfrm flipV="1">
            <a:off x="303199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2460" y="5784836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카드 선택 후 제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신고 신청 버튼을 클릭</a:t>
            </a:r>
            <a:endParaRPr lang="en-US" altLang="ko-KR" sz="1400" dirty="0"/>
          </a:p>
        </p:txBody>
      </p:sp>
      <p:cxnSp>
        <p:nvCxnSpPr>
          <p:cNvPr id="23" name="직선 연결선 22"/>
          <p:cNvCxnSpPr/>
          <p:nvPr/>
        </p:nvCxnSpPr>
        <p:spPr>
          <a:xfrm flipV="1">
            <a:off x="6660456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9717" y="5710019"/>
            <a:ext cx="4960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① </a:t>
            </a:r>
            <a:r>
              <a:rPr lang="en-US" altLang="ko-KR" sz="1400" dirty="0" smtClean="0"/>
              <a:t>~ ④ </a:t>
            </a:r>
            <a:r>
              <a:rPr lang="ko-KR" altLang="en-US" sz="1400" dirty="0" smtClean="0"/>
              <a:t>순서대로 입력 후 </a:t>
            </a:r>
            <a:r>
              <a:rPr lang="ko-KR" altLang="en-US" sz="1400" dirty="0" err="1" smtClean="0"/>
              <a:t>파일등록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증빙서류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 선택</a:t>
            </a:r>
            <a:endParaRPr lang="en-US" altLang="ko-KR" sz="1400" dirty="0" smtClean="0"/>
          </a:p>
          <a:p>
            <a:pPr algn="ctr"/>
            <a:r>
              <a:rPr lang="ko-KR" altLang="en-US" sz="1400" dirty="0" smtClean="0"/>
              <a:t>☞ 단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결재선 등록 선행하여야 함</a:t>
            </a:r>
            <a:endParaRPr lang="en-US" altLang="ko-KR" sz="1400" dirty="0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2245382" y="5810720"/>
            <a:ext cx="999326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95" y="1245121"/>
            <a:ext cx="4895700" cy="420775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" name="그룹 30"/>
          <p:cNvGrpSpPr/>
          <p:nvPr/>
        </p:nvGrpSpPr>
        <p:grpSpPr>
          <a:xfrm>
            <a:off x="1354973" y="3155036"/>
            <a:ext cx="191193" cy="193962"/>
            <a:chOff x="10016836" y="5004262"/>
            <a:chExt cx="191193" cy="193962"/>
          </a:xfrm>
        </p:grpSpPr>
        <p:cxnSp>
          <p:nvCxnSpPr>
            <p:cNvPr id="32" name="직선 연결선 31"/>
            <p:cNvCxnSpPr/>
            <p:nvPr/>
          </p:nvCxnSpPr>
          <p:spPr>
            <a:xfrm>
              <a:off x="10016836" y="5062451"/>
              <a:ext cx="91440" cy="12469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/>
            <p:cNvCxnSpPr/>
            <p:nvPr/>
          </p:nvCxnSpPr>
          <p:spPr>
            <a:xfrm flipH="1">
              <a:off x="10111043" y="5004262"/>
              <a:ext cx="96986" cy="19396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직사각형 13"/>
          <p:cNvSpPr/>
          <p:nvPr/>
        </p:nvSpPr>
        <p:spPr>
          <a:xfrm>
            <a:off x="2688848" y="5256285"/>
            <a:ext cx="418936" cy="1791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/>
          </p:cNvPr>
          <p:cNvGrpSpPr/>
          <p:nvPr/>
        </p:nvGrpSpPr>
        <p:grpSpPr>
          <a:xfrm>
            <a:off x="2930275" y="5396920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6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17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3" name="모서리가 둥근 직사각형 42"/>
          <p:cNvSpPr/>
          <p:nvPr/>
        </p:nvSpPr>
        <p:spPr>
          <a:xfrm>
            <a:off x="9068472" y="5734744"/>
            <a:ext cx="1447128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4" name="그림 33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540" y="1245121"/>
            <a:ext cx="4895612" cy="42026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45" name="TextBox 44"/>
          <p:cNvSpPr txBox="1"/>
          <p:nvPr/>
        </p:nvSpPr>
        <p:spPr>
          <a:xfrm>
            <a:off x="8491810" y="1838385"/>
            <a:ext cx="210353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b="1" dirty="0" smtClean="0"/>
              <a:t>※ </a:t>
            </a:r>
            <a:r>
              <a:rPr lang="ko-KR" altLang="en-US" sz="900" b="1" dirty="0" smtClean="0"/>
              <a:t>결재선 등록 후 </a:t>
            </a:r>
            <a:r>
              <a:rPr lang="ko-KR" altLang="en-US" sz="900" b="1" dirty="0" err="1" smtClean="0"/>
              <a:t>업무가능</a:t>
            </a:r>
            <a:endParaRPr lang="en-US" altLang="ko-KR" sz="900" b="1" dirty="0" smtClean="0"/>
          </a:p>
          <a:p>
            <a:r>
              <a:rPr lang="ko-KR" altLang="ko-KR" sz="900" dirty="0" smtClean="0"/>
              <a:t>☞</a:t>
            </a:r>
            <a:r>
              <a:rPr lang="en-US" altLang="ko-KR" sz="900" dirty="0" smtClean="0"/>
              <a:t> </a:t>
            </a:r>
            <a:r>
              <a:rPr lang="ko-KR" altLang="en-US" sz="900" dirty="0" smtClean="0"/>
              <a:t>등록방법은 </a:t>
            </a:r>
            <a:r>
              <a:rPr lang="ko-KR" altLang="en-US" sz="900" dirty="0" err="1" smtClean="0"/>
              <a:t>조작방법서</a:t>
            </a:r>
            <a:r>
              <a:rPr lang="ko-KR" altLang="en-US" sz="900" dirty="0" smtClean="0"/>
              <a:t> </a:t>
            </a:r>
            <a:r>
              <a:rPr lang="ko-KR" altLang="en-US" sz="900" dirty="0" err="1" smtClean="0"/>
              <a:t>뒷편</a:t>
            </a:r>
            <a:r>
              <a:rPr lang="ko-KR" altLang="en-US" sz="900" dirty="0" smtClean="0"/>
              <a:t> 참조</a:t>
            </a:r>
            <a:endParaRPr lang="ko-KR" altLang="en-US" sz="900" dirty="0"/>
          </a:p>
        </p:txBody>
      </p:sp>
      <p:cxnSp>
        <p:nvCxnSpPr>
          <p:cNvPr id="46" name="꺾인 연결선 45"/>
          <p:cNvCxnSpPr/>
          <p:nvPr/>
        </p:nvCxnSpPr>
        <p:spPr>
          <a:xfrm>
            <a:off x="8063345" y="1843331"/>
            <a:ext cx="428465" cy="113216"/>
          </a:xfrm>
          <a:prstGeom prst="bentConnector3">
            <a:avLst>
              <a:gd name="adj1" fmla="val -44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283157" y="3516566"/>
            <a:ext cx="2404938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b="1" dirty="0" smtClean="0"/>
              <a:t>※ </a:t>
            </a:r>
            <a:r>
              <a:rPr lang="ko-KR" altLang="en-US" sz="900" b="1" dirty="0" smtClean="0"/>
              <a:t>파일은 </a:t>
            </a:r>
            <a:r>
              <a:rPr lang="en-US" altLang="ko-KR" sz="900" b="1" dirty="0" smtClean="0"/>
              <a:t>PDF</a:t>
            </a:r>
            <a:r>
              <a:rPr lang="ko-KR" altLang="en-US" sz="900" b="1" dirty="0" smtClean="0"/>
              <a:t>만 등록 가능</a:t>
            </a:r>
            <a:r>
              <a:rPr lang="en-US" altLang="ko-KR" sz="900" b="1" dirty="0" smtClean="0"/>
              <a:t>!</a:t>
            </a:r>
          </a:p>
          <a:p>
            <a:r>
              <a:rPr lang="en-US" altLang="ko-KR" sz="900" dirty="0" smtClean="0"/>
              <a:t> 1. </a:t>
            </a:r>
            <a:r>
              <a:rPr lang="ko-KR" altLang="en-US" sz="900" dirty="0" err="1" smtClean="0"/>
              <a:t>고유번호증</a:t>
            </a:r>
            <a:r>
              <a:rPr lang="ko-KR" altLang="en-US" sz="900" dirty="0" smtClean="0"/>
              <a:t>     </a:t>
            </a:r>
            <a:r>
              <a:rPr lang="en-US" altLang="ko-KR" sz="900" dirty="0" smtClean="0"/>
              <a:t>2. </a:t>
            </a:r>
            <a:r>
              <a:rPr lang="ko-KR" altLang="en-US" sz="900" dirty="0" smtClean="0"/>
              <a:t>담임목사 인감증명서</a:t>
            </a:r>
            <a:endParaRPr lang="en-US" altLang="ko-KR" sz="900" dirty="0" smtClean="0"/>
          </a:p>
          <a:p>
            <a:r>
              <a:rPr lang="en-US" altLang="ko-KR" sz="900" dirty="0" smtClean="0"/>
              <a:t> 3. </a:t>
            </a:r>
            <a:r>
              <a:rPr lang="ko-KR" altLang="en-US" sz="900" dirty="0" smtClean="0"/>
              <a:t>담임목사 신분증 사본</a:t>
            </a:r>
            <a:endParaRPr lang="en-US" altLang="ko-KR" sz="900" dirty="0" smtClean="0"/>
          </a:p>
          <a:p>
            <a:r>
              <a:rPr lang="en-US" altLang="ko-KR" sz="900" dirty="0"/>
              <a:t> </a:t>
            </a:r>
            <a:r>
              <a:rPr lang="en-US" altLang="ko-KR" sz="900" dirty="0" smtClean="0"/>
              <a:t>4. </a:t>
            </a:r>
            <a:r>
              <a:rPr lang="ko-KR" altLang="en-US" sz="900" dirty="0" smtClean="0"/>
              <a:t>대리인 위임장</a:t>
            </a:r>
            <a:r>
              <a:rPr lang="en-US" altLang="ko-KR" sz="900" dirty="0"/>
              <a:t> 5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대리인 신분증 사본 등</a:t>
            </a:r>
            <a:endParaRPr lang="en-US" altLang="ko-KR" sz="900" dirty="0" smtClean="0"/>
          </a:p>
        </p:txBody>
      </p:sp>
      <p:sp>
        <p:nvSpPr>
          <p:cNvPr id="48" name="직사각형 47"/>
          <p:cNvSpPr/>
          <p:nvPr/>
        </p:nvSpPr>
        <p:spPr>
          <a:xfrm>
            <a:off x="7839244" y="3491556"/>
            <a:ext cx="2676356" cy="1327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7917054" y="4736519"/>
            <a:ext cx="794684" cy="6093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045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02.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제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신고 신청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비밀번호 변경 </a:t>
            </a:r>
            <a:r>
              <a:rPr lang="en-US" altLang="ko-KR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승인 신청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14</a:t>
            </a:r>
            <a:endParaRPr lang="ko-KR" altLang="en-US" dirty="0"/>
          </a:p>
        </p:txBody>
      </p:sp>
      <p:sp>
        <p:nvSpPr>
          <p:cNvPr id="13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5639866" y="3050771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9" name="직선 연결선 18"/>
          <p:cNvCxnSpPr/>
          <p:nvPr/>
        </p:nvCxnSpPr>
        <p:spPr>
          <a:xfrm flipV="1">
            <a:off x="303199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2460" y="5784836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결재선 선택</a:t>
            </a:r>
            <a:endParaRPr lang="en-US" altLang="ko-KR" sz="1400" dirty="0"/>
          </a:p>
        </p:txBody>
      </p:sp>
      <p:cxnSp>
        <p:nvCxnSpPr>
          <p:cNvPr id="23" name="직선 연결선 22"/>
          <p:cNvCxnSpPr/>
          <p:nvPr/>
        </p:nvCxnSpPr>
        <p:spPr>
          <a:xfrm flipV="1">
            <a:off x="6660456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9717" y="5710019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결재함에서 진행내역조회 가능</a:t>
            </a:r>
            <a:endParaRPr lang="en-US" altLang="ko-KR" sz="1400" dirty="0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2248384" y="5822764"/>
            <a:ext cx="999326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모서리가 둥근 직사각형 42"/>
          <p:cNvSpPr/>
          <p:nvPr/>
        </p:nvSpPr>
        <p:spPr>
          <a:xfrm>
            <a:off x="8824473" y="5742831"/>
            <a:ext cx="1012954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8" name="그림 4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737" y="2211355"/>
            <a:ext cx="4867469" cy="24389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9" name="직사각형 38"/>
          <p:cNvSpPr/>
          <p:nvPr/>
        </p:nvSpPr>
        <p:spPr>
          <a:xfrm>
            <a:off x="9554548" y="4366519"/>
            <a:ext cx="402208" cy="2484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0" name="그룹 39">
            <a:extLst/>
          </p:cNvPr>
          <p:cNvGrpSpPr/>
          <p:nvPr/>
        </p:nvGrpSpPr>
        <p:grpSpPr>
          <a:xfrm>
            <a:off x="9804186" y="4486134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1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42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216" y="2291898"/>
            <a:ext cx="4770679" cy="19022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직사각형 13"/>
          <p:cNvSpPr/>
          <p:nvPr/>
        </p:nvSpPr>
        <p:spPr>
          <a:xfrm>
            <a:off x="422216" y="3853680"/>
            <a:ext cx="4706737" cy="3404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956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02.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제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신고 신청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결재함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결재진행내역 </a:t>
            </a:r>
            <a:r>
              <a:rPr lang="en-US" altLang="ko-KR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err="1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상세조회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15</a:t>
            </a:r>
            <a:endParaRPr lang="ko-KR" altLang="en-US" dirty="0"/>
          </a:p>
        </p:txBody>
      </p:sp>
      <p:sp>
        <p:nvSpPr>
          <p:cNvPr id="13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5639866" y="3050771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9" name="직선 연결선 18"/>
          <p:cNvCxnSpPr/>
          <p:nvPr/>
        </p:nvCxnSpPr>
        <p:spPr>
          <a:xfrm flipV="1">
            <a:off x="303199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2460" y="5784836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err="1" smtClean="0"/>
              <a:t>상세조회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결재 버튼 클릭</a:t>
            </a:r>
            <a:endParaRPr lang="en-US" altLang="ko-KR" sz="1400" dirty="0"/>
          </a:p>
        </p:txBody>
      </p:sp>
      <p:cxnSp>
        <p:nvCxnSpPr>
          <p:cNvPr id="23" name="직선 연결선 22"/>
          <p:cNvCxnSpPr/>
          <p:nvPr/>
        </p:nvCxnSpPr>
        <p:spPr>
          <a:xfrm flipV="1">
            <a:off x="6660456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27"/>
          <p:cNvSpPr/>
          <p:nvPr/>
        </p:nvSpPr>
        <p:spPr>
          <a:xfrm>
            <a:off x="1691074" y="5818799"/>
            <a:ext cx="1539798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58" y="1016155"/>
            <a:ext cx="4896000" cy="442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직사각형 13"/>
          <p:cNvSpPr/>
          <p:nvPr/>
        </p:nvSpPr>
        <p:spPr>
          <a:xfrm>
            <a:off x="2564084" y="5161226"/>
            <a:ext cx="605955" cy="2550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" name="그룹 25">
            <a:extLst/>
          </p:cNvPr>
          <p:cNvGrpSpPr/>
          <p:nvPr/>
        </p:nvGrpSpPr>
        <p:grpSpPr>
          <a:xfrm>
            <a:off x="2936660" y="5299652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7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29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0" name="그림 29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573" y="1016155"/>
            <a:ext cx="4896000" cy="442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9" name="직사각형 38"/>
          <p:cNvSpPr/>
          <p:nvPr/>
        </p:nvSpPr>
        <p:spPr>
          <a:xfrm>
            <a:off x="7607820" y="3803510"/>
            <a:ext cx="1433543" cy="2484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7607820" y="4593322"/>
            <a:ext cx="3822180" cy="4747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6589717" y="5710019"/>
            <a:ext cx="4960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en-US" altLang="ko-KR" sz="1400" dirty="0" smtClean="0"/>
              <a:t>[</a:t>
            </a:r>
            <a:r>
              <a:rPr lang="ko-KR" altLang="en-US" sz="1400" dirty="0" smtClean="0"/>
              <a:t>관리자</a:t>
            </a:r>
            <a:r>
              <a:rPr lang="en-US" altLang="ko-KR" sz="1400" dirty="0" smtClean="0"/>
              <a:t>=</a:t>
            </a:r>
            <a:r>
              <a:rPr lang="ko-KR" altLang="en-US" sz="1400" dirty="0" smtClean="0"/>
              <a:t>대표자</a:t>
            </a:r>
            <a:r>
              <a:rPr lang="en-US" altLang="ko-KR" sz="1400" dirty="0" smtClean="0"/>
              <a:t>]</a:t>
            </a:r>
            <a:r>
              <a:rPr lang="ko-KR" altLang="en-US" sz="1400" dirty="0" smtClean="0"/>
              <a:t>가 로그인하여 신청 내역 승인 후 영업점 </a:t>
            </a:r>
            <a:r>
              <a:rPr lang="ko-KR" altLang="en-US" sz="1400" dirty="0" err="1" smtClean="0"/>
              <a:t>심사시작</a:t>
            </a:r>
            <a:endParaRPr lang="en-US" altLang="ko-KR" sz="1400" dirty="0" smtClean="0"/>
          </a:p>
          <a:p>
            <a:pPr algn="ctr"/>
            <a:r>
              <a:rPr lang="en-US" altLang="ko-KR" sz="1400" dirty="0" smtClean="0"/>
              <a:t>☞ </a:t>
            </a:r>
            <a:r>
              <a:rPr lang="ko-KR" altLang="en-US" sz="1400" dirty="0" smtClean="0"/>
              <a:t>단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승인시</a:t>
            </a:r>
            <a:r>
              <a:rPr lang="en-US" altLang="ko-KR" sz="1400" dirty="0" smtClean="0"/>
              <a:t>, OTP </a:t>
            </a:r>
            <a:r>
              <a:rPr lang="ko-KR" altLang="en-US" sz="1400" dirty="0" smtClean="0"/>
              <a:t>비밀번호 및 인증서 필요</a:t>
            </a:r>
            <a:endParaRPr lang="en-US" altLang="ko-KR" sz="1400" dirty="0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6660455" y="5721817"/>
            <a:ext cx="3390371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463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02.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제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신고 관리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비밀번호 변경 </a:t>
            </a:r>
            <a:r>
              <a:rPr lang="en-US" altLang="ko-KR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상세보기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16</a:t>
            </a:r>
            <a:endParaRPr lang="ko-KR" altLang="en-US" dirty="0"/>
          </a:p>
        </p:txBody>
      </p:sp>
      <p:sp>
        <p:nvSpPr>
          <p:cNvPr id="13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5639866" y="3050771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9" name="직선 연결선 18"/>
          <p:cNvCxnSpPr/>
          <p:nvPr/>
        </p:nvCxnSpPr>
        <p:spPr>
          <a:xfrm flipV="1">
            <a:off x="303199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2460" y="5784836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카드 선택 후 제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신고 관리 버튼 클릭</a:t>
            </a:r>
            <a:endParaRPr lang="en-US" altLang="ko-KR" sz="1400" dirty="0"/>
          </a:p>
        </p:txBody>
      </p:sp>
      <p:cxnSp>
        <p:nvCxnSpPr>
          <p:cNvPr id="23" name="직선 연결선 22"/>
          <p:cNvCxnSpPr/>
          <p:nvPr/>
        </p:nvCxnSpPr>
        <p:spPr>
          <a:xfrm flipV="1">
            <a:off x="6660456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9717" y="5710019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err="1" smtClean="0"/>
              <a:t>제신고</a:t>
            </a:r>
            <a:r>
              <a:rPr lang="ko-KR" altLang="en-US" sz="1400" dirty="0" smtClean="0"/>
              <a:t> 업무 </a:t>
            </a:r>
            <a:r>
              <a:rPr lang="ko-KR" altLang="en-US" sz="1400" dirty="0" err="1" smtClean="0"/>
              <a:t>신청내역</a:t>
            </a:r>
            <a:r>
              <a:rPr lang="ko-KR" altLang="en-US" sz="1400" dirty="0" smtClean="0"/>
              <a:t> 상세보기 클릭</a:t>
            </a:r>
            <a:endParaRPr lang="en-US" altLang="ko-KR" sz="1400" dirty="0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2341495" y="5810720"/>
            <a:ext cx="999326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95" y="1245121"/>
            <a:ext cx="4895700" cy="420775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" name="그룹 30"/>
          <p:cNvGrpSpPr/>
          <p:nvPr/>
        </p:nvGrpSpPr>
        <p:grpSpPr>
          <a:xfrm>
            <a:off x="1354973" y="3155036"/>
            <a:ext cx="191193" cy="193962"/>
            <a:chOff x="10016836" y="5004262"/>
            <a:chExt cx="191193" cy="193962"/>
          </a:xfrm>
        </p:grpSpPr>
        <p:cxnSp>
          <p:nvCxnSpPr>
            <p:cNvPr id="32" name="직선 연결선 31"/>
            <p:cNvCxnSpPr/>
            <p:nvPr/>
          </p:nvCxnSpPr>
          <p:spPr>
            <a:xfrm>
              <a:off x="10016836" y="5062451"/>
              <a:ext cx="91440" cy="12469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/>
            <p:cNvCxnSpPr/>
            <p:nvPr/>
          </p:nvCxnSpPr>
          <p:spPr>
            <a:xfrm flipH="1">
              <a:off x="10111043" y="5004262"/>
              <a:ext cx="96986" cy="19396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직사각형 13"/>
          <p:cNvSpPr/>
          <p:nvPr/>
        </p:nvSpPr>
        <p:spPr>
          <a:xfrm>
            <a:off x="3099394" y="5224746"/>
            <a:ext cx="418936" cy="219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/>
          </p:cNvPr>
          <p:cNvGrpSpPr/>
          <p:nvPr/>
        </p:nvGrpSpPr>
        <p:grpSpPr>
          <a:xfrm>
            <a:off x="3340821" y="5396920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6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17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0" name="그림 19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573" y="1185850"/>
            <a:ext cx="4896000" cy="4208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직사각형 20"/>
          <p:cNvSpPr/>
          <p:nvPr/>
        </p:nvSpPr>
        <p:spPr>
          <a:xfrm>
            <a:off x="9293289" y="5177312"/>
            <a:ext cx="532136" cy="2221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>
            <a:extLst/>
          </p:cNvPr>
          <p:cNvGrpSpPr/>
          <p:nvPr/>
        </p:nvGrpSpPr>
        <p:grpSpPr>
          <a:xfrm>
            <a:off x="9536064" y="5340163"/>
            <a:ext cx="613532" cy="412722"/>
            <a:chOff x="4325725" y="4830549"/>
            <a:chExt cx="465138" cy="49727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6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27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58947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9" name="모서리가 둥근 직사각형 28"/>
          <p:cNvSpPr/>
          <p:nvPr/>
        </p:nvSpPr>
        <p:spPr>
          <a:xfrm>
            <a:off x="8635539" y="5744597"/>
            <a:ext cx="1392350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5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53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02.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제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신고 관리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비밀번호 변경 </a:t>
            </a:r>
            <a:r>
              <a:rPr lang="en-US" altLang="ko-KR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상세보기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17</a:t>
            </a:r>
            <a:endParaRPr lang="ko-KR" altLang="en-US" dirty="0"/>
          </a:p>
        </p:txBody>
      </p:sp>
      <p:sp>
        <p:nvSpPr>
          <p:cNvPr id="13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5639866" y="3050771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9" name="직선 연결선 18"/>
          <p:cNvCxnSpPr/>
          <p:nvPr/>
        </p:nvCxnSpPr>
        <p:spPr>
          <a:xfrm flipV="1">
            <a:off x="303199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2460" y="5784836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카드 제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신고 진행상황 확인 가능</a:t>
            </a:r>
            <a:endParaRPr lang="en-US" altLang="ko-KR" sz="1400" dirty="0"/>
          </a:p>
        </p:txBody>
      </p:sp>
      <p:cxnSp>
        <p:nvCxnSpPr>
          <p:cNvPr id="23" name="직선 연결선 22"/>
          <p:cNvCxnSpPr/>
          <p:nvPr/>
        </p:nvCxnSpPr>
        <p:spPr>
          <a:xfrm flipV="1">
            <a:off x="6660456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9717" y="5710019"/>
            <a:ext cx="4960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en-US" altLang="ko-KR" sz="1400" dirty="0" smtClean="0"/>
              <a:t>[</a:t>
            </a:r>
            <a:r>
              <a:rPr lang="ko-KR" altLang="en-US" sz="1400" dirty="0" smtClean="0"/>
              <a:t>관리자</a:t>
            </a:r>
            <a:r>
              <a:rPr lang="en-US" altLang="ko-KR" sz="1400" dirty="0" smtClean="0"/>
              <a:t>]</a:t>
            </a:r>
            <a:r>
              <a:rPr lang="ko-KR" altLang="en-US" sz="1400" dirty="0" smtClean="0"/>
              <a:t>가 위 신청 내역 승인 후 영업점 심사 시작</a:t>
            </a:r>
            <a:endParaRPr lang="en-US" altLang="ko-KR" sz="1400" dirty="0" smtClean="0"/>
          </a:p>
          <a:p>
            <a:pPr algn="ctr"/>
            <a:r>
              <a:rPr lang="en-US" altLang="ko-KR" sz="1400" dirty="0" smtClean="0"/>
              <a:t>☞ </a:t>
            </a:r>
            <a:r>
              <a:rPr lang="ko-KR" altLang="en-US" sz="1400" dirty="0" smtClean="0"/>
              <a:t>단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승인시</a:t>
            </a:r>
            <a:r>
              <a:rPr lang="en-US" altLang="ko-KR" sz="1400" dirty="0" smtClean="0"/>
              <a:t>, OTP </a:t>
            </a:r>
            <a:r>
              <a:rPr lang="ko-KR" altLang="en-US" sz="1400" dirty="0" smtClean="0"/>
              <a:t>비밀번호 및 인증서 필요</a:t>
            </a:r>
            <a:endParaRPr lang="en-US" altLang="ko-KR" sz="1400" dirty="0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2512355" y="5810720"/>
            <a:ext cx="999326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7235812" y="5738267"/>
            <a:ext cx="2132632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93" y="1131763"/>
            <a:ext cx="4832567" cy="4208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7" name="그림 3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8053" y="1131763"/>
            <a:ext cx="4960435" cy="30723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직사각형 20"/>
          <p:cNvSpPr/>
          <p:nvPr/>
        </p:nvSpPr>
        <p:spPr>
          <a:xfrm>
            <a:off x="10170366" y="3620278"/>
            <a:ext cx="205275" cy="1351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>
            <a:extLst/>
          </p:cNvPr>
          <p:cNvGrpSpPr/>
          <p:nvPr/>
        </p:nvGrpSpPr>
        <p:grpSpPr>
          <a:xfrm>
            <a:off x="10273003" y="3728654"/>
            <a:ext cx="236674" cy="251112"/>
            <a:chOff x="4325725" y="4830549"/>
            <a:chExt cx="465138" cy="49727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6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27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5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58947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8" name="그림 3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716" y="4123752"/>
            <a:ext cx="4868771" cy="12880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3250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02.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제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신고 관리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비밀번호 변경 </a:t>
            </a:r>
            <a:r>
              <a:rPr lang="en-US" altLang="ko-KR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영업점 승인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18</a:t>
            </a:r>
            <a:endParaRPr lang="ko-KR" altLang="en-US" dirty="0"/>
          </a:p>
        </p:txBody>
      </p:sp>
      <p:sp>
        <p:nvSpPr>
          <p:cNvPr id="13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5639866" y="3050771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9" name="직선 연결선 18"/>
          <p:cNvCxnSpPr/>
          <p:nvPr/>
        </p:nvCxnSpPr>
        <p:spPr>
          <a:xfrm flipV="1">
            <a:off x="303199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2460" y="5784836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카드 제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신고 진행상황 확인 가능</a:t>
            </a:r>
            <a:endParaRPr lang="en-US" altLang="ko-KR" sz="1400" dirty="0"/>
          </a:p>
        </p:txBody>
      </p:sp>
      <p:cxnSp>
        <p:nvCxnSpPr>
          <p:cNvPr id="23" name="직선 연결선 22"/>
          <p:cNvCxnSpPr/>
          <p:nvPr/>
        </p:nvCxnSpPr>
        <p:spPr>
          <a:xfrm flipV="1">
            <a:off x="6660456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9717" y="5710019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영업점 승인이 </a:t>
            </a:r>
            <a:r>
              <a:rPr lang="ko-KR" altLang="en-US" sz="1400" dirty="0"/>
              <a:t>완</a:t>
            </a:r>
            <a:r>
              <a:rPr lang="ko-KR" altLang="en-US" sz="1400" dirty="0" smtClean="0"/>
              <a:t>료되어 비밀번호 변경 진행 가능</a:t>
            </a:r>
            <a:endParaRPr lang="en-US" altLang="ko-KR" sz="1400" dirty="0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2507127" y="5810720"/>
            <a:ext cx="999326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7229245" y="5725255"/>
            <a:ext cx="1471515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199" y="1175798"/>
            <a:ext cx="4901387" cy="4208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그림 29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455" y="1175798"/>
            <a:ext cx="4879261" cy="4208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190" y="1674731"/>
            <a:ext cx="1752600" cy="247650"/>
          </a:xfrm>
          <a:prstGeom prst="rect">
            <a:avLst/>
          </a:prstGeom>
        </p:spPr>
      </p:pic>
      <p:sp>
        <p:nvSpPr>
          <p:cNvPr id="31" name="직사각형 30"/>
          <p:cNvSpPr/>
          <p:nvPr/>
        </p:nvSpPr>
        <p:spPr>
          <a:xfrm>
            <a:off x="9545677" y="3328289"/>
            <a:ext cx="496097" cy="1301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9288855" y="5143994"/>
            <a:ext cx="495817" cy="2583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3" name="그룹 32">
            <a:extLst/>
          </p:cNvPr>
          <p:cNvGrpSpPr/>
          <p:nvPr/>
        </p:nvGrpSpPr>
        <p:grpSpPr>
          <a:xfrm>
            <a:off x="9567810" y="5240761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4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35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6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5099" y="3667804"/>
            <a:ext cx="2057143" cy="147619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404327" y="3924496"/>
            <a:ext cx="200888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900" b="1" dirty="0" smtClean="0"/>
              <a:t>※ </a:t>
            </a:r>
            <a:r>
              <a:rPr lang="ko-KR" altLang="en-US" sz="900" b="1" dirty="0" smtClean="0"/>
              <a:t>영업점 승인 </a:t>
            </a:r>
            <a:r>
              <a:rPr lang="ko-KR" altLang="en-US" sz="900" b="1" dirty="0" err="1" smtClean="0"/>
              <a:t>완료시</a:t>
            </a:r>
            <a:r>
              <a:rPr lang="en-US" altLang="ko-KR" sz="900" b="1" dirty="0" smtClean="0"/>
              <a:t>, </a:t>
            </a:r>
            <a:r>
              <a:rPr lang="ko-KR" altLang="en-US" sz="900" b="1" dirty="0" smtClean="0"/>
              <a:t>담당자에게 </a:t>
            </a:r>
            <a:endParaRPr lang="en-US" altLang="ko-KR" sz="900" b="1" dirty="0" smtClean="0"/>
          </a:p>
          <a:p>
            <a:r>
              <a:rPr lang="en-US" altLang="ko-KR" sz="900" b="1" dirty="0" smtClean="0">
                <a:solidFill>
                  <a:schemeClr val="bg1"/>
                </a:solidFill>
              </a:rPr>
              <a:t>※</a:t>
            </a:r>
            <a:r>
              <a:rPr lang="ko-KR" altLang="en-US" sz="900" b="1" dirty="0" smtClean="0"/>
              <a:t> 문자가 발송됩니다</a:t>
            </a:r>
            <a:r>
              <a:rPr lang="en-US" altLang="ko-KR" sz="900" b="1" dirty="0"/>
              <a:t>!</a:t>
            </a:r>
            <a:endParaRPr lang="ko-KR" altLang="en-US" sz="900" dirty="0"/>
          </a:p>
        </p:txBody>
      </p:sp>
      <p:cxnSp>
        <p:nvCxnSpPr>
          <p:cNvPr id="26" name="꺾인 연결선 25"/>
          <p:cNvCxnSpPr/>
          <p:nvPr/>
        </p:nvCxnSpPr>
        <p:spPr>
          <a:xfrm flipV="1">
            <a:off x="9079352" y="4013974"/>
            <a:ext cx="306355" cy="279854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171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106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02.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제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신고 관리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비밀번호 변경 등록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00920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19</a:t>
            </a:r>
            <a:endParaRPr lang="ko-KR" altLang="en-US" dirty="0"/>
          </a:p>
        </p:txBody>
      </p:sp>
      <p:sp>
        <p:nvSpPr>
          <p:cNvPr id="13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5639866" y="3050771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9" name="직선 연결선 18"/>
          <p:cNvCxnSpPr/>
          <p:nvPr/>
        </p:nvCxnSpPr>
        <p:spPr>
          <a:xfrm flipV="1">
            <a:off x="303199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2460" y="5784836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카드 비밀번호 변경 진행</a:t>
            </a:r>
            <a:endParaRPr lang="en-US" altLang="ko-KR" sz="1400" dirty="0"/>
          </a:p>
        </p:txBody>
      </p:sp>
      <p:cxnSp>
        <p:nvCxnSpPr>
          <p:cNvPr id="23" name="직선 연결선 22"/>
          <p:cNvCxnSpPr/>
          <p:nvPr/>
        </p:nvCxnSpPr>
        <p:spPr>
          <a:xfrm flipV="1">
            <a:off x="6660456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9717" y="5710019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비밀번호 변경 완료</a:t>
            </a:r>
            <a:endParaRPr lang="en-US" altLang="ko-KR" sz="1400" dirty="0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2171929" y="5805252"/>
            <a:ext cx="1081495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8357754" y="5735903"/>
            <a:ext cx="1426326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199" y="1178355"/>
            <a:ext cx="4825754" cy="41812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7" name="직사각형 26"/>
          <p:cNvSpPr/>
          <p:nvPr/>
        </p:nvSpPr>
        <p:spPr>
          <a:xfrm>
            <a:off x="1757732" y="5142813"/>
            <a:ext cx="631984" cy="2414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>
            <a:extLst/>
          </p:cNvPr>
          <p:cNvGrpSpPr/>
          <p:nvPr/>
        </p:nvGrpSpPr>
        <p:grpSpPr>
          <a:xfrm>
            <a:off x="2190960" y="5258900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3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34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1" name="그림 30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456" y="1178356"/>
            <a:ext cx="4889696" cy="42058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2176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03.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모바일 헌금 플랫폼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대시보드 및 교회 정보 관리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20</a:t>
            </a:r>
            <a:endParaRPr lang="ko-KR" altLang="en-US" dirty="0"/>
          </a:p>
        </p:txBody>
      </p:sp>
      <p:cxnSp>
        <p:nvCxnSpPr>
          <p:cNvPr id="19" name="직선 연결선 18"/>
          <p:cNvCxnSpPr/>
          <p:nvPr/>
        </p:nvCxnSpPr>
        <p:spPr>
          <a:xfrm flipV="1">
            <a:off x="268639" y="5636028"/>
            <a:ext cx="4981440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9141" y="5802531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메인 대시보드에서 </a:t>
            </a:r>
            <a:r>
              <a:rPr lang="ko-KR" altLang="en-US" sz="1400" dirty="0" err="1" smtClean="0"/>
              <a:t>교인수</a:t>
            </a:r>
            <a:r>
              <a:rPr lang="en-US" altLang="ko-KR" sz="1400" dirty="0" smtClean="0"/>
              <a:t>/</a:t>
            </a:r>
            <a:r>
              <a:rPr lang="ko-KR" altLang="en-US" sz="1400" dirty="0" err="1" smtClean="0"/>
              <a:t>헌금액</a:t>
            </a:r>
            <a:r>
              <a:rPr lang="ko-KR" altLang="en-US" sz="1400" dirty="0" smtClean="0"/>
              <a:t> 등 확인 가능</a:t>
            </a:r>
            <a:endParaRPr lang="en-US" altLang="ko-KR" sz="1400" dirty="0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2440627" y="5827346"/>
            <a:ext cx="2056560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532923" y="969705"/>
            <a:ext cx="50532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● </a:t>
            </a:r>
            <a:r>
              <a:rPr lang="en-US" altLang="ko-KR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(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교회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_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관리자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) </a:t>
            </a:r>
            <a:r>
              <a:rPr lang="ko-KR" altLang="en-US" sz="1600" b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메인 대시보드 및 교회 정보 관리</a:t>
            </a:r>
            <a:endParaRPr lang="en-US" altLang="ko-KR" sz="1600" b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807" y="1367943"/>
            <a:ext cx="4885101" cy="42084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40" name="직선 연결선 39"/>
          <p:cNvCxnSpPr/>
          <p:nvPr/>
        </p:nvCxnSpPr>
        <p:spPr>
          <a:xfrm flipV="1">
            <a:off x="5822279" y="5636028"/>
            <a:ext cx="4981440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832781" y="5802531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교회 </a:t>
            </a:r>
            <a:r>
              <a:rPr lang="ko-KR" altLang="en-US" sz="1400" dirty="0" err="1" smtClean="0"/>
              <a:t>정보등록</a:t>
            </a:r>
            <a:r>
              <a:rPr lang="ko-KR" altLang="en-US" sz="1400" dirty="0" smtClean="0"/>
              <a:t> 및 이미지 설정 가능</a:t>
            </a:r>
            <a:endParaRPr lang="en-US" altLang="ko-KR" sz="1400" dirty="0"/>
          </a:p>
        </p:txBody>
      </p:sp>
      <p:sp>
        <p:nvSpPr>
          <p:cNvPr id="42" name="모서리가 둥근 직사각형 41"/>
          <p:cNvSpPr/>
          <p:nvPr/>
        </p:nvSpPr>
        <p:spPr>
          <a:xfrm>
            <a:off x="7024255" y="5837929"/>
            <a:ext cx="2219498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224" y="1367943"/>
            <a:ext cx="4535379" cy="39071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338" y="3681581"/>
            <a:ext cx="3589674" cy="192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29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04.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3200" dirty="0" err="1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헌금계좌</a:t>
            </a:r>
            <a:r>
              <a:rPr lang="ko-KR" altLang="en-US" sz="32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내부통제 서비스 </a:t>
            </a:r>
            <a:r>
              <a:rPr lang="en-US" altLang="ko-KR" sz="32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3200" dirty="0" err="1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집금계좌</a:t>
            </a:r>
            <a:r>
              <a:rPr lang="ko-KR" altLang="en-US" sz="32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서비스</a:t>
            </a:r>
            <a:r>
              <a:rPr lang="en-US" altLang="ko-KR" sz="32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32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21</a:t>
            </a:r>
            <a:endParaRPr lang="ko-KR" altLang="en-US" dirty="0"/>
          </a:p>
        </p:txBody>
      </p:sp>
      <p:cxnSp>
        <p:nvCxnSpPr>
          <p:cNvPr id="19" name="직선 연결선 18"/>
          <p:cNvCxnSpPr/>
          <p:nvPr/>
        </p:nvCxnSpPr>
        <p:spPr>
          <a:xfrm flipV="1">
            <a:off x="268639" y="5636028"/>
            <a:ext cx="4981440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9141" y="5802531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각 종류별 입금되는 다수의 헌금을 한 계좌로 집금할 수 있는 기능</a:t>
            </a:r>
            <a:endParaRPr lang="en-US" altLang="ko-KR" sz="1400" dirty="0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1809010" y="5837928"/>
            <a:ext cx="3353194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532924" y="969705"/>
            <a:ext cx="11404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● 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헌금계좌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 내부통제 서비스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(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집금계좌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 서비스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) : </a:t>
            </a:r>
            <a:r>
              <a:rPr lang="ko-KR" altLang="en-US" sz="1600" b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다수의 </a:t>
            </a:r>
            <a:r>
              <a:rPr lang="ko-KR" altLang="en-US" sz="1600" b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헌금계좌</a:t>
            </a:r>
            <a:r>
              <a:rPr lang="ko-KR" altLang="en-US" sz="1600" b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 자금을 특정한 계좌로 집금할 수 있는 서비스</a:t>
            </a:r>
            <a:endParaRPr lang="en-US" altLang="ko-KR" sz="1600" b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40" name="직선 연결선 39"/>
          <p:cNvCxnSpPr/>
          <p:nvPr/>
        </p:nvCxnSpPr>
        <p:spPr>
          <a:xfrm flipV="1">
            <a:off x="5822279" y="5636028"/>
            <a:ext cx="4981440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832781" y="5802531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err="1" smtClean="0"/>
              <a:t>집금</a:t>
            </a:r>
            <a:r>
              <a:rPr lang="ko-KR" altLang="en-US" sz="1400" dirty="0" smtClean="0"/>
              <a:t> 계좌 정보가 담긴 출력물 출력 가능</a:t>
            </a:r>
            <a:endParaRPr lang="en-US" altLang="ko-KR" sz="1400" dirty="0"/>
          </a:p>
        </p:txBody>
      </p:sp>
      <p:sp>
        <p:nvSpPr>
          <p:cNvPr id="42" name="모서리가 둥근 직사각형 41"/>
          <p:cNvSpPr/>
          <p:nvPr/>
        </p:nvSpPr>
        <p:spPr>
          <a:xfrm>
            <a:off x="8537171" y="5833381"/>
            <a:ext cx="1216429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5472950" y="3077842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19" y="1890927"/>
            <a:ext cx="4875142" cy="31042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603" y="1317956"/>
            <a:ext cx="3536801" cy="42501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직사각형 16"/>
          <p:cNvSpPr/>
          <p:nvPr/>
        </p:nvSpPr>
        <p:spPr>
          <a:xfrm>
            <a:off x="3935600" y="3538362"/>
            <a:ext cx="1226604" cy="196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>
            <a:extLst/>
          </p:cNvPr>
          <p:cNvGrpSpPr/>
          <p:nvPr/>
        </p:nvGrpSpPr>
        <p:grpSpPr>
          <a:xfrm>
            <a:off x="4767062" y="3620388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0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21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5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" name="직사각형 22"/>
          <p:cNvSpPr/>
          <p:nvPr/>
        </p:nvSpPr>
        <p:spPr>
          <a:xfrm>
            <a:off x="4384881" y="3186639"/>
            <a:ext cx="382181" cy="1620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159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05.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기업자금관리서비스 </a:t>
            </a:r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(BIC Lite)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err="1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주요서비스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22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532923" y="1102710"/>
            <a:ext cx="1035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● (BIC Lite)</a:t>
            </a:r>
            <a:r>
              <a:rPr lang="en-US" altLang="ko-KR" sz="1600" b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 </a:t>
            </a:r>
            <a:r>
              <a:rPr lang="ko-KR" altLang="en-US" sz="1600" b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전 금융기관 계좌</a:t>
            </a:r>
            <a:r>
              <a:rPr lang="en-US" altLang="ko-KR" sz="1600" b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/</a:t>
            </a:r>
            <a:r>
              <a:rPr lang="ko-KR" altLang="en-US" sz="1600" b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매출관리</a:t>
            </a:r>
            <a:r>
              <a:rPr lang="en-US" altLang="ko-KR" sz="1600" b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/</a:t>
            </a:r>
            <a:r>
              <a:rPr lang="ko-KR" altLang="en-US" sz="1600" b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카드 통합관리 등 핵심자금관리 서비스가 집약된 서비스  </a:t>
            </a:r>
            <a:endParaRPr lang="en-US" altLang="ko-KR" sz="1600" b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50" y="1646712"/>
            <a:ext cx="9105900" cy="44291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38390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05. </a:t>
            </a:r>
            <a:r>
              <a:rPr lang="ko-KR" altLang="en-US" sz="32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기업자금관리서비스 </a:t>
            </a:r>
            <a:r>
              <a:rPr lang="en-US" altLang="ko-KR" sz="32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(BIC Lite)</a:t>
            </a:r>
            <a:r>
              <a:rPr lang="ko-KR" altLang="en-US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로그인 및 </a:t>
            </a:r>
            <a:r>
              <a:rPr lang="ko-KR" altLang="en-US" sz="2100" dirty="0" err="1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정보등록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23</a:t>
            </a:r>
            <a:endParaRPr lang="ko-KR" altLang="en-US" dirty="0"/>
          </a:p>
        </p:txBody>
      </p:sp>
      <p:cxnSp>
        <p:nvCxnSpPr>
          <p:cNvPr id="19" name="직선 연결선 18"/>
          <p:cNvCxnSpPr/>
          <p:nvPr/>
        </p:nvCxnSpPr>
        <p:spPr>
          <a:xfrm flipV="1">
            <a:off x="268639" y="5636028"/>
            <a:ext cx="4981440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9141" y="5802531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기업자금관리시스템 공인인증서 로그인</a:t>
            </a:r>
            <a:endParaRPr lang="en-US" altLang="ko-KR" sz="1400" dirty="0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2842953" y="5837927"/>
            <a:ext cx="1338349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직선 연결선 39"/>
          <p:cNvCxnSpPr/>
          <p:nvPr/>
        </p:nvCxnSpPr>
        <p:spPr>
          <a:xfrm flipV="1">
            <a:off x="5822279" y="5636028"/>
            <a:ext cx="4981440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832781" y="5802531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전 금융기관 계좌 등록</a:t>
            </a:r>
            <a:endParaRPr lang="en-US" altLang="ko-KR" sz="1400" dirty="0"/>
          </a:p>
        </p:txBody>
      </p:sp>
      <p:sp>
        <p:nvSpPr>
          <p:cNvPr id="42" name="모서리가 둥근 직사각형 41"/>
          <p:cNvSpPr/>
          <p:nvPr/>
        </p:nvSpPr>
        <p:spPr>
          <a:xfrm>
            <a:off x="7400397" y="5829640"/>
            <a:ext cx="1825200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5345074" y="3087808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758" y="1285468"/>
            <a:ext cx="4903199" cy="4208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769" y="1285468"/>
            <a:ext cx="4888457" cy="4208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69747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05. </a:t>
            </a:r>
            <a:r>
              <a:rPr lang="ko-KR" altLang="en-US" sz="32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기업자금관리서비스 </a:t>
            </a:r>
            <a:r>
              <a:rPr lang="en-US" altLang="ko-KR" sz="32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(BIC Lite)</a:t>
            </a:r>
            <a:r>
              <a:rPr lang="ko-KR" altLang="en-US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은행 </a:t>
            </a:r>
            <a:r>
              <a:rPr lang="ko-KR" altLang="en-US" sz="2100" dirty="0" err="1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계좌등록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24</a:t>
            </a:r>
            <a:endParaRPr lang="ko-KR" altLang="en-US" dirty="0"/>
          </a:p>
        </p:txBody>
      </p:sp>
      <p:cxnSp>
        <p:nvCxnSpPr>
          <p:cNvPr id="19" name="직선 연결선 18"/>
          <p:cNvCxnSpPr/>
          <p:nvPr/>
        </p:nvCxnSpPr>
        <p:spPr>
          <a:xfrm flipV="1">
            <a:off x="268639" y="5636028"/>
            <a:ext cx="4981440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9141" y="5802531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은행 선택 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부산은행 외 타 금융기관 포함</a:t>
            </a:r>
            <a:r>
              <a:rPr lang="en-US" altLang="ko-KR" sz="1400" dirty="0" smtClean="0"/>
              <a:t>)</a:t>
            </a:r>
            <a:endParaRPr lang="en-US" altLang="ko-KR" sz="1400" dirty="0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1221973" y="5829640"/>
            <a:ext cx="798021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직선 연결선 39"/>
          <p:cNvCxnSpPr/>
          <p:nvPr/>
        </p:nvCxnSpPr>
        <p:spPr>
          <a:xfrm flipV="1">
            <a:off x="5822279" y="5636028"/>
            <a:ext cx="4981440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832781" y="5802531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조회된 금융기관별 계좌 </a:t>
            </a:r>
            <a:r>
              <a:rPr lang="ko-KR" altLang="en-US" sz="1400" smtClean="0"/>
              <a:t>등록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저장</a:t>
            </a:r>
            <a:endParaRPr lang="en-US" altLang="ko-KR" sz="1400" dirty="0"/>
          </a:p>
        </p:txBody>
      </p:sp>
      <p:sp>
        <p:nvSpPr>
          <p:cNvPr id="42" name="모서리가 둥근 직사각형 41"/>
          <p:cNvSpPr/>
          <p:nvPr/>
        </p:nvSpPr>
        <p:spPr>
          <a:xfrm>
            <a:off x="7578945" y="5829640"/>
            <a:ext cx="2005629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5345074" y="3087808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29" y="1285468"/>
            <a:ext cx="4888457" cy="4208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699" y="1285468"/>
            <a:ext cx="4858595" cy="4208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5765" y="2952007"/>
            <a:ext cx="2920086" cy="20170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2930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05. </a:t>
            </a:r>
            <a:r>
              <a:rPr lang="ko-KR" altLang="en-US" sz="32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기업자금관리서비스 </a:t>
            </a:r>
            <a:r>
              <a:rPr lang="en-US" altLang="ko-KR" sz="32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(BIC Lite)</a:t>
            </a:r>
            <a:r>
              <a:rPr lang="ko-KR" altLang="en-US" sz="2100" dirty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카드 </a:t>
            </a:r>
            <a:r>
              <a:rPr lang="ko-KR" altLang="en-US" sz="2100" dirty="0" err="1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계좌등록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25</a:t>
            </a:r>
            <a:endParaRPr lang="ko-KR" altLang="en-US" dirty="0"/>
          </a:p>
        </p:txBody>
      </p:sp>
      <p:cxnSp>
        <p:nvCxnSpPr>
          <p:cNvPr id="19" name="직선 연결선 18"/>
          <p:cNvCxnSpPr/>
          <p:nvPr/>
        </p:nvCxnSpPr>
        <p:spPr>
          <a:xfrm flipV="1">
            <a:off x="268639" y="5636028"/>
            <a:ext cx="4981440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9141" y="5802531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카드사 선택 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전 카드사 포함</a:t>
            </a:r>
            <a:r>
              <a:rPr lang="en-US" altLang="ko-KR" sz="1400" dirty="0" smtClean="0"/>
              <a:t>)</a:t>
            </a:r>
            <a:endParaRPr lang="en-US" altLang="ko-KR" sz="1400" dirty="0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1712423" y="5829640"/>
            <a:ext cx="872835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직선 연결선 39"/>
          <p:cNvCxnSpPr/>
          <p:nvPr/>
        </p:nvCxnSpPr>
        <p:spPr>
          <a:xfrm flipV="1">
            <a:off x="5822279" y="5636028"/>
            <a:ext cx="4981440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832781" y="5802531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조회된 </a:t>
            </a:r>
            <a:r>
              <a:rPr lang="ko-KR" altLang="en-US" sz="1400" dirty="0" err="1" smtClean="0"/>
              <a:t>카드번호별</a:t>
            </a:r>
            <a:r>
              <a:rPr lang="ko-KR" altLang="en-US" sz="1400" dirty="0" smtClean="0"/>
              <a:t> 등록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저장</a:t>
            </a:r>
            <a:endParaRPr lang="en-US" altLang="ko-KR" sz="1400" dirty="0"/>
          </a:p>
        </p:txBody>
      </p:sp>
      <p:sp>
        <p:nvSpPr>
          <p:cNvPr id="42" name="모서리가 둥근 직사각형 41"/>
          <p:cNvSpPr/>
          <p:nvPr/>
        </p:nvSpPr>
        <p:spPr>
          <a:xfrm>
            <a:off x="7797338" y="5829640"/>
            <a:ext cx="1787236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5345074" y="3087808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60" y="1285468"/>
            <a:ext cx="4858595" cy="4208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700" y="1285468"/>
            <a:ext cx="4858595" cy="4208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888" y="2939298"/>
            <a:ext cx="2920086" cy="200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076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06.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뱅킹 </a:t>
            </a:r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ID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관리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ID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설정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26</a:t>
            </a:r>
            <a:endParaRPr lang="ko-KR" altLang="en-US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492288" y="911506"/>
            <a:ext cx="11207423" cy="1790615"/>
          </a:xfrm>
          <a:prstGeom prst="roundRect">
            <a:avLst/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●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관리자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ID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영업점에서 전자금융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를 신청한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자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대표자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로 사업장의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모든 계좌 및 인터넷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모바일뱅킹의 업무를 관리합니다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●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사용자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ID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직원용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ID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로 관리자가 지정한 업무만 이용할 수 있습니다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관리자가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영업점에서 사용자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를 생성하고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기업 인터넷뱅킹에서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계좌권한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업무범위 등을 설정 할 수 있습니다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725552" y="2959834"/>
            <a:ext cx="3267949" cy="529814"/>
          </a:xfrm>
          <a:prstGeom prst="roundRect">
            <a:avLst/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</a:pP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1.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대표자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관리자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가 은행에 신청    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☞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별도 </a:t>
            </a:r>
            <a:r>
              <a:rPr lang="ko-KR" alt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보안매체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발급필요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8380" y="2593289"/>
            <a:ext cx="1561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● ID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설정방법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725553" y="3536303"/>
            <a:ext cx="3267948" cy="2782723"/>
          </a:xfrm>
          <a:prstGeom prst="roundRect">
            <a:avLst/>
          </a:prstGeom>
          <a:noFill/>
          <a:ln w="15875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6" name="직선 연결선 25"/>
          <p:cNvCxnSpPr/>
          <p:nvPr/>
        </p:nvCxnSpPr>
        <p:spPr>
          <a:xfrm flipV="1">
            <a:off x="1591545" y="4876010"/>
            <a:ext cx="0" cy="260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그룹 37"/>
          <p:cNvGrpSpPr/>
          <p:nvPr/>
        </p:nvGrpSpPr>
        <p:grpSpPr>
          <a:xfrm>
            <a:off x="827556" y="3694930"/>
            <a:ext cx="3076125" cy="2356325"/>
            <a:chOff x="827556" y="3573627"/>
            <a:chExt cx="3076125" cy="2356325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3541" y="3573627"/>
              <a:ext cx="1531969" cy="934642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7556" y="5000759"/>
              <a:ext cx="1531969" cy="929193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66001" y="4991292"/>
              <a:ext cx="1537680" cy="938660"/>
            </a:xfrm>
            <a:prstGeom prst="rect">
              <a:avLst/>
            </a:prstGeom>
          </p:spPr>
        </p:pic>
        <p:cxnSp>
          <p:nvCxnSpPr>
            <p:cNvPr id="18" name="직선 연결선 17"/>
            <p:cNvCxnSpPr/>
            <p:nvPr/>
          </p:nvCxnSpPr>
          <p:spPr>
            <a:xfrm>
              <a:off x="2359526" y="4480276"/>
              <a:ext cx="0" cy="2969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>
            <a:xfrm flipV="1">
              <a:off x="3134841" y="4767944"/>
              <a:ext cx="0" cy="2606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/>
          </p:nvCxnSpPr>
          <p:spPr>
            <a:xfrm flipH="1">
              <a:off x="1591545" y="4767944"/>
              <a:ext cx="154329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4075549" y="4638516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4502523" y="3536303"/>
            <a:ext cx="3267948" cy="2782723"/>
          </a:xfrm>
          <a:prstGeom prst="roundRect">
            <a:avLst/>
          </a:prstGeom>
          <a:noFill/>
          <a:ln w="15875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3893872" y="2949791"/>
            <a:ext cx="4533433" cy="529814"/>
          </a:xfrm>
          <a:prstGeom prst="roundRect">
            <a:avLst/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</a:pP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2. [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관리자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] 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직원정보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업무권한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계좌권한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설정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☞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경로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메뉴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– </a:t>
            </a:r>
            <a:r>
              <a:rPr lang="ko-KR" alt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뱅킹관리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-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사용자정보관리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8536584" y="4498802"/>
            <a:ext cx="2510007" cy="529814"/>
          </a:xfrm>
          <a:prstGeom prst="roundRect">
            <a:avLst/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사용자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ID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인증서 발급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6422" y="3865747"/>
            <a:ext cx="2715495" cy="5094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605394" y="3623277"/>
            <a:ext cx="15616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en-US" altLang="ko-KR" b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● </a:t>
            </a:r>
            <a:r>
              <a:rPr lang="ko-KR" altLang="en-US" b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업무권한</a:t>
            </a:r>
            <a:r>
              <a:rPr lang="ko-KR" altLang="en-US" b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 선택</a:t>
            </a:r>
            <a:endParaRPr lang="en-US" altLang="ko-KR" b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605393" y="4513868"/>
            <a:ext cx="15616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en-US" altLang="ko-KR" b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● </a:t>
            </a:r>
            <a:r>
              <a:rPr lang="ko-KR" altLang="en-US" b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계좌권한</a:t>
            </a:r>
            <a:r>
              <a:rPr lang="ko-KR" altLang="en-US" b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 선택</a:t>
            </a:r>
            <a:endParaRPr lang="en-US" altLang="ko-KR" b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0649" y="4767944"/>
            <a:ext cx="2680633" cy="459837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8737" y="5298883"/>
            <a:ext cx="2943704" cy="537958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8737" y="5832180"/>
            <a:ext cx="2943704" cy="305575"/>
          </a:xfrm>
          <a:prstGeom prst="rect">
            <a:avLst/>
          </a:prstGeom>
        </p:spPr>
      </p:pic>
      <p:sp>
        <p:nvSpPr>
          <p:cNvPr id="48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7870686" y="4604791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39401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07.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결재선 관리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결재선 안내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27</a:t>
            </a:r>
            <a:endParaRPr lang="ko-KR" altLang="en-US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352824" y="849977"/>
            <a:ext cx="11486352" cy="4054532"/>
          </a:xfrm>
          <a:prstGeom prst="roundRect">
            <a:avLst/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● </a:t>
            </a:r>
            <a:r>
              <a:rPr lang="ko-KR" altLang="en-US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결재선이란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사용자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ID(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직원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별 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업무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메뉴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권한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이체한도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등을 설정하여 권한을 부여하고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결재를 통한 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승인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〮관리가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가능한 기능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▷ </a:t>
            </a:r>
            <a:r>
              <a:rPr lang="ko-KR" altLang="en-US" sz="15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기안자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5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필수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 최초로 업무를 등록하여</a:t>
            </a: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상위 담당자에게 결재 또는 승인을 요청하는 담당자로 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주로 </a:t>
            </a:r>
            <a:r>
              <a:rPr lang="ko-KR" altLang="en-US" sz="15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실무직원이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기안자가 됨</a:t>
            </a:r>
            <a:endParaRPr lang="en-US" altLang="ko-KR" sz="15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▷ </a:t>
            </a:r>
            <a:r>
              <a:rPr lang="ko-KR" altLang="en-US" sz="15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확인자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선택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ko-KR" sz="15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 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결재 단계에서 결재자 또는 최종 </a:t>
            </a:r>
            <a:r>
              <a:rPr lang="ko-KR" altLang="en-US" sz="15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승인자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이전에 업무를 점검하는 담당자로 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주로 선임 </a:t>
            </a:r>
            <a:r>
              <a:rPr lang="ko-KR" altLang="en-US" sz="15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실무직원이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5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확인자가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됨</a:t>
            </a:r>
            <a:endParaRPr lang="en-US" altLang="ko-KR" sz="15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▷ 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결재자 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5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필수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ko-KR" sz="15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기안자가 요청한 결재 중 </a:t>
            </a:r>
            <a:r>
              <a:rPr lang="ko-KR" altLang="en-US" sz="15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업무권한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5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이체한도</a:t>
            </a: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등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내에서 전결 처리하는 담당자로 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주로 중간관리자가 결재자가 됨</a:t>
            </a:r>
            <a:endParaRPr lang="en-US" altLang="ko-KR" sz="15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 ▷ </a:t>
            </a:r>
            <a:r>
              <a:rPr lang="ko-KR" altLang="en-US" sz="15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승인자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선택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 </a:t>
            </a:r>
            <a:r>
              <a:rPr lang="ko-KR" altLang="en-US" sz="15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승인자가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지정된 </a:t>
            </a:r>
            <a:r>
              <a:rPr lang="ko-KR" altLang="en-US" sz="15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결재선은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이전 결재자의 권한에도 불구하고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최종 결재자가 되며 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주로 대표자가 </a:t>
            </a:r>
            <a:r>
              <a:rPr lang="ko-KR" altLang="en-US" sz="15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승인자가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됨</a:t>
            </a:r>
            <a:endParaRPr lang="en-US" altLang="ko-KR" sz="15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●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예시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 A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팀 결재선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755271" y="4553893"/>
            <a:ext cx="7295556" cy="1874067"/>
          </a:xfrm>
          <a:prstGeom prst="roundRect">
            <a:avLst/>
          </a:prstGeom>
          <a:solidFill>
            <a:schemeClr val="bg1">
              <a:lumMod val="95000"/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/>
          <p:cNvGrpSpPr/>
          <p:nvPr/>
        </p:nvGrpSpPr>
        <p:grpSpPr>
          <a:xfrm>
            <a:off x="2799218" y="4689145"/>
            <a:ext cx="1609524" cy="1542525"/>
            <a:chOff x="2964497" y="4619098"/>
            <a:chExt cx="1609524" cy="1542525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64497" y="4619098"/>
              <a:ext cx="1609524" cy="1276190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32911" y="5894956"/>
              <a:ext cx="1522062" cy="266667"/>
            </a:xfrm>
            <a:prstGeom prst="rect">
              <a:avLst/>
            </a:prstGeom>
          </p:spPr>
        </p:pic>
      </p:grpSp>
      <p:grpSp>
        <p:nvGrpSpPr>
          <p:cNvPr id="16" name="그룹 15"/>
          <p:cNvGrpSpPr/>
          <p:nvPr/>
        </p:nvGrpSpPr>
        <p:grpSpPr>
          <a:xfrm>
            <a:off x="6535361" y="4700376"/>
            <a:ext cx="1571429" cy="1542525"/>
            <a:chOff x="6045898" y="4709429"/>
            <a:chExt cx="1571429" cy="1524280"/>
          </a:xfrm>
        </p:grpSpPr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88041" y="5957519"/>
              <a:ext cx="1493491" cy="276190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45898" y="4709429"/>
              <a:ext cx="1571429" cy="1257143"/>
            </a:xfrm>
            <a:prstGeom prst="rect">
              <a:avLst/>
            </a:prstGeom>
          </p:spPr>
        </p:pic>
      </p:grpSp>
      <p:pic>
        <p:nvPicPr>
          <p:cNvPr id="23" name="그림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6232" y="4677915"/>
            <a:ext cx="1535148" cy="1553755"/>
          </a:xfrm>
          <a:prstGeom prst="rect">
            <a:avLst/>
          </a:prstGeom>
        </p:spPr>
      </p:pic>
      <p:grpSp>
        <p:nvGrpSpPr>
          <p:cNvPr id="29" name="그룹 28"/>
          <p:cNvGrpSpPr/>
          <p:nvPr/>
        </p:nvGrpSpPr>
        <p:grpSpPr>
          <a:xfrm>
            <a:off x="8410771" y="4689145"/>
            <a:ext cx="1571429" cy="1542525"/>
            <a:chOff x="7654603" y="4700375"/>
            <a:chExt cx="1571429" cy="1542525"/>
          </a:xfrm>
        </p:grpSpPr>
        <p:grpSp>
          <p:nvGrpSpPr>
            <p:cNvPr id="24" name="그룹 23"/>
            <p:cNvGrpSpPr/>
            <p:nvPr/>
          </p:nvGrpSpPr>
          <p:grpSpPr>
            <a:xfrm>
              <a:off x="7654603" y="4700375"/>
              <a:ext cx="1571429" cy="1542525"/>
              <a:chOff x="6045898" y="4709429"/>
              <a:chExt cx="1571429" cy="1524280"/>
            </a:xfrm>
          </p:grpSpPr>
          <p:pic>
            <p:nvPicPr>
              <p:cNvPr id="25" name="그림 2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88041" y="5957519"/>
                <a:ext cx="1493491" cy="276190"/>
              </a:xfrm>
              <a:prstGeom prst="rect">
                <a:avLst/>
              </a:prstGeom>
            </p:spPr>
          </p:pic>
          <p:pic>
            <p:nvPicPr>
              <p:cNvPr id="26" name="그림 25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45898" y="4709429"/>
                <a:ext cx="1571429" cy="1257143"/>
              </a:xfrm>
              <a:prstGeom prst="rect">
                <a:avLst/>
              </a:prstGeom>
            </p:spPr>
          </p:pic>
        </p:grpSp>
        <p:pic>
          <p:nvPicPr>
            <p:cNvPr id="27" name="그림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45079" y="4805384"/>
              <a:ext cx="790476" cy="419048"/>
            </a:xfrm>
            <a:prstGeom prst="rect">
              <a:avLst/>
            </a:prstGeom>
          </p:spPr>
        </p:pic>
        <p:pic>
          <p:nvPicPr>
            <p:cNvPr id="28" name="그림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792698" y="5248723"/>
              <a:ext cx="1295238" cy="761905"/>
            </a:xfrm>
            <a:prstGeom prst="rect">
              <a:avLst/>
            </a:prstGeom>
          </p:spPr>
        </p:pic>
      </p:grpSp>
      <p:pic>
        <p:nvPicPr>
          <p:cNvPr id="31" name="그림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4732" y="4994154"/>
            <a:ext cx="447619" cy="219048"/>
          </a:xfrm>
          <a:prstGeom prst="rect">
            <a:avLst/>
          </a:prstGeom>
        </p:spPr>
      </p:pic>
      <p:sp>
        <p:nvSpPr>
          <p:cNvPr id="21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4362448" y="5249957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2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6230223" y="5249957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0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8099284" y="5253897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09012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07.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결재선 관리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결재선 등록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28</a:t>
            </a:r>
            <a:endParaRPr lang="ko-KR" altLang="en-US" dirty="0"/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19" y="1085330"/>
            <a:ext cx="4873913" cy="4208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3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5639866" y="3050771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34" name="직선 연결선 33"/>
          <p:cNvCxnSpPr/>
          <p:nvPr/>
        </p:nvCxnSpPr>
        <p:spPr>
          <a:xfrm flipV="1">
            <a:off x="303199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32460" y="5784836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결재선 등록 진행</a:t>
            </a:r>
            <a:endParaRPr lang="en-US" altLang="ko-KR" sz="1400" dirty="0"/>
          </a:p>
        </p:txBody>
      </p:sp>
      <p:sp>
        <p:nvSpPr>
          <p:cNvPr id="36" name="모서리가 둥근 직사각형 35"/>
          <p:cNvSpPr/>
          <p:nvPr/>
        </p:nvSpPr>
        <p:spPr>
          <a:xfrm>
            <a:off x="2047238" y="5810720"/>
            <a:ext cx="937031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4532018" y="1065141"/>
            <a:ext cx="305989" cy="2414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/>
          </p:cNvPr>
          <p:cNvGrpSpPr/>
          <p:nvPr/>
        </p:nvGrpSpPr>
        <p:grpSpPr>
          <a:xfrm>
            <a:off x="1238156" y="5255984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9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40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1" name="직사각형 40"/>
          <p:cNvSpPr/>
          <p:nvPr/>
        </p:nvSpPr>
        <p:spPr>
          <a:xfrm>
            <a:off x="1243289" y="5068672"/>
            <a:ext cx="236376" cy="2414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236" y="2222951"/>
            <a:ext cx="4994564" cy="242876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43" name="직선 연결선 42"/>
          <p:cNvCxnSpPr/>
          <p:nvPr/>
        </p:nvCxnSpPr>
        <p:spPr>
          <a:xfrm flipV="1">
            <a:off x="6458527" y="5630204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387788" y="5779011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err="1" smtClean="0"/>
              <a:t>결재선명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중복조회</a:t>
            </a:r>
            <a:r>
              <a:rPr lang="ko-KR" altLang="en-US" sz="1400" dirty="0" smtClean="0"/>
              <a:t> 후 결제대상업무 선택</a:t>
            </a:r>
            <a:endParaRPr lang="en-US" altLang="ko-KR" sz="1400" dirty="0"/>
          </a:p>
        </p:txBody>
      </p:sp>
      <p:sp>
        <p:nvSpPr>
          <p:cNvPr id="45" name="모서리가 둥근 직사각형 44"/>
          <p:cNvSpPr/>
          <p:nvPr/>
        </p:nvSpPr>
        <p:spPr>
          <a:xfrm>
            <a:off x="8069562" y="5813960"/>
            <a:ext cx="2329660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6" name="그룹 45">
            <a:extLst/>
          </p:cNvPr>
          <p:cNvGrpSpPr/>
          <p:nvPr/>
        </p:nvGrpSpPr>
        <p:grpSpPr>
          <a:xfrm>
            <a:off x="9105906" y="4618359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7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48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9" name="직사각형 48"/>
          <p:cNvSpPr/>
          <p:nvPr/>
        </p:nvSpPr>
        <p:spPr>
          <a:xfrm>
            <a:off x="8952808" y="4431047"/>
            <a:ext cx="402920" cy="2414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8898082" y="3825888"/>
            <a:ext cx="315117" cy="1725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303199" y="2705519"/>
            <a:ext cx="769143" cy="2414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11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07.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결재선 관리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결재선 등록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29</a:t>
            </a:r>
            <a:endParaRPr lang="ko-KR" altLang="en-US" dirty="0"/>
          </a:p>
        </p:txBody>
      </p:sp>
      <p:sp>
        <p:nvSpPr>
          <p:cNvPr id="33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5639866" y="3050771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34" name="직선 연결선 33"/>
          <p:cNvCxnSpPr/>
          <p:nvPr/>
        </p:nvCxnSpPr>
        <p:spPr>
          <a:xfrm flipV="1">
            <a:off x="303199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32460" y="5784836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err="1" smtClean="0"/>
              <a:t>기안자</a:t>
            </a:r>
            <a:r>
              <a:rPr lang="en-US" altLang="ko-KR" sz="1400" dirty="0" smtClean="0"/>
              <a:t>/</a:t>
            </a:r>
            <a:r>
              <a:rPr lang="ko-KR" altLang="en-US" sz="1400" dirty="0" err="1" smtClean="0"/>
              <a:t>확인자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결재자</a:t>
            </a:r>
            <a:r>
              <a:rPr lang="en-US" altLang="ko-KR" sz="1400" dirty="0" smtClean="0"/>
              <a:t>/</a:t>
            </a:r>
            <a:r>
              <a:rPr lang="ko-KR" altLang="en-US" sz="1400" dirty="0" err="1" smtClean="0"/>
              <a:t>승인자</a:t>
            </a:r>
            <a:r>
              <a:rPr lang="ko-KR" altLang="en-US" sz="1400" dirty="0" smtClean="0"/>
              <a:t> 등록</a:t>
            </a:r>
            <a:endParaRPr lang="en-US" altLang="ko-KR" sz="1400" dirty="0"/>
          </a:p>
        </p:txBody>
      </p:sp>
      <p:sp>
        <p:nvSpPr>
          <p:cNvPr id="36" name="모서리가 둥근 직사각형 35"/>
          <p:cNvSpPr/>
          <p:nvPr/>
        </p:nvSpPr>
        <p:spPr>
          <a:xfrm>
            <a:off x="3649289" y="5813208"/>
            <a:ext cx="357446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3" name="직선 연결선 42"/>
          <p:cNvCxnSpPr/>
          <p:nvPr/>
        </p:nvCxnSpPr>
        <p:spPr>
          <a:xfrm flipV="1">
            <a:off x="6458527" y="5630204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387788" y="5779011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err="1" smtClean="0"/>
              <a:t>기안자</a:t>
            </a:r>
            <a:r>
              <a:rPr lang="en-US" altLang="ko-KR" sz="1400" dirty="0" smtClean="0"/>
              <a:t>/</a:t>
            </a:r>
            <a:r>
              <a:rPr lang="ko-KR" altLang="en-US" sz="1400" dirty="0" err="1" smtClean="0"/>
              <a:t>확인자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결재자</a:t>
            </a:r>
            <a:r>
              <a:rPr lang="en-US" altLang="ko-KR" sz="1400" dirty="0" smtClean="0"/>
              <a:t>/</a:t>
            </a:r>
            <a:r>
              <a:rPr lang="ko-KR" altLang="en-US" sz="1400" dirty="0" err="1" smtClean="0"/>
              <a:t>승인자</a:t>
            </a:r>
            <a:r>
              <a:rPr lang="ko-KR" altLang="en-US" sz="1400" dirty="0" smtClean="0"/>
              <a:t> 지정 완료</a:t>
            </a:r>
            <a:endParaRPr lang="en-US" altLang="ko-KR" sz="1400" dirty="0"/>
          </a:p>
        </p:txBody>
      </p:sp>
      <p:sp>
        <p:nvSpPr>
          <p:cNvPr id="45" name="모서리가 둥근 직사각형 44"/>
          <p:cNvSpPr/>
          <p:nvPr/>
        </p:nvSpPr>
        <p:spPr>
          <a:xfrm>
            <a:off x="9592886" y="5811497"/>
            <a:ext cx="748147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13" y="1213206"/>
            <a:ext cx="4860841" cy="4208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직사각형 24"/>
          <p:cNvSpPr/>
          <p:nvPr/>
        </p:nvSpPr>
        <p:spPr>
          <a:xfrm>
            <a:off x="1366058" y="3266747"/>
            <a:ext cx="1194261" cy="9561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7152998" y="998211"/>
            <a:ext cx="3534271" cy="4423395"/>
            <a:chOff x="6981329" y="196285"/>
            <a:chExt cx="3850023" cy="5309325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81329" y="196285"/>
              <a:ext cx="3844091" cy="216520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22278" y="2410536"/>
              <a:ext cx="2703142" cy="135612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22278" y="3816477"/>
              <a:ext cx="2709074" cy="168913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46" name="그룹 45">
            <a:extLst/>
          </p:cNvPr>
          <p:cNvGrpSpPr/>
          <p:nvPr/>
        </p:nvGrpSpPr>
        <p:grpSpPr>
          <a:xfrm>
            <a:off x="8843357" y="5394806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7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48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7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9" name="직사각형 48"/>
          <p:cNvSpPr/>
          <p:nvPr/>
        </p:nvSpPr>
        <p:spPr>
          <a:xfrm>
            <a:off x="8690259" y="5207494"/>
            <a:ext cx="402920" cy="2414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404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07.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결재선 관리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결재선 등록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30</a:t>
            </a:r>
            <a:endParaRPr lang="ko-KR" altLang="en-US" dirty="0"/>
          </a:p>
        </p:txBody>
      </p:sp>
      <p:sp>
        <p:nvSpPr>
          <p:cNvPr id="33" name="오른쪽 화살표[R] 2">
            <a:extLst>
              <a:ext uri="{FF2B5EF4-FFF2-40B4-BE49-F238E27FC236}">
                <a16:creationId xmlns:a16="http://schemas.microsoft.com/office/drawing/2014/main" id="{E4C0CFD9-AC34-5D7F-8843-EF25E8C15FE2}"/>
              </a:ext>
            </a:extLst>
          </p:cNvPr>
          <p:cNvSpPr/>
          <p:nvPr/>
        </p:nvSpPr>
        <p:spPr>
          <a:xfrm>
            <a:off x="5639866" y="3050771"/>
            <a:ext cx="347281" cy="27751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34" name="직선 연결선 33"/>
          <p:cNvCxnSpPr/>
          <p:nvPr/>
        </p:nvCxnSpPr>
        <p:spPr>
          <a:xfrm flipV="1">
            <a:off x="303199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32460" y="5784836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결재선 등록 확인 후 다음</a:t>
            </a:r>
            <a:endParaRPr lang="en-US" altLang="ko-KR" sz="1400" dirty="0"/>
          </a:p>
        </p:txBody>
      </p:sp>
      <p:sp>
        <p:nvSpPr>
          <p:cNvPr id="36" name="모서리가 둥근 직사각형 35"/>
          <p:cNvSpPr/>
          <p:nvPr/>
        </p:nvSpPr>
        <p:spPr>
          <a:xfrm>
            <a:off x="2319247" y="5813208"/>
            <a:ext cx="759805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3" name="직선 연결선 42"/>
          <p:cNvCxnSpPr/>
          <p:nvPr/>
        </p:nvCxnSpPr>
        <p:spPr>
          <a:xfrm flipV="1">
            <a:off x="6458527" y="5630204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387788" y="5779011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인증서 암호 입력 후 결재선 지정 완료</a:t>
            </a:r>
            <a:endParaRPr lang="en-US" altLang="ko-KR" sz="1400" dirty="0"/>
          </a:p>
        </p:txBody>
      </p:sp>
      <p:sp>
        <p:nvSpPr>
          <p:cNvPr id="45" name="모서리가 둥근 직사각형 44"/>
          <p:cNvSpPr/>
          <p:nvPr/>
        </p:nvSpPr>
        <p:spPr>
          <a:xfrm>
            <a:off x="8977745" y="5806765"/>
            <a:ext cx="1255222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15" y="1156034"/>
            <a:ext cx="4864264" cy="420840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3" name="그룹 22">
            <a:extLst/>
          </p:cNvPr>
          <p:cNvGrpSpPr/>
          <p:nvPr/>
        </p:nvGrpSpPr>
        <p:grpSpPr>
          <a:xfrm>
            <a:off x="2988386" y="5339018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4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26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" name="직사각형 26"/>
          <p:cNvSpPr/>
          <p:nvPr/>
        </p:nvSpPr>
        <p:spPr>
          <a:xfrm>
            <a:off x="2835288" y="5151706"/>
            <a:ext cx="402920" cy="2414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12"/>
          <p:cNvGrpSpPr/>
          <p:nvPr/>
        </p:nvGrpSpPr>
        <p:grpSpPr>
          <a:xfrm>
            <a:off x="6458527" y="936179"/>
            <a:ext cx="4899600" cy="4474089"/>
            <a:chOff x="6458527" y="944782"/>
            <a:chExt cx="4899600" cy="4474089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58527" y="944782"/>
              <a:ext cx="4898010" cy="30077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58527" y="4142927"/>
              <a:ext cx="4899600" cy="127594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46" name="그룹 45">
            <a:extLst/>
          </p:cNvPr>
          <p:cNvGrpSpPr/>
          <p:nvPr/>
        </p:nvGrpSpPr>
        <p:grpSpPr>
          <a:xfrm>
            <a:off x="9068304" y="3776594"/>
            <a:ext cx="483017" cy="434473"/>
            <a:chOff x="4325725" y="4830549"/>
            <a:chExt cx="465138" cy="5310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7" name="타원 76">
              <a:extLst/>
            </p:cNvPr>
            <p:cNvSpPr>
              <a:spLocks noChangeArrowheads="1"/>
            </p:cNvSpPr>
            <p:nvPr/>
          </p:nvSpPr>
          <p:spPr bwMode="auto">
            <a:xfrm>
              <a:off x="4429047" y="483054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fontAlgn="auto" latinLnBrk="0" hangingPunct="1">
                <a:spcBef>
                  <a:spcPct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ko-KR" altLang="en-US" sz="923" dirty="0">
                <a:solidFill>
                  <a:srgbClr val="FF5B5B"/>
                </a:solidFill>
              </a:endParaRPr>
            </a:p>
          </p:txBody>
        </p:sp>
        <p:pic>
          <p:nvPicPr>
            <p:cNvPr id="48" name="그림 91">
              <a:extLst/>
            </p:cNvPr>
            <p:cNvPicPr>
              <a:picLocks noChangeAspect="1"/>
            </p:cNvPicPr>
            <p:nvPr/>
          </p:nvPicPr>
          <p:blipFill rotWithShape="1">
            <a:blip r:embed="rId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10"/>
            <a:stretch/>
          </p:blipFill>
          <p:spPr bwMode="auto">
            <a:xfrm>
              <a:off x="4325725" y="4892675"/>
              <a:ext cx="465138" cy="468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9" name="직사각형 48"/>
          <p:cNvSpPr/>
          <p:nvPr/>
        </p:nvSpPr>
        <p:spPr>
          <a:xfrm>
            <a:off x="8919557" y="3625508"/>
            <a:ext cx="398569" cy="2051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37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068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96557" y="335873"/>
            <a:ext cx="9954270" cy="51410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07. </a:t>
            </a:r>
            <a:r>
              <a:rPr lang="ko-KR" altLang="en-US" sz="32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결재선 관리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2100" dirty="0" smtClean="0">
                <a:solidFill>
                  <a:schemeClr val="bg2">
                    <a:lumMod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결재선 등록</a:t>
            </a:r>
            <a:endParaRPr lang="ko-KR" altLang="en-US" sz="2100" dirty="0">
              <a:solidFill>
                <a:schemeClr val="bg2">
                  <a:lumMod val="2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19026"/>
            <a:ext cx="2743200" cy="365125"/>
          </a:xfrm>
        </p:spPr>
        <p:txBody>
          <a:bodyPr/>
          <a:lstStyle/>
          <a:p>
            <a:r>
              <a:rPr lang="en-US" altLang="ko-KR" dirty="0" smtClean="0"/>
              <a:t>31 &lt;</a:t>
            </a:r>
            <a:r>
              <a:rPr lang="ko-KR" altLang="en-US" dirty="0" smtClean="0"/>
              <a:t>끝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cxnSp>
        <p:nvCxnSpPr>
          <p:cNvPr id="34" name="직선 연결선 33"/>
          <p:cNvCxnSpPr/>
          <p:nvPr/>
        </p:nvCxnSpPr>
        <p:spPr>
          <a:xfrm flipV="1">
            <a:off x="303199" y="5636029"/>
            <a:ext cx="4889696" cy="1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32460" y="5784836"/>
            <a:ext cx="496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ctr"/>
            <a:r>
              <a:rPr lang="ko-KR" altLang="en-US" sz="1400" dirty="0" smtClean="0"/>
              <a:t>등록이 완료되어 </a:t>
            </a:r>
            <a:r>
              <a:rPr lang="ko-KR" altLang="en-US" sz="1400" dirty="0" err="1" smtClean="0"/>
              <a:t>주일헌금</a:t>
            </a:r>
            <a:r>
              <a:rPr lang="ko-KR" altLang="en-US" sz="1400" dirty="0" smtClean="0"/>
              <a:t> 이체 </a:t>
            </a:r>
            <a:r>
              <a:rPr lang="ko-KR" altLang="en-US" sz="1400" dirty="0" err="1" smtClean="0"/>
              <a:t>업무시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등록된 결재선 이용 가능</a:t>
            </a:r>
            <a:endParaRPr lang="en-US" altLang="ko-KR" sz="1400" dirty="0"/>
          </a:p>
        </p:txBody>
      </p:sp>
      <p:sp>
        <p:nvSpPr>
          <p:cNvPr id="36" name="모서리가 둥근 직사각형 35"/>
          <p:cNvSpPr/>
          <p:nvPr/>
        </p:nvSpPr>
        <p:spPr>
          <a:xfrm>
            <a:off x="1596040" y="5813208"/>
            <a:ext cx="3466411" cy="256007"/>
          </a:xfrm>
          <a:prstGeom prst="round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33" y="1145911"/>
            <a:ext cx="4863600" cy="41883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8" name="모서리가 둥근 직사각형 27"/>
          <p:cNvSpPr/>
          <p:nvPr/>
        </p:nvSpPr>
        <p:spPr>
          <a:xfrm>
            <a:off x="5380840" y="1145911"/>
            <a:ext cx="6498945" cy="4971198"/>
          </a:xfrm>
          <a:prstGeom prst="roundRect">
            <a:avLst/>
          </a:prstGeom>
          <a:solidFill>
            <a:schemeClr val="bg1">
              <a:lumMod val="95000"/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5380840" y="941647"/>
            <a:ext cx="6760158" cy="2479340"/>
          </a:xfrm>
          <a:prstGeom prst="roundRect">
            <a:avLst/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ko-KR" alt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▷ </a:t>
            </a:r>
            <a:r>
              <a:rPr lang="ko-KR" altLang="en-US" sz="15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결재단계는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최대 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7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단계까지 등록 가능</a:t>
            </a:r>
            <a:endParaRPr lang="en-US" altLang="ko-KR" sz="15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▷ 등록된 </a:t>
            </a:r>
            <a:r>
              <a:rPr lang="ko-KR" altLang="en-US" sz="15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결재선의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변경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 가능</a:t>
            </a:r>
            <a:endParaRPr lang="en-US" altLang="ko-KR" sz="15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▷ </a:t>
            </a:r>
            <a:r>
              <a:rPr lang="ko-KR" altLang="en-US" sz="15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결재자는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5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결재시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승인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반송 등록 가능 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5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반송시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5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재결재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필요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ko-KR" alt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▷ </a:t>
            </a:r>
            <a:r>
              <a:rPr lang="ko-KR" altLang="en-US" sz="15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사용자별로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아래 조회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이체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카드 등 각종 업무별 권한 부여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해제 가능</a:t>
            </a:r>
            <a:endParaRPr lang="en-US" altLang="ko-KR" sz="15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024" y="3158411"/>
            <a:ext cx="4589790" cy="285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70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1770</TotalTime>
  <Words>1650</Words>
  <Application>Microsoft Office PowerPoint</Application>
  <PresentationFormat>와이드스크린</PresentationFormat>
  <Paragraphs>230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9" baseType="lpstr">
      <vt:lpstr>HY견고딕</vt:lpstr>
      <vt:lpstr>HY중고딕</vt:lpstr>
      <vt:lpstr>HY헤드라인M</vt:lpstr>
      <vt:lpstr>나눔스퀘어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Busan</dc:creator>
  <cp:lastModifiedBy>Busan</cp:lastModifiedBy>
  <cp:revision>124</cp:revision>
  <cp:lastPrinted>2025-09-22T01:19:35Z</cp:lastPrinted>
  <dcterms:created xsi:type="dcterms:W3CDTF">2025-08-11T01:05:24Z</dcterms:created>
  <dcterms:modified xsi:type="dcterms:W3CDTF">2025-09-22T01:30:18Z</dcterms:modified>
</cp:coreProperties>
</file>